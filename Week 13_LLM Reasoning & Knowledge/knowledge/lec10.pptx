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0552" y="505350"/>
            <a:ext cx="8274050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7"/>
                </a:solidFill>
                <a:latin typeface="Times New Roman"/>
                <a:cs typeface="Times New Roman"/>
              </a:defRPr>
            </a:lvl1pPr>
          </a:lstStyle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7"/>
                </a:solidFill>
                <a:latin typeface="Times New Roman"/>
                <a:cs typeface="Times New Roman"/>
              </a:defRPr>
            </a:lvl1pPr>
          </a:lstStyle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7"/>
                </a:solidFill>
                <a:latin typeface="Times New Roman"/>
                <a:cs typeface="Times New Roman"/>
              </a:defRPr>
            </a:lvl1pPr>
          </a:lstStyle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7"/>
                </a:solidFill>
                <a:latin typeface="Times New Roman"/>
                <a:cs typeface="Times New Roman"/>
              </a:defRPr>
            </a:lvl1pPr>
          </a:lstStyle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7"/>
                </a:solidFill>
                <a:latin typeface="Times New Roman"/>
                <a:cs typeface="Times New Roman"/>
              </a:defRPr>
            </a:lvl1pPr>
          </a:lstStyle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8624" y="290083"/>
            <a:ext cx="826675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2786" y="1180605"/>
            <a:ext cx="7658426" cy="1192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06908" y="4776444"/>
            <a:ext cx="279400" cy="184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B7B7B7"/>
                </a:solidFill>
                <a:latin typeface="Times New Roman"/>
                <a:cs typeface="Times New Roman"/>
              </a:defRPr>
            </a:lvl1pPr>
          </a:lstStyle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2.08910.pdf" TargetMode="External"/><Relationship Id="rId2" Type="http://schemas.openxmlformats.org/officeDocument/2006/relationships/hyperlink" Target="https://arxiv.org/pdf/1909.01066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110.11309.pdf" TargetMode="External"/><Relationship Id="rId4" Type="http://schemas.openxmlformats.org/officeDocument/2006/relationships/hyperlink" Target="https://arxiv.org/pdf/2104.08696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101.00027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101.00027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arxiv.org/pdf/2101.00027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arxiv.org/pdf/2101.00027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arxiv.org/pdf/2101.00027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.stanford.edu/class/archive/cs/cs224n/cs224n.1214/slides/cs224n-2021-lecture15-lm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.stanford.edu/class/archive/cs/cs224n/cs224n.1214/slides/cs224n-2021-lecture15-lm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.stanford.edu/class/archive/cs/cs224n/cs224n.1214/slides/cs224n-2021-lecture15-lm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.stanford.edu/class/archive/cs/cs224n/cs224n.1214/slides/cs224n-2021-lecture15-lm.pdf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yderstavern.com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yderstavern.com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yderstavern.com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atricklewis.io/img/projects/lama3.png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atricklewis.io/img/projects/lama3.png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patricklewis.io/img/projects/lama3.png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atricklewis.io/img/projects/lama3.png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atricklewis.io/img/projects/lama3.png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google.com/archive/p/relation-extraction-corpus/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google.com/archive/p/relation-extraction-corpus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google.com/archive/p/relation-extraction-corpus/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hadyelsahar.github.io/t-rex/paper.pdf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hadyelsahar.github.io/t-rex/paper.pdf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hadyelsahar.github.io/t-rex/paper.pdf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hadyelsahar.github.io/t-rex/paper.pdf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L12-1639/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L12-1639/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L12-1639/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606.05250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606.05250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606.05250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1.02860" TargetMode="External"/><Relationship Id="rId2" Type="http://schemas.openxmlformats.org/officeDocument/2006/relationships/hyperlink" Target="https://arxiv.org/abs/1612.0808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810.04805" TargetMode="External"/><Relationship Id="rId4" Type="http://schemas.openxmlformats.org/officeDocument/2006/relationships/hyperlink" Target="https://arxiv.org/pdf/1808.08949.pdf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9.01066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9.01066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9.01066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10.15980" TargetMode="Externa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0.15980" TargetMode="External"/><Relationship Id="rId2" Type="http://schemas.openxmlformats.org/officeDocument/2006/relationships/hyperlink" Target="https://arxiv.org/pdf/1911.12543.pdf" TargetMode="Externa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0.15980" TargetMode="External"/><Relationship Id="rId2" Type="http://schemas.openxmlformats.org/officeDocument/2006/relationships/hyperlink" Target="https://arxiv.org/pdf/1911.12543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0.15980" TargetMode="External"/><Relationship Id="rId2" Type="http://schemas.openxmlformats.org/officeDocument/2006/relationships/hyperlink" Target="https://arxiv.org/pdf/1911.12543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104.05240.pdf" TargetMode="Externa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2.08909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09.05286.pdf" TargetMode="Externa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https://arxiv.org/pdf/2008.02637.pdf" TargetMode="Externa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https://arxiv.org/pdf/2008.02637.pdf" TargetMode="Externa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6201" y="1626984"/>
            <a:ext cx="500380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1740" marR="5080" indent="-1209040">
              <a:lnSpc>
                <a:spcPct val="100000"/>
              </a:lnSpc>
              <a:spcBef>
                <a:spcPts val="100"/>
              </a:spcBef>
            </a:pPr>
            <a:r>
              <a:rPr sz="4000" b="1" spc="-35" dirty="0">
                <a:latin typeface="Book Antiqua"/>
                <a:cs typeface="Book Antiqua"/>
              </a:rPr>
              <a:t>Language</a:t>
            </a:r>
            <a:r>
              <a:rPr sz="4000" b="1" spc="-160" dirty="0">
                <a:latin typeface="Book Antiqua"/>
                <a:cs typeface="Book Antiqua"/>
              </a:rPr>
              <a:t> </a:t>
            </a:r>
            <a:r>
              <a:rPr sz="4000" b="1" spc="-130" dirty="0">
                <a:latin typeface="Book Antiqua"/>
                <a:cs typeface="Book Antiqua"/>
              </a:rPr>
              <a:t>Models</a:t>
            </a:r>
            <a:r>
              <a:rPr sz="4000" b="1" spc="-105" dirty="0">
                <a:latin typeface="Book Antiqua"/>
                <a:cs typeface="Book Antiqua"/>
              </a:rPr>
              <a:t> </a:t>
            </a:r>
            <a:r>
              <a:rPr sz="4000" b="1" spc="-25" dirty="0">
                <a:latin typeface="Book Antiqua"/>
                <a:cs typeface="Book Antiqua"/>
              </a:rPr>
              <a:t>and </a:t>
            </a:r>
            <a:r>
              <a:rPr sz="4000" b="1" spc="-10" dirty="0">
                <a:latin typeface="Book Antiqua"/>
                <a:cs typeface="Book Antiqua"/>
              </a:rPr>
              <a:t>Knowledge</a:t>
            </a:r>
            <a:endParaRPr sz="40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604895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44488" y="1214323"/>
            <a:ext cx="791654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4184" indent="-45212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464184" algn="l"/>
                <a:tab pos="464820" algn="l"/>
              </a:tabLst>
            </a:pPr>
            <a:r>
              <a:rPr sz="2200" b="1" dirty="0">
                <a:latin typeface="Book Antiqua"/>
                <a:cs typeface="Book Antiqua"/>
              </a:rPr>
              <a:t>What</a:t>
            </a:r>
            <a:r>
              <a:rPr sz="2200" b="1" spc="-70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is</a:t>
            </a:r>
            <a:r>
              <a:rPr sz="2200" b="1" spc="-70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a</a:t>
            </a:r>
            <a:r>
              <a:rPr sz="2200" b="1" spc="-70" dirty="0">
                <a:latin typeface="Book Antiqua"/>
                <a:cs typeface="Book Antiqua"/>
              </a:rPr>
              <a:t> </a:t>
            </a:r>
            <a:r>
              <a:rPr sz="2200" b="1" spc="-55" dirty="0">
                <a:latin typeface="Book Antiqua"/>
                <a:cs typeface="Book Antiqua"/>
              </a:rPr>
              <a:t>knowledge</a:t>
            </a:r>
            <a:r>
              <a:rPr sz="2200" b="1" spc="-70" dirty="0">
                <a:latin typeface="Book Antiqua"/>
                <a:cs typeface="Book Antiqua"/>
              </a:rPr>
              <a:t> </a:t>
            </a:r>
            <a:r>
              <a:rPr sz="2200" b="1" spc="-10" dirty="0">
                <a:latin typeface="Book Antiqua"/>
                <a:cs typeface="Book Antiqua"/>
              </a:rPr>
              <a:t>base?</a:t>
            </a:r>
            <a:endParaRPr sz="2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2150">
              <a:latin typeface="Book Antiqua"/>
              <a:cs typeface="Book Antiqua"/>
            </a:endParaRPr>
          </a:p>
          <a:p>
            <a:pPr marL="464184" marR="5080" indent="-452120">
              <a:lnSpc>
                <a:spcPct val="100000"/>
              </a:lnSpc>
              <a:buFont typeface="Times New Roman"/>
              <a:buAutoNum type="arabicPeriod"/>
              <a:tabLst>
                <a:tab pos="464184" algn="l"/>
                <a:tab pos="464820" algn="l"/>
              </a:tabLst>
            </a:pPr>
            <a:r>
              <a:rPr sz="2200" b="1" spc="-60" dirty="0">
                <a:latin typeface="Book Antiqua"/>
                <a:cs typeface="Book Antiqua"/>
              </a:rPr>
              <a:t>Can</a:t>
            </a:r>
            <a:r>
              <a:rPr sz="2200" b="1" spc="-80" dirty="0">
                <a:latin typeface="Book Antiqua"/>
                <a:cs typeface="Book Antiqua"/>
              </a:rPr>
              <a:t> </a:t>
            </a:r>
            <a:r>
              <a:rPr sz="2200" b="1" spc="-20" dirty="0">
                <a:latin typeface="Book Antiqua"/>
                <a:cs typeface="Book Antiqua"/>
              </a:rPr>
              <a:t>language</a:t>
            </a:r>
            <a:r>
              <a:rPr sz="2200" b="1" spc="-75" dirty="0">
                <a:latin typeface="Book Antiqua"/>
                <a:cs typeface="Book Antiqua"/>
              </a:rPr>
              <a:t> </a:t>
            </a:r>
            <a:r>
              <a:rPr sz="2200" b="1" spc="-10" dirty="0">
                <a:latin typeface="Book Antiqua"/>
                <a:cs typeface="Book Antiqua"/>
              </a:rPr>
              <a:t>models</a:t>
            </a:r>
            <a:r>
              <a:rPr sz="2200" b="1" spc="-75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be</a:t>
            </a:r>
            <a:r>
              <a:rPr sz="2200" b="1" spc="-75" dirty="0">
                <a:latin typeface="Book Antiqua"/>
                <a:cs typeface="Book Antiqua"/>
              </a:rPr>
              <a:t> </a:t>
            </a:r>
            <a:r>
              <a:rPr sz="2200" b="1" spc="-10" dirty="0">
                <a:latin typeface="Book Antiqua"/>
                <a:cs typeface="Book Antiqua"/>
              </a:rPr>
              <a:t>used</a:t>
            </a:r>
            <a:r>
              <a:rPr sz="2200" b="1" spc="-75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as</a:t>
            </a:r>
            <a:r>
              <a:rPr sz="2200" b="1" spc="-75" dirty="0">
                <a:latin typeface="Book Antiqua"/>
                <a:cs typeface="Book Antiqua"/>
              </a:rPr>
              <a:t> </a:t>
            </a:r>
            <a:r>
              <a:rPr sz="2200" b="1" spc="-55" dirty="0">
                <a:latin typeface="Book Antiqua"/>
                <a:cs typeface="Book Antiqua"/>
              </a:rPr>
              <a:t>knowledge</a:t>
            </a:r>
            <a:r>
              <a:rPr sz="2200" b="1" spc="-75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bases?</a:t>
            </a:r>
            <a:r>
              <a:rPr sz="2200" b="1" spc="-80" dirty="0">
                <a:latin typeface="Book Antiqua"/>
                <a:cs typeface="Book Antiqua"/>
              </a:rPr>
              <a:t> </a:t>
            </a:r>
            <a:r>
              <a:rPr sz="2200" u="heavy" spc="9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(Petroni</a:t>
            </a:r>
            <a:r>
              <a:rPr sz="2200" spc="90" dirty="0">
                <a:solidFill>
                  <a:srgbClr val="3D85C6"/>
                </a:solidFill>
                <a:latin typeface="Times New Roman"/>
                <a:cs typeface="Times New Roman"/>
              </a:rPr>
              <a:t> </a:t>
            </a:r>
            <a:r>
              <a:rPr sz="2200" u="heavy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et</a:t>
            </a:r>
            <a:r>
              <a:rPr sz="2200" u="heavy" spc="-3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200" u="heavy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al.,</a:t>
            </a:r>
            <a:r>
              <a:rPr sz="2200" u="heavy" spc="-3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200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2019)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/>
            </a:pPr>
            <a:endParaRPr sz="2250">
              <a:latin typeface="Times New Roman"/>
              <a:cs typeface="Times New Roman"/>
            </a:endParaRPr>
          </a:p>
          <a:p>
            <a:pPr marL="464184" marR="1110615" indent="-452120">
              <a:lnSpc>
                <a:spcPct val="100000"/>
              </a:lnSpc>
              <a:buFont typeface="Times New Roman"/>
              <a:buAutoNum type="arabicPeriod"/>
              <a:tabLst>
                <a:tab pos="464184" algn="l"/>
                <a:tab pos="464820" algn="l"/>
              </a:tabLst>
            </a:pPr>
            <a:r>
              <a:rPr sz="2200" b="1" spc="-60" dirty="0">
                <a:latin typeface="Book Antiqua"/>
                <a:cs typeface="Book Antiqua"/>
              </a:rPr>
              <a:t>Can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a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spc="-20" dirty="0">
                <a:latin typeface="Book Antiqua"/>
                <a:cs typeface="Book Antiqua"/>
              </a:rPr>
              <a:t>closed-</a:t>
            </a:r>
            <a:r>
              <a:rPr sz="2200" b="1" spc="-25" dirty="0">
                <a:latin typeface="Book Antiqua"/>
                <a:cs typeface="Book Antiqua"/>
              </a:rPr>
              <a:t>book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spc="-315" dirty="0">
                <a:latin typeface="Book Antiqua"/>
                <a:cs typeface="Book Antiqua"/>
              </a:rPr>
              <a:t>QA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spc="-165" dirty="0">
                <a:latin typeface="Book Antiqua"/>
                <a:cs typeface="Book Antiqua"/>
              </a:rPr>
              <a:t>LM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perform</a:t>
            </a:r>
            <a:r>
              <a:rPr sz="2200" b="1" spc="-25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as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spc="-70" dirty="0">
                <a:latin typeface="Book Antiqua"/>
                <a:cs typeface="Book Antiqua"/>
              </a:rPr>
              <a:t>well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as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spc="-10" dirty="0">
                <a:latin typeface="Book Antiqua"/>
                <a:cs typeface="Book Antiqua"/>
              </a:rPr>
              <a:t>other </a:t>
            </a:r>
            <a:r>
              <a:rPr sz="2200" b="1" spc="-20" dirty="0">
                <a:latin typeface="Book Antiqua"/>
                <a:cs typeface="Book Antiqua"/>
              </a:rPr>
              <a:t>open-</a:t>
            </a:r>
            <a:r>
              <a:rPr sz="2200" b="1" spc="-25" dirty="0">
                <a:latin typeface="Book Antiqua"/>
                <a:cs typeface="Book Antiqua"/>
              </a:rPr>
              <a:t>book</a:t>
            </a:r>
            <a:r>
              <a:rPr sz="2200" b="1" spc="-70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methods?</a:t>
            </a:r>
            <a:r>
              <a:rPr sz="2200" b="1" spc="-50" dirty="0">
                <a:latin typeface="Book Antiqua"/>
                <a:cs typeface="Book Antiqua"/>
              </a:rPr>
              <a:t> </a:t>
            </a:r>
            <a:r>
              <a:rPr sz="2200" spc="90" dirty="0">
                <a:latin typeface="Times New Roman"/>
                <a:cs typeface="Times New Roman"/>
              </a:rPr>
              <a:t>(</a:t>
            </a:r>
            <a:r>
              <a:rPr sz="2200" u="heavy" spc="9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3"/>
              </a:rPr>
              <a:t>Roberts</a:t>
            </a:r>
            <a:r>
              <a:rPr sz="2200" u="heavy" spc="-4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200" u="heavy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3"/>
              </a:rPr>
              <a:t>et</a:t>
            </a:r>
            <a:r>
              <a:rPr sz="2200" u="heavy" spc="-4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200" u="heavy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3"/>
              </a:rPr>
              <a:t>al.,</a:t>
            </a:r>
            <a:r>
              <a:rPr sz="2200" u="heavy" spc="-4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200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3"/>
              </a:rPr>
              <a:t>2020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2250">
              <a:latin typeface="Times New Roman"/>
              <a:cs typeface="Times New Roman"/>
            </a:endParaRPr>
          </a:p>
          <a:p>
            <a:pPr marL="464184" indent="-452120">
              <a:lnSpc>
                <a:spcPct val="100000"/>
              </a:lnSpc>
              <a:buFont typeface="Times New Roman"/>
              <a:buAutoNum type="arabicPeriod"/>
              <a:tabLst>
                <a:tab pos="464184" algn="l"/>
                <a:tab pos="464820" algn="l"/>
              </a:tabLst>
            </a:pPr>
            <a:r>
              <a:rPr sz="2200" b="1" spc="-114" dirty="0">
                <a:latin typeface="Book Antiqua"/>
                <a:cs typeface="Book Antiqua"/>
              </a:rPr>
              <a:t>How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to</a:t>
            </a:r>
            <a:r>
              <a:rPr sz="2200" b="1" spc="-25" dirty="0">
                <a:latin typeface="Book Antiqua"/>
                <a:cs typeface="Book Antiqua"/>
              </a:rPr>
              <a:t> </a:t>
            </a:r>
            <a:r>
              <a:rPr sz="2200" b="1" spc="-10" dirty="0">
                <a:latin typeface="Book Antiqua"/>
                <a:cs typeface="Book Antiqua"/>
              </a:rPr>
              <a:t>update</a:t>
            </a:r>
            <a:r>
              <a:rPr sz="2200" b="1" spc="-30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facts?</a:t>
            </a:r>
            <a:r>
              <a:rPr sz="2200" b="1" spc="-25" dirty="0">
                <a:latin typeface="Book Antiqua"/>
                <a:cs typeface="Book Antiqua"/>
              </a:rPr>
              <a:t> </a:t>
            </a:r>
            <a:r>
              <a:rPr sz="2200" b="1" dirty="0">
                <a:latin typeface="Book Antiqua"/>
                <a:cs typeface="Book Antiqua"/>
              </a:rPr>
              <a:t>(</a:t>
            </a:r>
            <a:r>
              <a:rPr sz="2200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4"/>
              </a:rPr>
              <a:t>Dai</a:t>
            </a:r>
            <a:r>
              <a:rPr sz="2200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200" u="heavy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4"/>
              </a:rPr>
              <a:t>et</a:t>
            </a:r>
            <a:r>
              <a:rPr sz="2200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200" u="heavy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4"/>
              </a:rPr>
              <a:t>al.,</a:t>
            </a:r>
            <a:r>
              <a:rPr sz="2200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200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4"/>
              </a:rPr>
              <a:t>2021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u="heavy" spc="7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5"/>
              </a:rPr>
              <a:t>Mitchell</a:t>
            </a:r>
            <a:r>
              <a:rPr sz="2200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2200" u="heavy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5"/>
              </a:rPr>
              <a:t>et</a:t>
            </a:r>
            <a:r>
              <a:rPr sz="2200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2200" u="heavy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5"/>
              </a:rPr>
              <a:t>al.,</a:t>
            </a:r>
            <a:r>
              <a:rPr sz="2200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2200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5"/>
              </a:rPr>
              <a:t>2022</a:t>
            </a:r>
            <a:r>
              <a:rPr sz="2200" b="1" spc="-10" dirty="0">
                <a:latin typeface="Book Antiqua"/>
                <a:cs typeface="Book Antiqua"/>
              </a:rPr>
              <a:t>)</a:t>
            </a:r>
            <a:endParaRPr sz="22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6564" y="2266442"/>
            <a:ext cx="2612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95" dirty="0"/>
              <a:t>Introduction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70579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216864"/>
            <a:ext cx="7274559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5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corpora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pretrain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ambria"/>
                <a:cs typeface="Cambria"/>
              </a:rPr>
              <a:t>huge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aggregations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of </a:t>
            </a:r>
            <a:r>
              <a:rPr sz="1700" spc="100" dirty="0">
                <a:latin typeface="Times New Roman"/>
                <a:cs typeface="Times New Roman"/>
              </a:rPr>
              <a:t>information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data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internet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69432" y="68529"/>
            <a:ext cx="140208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Gao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et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70579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216864"/>
            <a:ext cx="721677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5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corpora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pretrain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huge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aggregations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of </a:t>
            </a:r>
            <a:r>
              <a:rPr sz="1700" spc="100" dirty="0">
                <a:latin typeface="Times New Roman"/>
                <a:cs typeface="Times New Roman"/>
              </a:rPr>
              <a:t>information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data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internet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0" dirty="0">
                <a:latin typeface="Times New Roman"/>
                <a:cs typeface="Times New Roman"/>
              </a:rPr>
              <a:t>Consider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The</a:t>
            </a:r>
            <a:r>
              <a:rPr sz="1700" b="1" u="heavy" spc="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Pile</a:t>
            </a:r>
            <a:r>
              <a:rPr sz="1700" b="1" spc="10" dirty="0">
                <a:solidFill>
                  <a:srgbClr val="3D85C6"/>
                </a:solidFill>
                <a:latin typeface="Cambria"/>
                <a:cs typeface="Cambria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(Gao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al.,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2020):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b="1" spc="-55" dirty="0">
                <a:latin typeface="Cambria"/>
                <a:cs typeface="Cambria"/>
              </a:rPr>
              <a:t>800GB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total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69432" y="68529"/>
            <a:ext cx="140208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Gao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et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70579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216864"/>
            <a:ext cx="721677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5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corpora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pretrain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huge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aggregations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of </a:t>
            </a:r>
            <a:r>
              <a:rPr sz="1700" spc="100" dirty="0">
                <a:latin typeface="Times New Roman"/>
                <a:cs typeface="Times New Roman"/>
              </a:rPr>
              <a:t>information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data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internet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0" dirty="0">
                <a:latin typeface="Times New Roman"/>
                <a:cs typeface="Times New Roman"/>
              </a:rPr>
              <a:t>Consider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The</a:t>
            </a:r>
            <a:r>
              <a:rPr sz="1700" b="1" u="heavy" spc="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Pile</a:t>
            </a:r>
            <a:r>
              <a:rPr sz="1700" b="1" spc="10" dirty="0">
                <a:solidFill>
                  <a:srgbClr val="3D85C6"/>
                </a:solidFill>
                <a:latin typeface="Cambria"/>
                <a:cs typeface="Cambria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(Gao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al.,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2020):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b="1" spc="-55" dirty="0">
                <a:latin typeface="Cambria"/>
                <a:cs typeface="Cambria"/>
              </a:rPr>
              <a:t>800GB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total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4984" y="2151909"/>
            <a:ext cx="5012690" cy="2631440"/>
            <a:chOff x="2244984" y="2151909"/>
            <a:chExt cx="5012690" cy="2631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4984" y="2151909"/>
              <a:ext cx="4644964" cy="26310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03850" y="4477849"/>
              <a:ext cx="630555" cy="262255"/>
            </a:xfrm>
            <a:custGeom>
              <a:avLst/>
              <a:gdLst/>
              <a:ahLst/>
              <a:cxnLst/>
              <a:rect l="l" t="t" r="r" b="b"/>
              <a:pathLst>
                <a:path w="630554" h="262254">
                  <a:moveTo>
                    <a:pt x="586649" y="261899"/>
                  </a:moveTo>
                  <a:lnTo>
                    <a:pt x="43650" y="261899"/>
                  </a:lnTo>
                  <a:lnTo>
                    <a:pt x="26659" y="258469"/>
                  </a:lnTo>
                  <a:lnTo>
                    <a:pt x="12784" y="249115"/>
                  </a:lnTo>
                  <a:lnTo>
                    <a:pt x="3430" y="235240"/>
                  </a:lnTo>
                  <a:lnTo>
                    <a:pt x="0" y="218249"/>
                  </a:lnTo>
                  <a:lnTo>
                    <a:pt x="0" y="43650"/>
                  </a:lnTo>
                  <a:lnTo>
                    <a:pt x="3430" y="26659"/>
                  </a:lnTo>
                  <a:lnTo>
                    <a:pt x="12784" y="12784"/>
                  </a:lnTo>
                  <a:lnTo>
                    <a:pt x="26659" y="3430"/>
                  </a:lnTo>
                  <a:lnTo>
                    <a:pt x="43650" y="0"/>
                  </a:lnTo>
                  <a:lnTo>
                    <a:pt x="586649" y="0"/>
                  </a:lnTo>
                  <a:lnTo>
                    <a:pt x="622966" y="19433"/>
                  </a:lnTo>
                  <a:lnTo>
                    <a:pt x="630299" y="43650"/>
                  </a:lnTo>
                  <a:lnTo>
                    <a:pt x="630299" y="218249"/>
                  </a:lnTo>
                  <a:lnTo>
                    <a:pt x="626869" y="235240"/>
                  </a:lnTo>
                  <a:lnTo>
                    <a:pt x="617515" y="249115"/>
                  </a:lnTo>
                  <a:lnTo>
                    <a:pt x="603640" y="258469"/>
                  </a:lnTo>
                  <a:lnTo>
                    <a:pt x="586649" y="2618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3850" y="4477849"/>
              <a:ext cx="630555" cy="262255"/>
            </a:xfrm>
            <a:custGeom>
              <a:avLst/>
              <a:gdLst/>
              <a:ahLst/>
              <a:cxnLst/>
              <a:rect l="l" t="t" r="r" b="b"/>
              <a:pathLst>
                <a:path w="630554" h="262254">
                  <a:moveTo>
                    <a:pt x="0" y="43650"/>
                  </a:moveTo>
                  <a:lnTo>
                    <a:pt x="3430" y="26659"/>
                  </a:lnTo>
                  <a:lnTo>
                    <a:pt x="12784" y="12784"/>
                  </a:lnTo>
                  <a:lnTo>
                    <a:pt x="26659" y="3430"/>
                  </a:lnTo>
                  <a:lnTo>
                    <a:pt x="43650" y="0"/>
                  </a:lnTo>
                  <a:lnTo>
                    <a:pt x="586649" y="0"/>
                  </a:lnTo>
                  <a:lnTo>
                    <a:pt x="622966" y="19433"/>
                  </a:lnTo>
                  <a:lnTo>
                    <a:pt x="630299" y="43650"/>
                  </a:lnTo>
                  <a:lnTo>
                    <a:pt x="630299" y="218249"/>
                  </a:lnTo>
                  <a:lnTo>
                    <a:pt x="626869" y="235240"/>
                  </a:lnTo>
                  <a:lnTo>
                    <a:pt x="617515" y="249115"/>
                  </a:lnTo>
                  <a:lnTo>
                    <a:pt x="603640" y="258469"/>
                  </a:lnTo>
                  <a:lnTo>
                    <a:pt x="586649" y="261899"/>
                  </a:lnTo>
                  <a:lnTo>
                    <a:pt x="43650" y="261899"/>
                  </a:lnTo>
                  <a:lnTo>
                    <a:pt x="26659" y="258469"/>
                  </a:lnTo>
                  <a:lnTo>
                    <a:pt x="12784" y="249115"/>
                  </a:lnTo>
                  <a:lnTo>
                    <a:pt x="3430" y="235240"/>
                  </a:lnTo>
                  <a:lnTo>
                    <a:pt x="0" y="218249"/>
                  </a:lnTo>
                  <a:lnTo>
                    <a:pt x="0" y="43650"/>
                  </a:lnTo>
                  <a:close/>
                </a:path>
              </a:pathLst>
            </a:custGeom>
            <a:ln w="952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31797" y="3779698"/>
              <a:ext cx="1620520" cy="836294"/>
            </a:xfrm>
            <a:custGeom>
              <a:avLst/>
              <a:gdLst/>
              <a:ahLst/>
              <a:cxnLst/>
              <a:rect l="l" t="t" r="r" b="b"/>
              <a:pathLst>
                <a:path w="1620520" h="836295">
                  <a:moveTo>
                    <a:pt x="78307" y="836039"/>
                  </a:moveTo>
                  <a:lnTo>
                    <a:pt x="0" y="809024"/>
                  </a:lnTo>
                  <a:lnTo>
                    <a:pt x="27007" y="730739"/>
                  </a:lnTo>
                  <a:lnTo>
                    <a:pt x="39832" y="757064"/>
                  </a:lnTo>
                  <a:lnTo>
                    <a:pt x="1594874" y="0"/>
                  </a:lnTo>
                  <a:lnTo>
                    <a:pt x="1620524" y="52649"/>
                  </a:lnTo>
                  <a:lnTo>
                    <a:pt x="65482" y="809714"/>
                  </a:lnTo>
                  <a:lnTo>
                    <a:pt x="78307" y="83603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31797" y="3779698"/>
              <a:ext cx="1620520" cy="836294"/>
            </a:xfrm>
            <a:custGeom>
              <a:avLst/>
              <a:gdLst/>
              <a:ahLst/>
              <a:cxnLst/>
              <a:rect l="l" t="t" r="r" b="b"/>
              <a:pathLst>
                <a:path w="1620520" h="836295">
                  <a:moveTo>
                    <a:pt x="0" y="809024"/>
                  </a:moveTo>
                  <a:lnTo>
                    <a:pt x="27007" y="730739"/>
                  </a:lnTo>
                  <a:lnTo>
                    <a:pt x="39832" y="757064"/>
                  </a:lnTo>
                  <a:lnTo>
                    <a:pt x="1594874" y="0"/>
                  </a:lnTo>
                  <a:lnTo>
                    <a:pt x="1620524" y="52649"/>
                  </a:lnTo>
                  <a:lnTo>
                    <a:pt x="65482" y="809714"/>
                  </a:lnTo>
                  <a:lnTo>
                    <a:pt x="78307" y="836039"/>
                  </a:lnTo>
                  <a:lnTo>
                    <a:pt x="0" y="809024"/>
                  </a:lnTo>
                  <a:close/>
                </a:path>
              </a:pathLst>
            </a:custGeom>
            <a:ln w="952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669432" y="68529"/>
            <a:ext cx="140208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Gao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et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70579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216864"/>
            <a:ext cx="721677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5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corpora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pretrain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huge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aggregations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of </a:t>
            </a:r>
            <a:r>
              <a:rPr sz="1700" spc="100" dirty="0">
                <a:latin typeface="Times New Roman"/>
                <a:cs typeface="Times New Roman"/>
              </a:rPr>
              <a:t>information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data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internet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0" dirty="0">
                <a:latin typeface="Times New Roman"/>
                <a:cs typeface="Times New Roman"/>
              </a:rPr>
              <a:t>Consider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The</a:t>
            </a:r>
            <a:r>
              <a:rPr sz="1700" b="1" u="heavy" spc="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Pile</a:t>
            </a:r>
            <a:r>
              <a:rPr sz="1700" b="1" spc="10" dirty="0">
                <a:solidFill>
                  <a:srgbClr val="3D85C6"/>
                </a:solidFill>
                <a:latin typeface="Cambria"/>
                <a:cs typeface="Cambria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(Gao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al.,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2020):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b="1" spc="-55" dirty="0">
                <a:latin typeface="Cambria"/>
                <a:cs typeface="Cambria"/>
              </a:rPr>
              <a:t>800GB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total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4984" y="2151909"/>
            <a:ext cx="4645025" cy="2631440"/>
            <a:chOff x="2244984" y="2151909"/>
            <a:chExt cx="4645025" cy="2631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4984" y="2151909"/>
              <a:ext cx="4644964" cy="26310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03850" y="4477849"/>
              <a:ext cx="630555" cy="262255"/>
            </a:xfrm>
            <a:custGeom>
              <a:avLst/>
              <a:gdLst/>
              <a:ahLst/>
              <a:cxnLst/>
              <a:rect l="l" t="t" r="r" b="b"/>
              <a:pathLst>
                <a:path w="630554" h="262254">
                  <a:moveTo>
                    <a:pt x="586649" y="261899"/>
                  </a:moveTo>
                  <a:lnTo>
                    <a:pt x="43650" y="261899"/>
                  </a:lnTo>
                  <a:lnTo>
                    <a:pt x="26659" y="258469"/>
                  </a:lnTo>
                  <a:lnTo>
                    <a:pt x="12784" y="249115"/>
                  </a:lnTo>
                  <a:lnTo>
                    <a:pt x="3430" y="235240"/>
                  </a:lnTo>
                  <a:lnTo>
                    <a:pt x="0" y="218249"/>
                  </a:lnTo>
                  <a:lnTo>
                    <a:pt x="0" y="43650"/>
                  </a:lnTo>
                  <a:lnTo>
                    <a:pt x="3430" y="26659"/>
                  </a:lnTo>
                  <a:lnTo>
                    <a:pt x="12784" y="12784"/>
                  </a:lnTo>
                  <a:lnTo>
                    <a:pt x="26659" y="3430"/>
                  </a:lnTo>
                  <a:lnTo>
                    <a:pt x="43650" y="0"/>
                  </a:lnTo>
                  <a:lnTo>
                    <a:pt x="586649" y="0"/>
                  </a:lnTo>
                  <a:lnTo>
                    <a:pt x="622966" y="19433"/>
                  </a:lnTo>
                  <a:lnTo>
                    <a:pt x="630299" y="43650"/>
                  </a:lnTo>
                  <a:lnTo>
                    <a:pt x="630299" y="218249"/>
                  </a:lnTo>
                  <a:lnTo>
                    <a:pt x="626869" y="235240"/>
                  </a:lnTo>
                  <a:lnTo>
                    <a:pt x="617515" y="249115"/>
                  </a:lnTo>
                  <a:lnTo>
                    <a:pt x="603640" y="258469"/>
                  </a:lnTo>
                  <a:lnTo>
                    <a:pt x="586649" y="2618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3850" y="4477849"/>
              <a:ext cx="630555" cy="262255"/>
            </a:xfrm>
            <a:custGeom>
              <a:avLst/>
              <a:gdLst/>
              <a:ahLst/>
              <a:cxnLst/>
              <a:rect l="l" t="t" r="r" b="b"/>
              <a:pathLst>
                <a:path w="630554" h="262254">
                  <a:moveTo>
                    <a:pt x="0" y="43650"/>
                  </a:moveTo>
                  <a:lnTo>
                    <a:pt x="3430" y="26659"/>
                  </a:lnTo>
                  <a:lnTo>
                    <a:pt x="12784" y="12784"/>
                  </a:lnTo>
                  <a:lnTo>
                    <a:pt x="26659" y="3430"/>
                  </a:lnTo>
                  <a:lnTo>
                    <a:pt x="43650" y="0"/>
                  </a:lnTo>
                  <a:lnTo>
                    <a:pt x="586649" y="0"/>
                  </a:lnTo>
                  <a:lnTo>
                    <a:pt x="622966" y="19433"/>
                  </a:lnTo>
                  <a:lnTo>
                    <a:pt x="630299" y="43650"/>
                  </a:lnTo>
                  <a:lnTo>
                    <a:pt x="630299" y="218249"/>
                  </a:lnTo>
                  <a:lnTo>
                    <a:pt x="626869" y="235240"/>
                  </a:lnTo>
                  <a:lnTo>
                    <a:pt x="617515" y="249115"/>
                  </a:lnTo>
                  <a:lnTo>
                    <a:pt x="603640" y="258469"/>
                  </a:lnTo>
                  <a:lnTo>
                    <a:pt x="586649" y="261899"/>
                  </a:lnTo>
                  <a:lnTo>
                    <a:pt x="43650" y="261899"/>
                  </a:lnTo>
                  <a:lnTo>
                    <a:pt x="26659" y="258469"/>
                  </a:lnTo>
                  <a:lnTo>
                    <a:pt x="12784" y="249115"/>
                  </a:lnTo>
                  <a:lnTo>
                    <a:pt x="3430" y="235240"/>
                  </a:lnTo>
                  <a:lnTo>
                    <a:pt x="0" y="218249"/>
                  </a:lnTo>
                  <a:lnTo>
                    <a:pt x="0" y="43650"/>
                  </a:lnTo>
                  <a:close/>
                </a:path>
              </a:pathLst>
            </a:custGeom>
            <a:ln w="952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89659" y="4504787"/>
            <a:ext cx="436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~16GB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3201" y="3339573"/>
            <a:ext cx="1447800" cy="5607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-635" algn="ctr">
              <a:lnSpc>
                <a:spcPct val="80000"/>
              </a:lnSpc>
              <a:spcBef>
                <a:spcPts val="425"/>
              </a:spcBef>
            </a:pPr>
            <a:r>
              <a:rPr sz="1350" b="1" dirty="0">
                <a:solidFill>
                  <a:srgbClr val="674EA7"/>
                </a:solidFill>
                <a:latin typeface="Cambria"/>
                <a:cs typeface="Cambria"/>
              </a:rPr>
              <a:t>This</a:t>
            </a:r>
            <a:r>
              <a:rPr sz="1350" b="1" spc="-25" dirty="0">
                <a:solidFill>
                  <a:srgbClr val="674EA7"/>
                </a:solidFill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674EA7"/>
                </a:solidFill>
                <a:latin typeface="Cambria"/>
                <a:cs typeface="Cambria"/>
              </a:rPr>
              <a:t>little</a:t>
            </a:r>
            <a:r>
              <a:rPr sz="1350" b="1" spc="-25" dirty="0">
                <a:solidFill>
                  <a:srgbClr val="674EA7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674EA7"/>
                </a:solidFill>
                <a:latin typeface="Cambria"/>
                <a:cs typeface="Cambria"/>
              </a:rPr>
              <a:t>purple </a:t>
            </a:r>
            <a:r>
              <a:rPr sz="1350" b="1" dirty="0">
                <a:solidFill>
                  <a:srgbClr val="674EA7"/>
                </a:solidFill>
                <a:latin typeface="Cambria"/>
                <a:cs typeface="Cambria"/>
              </a:rPr>
              <a:t>box</a:t>
            </a:r>
            <a:r>
              <a:rPr sz="1350" b="1" spc="-5" dirty="0">
                <a:solidFill>
                  <a:srgbClr val="674EA7"/>
                </a:solidFill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674EA7"/>
                </a:solidFill>
                <a:latin typeface="Cambria"/>
                <a:cs typeface="Cambria"/>
              </a:rPr>
              <a:t>is</a:t>
            </a:r>
            <a:r>
              <a:rPr sz="1350" b="1" spc="-5" dirty="0">
                <a:solidFill>
                  <a:srgbClr val="674EA7"/>
                </a:solidFill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674EA7"/>
                </a:solidFill>
                <a:latin typeface="Cambria"/>
                <a:cs typeface="Cambria"/>
              </a:rPr>
              <a:t>the</a:t>
            </a:r>
            <a:r>
              <a:rPr sz="1350" b="1" spc="-5" dirty="0">
                <a:solidFill>
                  <a:srgbClr val="674EA7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674EA7"/>
                </a:solidFill>
                <a:latin typeface="Cambria"/>
                <a:cs typeface="Cambria"/>
              </a:rPr>
              <a:t>entirety </a:t>
            </a:r>
            <a:r>
              <a:rPr sz="1350" b="1" dirty="0">
                <a:solidFill>
                  <a:srgbClr val="674EA7"/>
                </a:solidFill>
                <a:latin typeface="Cambria"/>
                <a:cs typeface="Cambria"/>
              </a:rPr>
              <a:t>of</a:t>
            </a:r>
            <a:r>
              <a:rPr sz="1350" b="1" spc="-40" dirty="0">
                <a:solidFill>
                  <a:srgbClr val="674EA7"/>
                </a:solidFill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674EA7"/>
                </a:solidFill>
                <a:latin typeface="Cambria"/>
                <a:cs typeface="Cambria"/>
              </a:rPr>
              <a:t>Wikipedia</a:t>
            </a:r>
            <a:r>
              <a:rPr sz="1350" b="1" spc="-5" dirty="0">
                <a:solidFill>
                  <a:srgbClr val="674EA7"/>
                </a:solidFill>
                <a:latin typeface="Cambria"/>
                <a:cs typeface="Cambria"/>
              </a:rPr>
              <a:t> </a:t>
            </a:r>
            <a:r>
              <a:rPr sz="1350" b="1" spc="-25" dirty="0">
                <a:solidFill>
                  <a:srgbClr val="674EA7"/>
                </a:solidFill>
                <a:latin typeface="Cambria"/>
                <a:cs typeface="Cambria"/>
              </a:rPr>
              <a:t>:)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27034" y="3774936"/>
            <a:ext cx="1630045" cy="845819"/>
            <a:chOff x="5627034" y="3774936"/>
            <a:chExt cx="1630045" cy="845819"/>
          </a:xfrm>
        </p:grpSpPr>
        <p:sp>
          <p:nvSpPr>
            <p:cNvPr id="11" name="object 11"/>
            <p:cNvSpPr/>
            <p:nvPr/>
          </p:nvSpPr>
          <p:spPr>
            <a:xfrm>
              <a:off x="5631797" y="3779698"/>
              <a:ext cx="1620520" cy="836294"/>
            </a:xfrm>
            <a:custGeom>
              <a:avLst/>
              <a:gdLst/>
              <a:ahLst/>
              <a:cxnLst/>
              <a:rect l="l" t="t" r="r" b="b"/>
              <a:pathLst>
                <a:path w="1620520" h="836295">
                  <a:moveTo>
                    <a:pt x="78307" y="836039"/>
                  </a:moveTo>
                  <a:lnTo>
                    <a:pt x="0" y="809024"/>
                  </a:lnTo>
                  <a:lnTo>
                    <a:pt x="27007" y="730739"/>
                  </a:lnTo>
                  <a:lnTo>
                    <a:pt x="39832" y="757064"/>
                  </a:lnTo>
                  <a:lnTo>
                    <a:pt x="1594874" y="0"/>
                  </a:lnTo>
                  <a:lnTo>
                    <a:pt x="1620524" y="52649"/>
                  </a:lnTo>
                  <a:lnTo>
                    <a:pt x="65482" y="809714"/>
                  </a:lnTo>
                  <a:lnTo>
                    <a:pt x="78307" y="83603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31797" y="3779698"/>
              <a:ext cx="1620520" cy="836294"/>
            </a:xfrm>
            <a:custGeom>
              <a:avLst/>
              <a:gdLst/>
              <a:ahLst/>
              <a:cxnLst/>
              <a:rect l="l" t="t" r="r" b="b"/>
              <a:pathLst>
                <a:path w="1620520" h="836295">
                  <a:moveTo>
                    <a:pt x="0" y="809024"/>
                  </a:moveTo>
                  <a:lnTo>
                    <a:pt x="27007" y="730739"/>
                  </a:lnTo>
                  <a:lnTo>
                    <a:pt x="39832" y="757064"/>
                  </a:lnTo>
                  <a:lnTo>
                    <a:pt x="1594874" y="0"/>
                  </a:lnTo>
                  <a:lnTo>
                    <a:pt x="1620524" y="52649"/>
                  </a:lnTo>
                  <a:lnTo>
                    <a:pt x="65482" y="809714"/>
                  </a:lnTo>
                  <a:lnTo>
                    <a:pt x="78307" y="836039"/>
                  </a:lnTo>
                  <a:lnTo>
                    <a:pt x="0" y="809024"/>
                  </a:lnTo>
                  <a:close/>
                </a:path>
              </a:pathLst>
            </a:custGeom>
            <a:ln w="952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69432" y="68529"/>
            <a:ext cx="140208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Gao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et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70579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216864"/>
            <a:ext cx="721677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5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corpora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pretrain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huge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aggregations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of </a:t>
            </a:r>
            <a:r>
              <a:rPr sz="1700" spc="100" dirty="0">
                <a:latin typeface="Times New Roman"/>
                <a:cs typeface="Times New Roman"/>
              </a:rPr>
              <a:t>information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data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internet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0" dirty="0">
                <a:latin typeface="Times New Roman"/>
                <a:cs typeface="Times New Roman"/>
              </a:rPr>
              <a:t>Consider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The</a:t>
            </a:r>
            <a:r>
              <a:rPr sz="1700" b="1" u="heavy" spc="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Pile</a:t>
            </a:r>
            <a:r>
              <a:rPr sz="1700" b="1" spc="10" dirty="0">
                <a:solidFill>
                  <a:srgbClr val="3D85C6"/>
                </a:solidFill>
                <a:latin typeface="Cambria"/>
                <a:cs typeface="Cambria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(Gao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al.,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2020):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b="1" spc="-55" dirty="0">
                <a:latin typeface="Cambria"/>
                <a:cs typeface="Cambria"/>
              </a:rPr>
              <a:t>800GB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total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4984" y="2151909"/>
            <a:ext cx="4645025" cy="2631440"/>
            <a:chOff x="2244984" y="2151909"/>
            <a:chExt cx="4645025" cy="2631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4984" y="2151909"/>
              <a:ext cx="4644964" cy="26310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21549" y="4473375"/>
              <a:ext cx="631190" cy="262255"/>
            </a:xfrm>
            <a:custGeom>
              <a:avLst/>
              <a:gdLst/>
              <a:ahLst/>
              <a:cxnLst/>
              <a:rect l="l" t="t" r="r" b="b"/>
              <a:pathLst>
                <a:path w="631189" h="262254">
                  <a:moveTo>
                    <a:pt x="586949" y="261899"/>
                  </a:moveTo>
                  <a:lnTo>
                    <a:pt x="43650" y="261899"/>
                  </a:lnTo>
                  <a:lnTo>
                    <a:pt x="26659" y="258469"/>
                  </a:lnTo>
                  <a:lnTo>
                    <a:pt x="12784" y="249115"/>
                  </a:lnTo>
                  <a:lnTo>
                    <a:pt x="3430" y="235240"/>
                  </a:lnTo>
                  <a:lnTo>
                    <a:pt x="0" y="218249"/>
                  </a:lnTo>
                  <a:lnTo>
                    <a:pt x="0" y="43650"/>
                  </a:lnTo>
                  <a:lnTo>
                    <a:pt x="3430" y="26659"/>
                  </a:lnTo>
                  <a:lnTo>
                    <a:pt x="12784" y="12784"/>
                  </a:lnTo>
                  <a:lnTo>
                    <a:pt x="26659" y="3430"/>
                  </a:lnTo>
                  <a:lnTo>
                    <a:pt x="43650" y="0"/>
                  </a:lnTo>
                  <a:lnTo>
                    <a:pt x="586949" y="0"/>
                  </a:lnTo>
                  <a:lnTo>
                    <a:pt x="623266" y="19433"/>
                  </a:lnTo>
                  <a:lnTo>
                    <a:pt x="630599" y="43650"/>
                  </a:lnTo>
                  <a:lnTo>
                    <a:pt x="630599" y="218249"/>
                  </a:lnTo>
                  <a:lnTo>
                    <a:pt x="627169" y="235240"/>
                  </a:lnTo>
                  <a:lnTo>
                    <a:pt x="617815" y="249115"/>
                  </a:lnTo>
                  <a:lnTo>
                    <a:pt x="603940" y="258469"/>
                  </a:lnTo>
                  <a:lnTo>
                    <a:pt x="586949" y="2618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21549" y="4473375"/>
              <a:ext cx="631190" cy="262255"/>
            </a:xfrm>
            <a:custGeom>
              <a:avLst/>
              <a:gdLst/>
              <a:ahLst/>
              <a:cxnLst/>
              <a:rect l="l" t="t" r="r" b="b"/>
              <a:pathLst>
                <a:path w="631189" h="262254">
                  <a:moveTo>
                    <a:pt x="0" y="43650"/>
                  </a:moveTo>
                  <a:lnTo>
                    <a:pt x="3430" y="26659"/>
                  </a:lnTo>
                  <a:lnTo>
                    <a:pt x="12784" y="12784"/>
                  </a:lnTo>
                  <a:lnTo>
                    <a:pt x="26659" y="3430"/>
                  </a:lnTo>
                  <a:lnTo>
                    <a:pt x="43650" y="0"/>
                  </a:lnTo>
                  <a:lnTo>
                    <a:pt x="586949" y="0"/>
                  </a:lnTo>
                  <a:lnTo>
                    <a:pt x="623266" y="19433"/>
                  </a:lnTo>
                  <a:lnTo>
                    <a:pt x="630599" y="43650"/>
                  </a:lnTo>
                  <a:lnTo>
                    <a:pt x="630599" y="218249"/>
                  </a:lnTo>
                  <a:lnTo>
                    <a:pt x="627169" y="235240"/>
                  </a:lnTo>
                  <a:lnTo>
                    <a:pt x="617815" y="249115"/>
                  </a:lnTo>
                  <a:lnTo>
                    <a:pt x="603940" y="258469"/>
                  </a:lnTo>
                  <a:lnTo>
                    <a:pt x="586949" y="261899"/>
                  </a:lnTo>
                  <a:lnTo>
                    <a:pt x="43650" y="261899"/>
                  </a:lnTo>
                  <a:lnTo>
                    <a:pt x="26659" y="258469"/>
                  </a:lnTo>
                  <a:lnTo>
                    <a:pt x="12784" y="249115"/>
                  </a:lnTo>
                  <a:lnTo>
                    <a:pt x="3430" y="235240"/>
                  </a:lnTo>
                  <a:lnTo>
                    <a:pt x="0" y="218249"/>
                  </a:lnTo>
                  <a:lnTo>
                    <a:pt x="0" y="4365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72195" y="4500312"/>
            <a:ext cx="329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mbria"/>
                <a:cs typeface="Cambria"/>
              </a:rPr>
              <a:t>Wiki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07691" y="2298816"/>
            <a:ext cx="1005205" cy="1531620"/>
          </a:xfrm>
          <a:custGeom>
            <a:avLst/>
            <a:gdLst/>
            <a:ahLst/>
            <a:cxnLst/>
            <a:rect l="l" t="t" r="r" b="b"/>
            <a:pathLst>
              <a:path w="1005204" h="1531620">
                <a:moveTo>
                  <a:pt x="8" y="8"/>
                </a:moveTo>
                <a:lnTo>
                  <a:pt x="1004708" y="8"/>
                </a:lnTo>
                <a:lnTo>
                  <a:pt x="1004708" y="1531208"/>
                </a:lnTo>
                <a:lnTo>
                  <a:pt x="8" y="1531208"/>
                </a:lnTo>
                <a:lnTo>
                  <a:pt x="8" y="8"/>
                </a:lnTo>
                <a:close/>
              </a:path>
            </a:pathLst>
          </a:custGeom>
          <a:solidFill>
            <a:srgbClr val="674E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07695" y="2298820"/>
            <a:ext cx="1005205" cy="1531620"/>
          </a:xfrm>
          <a:prstGeom prst="rect">
            <a:avLst/>
          </a:prstGeom>
          <a:ln w="28583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FFFFFF"/>
                </a:solidFill>
                <a:latin typeface="Cambria"/>
                <a:cs typeface="Cambria"/>
              </a:rPr>
              <a:t>PubMed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20562" y="2284537"/>
            <a:ext cx="659765" cy="1560195"/>
            <a:chOff x="3320562" y="2284537"/>
            <a:chExt cx="659765" cy="1560195"/>
          </a:xfrm>
        </p:grpSpPr>
        <p:sp>
          <p:nvSpPr>
            <p:cNvPr id="12" name="object 12"/>
            <p:cNvSpPr/>
            <p:nvPr/>
          </p:nvSpPr>
          <p:spPr>
            <a:xfrm>
              <a:off x="3334849" y="2298824"/>
              <a:ext cx="631190" cy="1531620"/>
            </a:xfrm>
            <a:custGeom>
              <a:avLst/>
              <a:gdLst/>
              <a:ahLst/>
              <a:cxnLst/>
              <a:rect l="l" t="t" r="r" b="b"/>
              <a:pathLst>
                <a:path w="631189" h="1531620">
                  <a:moveTo>
                    <a:pt x="625540" y="1531199"/>
                  </a:moveTo>
                  <a:lnTo>
                    <a:pt x="5059" y="1531199"/>
                  </a:lnTo>
                  <a:lnTo>
                    <a:pt x="0" y="1526140"/>
                  </a:lnTo>
                  <a:lnTo>
                    <a:pt x="0" y="11300"/>
                  </a:lnTo>
                  <a:lnTo>
                    <a:pt x="0" y="5059"/>
                  </a:lnTo>
                  <a:lnTo>
                    <a:pt x="5059" y="0"/>
                  </a:lnTo>
                  <a:lnTo>
                    <a:pt x="622296" y="0"/>
                  </a:lnTo>
                  <a:lnTo>
                    <a:pt x="625170" y="1190"/>
                  </a:lnTo>
                  <a:lnTo>
                    <a:pt x="629409" y="5429"/>
                  </a:lnTo>
                  <a:lnTo>
                    <a:pt x="630599" y="8303"/>
                  </a:lnTo>
                  <a:lnTo>
                    <a:pt x="630599" y="1526140"/>
                  </a:lnTo>
                  <a:lnTo>
                    <a:pt x="625540" y="15311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34849" y="2298824"/>
              <a:ext cx="631190" cy="1531620"/>
            </a:xfrm>
            <a:custGeom>
              <a:avLst/>
              <a:gdLst/>
              <a:ahLst/>
              <a:cxnLst/>
              <a:rect l="l" t="t" r="r" b="b"/>
              <a:pathLst>
                <a:path w="631189" h="1531620">
                  <a:moveTo>
                    <a:pt x="0" y="11300"/>
                  </a:moveTo>
                  <a:lnTo>
                    <a:pt x="0" y="5059"/>
                  </a:lnTo>
                  <a:lnTo>
                    <a:pt x="5059" y="0"/>
                  </a:lnTo>
                  <a:lnTo>
                    <a:pt x="11300" y="0"/>
                  </a:lnTo>
                  <a:lnTo>
                    <a:pt x="619299" y="0"/>
                  </a:lnTo>
                  <a:lnTo>
                    <a:pt x="622296" y="0"/>
                  </a:lnTo>
                  <a:lnTo>
                    <a:pt x="625170" y="1190"/>
                  </a:lnTo>
                  <a:lnTo>
                    <a:pt x="627290" y="3309"/>
                  </a:lnTo>
                  <a:lnTo>
                    <a:pt x="629409" y="5429"/>
                  </a:lnTo>
                  <a:lnTo>
                    <a:pt x="630599" y="8303"/>
                  </a:lnTo>
                  <a:lnTo>
                    <a:pt x="630599" y="11300"/>
                  </a:lnTo>
                  <a:lnTo>
                    <a:pt x="630599" y="1519899"/>
                  </a:lnTo>
                  <a:lnTo>
                    <a:pt x="630599" y="1526140"/>
                  </a:lnTo>
                  <a:lnTo>
                    <a:pt x="625540" y="1531199"/>
                  </a:lnTo>
                  <a:lnTo>
                    <a:pt x="619299" y="1531199"/>
                  </a:lnTo>
                  <a:lnTo>
                    <a:pt x="11300" y="1531199"/>
                  </a:lnTo>
                  <a:lnTo>
                    <a:pt x="5059" y="1531199"/>
                  </a:lnTo>
                  <a:lnTo>
                    <a:pt x="0" y="1526140"/>
                  </a:lnTo>
                  <a:lnTo>
                    <a:pt x="0" y="1519899"/>
                  </a:lnTo>
                  <a:lnTo>
                    <a:pt x="0" y="1130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74829" y="2970445"/>
            <a:ext cx="351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mbria"/>
                <a:cs typeface="Cambria"/>
              </a:rPr>
              <a:t>ArXiv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62062" y="2284537"/>
            <a:ext cx="1590675" cy="1284605"/>
            <a:chOff x="3962062" y="2284537"/>
            <a:chExt cx="1590675" cy="1284605"/>
          </a:xfrm>
        </p:grpSpPr>
        <p:sp>
          <p:nvSpPr>
            <p:cNvPr id="16" name="object 16"/>
            <p:cNvSpPr/>
            <p:nvPr/>
          </p:nvSpPr>
          <p:spPr>
            <a:xfrm>
              <a:off x="3976349" y="2298824"/>
              <a:ext cx="1562100" cy="1256030"/>
            </a:xfrm>
            <a:custGeom>
              <a:avLst/>
              <a:gdLst/>
              <a:ahLst/>
              <a:cxnLst/>
              <a:rect l="l" t="t" r="r" b="b"/>
              <a:pathLst>
                <a:path w="1562100" h="1256029">
                  <a:moveTo>
                    <a:pt x="1535476" y="1255799"/>
                  </a:moveTo>
                  <a:lnTo>
                    <a:pt x="26622" y="1255799"/>
                  </a:lnTo>
                  <a:lnTo>
                    <a:pt x="16260" y="1253707"/>
                  </a:lnTo>
                  <a:lnTo>
                    <a:pt x="7797" y="1248002"/>
                  </a:lnTo>
                  <a:lnTo>
                    <a:pt x="2092" y="1239539"/>
                  </a:lnTo>
                  <a:lnTo>
                    <a:pt x="0" y="1229176"/>
                  </a:lnTo>
                  <a:lnTo>
                    <a:pt x="0" y="26622"/>
                  </a:lnTo>
                  <a:lnTo>
                    <a:pt x="2092" y="16260"/>
                  </a:lnTo>
                  <a:lnTo>
                    <a:pt x="7797" y="7797"/>
                  </a:lnTo>
                  <a:lnTo>
                    <a:pt x="16260" y="2092"/>
                  </a:lnTo>
                  <a:lnTo>
                    <a:pt x="26622" y="0"/>
                  </a:lnTo>
                  <a:lnTo>
                    <a:pt x="1542537" y="0"/>
                  </a:lnTo>
                  <a:lnTo>
                    <a:pt x="1549309" y="2804"/>
                  </a:lnTo>
                  <a:lnTo>
                    <a:pt x="1559294" y="12790"/>
                  </a:lnTo>
                  <a:lnTo>
                    <a:pt x="1562099" y="19562"/>
                  </a:lnTo>
                  <a:lnTo>
                    <a:pt x="1562099" y="1229176"/>
                  </a:lnTo>
                  <a:lnTo>
                    <a:pt x="1560007" y="1239539"/>
                  </a:lnTo>
                  <a:lnTo>
                    <a:pt x="1554302" y="1248002"/>
                  </a:lnTo>
                  <a:lnTo>
                    <a:pt x="1545839" y="1253707"/>
                  </a:lnTo>
                  <a:lnTo>
                    <a:pt x="1535476" y="12557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76349" y="2298824"/>
              <a:ext cx="1562100" cy="1256030"/>
            </a:xfrm>
            <a:custGeom>
              <a:avLst/>
              <a:gdLst/>
              <a:ahLst/>
              <a:cxnLst/>
              <a:rect l="l" t="t" r="r" b="b"/>
              <a:pathLst>
                <a:path w="1562100" h="1256029">
                  <a:moveTo>
                    <a:pt x="0" y="26622"/>
                  </a:moveTo>
                  <a:lnTo>
                    <a:pt x="2092" y="16260"/>
                  </a:lnTo>
                  <a:lnTo>
                    <a:pt x="7797" y="7797"/>
                  </a:lnTo>
                  <a:lnTo>
                    <a:pt x="16260" y="2092"/>
                  </a:lnTo>
                  <a:lnTo>
                    <a:pt x="26622" y="0"/>
                  </a:lnTo>
                  <a:lnTo>
                    <a:pt x="1535476" y="0"/>
                  </a:lnTo>
                  <a:lnTo>
                    <a:pt x="1542537" y="0"/>
                  </a:lnTo>
                  <a:lnTo>
                    <a:pt x="1549309" y="2804"/>
                  </a:lnTo>
                  <a:lnTo>
                    <a:pt x="1554302" y="7797"/>
                  </a:lnTo>
                  <a:lnTo>
                    <a:pt x="1559294" y="12790"/>
                  </a:lnTo>
                  <a:lnTo>
                    <a:pt x="1562099" y="19562"/>
                  </a:lnTo>
                  <a:lnTo>
                    <a:pt x="1562099" y="26622"/>
                  </a:lnTo>
                  <a:lnTo>
                    <a:pt x="1562099" y="1229176"/>
                  </a:lnTo>
                  <a:lnTo>
                    <a:pt x="1560007" y="1239539"/>
                  </a:lnTo>
                  <a:lnTo>
                    <a:pt x="1554302" y="1248002"/>
                  </a:lnTo>
                  <a:lnTo>
                    <a:pt x="1545839" y="1253707"/>
                  </a:lnTo>
                  <a:lnTo>
                    <a:pt x="1535476" y="1255799"/>
                  </a:lnTo>
                  <a:lnTo>
                    <a:pt x="26622" y="1255799"/>
                  </a:lnTo>
                  <a:lnTo>
                    <a:pt x="16260" y="1253707"/>
                  </a:lnTo>
                  <a:lnTo>
                    <a:pt x="7797" y="1248002"/>
                  </a:lnTo>
                  <a:lnTo>
                    <a:pt x="2092" y="1239539"/>
                  </a:lnTo>
                  <a:lnTo>
                    <a:pt x="0" y="1229176"/>
                  </a:lnTo>
                  <a:lnTo>
                    <a:pt x="0" y="26622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60578" y="2569473"/>
            <a:ext cx="1194435" cy="6940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24790" marR="5080" indent="-212725">
              <a:lnSpc>
                <a:spcPts val="2630"/>
              </a:lnSpc>
              <a:spcBef>
                <a:spcPts val="195"/>
              </a:spcBef>
            </a:pPr>
            <a:r>
              <a:rPr sz="2200" b="1" spc="-10" dirty="0">
                <a:solidFill>
                  <a:srgbClr val="FFFFFF"/>
                </a:solidFill>
                <a:latin typeface="Cambria"/>
                <a:cs typeface="Cambria"/>
              </a:rPr>
              <a:t>Common Crawl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1162" y="3563587"/>
            <a:ext cx="984885" cy="1186180"/>
            <a:chOff x="3951162" y="3563587"/>
            <a:chExt cx="984885" cy="1186180"/>
          </a:xfrm>
        </p:grpSpPr>
        <p:sp>
          <p:nvSpPr>
            <p:cNvPr id="20" name="object 20"/>
            <p:cNvSpPr/>
            <p:nvPr/>
          </p:nvSpPr>
          <p:spPr>
            <a:xfrm>
              <a:off x="3965449" y="3577875"/>
              <a:ext cx="956310" cy="1157605"/>
            </a:xfrm>
            <a:custGeom>
              <a:avLst/>
              <a:gdLst/>
              <a:ahLst/>
              <a:cxnLst/>
              <a:rect l="l" t="t" r="r" b="b"/>
              <a:pathLst>
                <a:path w="956310" h="1157604">
                  <a:moveTo>
                    <a:pt x="931901" y="1157399"/>
                  </a:moveTo>
                  <a:lnTo>
                    <a:pt x="24198" y="1157399"/>
                  </a:lnTo>
                  <a:lnTo>
                    <a:pt x="14779" y="1155498"/>
                  </a:lnTo>
                  <a:lnTo>
                    <a:pt x="7087" y="1150312"/>
                  </a:lnTo>
                  <a:lnTo>
                    <a:pt x="1901" y="1142620"/>
                  </a:lnTo>
                  <a:lnTo>
                    <a:pt x="0" y="1133201"/>
                  </a:lnTo>
                  <a:lnTo>
                    <a:pt x="0" y="24198"/>
                  </a:lnTo>
                  <a:lnTo>
                    <a:pt x="1901" y="14779"/>
                  </a:lnTo>
                  <a:lnTo>
                    <a:pt x="7087" y="7087"/>
                  </a:lnTo>
                  <a:lnTo>
                    <a:pt x="14779" y="1901"/>
                  </a:lnTo>
                  <a:lnTo>
                    <a:pt x="24198" y="0"/>
                  </a:lnTo>
                  <a:lnTo>
                    <a:pt x="938319" y="0"/>
                  </a:lnTo>
                  <a:lnTo>
                    <a:pt x="944474" y="2549"/>
                  </a:lnTo>
                  <a:lnTo>
                    <a:pt x="953550" y="11625"/>
                  </a:lnTo>
                  <a:lnTo>
                    <a:pt x="956099" y="17780"/>
                  </a:lnTo>
                  <a:lnTo>
                    <a:pt x="956099" y="1133201"/>
                  </a:lnTo>
                  <a:lnTo>
                    <a:pt x="954198" y="1142620"/>
                  </a:lnTo>
                  <a:lnTo>
                    <a:pt x="949012" y="1150312"/>
                  </a:lnTo>
                  <a:lnTo>
                    <a:pt x="941320" y="1155498"/>
                  </a:lnTo>
                  <a:lnTo>
                    <a:pt x="931901" y="11573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65449" y="3577875"/>
              <a:ext cx="956310" cy="1157605"/>
            </a:xfrm>
            <a:custGeom>
              <a:avLst/>
              <a:gdLst/>
              <a:ahLst/>
              <a:cxnLst/>
              <a:rect l="l" t="t" r="r" b="b"/>
              <a:pathLst>
                <a:path w="956310" h="1157604">
                  <a:moveTo>
                    <a:pt x="0" y="24198"/>
                  </a:moveTo>
                  <a:lnTo>
                    <a:pt x="1901" y="14779"/>
                  </a:lnTo>
                  <a:lnTo>
                    <a:pt x="7087" y="7087"/>
                  </a:lnTo>
                  <a:lnTo>
                    <a:pt x="14779" y="1901"/>
                  </a:lnTo>
                  <a:lnTo>
                    <a:pt x="24198" y="0"/>
                  </a:lnTo>
                  <a:lnTo>
                    <a:pt x="931901" y="0"/>
                  </a:lnTo>
                  <a:lnTo>
                    <a:pt x="938319" y="0"/>
                  </a:lnTo>
                  <a:lnTo>
                    <a:pt x="944474" y="2549"/>
                  </a:lnTo>
                  <a:lnTo>
                    <a:pt x="949012" y="7087"/>
                  </a:lnTo>
                  <a:lnTo>
                    <a:pt x="953550" y="11625"/>
                  </a:lnTo>
                  <a:lnTo>
                    <a:pt x="956099" y="17780"/>
                  </a:lnTo>
                  <a:lnTo>
                    <a:pt x="956099" y="24198"/>
                  </a:lnTo>
                  <a:lnTo>
                    <a:pt x="956099" y="1133201"/>
                  </a:lnTo>
                  <a:lnTo>
                    <a:pt x="954198" y="1142620"/>
                  </a:lnTo>
                  <a:lnTo>
                    <a:pt x="949012" y="1150312"/>
                  </a:lnTo>
                  <a:lnTo>
                    <a:pt x="941320" y="1155498"/>
                  </a:lnTo>
                  <a:lnTo>
                    <a:pt x="931901" y="1157399"/>
                  </a:lnTo>
                  <a:lnTo>
                    <a:pt x="24198" y="1157399"/>
                  </a:lnTo>
                  <a:lnTo>
                    <a:pt x="14779" y="1155498"/>
                  </a:lnTo>
                  <a:lnTo>
                    <a:pt x="7087" y="1150312"/>
                  </a:lnTo>
                  <a:lnTo>
                    <a:pt x="1901" y="1142620"/>
                  </a:lnTo>
                  <a:lnTo>
                    <a:pt x="0" y="1133201"/>
                  </a:lnTo>
                  <a:lnTo>
                    <a:pt x="0" y="24198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82074" y="4031988"/>
            <a:ext cx="7245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solidFill>
                  <a:srgbClr val="FFFFFF"/>
                </a:solidFill>
                <a:latin typeface="Cambria"/>
                <a:cs typeface="Cambria"/>
              </a:rPr>
              <a:t>WebText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37862" y="3563587"/>
            <a:ext cx="885190" cy="1008380"/>
            <a:chOff x="5537862" y="3563587"/>
            <a:chExt cx="885190" cy="1008380"/>
          </a:xfrm>
        </p:grpSpPr>
        <p:sp>
          <p:nvSpPr>
            <p:cNvPr id="24" name="object 24"/>
            <p:cNvSpPr/>
            <p:nvPr/>
          </p:nvSpPr>
          <p:spPr>
            <a:xfrm>
              <a:off x="5552149" y="3577875"/>
              <a:ext cx="856615" cy="979805"/>
            </a:xfrm>
            <a:custGeom>
              <a:avLst/>
              <a:gdLst/>
              <a:ahLst/>
              <a:cxnLst/>
              <a:rect l="l" t="t" r="r" b="b"/>
              <a:pathLst>
                <a:path w="856614" h="979804">
                  <a:moveTo>
                    <a:pt x="848422" y="979799"/>
                  </a:moveTo>
                  <a:lnTo>
                    <a:pt x="7777" y="979799"/>
                  </a:lnTo>
                  <a:lnTo>
                    <a:pt x="0" y="972022"/>
                  </a:lnTo>
                  <a:lnTo>
                    <a:pt x="0" y="17372"/>
                  </a:lnTo>
                  <a:lnTo>
                    <a:pt x="0" y="7777"/>
                  </a:lnTo>
                  <a:lnTo>
                    <a:pt x="7777" y="0"/>
                  </a:lnTo>
                  <a:lnTo>
                    <a:pt x="843434" y="0"/>
                  </a:lnTo>
                  <a:lnTo>
                    <a:pt x="847853" y="1830"/>
                  </a:lnTo>
                  <a:lnTo>
                    <a:pt x="854369" y="8345"/>
                  </a:lnTo>
                  <a:lnTo>
                    <a:pt x="856199" y="12764"/>
                  </a:lnTo>
                  <a:lnTo>
                    <a:pt x="856199" y="972022"/>
                  </a:lnTo>
                  <a:lnTo>
                    <a:pt x="848422" y="9797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52149" y="3577875"/>
              <a:ext cx="856615" cy="979805"/>
            </a:xfrm>
            <a:custGeom>
              <a:avLst/>
              <a:gdLst/>
              <a:ahLst/>
              <a:cxnLst/>
              <a:rect l="l" t="t" r="r" b="b"/>
              <a:pathLst>
                <a:path w="856614" h="979804">
                  <a:moveTo>
                    <a:pt x="0" y="17372"/>
                  </a:moveTo>
                  <a:lnTo>
                    <a:pt x="0" y="7777"/>
                  </a:lnTo>
                  <a:lnTo>
                    <a:pt x="7777" y="0"/>
                  </a:lnTo>
                  <a:lnTo>
                    <a:pt x="17372" y="0"/>
                  </a:lnTo>
                  <a:lnTo>
                    <a:pt x="838827" y="0"/>
                  </a:lnTo>
                  <a:lnTo>
                    <a:pt x="843434" y="0"/>
                  </a:lnTo>
                  <a:lnTo>
                    <a:pt x="847853" y="1830"/>
                  </a:lnTo>
                  <a:lnTo>
                    <a:pt x="851111" y="5088"/>
                  </a:lnTo>
                  <a:lnTo>
                    <a:pt x="854369" y="8345"/>
                  </a:lnTo>
                  <a:lnTo>
                    <a:pt x="856199" y="12764"/>
                  </a:lnTo>
                  <a:lnTo>
                    <a:pt x="856199" y="17372"/>
                  </a:lnTo>
                  <a:lnTo>
                    <a:pt x="856199" y="962427"/>
                  </a:lnTo>
                  <a:lnTo>
                    <a:pt x="856199" y="972022"/>
                  </a:lnTo>
                  <a:lnTo>
                    <a:pt x="848422" y="979799"/>
                  </a:lnTo>
                  <a:lnTo>
                    <a:pt x="838827" y="979799"/>
                  </a:lnTo>
                  <a:lnTo>
                    <a:pt x="17372" y="979799"/>
                  </a:lnTo>
                  <a:lnTo>
                    <a:pt x="7777" y="979799"/>
                  </a:lnTo>
                  <a:lnTo>
                    <a:pt x="0" y="972022"/>
                  </a:lnTo>
                  <a:lnTo>
                    <a:pt x="0" y="962427"/>
                  </a:lnTo>
                  <a:lnTo>
                    <a:pt x="0" y="17372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85183" y="3943188"/>
            <a:ext cx="590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Github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69824" y="2543924"/>
            <a:ext cx="3923029" cy="2145665"/>
          </a:xfrm>
          <a:custGeom>
            <a:avLst/>
            <a:gdLst/>
            <a:ahLst/>
            <a:cxnLst/>
            <a:rect l="l" t="t" r="r" b="b"/>
            <a:pathLst>
              <a:path w="3923029" h="2145665">
                <a:moveTo>
                  <a:pt x="0" y="433200"/>
                </a:moveTo>
                <a:lnTo>
                  <a:pt x="3430" y="416209"/>
                </a:lnTo>
                <a:lnTo>
                  <a:pt x="12785" y="402335"/>
                </a:lnTo>
                <a:lnTo>
                  <a:pt x="26659" y="392980"/>
                </a:lnTo>
                <a:lnTo>
                  <a:pt x="43650" y="389549"/>
                </a:lnTo>
                <a:lnTo>
                  <a:pt x="844049" y="389549"/>
                </a:lnTo>
                <a:lnTo>
                  <a:pt x="880366" y="408983"/>
                </a:lnTo>
                <a:lnTo>
                  <a:pt x="887699" y="433200"/>
                </a:lnTo>
                <a:lnTo>
                  <a:pt x="887699" y="607799"/>
                </a:lnTo>
                <a:lnTo>
                  <a:pt x="884269" y="624790"/>
                </a:lnTo>
                <a:lnTo>
                  <a:pt x="874914" y="638664"/>
                </a:lnTo>
                <a:lnTo>
                  <a:pt x="861040" y="648019"/>
                </a:lnTo>
                <a:lnTo>
                  <a:pt x="844049" y="651449"/>
                </a:lnTo>
                <a:lnTo>
                  <a:pt x="43650" y="651449"/>
                </a:lnTo>
                <a:lnTo>
                  <a:pt x="26659" y="648019"/>
                </a:lnTo>
                <a:lnTo>
                  <a:pt x="12785" y="638664"/>
                </a:lnTo>
                <a:lnTo>
                  <a:pt x="3430" y="624790"/>
                </a:lnTo>
                <a:lnTo>
                  <a:pt x="0" y="607799"/>
                </a:lnTo>
                <a:lnTo>
                  <a:pt x="0" y="433200"/>
                </a:lnTo>
                <a:close/>
              </a:path>
              <a:path w="3923029" h="2145665">
                <a:moveTo>
                  <a:pt x="1072199" y="433200"/>
                </a:moveTo>
                <a:lnTo>
                  <a:pt x="1075630" y="416209"/>
                </a:lnTo>
                <a:lnTo>
                  <a:pt x="1084984" y="402335"/>
                </a:lnTo>
                <a:lnTo>
                  <a:pt x="1098859" y="392980"/>
                </a:lnTo>
                <a:lnTo>
                  <a:pt x="1115850" y="389549"/>
                </a:lnTo>
                <a:lnTo>
                  <a:pt x="1433249" y="389549"/>
                </a:lnTo>
                <a:lnTo>
                  <a:pt x="1469566" y="408983"/>
                </a:lnTo>
                <a:lnTo>
                  <a:pt x="1476899" y="433200"/>
                </a:lnTo>
                <a:lnTo>
                  <a:pt x="1476899" y="607799"/>
                </a:lnTo>
                <a:lnTo>
                  <a:pt x="1473469" y="624790"/>
                </a:lnTo>
                <a:lnTo>
                  <a:pt x="1464115" y="638664"/>
                </a:lnTo>
                <a:lnTo>
                  <a:pt x="1450240" y="648019"/>
                </a:lnTo>
                <a:lnTo>
                  <a:pt x="1433249" y="651449"/>
                </a:lnTo>
                <a:lnTo>
                  <a:pt x="1115850" y="651449"/>
                </a:lnTo>
                <a:lnTo>
                  <a:pt x="1098859" y="648019"/>
                </a:lnTo>
                <a:lnTo>
                  <a:pt x="1084984" y="638664"/>
                </a:lnTo>
                <a:lnTo>
                  <a:pt x="1075630" y="624790"/>
                </a:lnTo>
                <a:lnTo>
                  <a:pt x="1072199" y="607799"/>
                </a:lnTo>
                <a:lnTo>
                  <a:pt x="1072199" y="433200"/>
                </a:lnTo>
                <a:close/>
              </a:path>
              <a:path w="3923029" h="2145665">
                <a:moveTo>
                  <a:pt x="1677224" y="1502451"/>
                </a:moveTo>
                <a:lnTo>
                  <a:pt x="1681555" y="1481003"/>
                </a:lnTo>
                <a:lnTo>
                  <a:pt x="1693363" y="1463488"/>
                </a:lnTo>
                <a:lnTo>
                  <a:pt x="1710878" y="1451680"/>
                </a:lnTo>
                <a:lnTo>
                  <a:pt x="1732326" y="1447349"/>
                </a:lnTo>
                <a:lnTo>
                  <a:pt x="2415023" y="1447349"/>
                </a:lnTo>
                <a:lnTo>
                  <a:pt x="2453986" y="1463488"/>
                </a:lnTo>
                <a:lnTo>
                  <a:pt x="2470124" y="1502451"/>
                </a:lnTo>
                <a:lnTo>
                  <a:pt x="2470124" y="1722848"/>
                </a:lnTo>
                <a:lnTo>
                  <a:pt x="2465794" y="1744296"/>
                </a:lnTo>
                <a:lnTo>
                  <a:pt x="2453986" y="1761811"/>
                </a:lnTo>
                <a:lnTo>
                  <a:pt x="2436471" y="1773619"/>
                </a:lnTo>
                <a:lnTo>
                  <a:pt x="2415023" y="1777949"/>
                </a:lnTo>
                <a:lnTo>
                  <a:pt x="1732326" y="1777949"/>
                </a:lnTo>
                <a:lnTo>
                  <a:pt x="1710878" y="1773619"/>
                </a:lnTo>
                <a:lnTo>
                  <a:pt x="1693363" y="1761811"/>
                </a:lnTo>
                <a:lnTo>
                  <a:pt x="1681555" y="1744296"/>
                </a:lnTo>
                <a:lnTo>
                  <a:pt x="1677224" y="1722848"/>
                </a:lnTo>
                <a:lnTo>
                  <a:pt x="1677224" y="1502451"/>
                </a:lnTo>
                <a:close/>
              </a:path>
              <a:path w="3923029" h="2145665">
                <a:moveTo>
                  <a:pt x="1739574" y="127602"/>
                </a:moveTo>
                <a:lnTo>
                  <a:pt x="1749602" y="77933"/>
                </a:lnTo>
                <a:lnTo>
                  <a:pt x="1776948" y="37373"/>
                </a:lnTo>
                <a:lnTo>
                  <a:pt x="1817509" y="10027"/>
                </a:lnTo>
                <a:lnTo>
                  <a:pt x="1867177" y="0"/>
                </a:lnTo>
                <a:lnTo>
                  <a:pt x="2907972" y="0"/>
                </a:lnTo>
                <a:lnTo>
                  <a:pt x="2956803" y="9713"/>
                </a:lnTo>
                <a:lnTo>
                  <a:pt x="2998201" y="37373"/>
                </a:lnTo>
                <a:lnTo>
                  <a:pt x="3025861" y="78771"/>
                </a:lnTo>
                <a:lnTo>
                  <a:pt x="3035574" y="127602"/>
                </a:lnTo>
                <a:lnTo>
                  <a:pt x="3035574" y="637997"/>
                </a:lnTo>
                <a:lnTo>
                  <a:pt x="3025547" y="687666"/>
                </a:lnTo>
                <a:lnTo>
                  <a:pt x="2998200" y="728226"/>
                </a:lnTo>
                <a:lnTo>
                  <a:pt x="2957640" y="755572"/>
                </a:lnTo>
                <a:lnTo>
                  <a:pt x="2907972" y="765599"/>
                </a:lnTo>
                <a:lnTo>
                  <a:pt x="1867177" y="765599"/>
                </a:lnTo>
                <a:lnTo>
                  <a:pt x="1817509" y="755572"/>
                </a:lnTo>
                <a:lnTo>
                  <a:pt x="1776948" y="728226"/>
                </a:lnTo>
                <a:lnTo>
                  <a:pt x="1749602" y="687666"/>
                </a:lnTo>
                <a:lnTo>
                  <a:pt x="1739574" y="637997"/>
                </a:lnTo>
                <a:lnTo>
                  <a:pt x="1739574" y="127602"/>
                </a:lnTo>
                <a:close/>
              </a:path>
              <a:path w="3923029" h="2145665">
                <a:moveTo>
                  <a:pt x="2664674" y="2003800"/>
                </a:moveTo>
                <a:lnTo>
                  <a:pt x="2666899" y="1992784"/>
                </a:lnTo>
                <a:lnTo>
                  <a:pt x="2672964" y="1983789"/>
                </a:lnTo>
                <a:lnTo>
                  <a:pt x="2681959" y="1977724"/>
                </a:lnTo>
                <a:lnTo>
                  <a:pt x="2692975" y="1975499"/>
                </a:lnTo>
                <a:lnTo>
                  <a:pt x="3041074" y="1975499"/>
                </a:lnTo>
                <a:lnTo>
                  <a:pt x="3048579" y="1975499"/>
                </a:lnTo>
                <a:lnTo>
                  <a:pt x="3055778" y="1978481"/>
                </a:lnTo>
                <a:lnTo>
                  <a:pt x="3061085" y="1983788"/>
                </a:lnTo>
                <a:lnTo>
                  <a:pt x="3066393" y="1989096"/>
                </a:lnTo>
                <a:lnTo>
                  <a:pt x="3069374" y="1996294"/>
                </a:lnTo>
                <a:lnTo>
                  <a:pt x="3069374" y="2003800"/>
                </a:lnTo>
                <a:lnTo>
                  <a:pt x="3069374" y="2116999"/>
                </a:lnTo>
                <a:lnTo>
                  <a:pt x="3067150" y="2128015"/>
                </a:lnTo>
                <a:lnTo>
                  <a:pt x="3061085" y="2137010"/>
                </a:lnTo>
                <a:lnTo>
                  <a:pt x="3052090" y="2143075"/>
                </a:lnTo>
                <a:lnTo>
                  <a:pt x="3041074" y="2145299"/>
                </a:lnTo>
                <a:lnTo>
                  <a:pt x="2692975" y="2145299"/>
                </a:lnTo>
                <a:lnTo>
                  <a:pt x="2681959" y="2143075"/>
                </a:lnTo>
                <a:lnTo>
                  <a:pt x="2672964" y="2137010"/>
                </a:lnTo>
                <a:lnTo>
                  <a:pt x="2666899" y="2128015"/>
                </a:lnTo>
                <a:lnTo>
                  <a:pt x="2664674" y="2116999"/>
                </a:lnTo>
                <a:lnTo>
                  <a:pt x="2664674" y="2003800"/>
                </a:lnTo>
                <a:close/>
              </a:path>
              <a:path w="3923029" h="2145665">
                <a:moveTo>
                  <a:pt x="3291924" y="1454600"/>
                </a:moveTo>
                <a:lnTo>
                  <a:pt x="3295064" y="1439050"/>
                </a:lnTo>
                <a:lnTo>
                  <a:pt x="3303626" y="1426351"/>
                </a:lnTo>
                <a:lnTo>
                  <a:pt x="3316325" y="1417789"/>
                </a:lnTo>
                <a:lnTo>
                  <a:pt x="3331875" y="1414649"/>
                </a:lnTo>
                <a:lnTo>
                  <a:pt x="3882574" y="1414649"/>
                </a:lnTo>
                <a:lnTo>
                  <a:pt x="3919483" y="1439312"/>
                </a:lnTo>
                <a:lnTo>
                  <a:pt x="3922524" y="1454600"/>
                </a:lnTo>
                <a:lnTo>
                  <a:pt x="3922524" y="1614399"/>
                </a:lnTo>
                <a:lnTo>
                  <a:pt x="3919385" y="1629949"/>
                </a:lnTo>
                <a:lnTo>
                  <a:pt x="3910823" y="1642648"/>
                </a:lnTo>
                <a:lnTo>
                  <a:pt x="3898124" y="1651210"/>
                </a:lnTo>
                <a:lnTo>
                  <a:pt x="3882574" y="1654349"/>
                </a:lnTo>
                <a:lnTo>
                  <a:pt x="3331875" y="1654349"/>
                </a:lnTo>
                <a:lnTo>
                  <a:pt x="3316325" y="1651210"/>
                </a:lnTo>
                <a:lnTo>
                  <a:pt x="3303626" y="1642648"/>
                </a:lnTo>
                <a:lnTo>
                  <a:pt x="3295064" y="1629949"/>
                </a:lnTo>
                <a:lnTo>
                  <a:pt x="3291924" y="1614399"/>
                </a:lnTo>
                <a:lnTo>
                  <a:pt x="3291924" y="1454600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69432" y="68529"/>
            <a:ext cx="140208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Gao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et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2123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Pretraining</a:t>
            </a:r>
            <a:r>
              <a:rPr spc="-20" dirty="0"/>
              <a:t> </a:t>
            </a:r>
            <a:r>
              <a:rPr spc="185" dirty="0"/>
              <a:t>and</a:t>
            </a:r>
            <a:r>
              <a:rPr spc="-20" dirty="0"/>
              <a:t> </a:t>
            </a:r>
            <a:r>
              <a:rPr spc="100" dirty="0"/>
              <a:t>knowledge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178002"/>
            <a:ext cx="7585075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0" dirty="0">
                <a:latin typeface="Times New Roman"/>
                <a:cs typeface="Times New Roman"/>
              </a:rPr>
              <a:t>Pre-training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allows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learn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robust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b="1" spc="-30" dirty="0">
                <a:latin typeface="Book Antiqua"/>
                <a:cs typeface="Book Antiqua"/>
              </a:rPr>
              <a:t>task-</a:t>
            </a:r>
            <a:r>
              <a:rPr sz="1700" b="1" dirty="0">
                <a:latin typeface="Book Antiqua"/>
                <a:cs typeface="Book Antiqua"/>
              </a:rPr>
              <a:t>agnostic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features</a:t>
            </a:r>
            <a:r>
              <a:rPr sz="1700" spc="-10" dirty="0">
                <a:latin typeface="Times New Roman"/>
                <a:cs typeface="Times New Roman"/>
              </a:rPr>
              <a:t>, </a:t>
            </a:r>
            <a:r>
              <a:rPr sz="1700" spc="85" dirty="0">
                <a:latin typeface="Times New Roman"/>
                <a:cs typeface="Times New Roman"/>
              </a:rPr>
              <a:t>which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critical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high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performance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downstream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tasks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2123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Pretraining</a:t>
            </a:r>
            <a:r>
              <a:rPr spc="-20" dirty="0"/>
              <a:t> </a:t>
            </a:r>
            <a:r>
              <a:rPr spc="185" dirty="0"/>
              <a:t>and</a:t>
            </a:r>
            <a:r>
              <a:rPr spc="-20" dirty="0"/>
              <a:t> </a:t>
            </a:r>
            <a:r>
              <a:rPr spc="100" dirty="0"/>
              <a:t>knowledge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178002"/>
            <a:ext cx="7585075" cy="2046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80" dirty="0">
                <a:latin typeface="Times New Roman"/>
                <a:cs typeface="Times New Roman"/>
              </a:rPr>
              <a:t>Pre-training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allows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learn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robust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b="1" spc="-30" dirty="0">
                <a:latin typeface="Book Antiqua"/>
                <a:cs typeface="Book Antiqua"/>
              </a:rPr>
              <a:t>task-</a:t>
            </a:r>
            <a:r>
              <a:rPr sz="1700" b="1" dirty="0">
                <a:latin typeface="Book Antiqua"/>
                <a:cs typeface="Book Antiqua"/>
              </a:rPr>
              <a:t>agnostic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features</a:t>
            </a:r>
            <a:r>
              <a:rPr sz="1700" spc="-10" dirty="0">
                <a:latin typeface="Times New Roman"/>
                <a:cs typeface="Times New Roman"/>
              </a:rPr>
              <a:t>, </a:t>
            </a:r>
            <a:r>
              <a:rPr sz="1700" spc="85" dirty="0">
                <a:latin typeface="Times New Roman"/>
                <a:cs typeface="Times New Roman"/>
              </a:rPr>
              <a:t>which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critical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high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performance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downstream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tasks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1475" marR="262255" indent="-359410">
              <a:lnSpc>
                <a:spcPct val="114999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language models</a:t>
            </a:r>
            <a:r>
              <a:rPr sz="1700" b="1" spc="-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and</a:t>
            </a:r>
            <a:r>
              <a:rPr sz="1700" b="1" spc="-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their</a:t>
            </a:r>
            <a:r>
              <a:rPr sz="1700" b="1" spc="-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pre-</a:t>
            </a:r>
            <a:r>
              <a:rPr sz="1700" b="1" spc="-10" dirty="0">
                <a:latin typeface="Book Antiqua"/>
                <a:cs typeface="Book Antiqua"/>
              </a:rPr>
              <a:t>training </a:t>
            </a:r>
            <a:r>
              <a:rPr sz="1700" b="1" dirty="0">
                <a:latin typeface="Book Antiqua"/>
                <a:cs typeface="Book Antiqua"/>
              </a:rPr>
              <a:t>corpora</a:t>
            </a:r>
            <a:r>
              <a:rPr sz="1700" b="1" spc="-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scale,</a:t>
            </a:r>
            <a:r>
              <a:rPr sz="1700" b="1" spc="-20" dirty="0">
                <a:latin typeface="Book Antiqua"/>
                <a:cs typeface="Book Antiqua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amount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of </a:t>
            </a:r>
            <a:r>
              <a:rPr sz="1700" spc="100" dirty="0">
                <a:latin typeface="Times New Roman"/>
                <a:cs typeface="Times New Roman"/>
              </a:rPr>
              <a:t>information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encoded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pretrained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also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increases</a:t>
            </a:r>
            <a:endParaRPr sz="1700">
              <a:latin typeface="Times New Roman"/>
              <a:cs typeface="Times New Roman"/>
            </a:endParaRPr>
          </a:p>
          <a:p>
            <a:pPr marL="828675" lvl="1" indent="-344170">
              <a:lnSpc>
                <a:spcPct val="100000"/>
              </a:lnSpc>
              <a:spcBef>
                <a:spcPts val="315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500" spc="-50" dirty="0">
                <a:latin typeface="Book Antiqua"/>
                <a:cs typeface="Book Antiqua"/>
              </a:rPr>
              <a:t>Few-</a:t>
            </a:r>
            <a:r>
              <a:rPr sz="1500" dirty="0">
                <a:latin typeface="Book Antiqua"/>
                <a:cs typeface="Book Antiqua"/>
              </a:rPr>
              <a:t>shot</a:t>
            </a:r>
            <a:r>
              <a:rPr sz="1500" spc="-20" dirty="0">
                <a:latin typeface="Book Antiqua"/>
                <a:cs typeface="Book Antiqua"/>
              </a:rPr>
              <a:t> </a:t>
            </a:r>
            <a:r>
              <a:rPr sz="1500" spc="-10" dirty="0">
                <a:latin typeface="Book Antiqua"/>
                <a:cs typeface="Book Antiqua"/>
              </a:rPr>
              <a:t>learning</a:t>
            </a:r>
            <a:endParaRPr sz="1500">
              <a:latin typeface="Book Antiqua"/>
              <a:cs typeface="Book Antiqua"/>
            </a:endParaRPr>
          </a:p>
          <a:p>
            <a:pPr marL="828675" lvl="1" indent="-34417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500" dirty="0">
                <a:latin typeface="Book Antiqua"/>
                <a:cs typeface="Book Antiqua"/>
              </a:rPr>
              <a:t>In-context</a:t>
            </a:r>
            <a:r>
              <a:rPr sz="1500" spc="114" dirty="0">
                <a:latin typeface="Book Antiqua"/>
                <a:cs typeface="Book Antiqua"/>
              </a:rPr>
              <a:t> </a:t>
            </a:r>
            <a:r>
              <a:rPr sz="1500" spc="-10" dirty="0">
                <a:latin typeface="Book Antiqua"/>
                <a:cs typeface="Book Antiqua"/>
              </a:rPr>
              <a:t>learning</a:t>
            </a:r>
            <a:endParaRPr sz="15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2123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Pretraining</a:t>
            </a:r>
            <a:r>
              <a:rPr spc="-20" dirty="0"/>
              <a:t> </a:t>
            </a:r>
            <a:r>
              <a:rPr spc="185" dirty="0"/>
              <a:t>and</a:t>
            </a:r>
            <a:r>
              <a:rPr spc="-20" dirty="0"/>
              <a:t> </a:t>
            </a:r>
            <a:r>
              <a:rPr spc="100" dirty="0"/>
              <a:t>knowledge</a:t>
            </a:r>
          </a:p>
        </p:txBody>
      </p:sp>
      <p:sp>
        <p:nvSpPr>
          <p:cNvPr id="3" name="object 3"/>
          <p:cNvSpPr/>
          <p:nvPr/>
        </p:nvSpPr>
        <p:spPr>
          <a:xfrm>
            <a:off x="199200" y="3566000"/>
            <a:ext cx="8745855" cy="777240"/>
          </a:xfrm>
          <a:custGeom>
            <a:avLst/>
            <a:gdLst/>
            <a:ahLst/>
            <a:cxnLst/>
            <a:rect l="l" t="t" r="r" b="b"/>
            <a:pathLst>
              <a:path w="8745855" h="777239">
                <a:moveTo>
                  <a:pt x="0" y="129452"/>
                </a:moveTo>
                <a:lnTo>
                  <a:pt x="10173" y="79063"/>
                </a:lnTo>
                <a:lnTo>
                  <a:pt x="37915" y="37915"/>
                </a:lnTo>
                <a:lnTo>
                  <a:pt x="79063" y="10173"/>
                </a:lnTo>
                <a:lnTo>
                  <a:pt x="129452" y="0"/>
                </a:lnTo>
                <a:lnTo>
                  <a:pt x="8616147" y="0"/>
                </a:lnTo>
                <a:lnTo>
                  <a:pt x="8665686" y="9853"/>
                </a:lnTo>
                <a:lnTo>
                  <a:pt x="8707684" y="37915"/>
                </a:lnTo>
                <a:lnTo>
                  <a:pt x="8735745" y="79913"/>
                </a:lnTo>
                <a:lnTo>
                  <a:pt x="8745599" y="129452"/>
                </a:lnTo>
                <a:lnTo>
                  <a:pt x="8745599" y="647247"/>
                </a:lnTo>
                <a:lnTo>
                  <a:pt x="8735426" y="697636"/>
                </a:lnTo>
                <a:lnTo>
                  <a:pt x="8707684" y="738784"/>
                </a:lnTo>
                <a:lnTo>
                  <a:pt x="8666536" y="766526"/>
                </a:lnTo>
                <a:lnTo>
                  <a:pt x="8616147" y="776699"/>
                </a:lnTo>
                <a:lnTo>
                  <a:pt x="129452" y="776699"/>
                </a:lnTo>
                <a:lnTo>
                  <a:pt x="79063" y="766526"/>
                </a:lnTo>
                <a:lnTo>
                  <a:pt x="37915" y="738784"/>
                </a:lnTo>
                <a:lnTo>
                  <a:pt x="10173" y="697636"/>
                </a:lnTo>
                <a:lnTo>
                  <a:pt x="0" y="647247"/>
                </a:lnTo>
                <a:lnTo>
                  <a:pt x="0" y="1294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4335" y="1178002"/>
            <a:ext cx="8484235" cy="346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685" marR="621030" indent="-3594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654685" algn="l"/>
                <a:tab pos="655320" algn="l"/>
              </a:tabLst>
            </a:pPr>
            <a:r>
              <a:rPr sz="1700" spc="80" dirty="0">
                <a:latin typeface="Times New Roman"/>
                <a:cs typeface="Times New Roman"/>
              </a:rPr>
              <a:t>Pre-training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allows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learn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robust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b="1" spc="-30" dirty="0">
                <a:latin typeface="Book Antiqua"/>
                <a:cs typeface="Book Antiqua"/>
              </a:rPr>
              <a:t>task-</a:t>
            </a:r>
            <a:r>
              <a:rPr sz="1700" b="1" dirty="0">
                <a:latin typeface="Book Antiqua"/>
                <a:cs typeface="Book Antiqua"/>
              </a:rPr>
              <a:t>agnostic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features</a:t>
            </a:r>
            <a:r>
              <a:rPr sz="1700" spc="-10" dirty="0">
                <a:latin typeface="Times New Roman"/>
                <a:cs typeface="Times New Roman"/>
              </a:rPr>
              <a:t>, </a:t>
            </a:r>
            <a:r>
              <a:rPr sz="1700" spc="85" dirty="0">
                <a:latin typeface="Times New Roman"/>
                <a:cs typeface="Times New Roman"/>
              </a:rPr>
              <a:t>which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critical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high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performance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downstream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tasks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654685" marR="878205" indent="-359410">
              <a:lnSpc>
                <a:spcPct val="114999"/>
              </a:lnSpc>
              <a:buFont typeface="Arial"/>
              <a:buChar char="●"/>
              <a:tabLst>
                <a:tab pos="654685" algn="l"/>
                <a:tab pos="655320" algn="l"/>
              </a:tabLst>
            </a:pP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language models</a:t>
            </a:r>
            <a:r>
              <a:rPr sz="1700" b="1" spc="-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and</a:t>
            </a:r>
            <a:r>
              <a:rPr sz="1700" b="1" spc="-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their</a:t>
            </a:r>
            <a:r>
              <a:rPr sz="1700" b="1" spc="-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pre-</a:t>
            </a:r>
            <a:r>
              <a:rPr sz="1700" b="1" spc="-10" dirty="0">
                <a:latin typeface="Book Antiqua"/>
                <a:cs typeface="Book Antiqua"/>
              </a:rPr>
              <a:t>training </a:t>
            </a:r>
            <a:r>
              <a:rPr sz="1700" b="1" dirty="0">
                <a:latin typeface="Book Antiqua"/>
                <a:cs typeface="Book Antiqua"/>
              </a:rPr>
              <a:t>corpora</a:t>
            </a:r>
            <a:r>
              <a:rPr sz="1700" b="1" spc="-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scale,</a:t>
            </a:r>
            <a:r>
              <a:rPr sz="1700" b="1" spc="-20" dirty="0">
                <a:latin typeface="Book Antiqua"/>
                <a:cs typeface="Book Antiqua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amount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of </a:t>
            </a:r>
            <a:r>
              <a:rPr sz="1700" spc="100" dirty="0">
                <a:latin typeface="Times New Roman"/>
                <a:cs typeface="Times New Roman"/>
              </a:rPr>
              <a:t>information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encoded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pretrained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also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increases</a:t>
            </a:r>
            <a:endParaRPr sz="1700">
              <a:latin typeface="Times New Roman"/>
              <a:cs typeface="Times New Roman"/>
            </a:endParaRPr>
          </a:p>
          <a:p>
            <a:pPr marL="1111885" lvl="1" indent="-344170">
              <a:lnSpc>
                <a:spcPct val="100000"/>
              </a:lnSpc>
              <a:spcBef>
                <a:spcPts val="315"/>
              </a:spcBef>
              <a:buFont typeface="Arial"/>
              <a:buChar char="○"/>
              <a:tabLst>
                <a:tab pos="1111885" algn="l"/>
                <a:tab pos="1112520" algn="l"/>
              </a:tabLst>
            </a:pPr>
            <a:r>
              <a:rPr sz="1500" spc="-50" dirty="0">
                <a:latin typeface="Book Antiqua"/>
                <a:cs typeface="Book Antiqua"/>
              </a:rPr>
              <a:t>Few-</a:t>
            </a:r>
            <a:r>
              <a:rPr sz="1500" dirty="0">
                <a:latin typeface="Book Antiqua"/>
                <a:cs typeface="Book Antiqua"/>
              </a:rPr>
              <a:t>shot</a:t>
            </a:r>
            <a:r>
              <a:rPr sz="1500" spc="-20" dirty="0">
                <a:latin typeface="Book Antiqua"/>
                <a:cs typeface="Book Antiqua"/>
              </a:rPr>
              <a:t> </a:t>
            </a:r>
            <a:r>
              <a:rPr sz="1500" spc="-10" dirty="0">
                <a:latin typeface="Book Antiqua"/>
                <a:cs typeface="Book Antiqua"/>
              </a:rPr>
              <a:t>learning</a:t>
            </a:r>
            <a:endParaRPr sz="1500">
              <a:latin typeface="Book Antiqua"/>
              <a:cs typeface="Book Antiqua"/>
            </a:endParaRPr>
          </a:p>
          <a:p>
            <a:pPr marL="1111885" lvl="1" indent="-34417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1111885" algn="l"/>
                <a:tab pos="1112520" algn="l"/>
              </a:tabLst>
            </a:pPr>
            <a:r>
              <a:rPr sz="1500" dirty="0">
                <a:latin typeface="Book Antiqua"/>
                <a:cs typeface="Book Antiqua"/>
              </a:rPr>
              <a:t>In-context</a:t>
            </a:r>
            <a:r>
              <a:rPr sz="1500" spc="114" dirty="0">
                <a:latin typeface="Book Antiqua"/>
                <a:cs typeface="Book Antiqua"/>
              </a:rPr>
              <a:t> </a:t>
            </a:r>
            <a:r>
              <a:rPr sz="1500" spc="-10" dirty="0">
                <a:latin typeface="Book Antiqua"/>
                <a:cs typeface="Book Antiqua"/>
              </a:rPr>
              <a:t>learning</a:t>
            </a:r>
            <a:endParaRPr sz="15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b="1" spc="-45" dirty="0">
                <a:latin typeface="Book Antiqua"/>
                <a:cs typeface="Book Antiqua"/>
              </a:rPr>
              <a:t>Can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60" dirty="0">
                <a:latin typeface="Book Antiqua"/>
                <a:cs typeface="Book Antiqua"/>
              </a:rPr>
              <a:t>we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directly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retrieve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the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45" dirty="0">
                <a:latin typeface="Book Antiqua"/>
                <a:cs typeface="Book Antiqua"/>
              </a:rPr>
              <a:t>knowledge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learned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in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pre-</a:t>
            </a:r>
            <a:r>
              <a:rPr sz="1700" b="1" spc="-10" dirty="0">
                <a:latin typeface="Book Antiqua"/>
                <a:cs typeface="Book Antiqua"/>
              </a:rPr>
              <a:t>training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from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a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20" dirty="0">
                <a:latin typeface="Book Antiqua"/>
                <a:cs typeface="Book Antiqua"/>
              </a:rPr>
              <a:t>language</a:t>
            </a:r>
            <a:r>
              <a:rPr sz="1700" b="1" spc="-7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model?</a:t>
            </a:r>
            <a:endParaRPr sz="17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Book Antiqua"/>
              <a:cs typeface="Book Antiqua"/>
            </a:endParaRPr>
          </a:p>
          <a:p>
            <a:pPr marR="40005" algn="ctr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E69137"/>
                </a:solidFill>
                <a:latin typeface="Cambria"/>
                <a:cs typeface="Cambria"/>
              </a:rPr>
              <a:t>Key</a:t>
            </a:r>
            <a:r>
              <a:rPr sz="1700" b="1" spc="-6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E69137"/>
                </a:solidFill>
                <a:latin typeface="Cambria"/>
                <a:cs typeface="Cambria"/>
              </a:rPr>
              <a:t>Question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Today,</a:t>
            </a:r>
            <a:r>
              <a:rPr sz="2400" spc="-30" dirty="0"/>
              <a:t> </a:t>
            </a:r>
            <a:r>
              <a:rPr sz="2400" spc="90" dirty="0"/>
              <a:t>we</a:t>
            </a:r>
            <a:r>
              <a:rPr sz="2400" spc="-30" dirty="0"/>
              <a:t> </a:t>
            </a:r>
            <a:r>
              <a:rPr sz="2400" spc="120" dirty="0"/>
              <a:t>take</a:t>
            </a:r>
            <a:r>
              <a:rPr sz="2400" spc="-30" dirty="0"/>
              <a:t> </a:t>
            </a:r>
            <a:r>
              <a:rPr sz="2400" spc="-75" dirty="0"/>
              <a:t>LLMsʼ</a:t>
            </a:r>
            <a:r>
              <a:rPr sz="2400" spc="-25" dirty="0"/>
              <a:t> </a:t>
            </a:r>
            <a:r>
              <a:rPr sz="2400" spc="85" dirty="0"/>
              <a:t>ability</a:t>
            </a:r>
            <a:r>
              <a:rPr sz="2400" spc="-30" dirty="0"/>
              <a:t> </a:t>
            </a:r>
            <a:r>
              <a:rPr sz="2400" spc="110" dirty="0"/>
              <a:t>to</a:t>
            </a:r>
            <a:r>
              <a:rPr sz="2400" spc="-30" dirty="0"/>
              <a:t> </a:t>
            </a:r>
            <a:r>
              <a:rPr sz="2400" spc="60" dirty="0"/>
              <a:t>“store”</a:t>
            </a:r>
            <a:r>
              <a:rPr sz="2400" spc="-25" dirty="0"/>
              <a:t> </a:t>
            </a:r>
            <a:r>
              <a:rPr sz="2400" spc="105" dirty="0"/>
              <a:t>knowledge</a:t>
            </a:r>
            <a:r>
              <a:rPr sz="2400" spc="-30" dirty="0"/>
              <a:t> </a:t>
            </a:r>
            <a:r>
              <a:rPr sz="2400" spc="110" dirty="0"/>
              <a:t>for</a:t>
            </a:r>
            <a:r>
              <a:rPr sz="2400" spc="-40" dirty="0"/>
              <a:t> </a:t>
            </a:r>
            <a:r>
              <a:rPr sz="2400" spc="130" dirty="0"/>
              <a:t>granted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844774" y="1509749"/>
            <a:ext cx="7454900" cy="2246630"/>
            <a:chOff x="844774" y="1509749"/>
            <a:chExt cx="7454900" cy="2246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350" y="1538324"/>
              <a:ext cx="7397299" cy="21739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9062" y="1524037"/>
              <a:ext cx="7426325" cy="2218055"/>
            </a:xfrm>
            <a:custGeom>
              <a:avLst/>
              <a:gdLst/>
              <a:ahLst/>
              <a:cxnLst/>
              <a:rect l="l" t="t" r="r" b="b"/>
              <a:pathLst>
                <a:path w="7426325" h="2218054">
                  <a:moveTo>
                    <a:pt x="0" y="0"/>
                  </a:moveTo>
                  <a:lnTo>
                    <a:pt x="7425874" y="0"/>
                  </a:lnTo>
                  <a:lnTo>
                    <a:pt x="7425874" y="2217574"/>
                  </a:lnTo>
                  <a:lnTo>
                    <a:pt x="0" y="221757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60625" y="1168880"/>
            <a:ext cx="32238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14" dirty="0">
                <a:solidFill>
                  <a:srgbClr val="595959"/>
                </a:solidFill>
                <a:latin typeface="Book Antiqua"/>
                <a:cs typeface="Book Antiqua"/>
              </a:rPr>
              <a:t>GPT-</a:t>
            </a:r>
            <a:r>
              <a:rPr sz="1500" b="1" dirty="0">
                <a:solidFill>
                  <a:srgbClr val="595959"/>
                </a:solidFill>
                <a:latin typeface="Book Antiqua"/>
                <a:cs typeface="Book Antiqua"/>
              </a:rPr>
              <a:t>3</a:t>
            </a:r>
            <a:r>
              <a:rPr sz="1500" b="1" spc="-30" dirty="0">
                <a:solidFill>
                  <a:srgbClr val="595959"/>
                </a:solidFill>
                <a:latin typeface="Book Antiqua"/>
                <a:cs typeface="Book Antiqua"/>
              </a:rPr>
              <a:t> Zero-</a:t>
            </a:r>
            <a:r>
              <a:rPr sz="1500" b="1" dirty="0">
                <a:solidFill>
                  <a:srgbClr val="595959"/>
                </a:solidFill>
                <a:latin typeface="Book Antiqua"/>
                <a:cs typeface="Book Antiqua"/>
              </a:rPr>
              <a:t>shot</a:t>
            </a:r>
            <a:r>
              <a:rPr sz="1500" b="1" spc="-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500" b="1" spc="-45" dirty="0">
                <a:solidFill>
                  <a:srgbClr val="595959"/>
                </a:solidFill>
                <a:latin typeface="Book Antiqua"/>
                <a:cs typeface="Book Antiqua"/>
              </a:rPr>
              <a:t>Knowledge</a:t>
            </a:r>
            <a:r>
              <a:rPr sz="1500" b="1" spc="-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500" b="1" spc="-10" dirty="0">
                <a:solidFill>
                  <a:srgbClr val="595959"/>
                </a:solidFill>
                <a:latin typeface="Book Antiqua"/>
                <a:cs typeface="Book Antiqua"/>
              </a:rPr>
              <a:t>Retrieval</a:t>
            </a:r>
            <a:endParaRPr sz="15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0552" y="505857"/>
            <a:ext cx="8274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Today,</a:t>
            </a:r>
            <a:r>
              <a:rPr sz="2400" spc="-30" dirty="0"/>
              <a:t> </a:t>
            </a:r>
            <a:r>
              <a:rPr sz="2400" spc="90" dirty="0"/>
              <a:t>we</a:t>
            </a:r>
            <a:r>
              <a:rPr sz="2400" spc="-30" dirty="0"/>
              <a:t> </a:t>
            </a:r>
            <a:r>
              <a:rPr sz="2400" spc="120" dirty="0"/>
              <a:t>take</a:t>
            </a:r>
            <a:r>
              <a:rPr sz="2400" spc="-30" dirty="0"/>
              <a:t> </a:t>
            </a:r>
            <a:r>
              <a:rPr sz="2400" spc="-75" dirty="0"/>
              <a:t>LLMsʼ</a:t>
            </a:r>
            <a:r>
              <a:rPr sz="2400" spc="-25" dirty="0"/>
              <a:t> </a:t>
            </a:r>
            <a:r>
              <a:rPr sz="2400" spc="85" dirty="0"/>
              <a:t>ability</a:t>
            </a:r>
            <a:r>
              <a:rPr sz="2400" spc="-30" dirty="0"/>
              <a:t> </a:t>
            </a:r>
            <a:r>
              <a:rPr sz="2400" spc="110" dirty="0"/>
              <a:t>to</a:t>
            </a:r>
            <a:r>
              <a:rPr sz="2400" spc="-30" dirty="0"/>
              <a:t> </a:t>
            </a:r>
            <a:r>
              <a:rPr sz="2400" spc="60" dirty="0"/>
              <a:t>“store”</a:t>
            </a:r>
            <a:r>
              <a:rPr sz="2400" spc="-25" dirty="0"/>
              <a:t> </a:t>
            </a:r>
            <a:r>
              <a:rPr sz="2400" spc="105" dirty="0"/>
              <a:t>knowledge</a:t>
            </a:r>
            <a:r>
              <a:rPr sz="2400" spc="-30" dirty="0"/>
              <a:t> </a:t>
            </a:r>
            <a:r>
              <a:rPr sz="2400" spc="110" dirty="0"/>
              <a:t>for</a:t>
            </a:r>
            <a:r>
              <a:rPr sz="2400" spc="-40" dirty="0"/>
              <a:t> </a:t>
            </a:r>
            <a:r>
              <a:rPr sz="2400" spc="130" dirty="0"/>
              <a:t>granted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844774" y="1509749"/>
            <a:ext cx="7454900" cy="2246630"/>
            <a:chOff x="844774" y="1509749"/>
            <a:chExt cx="7454900" cy="2246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350" y="1538324"/>
              <a:ext cx="7397299" cy="21739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9062" y="1524037"/>
              <a:ext cx="7426325" cy="2218055"/>
            </a:xfrm>
            <a:custGeom>
              <a:avLst/>
              <a:gdLst/>
              <a:ahLst/>
              <a:cxnLst/>
              <a:rect l="l" t="t" r="r" b="b"/>
              <a:pathLst>
                <a:path w="7426325" h="2218054">
                  <a:moveTo>
                    <a:pt x="0" y="0"/>
                  </a:moveTo>
                  <a:lnTo>
                    <a:pt x="7425874" y="0"/>
                  </a:lnTo>
                  <a:lnTo>
                    <a:pt x="7425874" y="2217574"/>
                  </a:lnTo>
                  <a:lnTo>
                    <a:pt x="0" y="221757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60625" y="1168880"/>
            <a:ext cx="32238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14" dirty="0">
                <a:solidFill>
                  <a:srgbClr val="595959"/>
                </a:solidFill>
                <a:latin typeface="Book Antiqua"/>
                <a:cs typeface="Book Antiqua"/>
              </a:rPr>
              <a:t>GPT-</a:t>
            </a:r>
            <a:r>
              <a:rPr sz="1500" b="1" dirty="0">
                <a:solidFill>
                  <a:srgbClr val="595959"/>
                </a:solidFill>
                <a:latin typeface="Book Antiqua"/>
                <a:cs typeface="Book Antiqua"/>
              </a:rPr>
              <a:t>3</a:t>
            </a:r>
            <a:r>
              <a:rPr sz="1500" b="1" spc="-30" dirty="0">
                <a:solidFill>
                  <a:srgbClr val="595959"/>
                </a:solidFill>
                <a:latin typeface="Book Antiqua"/>
                <a:cs typeface="Book Antiqua"/>
              </a:rPr>
              <a:t> Zero-</a:t>
            </a:r>
            <a:r>
              <a:rPr sz="1500" b="1" dirty="0">
                <a:solidFill>
                  <a:srgbClr val="595959"/>
                </a:solidFill>
                <a:latin typeface="Book Antiqua"/>
                <a:cs typeface="Book Antiqua"/>
              </a:rPr>
              <a:t>shot</a:t>
            </a:r>
            <a:r>
              <a:rPr sz="1500" b="1" spc="-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500" b="1" spc="-45" dirty="0">
                <a:solidFill>
                  <a:srgbClr val="595959"/>
                </a:solidFill>
                <a:latin typeface="Book Antiqua"/>
                <a:cs typeface="Book Antiqua"/>
              </a:rPr>
              <a:t>Knowledge</a:t>
            </a:r>
            <a:r>
              <a:rPr sz="1500" b="1" spc="-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500" b="1" spc="-10" dirty="0">
                <a:solidFill>
                  <a:srgbClr val="595959"/>
                </a:solidFill>
                <a:latin typeface="Book Antiqua"/>
                <a:cs typeface="Book Antiqua"/>
              </a:rPr>
              <a:t>Retrieval</a:t>
            </a:r>
            <a:endParaRPr sz="15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46030" y="4003726"/>
            <a:ext cx="5958840" cy="62166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405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0" dirty="0">
                <a:latin typeface="Times New Roman"/>
                <a:cs typeface="Times New Roman"/>
              </a:rPr>
              <a:t>This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was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not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so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obvious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NLP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researchers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three</a:t>
            </a:r>
            <a:r>
              <a:rPr sz="1700" i="1" spc="-2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years</a:t>
            </a:r>
            <a:r>
              <a:rPr sz="1700" i="1" spc="-20" dirty="0">
                <a:latin typeface="Book Antiqua"/>
                <a:cs typeface="Book Antiqua"/>
              </a:rPr>
              <a:t> ago</a:t>
            </a:r>
            <a:r>
              <a:rPr sz="1700" spc="-20" dirty="0">
                <a:latin typeface="Times New Roman"/>
                <a:cs typeface="Times New Roman"/>
              </a:rPr>
              <a:t>!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95" dirty="0">
                <a:latin typeface="Times New Roman"/>
                <a:cs typeface="Times New Roman"/>
              </a:rPr>
              <a:t>Instead,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E69137"/>
                </a:solidFill>
                <a:latin typeface="Book Antiqua"/>
                <a:cs typeface="Book Antiqua"/>
              </a:rPr>
              <a:t>traditional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knowledge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bases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were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often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used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5298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What</a:t>
            </a:r>
            <a:r>
              <a:rPr spc="-40" dirty="0"/>
              <a:t> </a:t>
            </a:r>
            <a:r>
              <a:rPr spc="75" dirty="0"/>
              <a:t>is</a:t>
            </a:r>
            <a:r>
              <a:rPr spc="-40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40" dirty="0"/>
              <a:t> </a:t>
            </a:r>
            <a:r>
              <a:rPr spc="100" dirty="0"/>
              <a:t>base?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5298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What</a:t>
            </a:r>
            <a:r>
              <a:rPr spc="-40" dirty="0"/>
              <a:t> </a:t>
            </a:r>
            <a:r>
              <a:rPr spc="75" dirty="0"/>
              <a:t>is</a:t>
            </a:r>
            <a:r>
              <a:rPr spc="-40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40" dirty="0"/>
              <a:t> </a:t>
            </a:r>
            <a:r>
              <a:rPr spc="100" dirty="0"/>
              <a:t>base?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2725" y="1062887"/>
            <a:ext cx="8898890" cy="3810000"/>
            <a:chOff x="202725" y="1062887"/>
            <a:chExt cx="8898890" cy="381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025" y="1161937"/>
              <a:ext cx="8133200" cy="36372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3025" y="2183899"/>
              <a:ext cx="1950720" cy="2684145"/>
            </a:xfrm>
            <a:custGeom>
              <a:avLst/>
              <a:gdLst/>
              <a:ahLst/>
              <a:cxnLst/>
              <a:rect l="l" t="t" r="r" b="b"/>
              <a:pathLst>
                <a:path w="1950720" h="2684145">
                  <a:moveTo>
                    <a:pt x="1950599" y="2684099"/>
                  </a:moveTo>
                  <a:lnTo>
                    <a:pt x="0" y="2684099"/>
                  </a:lnTo>
                  <a:lnTo>
                    <a:pt x="0" y="0"/>
                  </a:lnTo>
                  <a:lnTo>
                    <a:pt x="1950599" y="0"/>
                  </a:lnTo>
                  <a:lnTo>
                    <a:pt x="1950599" y="268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3025" y="2183899"/>
              <a:ext cx="1950720" cy="2684145"/>
            </a:xfrm>
            <a:custGeom>
              <a:avLst/>
              <a:gdLst/>
              <a:ahLst/>
              <a:cxnLst/>
              <a:rect l="l" t="t" r="r" b="b"/>
              <a:pathLst>
                <a:path w="1950720" h="2684145">
                  <a:moveTo>
                    <a:pt x="0" y="0"/>
                  </a:moveTo>
                  <a:lnTo>
                    <a:pt x="1950599" y="0"/>
                  </a:lnTo>
                  <a:lnTo>
                    <a:pt x="1950599" y="2684099"/>
                  </a:lnTo>
                  <a:lnTo>
                    <a:pt x="0" y="2684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6049" y="4116074"/>
              <a:ext cx="4448810" cy="641985"/>
            </a:xfrm>
            <a:custGeom>
              <a:avLst/>
              <a:gdLst/>
              <a:ahLst/>
              <a:cxnLst/>
              <a:rect l="l" t="t" r="r" b="b"/>
              <a:pathLst>
                <a:path w="4448810" h="641985">
                  <a:moveTo>
                    <a:pt x="4448699" y="641399"/>
                  </a:moveTo>
                  <a:lnTo>
                    <a:pt x="0" y="641399"/>
                  </a:lnTo>
                  <a:lnTo>
                    <a:pt x="0" y="0"/>
                  </a:lnTo>
                  <a:lnTo>
                    <a:pt x="4448699" y="0"/>
                  </a:lnTo>
                  <a:lnTo>
                    <a:pt x="4448699" y="641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86049" y="4116074"/>
              <a:ext cx="4448810" cy="641985"/>
            </a:xfrm>
            <a:custGeom>
              <a:avLst/>
              <a:gdLst/>
              <a:ahLst/>
              <a:cxnLst/>
              <a:rect l="l" t="t" r="r" b="b"/>
              <a:pathLst>
                <a:path w="4448810" h="641985">
                  <a:moveTo>
                    <a:pt x="0" y="0"/>
                  </a:moveTo>
                  <a:lnTo>
                    <a:pt x="4448699" y="0"/>
                  </a:lnTo>
                  <a:lnTo>
                    <a:pt x="4448699" y="641399"/>
                  </a:lnTo>
                  <a:lnTo>
                    <a:pt x="0" y="64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17374" y="3859874"/>
              <a:ext cx="2467610" cy="256540"/>
            </a:xfrm>
            <a:custGeom>
              <a:avLst/>
              <a:gdLst/>
              <a:ahLst/>
              <a:cxnLst/>
              <a:rect l="l" t="t" r="r" b="b"/>
              <a:pathLst>
                <a:path w="2467610" h="256539">
                  <a:moveTo>
                    <a:pt x="2467499" y="256199"/>
                  </a:moveTo>
                  <a:lnTo>
                    <a:pt x="0" y="256199"/>
                  </a:lnTo>
                  <a:lnTo>
                    <a:pt x="0" y="0"/>
                  </a:lnTo>
                  <a:lnTo>
                    <a:pt x="2467499" y="0"/>
                  </a:lnTo>
                  <a:lnTo>
                    <a:pt x="2467499" y="256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17374" y="3859874"/>
              <a:ext cx="2467610" cy="256540"/>
            </a:xfrm>
            <a:custGeom>
              <a:avLst/>
              <a:gdLst/>
              <a:ahLst/>
              <a:cxnLst/>
              <a:rect l="l" t="t" r="r" b="b"/>
              <a:pathLst>
                <a:path w="2467610" h="256539">
                  <a:moveTo>
                    <a:pt x="0" y="0"/>
                  </a:moveTo>
                  <a:lnTo>
                    <a:pt x="2467499" y="0"/>
                  </a:lnTo>
                  <a:lnTo>
                    <a:pt x="2467499" y="256199"/>
                  </a:lnTo>
                  <a:lnTo>
                    <a:pt x="0" y="25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725" y="2525612"/>
              <a:ext cx="1483699" cy="10919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868924" y="1067649"/>
              <a:ext cx="227965" cy="199390"/>
            </a:xfrm>
            <a:custGeom>
              <a:avLst/>
              <a:gdLst/>
              <a:ahLst/>
              <a:cxnLst/>
              <a:rect l="l" t="t" r="r" b="b"/>
              <a:pathLst>
                <a:path w="227965" h="199390">
                  <a:moveTo>
                    <a:pt x="227399" y="199199"/>
                  </a:moveTo>
                  <a:lnTo>
                    <a:pt x="0" y="199199"/>
                  </a:lnTo>
                  <a:lnTo>
                    <a:pt x="0" y="0"/>
                  </a:lnTo>
                  <a:lnTo>
                    <a:pt x="227399" y="0"/>
                  </a:lnTo>
                  <a:lnTo>
                    <a:pt x="227399" y="19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43299" y="1067649"/>
              <a:ext cx="7653020" cy="3689985"/>
            </a:xfrm>
            <a:custGeom>
              <a:avLst/>
              <a:gdLst/>
              <a:ahLst/>
              <a:cxnLst/>
              <a:rect l="l" t="t" r="r" b="b"/>
              <a:pathLst>
                <a:path w="7653020" h="3689985">
                  <a:moveTo>
                    <a:pt x="7425624" y="0"/>
                  </a:moveTo>
                  <a:lnTo>
                    <a:pt x="7653024" y="0"/>
                  </a:lnTo>
                  <a:lnTo>
                    <a:pt x="7653024" y="199199"/>
                  </a:lnTo>
                  <a:lnTo>
                    <a:pt x="7425624" y="199199"/>
                  </a:lnTo>
                  <a:lnTo>
                    <a:pt x="7425624" y="0"/>
                  </a:lnTo>
                  <a:close/>
                </a:path>
                <a:path w="7653020" h="3689985">
                  <a:moveTo>
                    <a:pt x="0" y="3086974"/>
                  </a:moveTo>
                  <a:lnTo>
                    <a:pt x="4391399" y="3086974"/>
                  </a:lnTo>
                  <a:lnTo>
                    <a:pt x="4391399" y="3689974"/>
                  </a:lnTo>
                  <a:lnTo>
                    <a:pt x="0" y="3689974"/>
                  </a:lnTo>
                  <a:lnTo>
                    <a:pt x="0" y="3086974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03649" y="1120274"/>
              <a:ext cx="458470" cy="3637279"/>
            </a:xfrm>
            <a:custGeom>
              <a:avLst/>
              <a:gdLst/>
              <a:ahLst/>
              <a:cxnLst/>
              <a:rect l="l" t="t" r="r" b="b"/>
              <a:pathLst>
                <a:path w="458469" h="3637279">
                  <a:moveTo>
                    <a:pt x="458399" y="3637199"/>
                  </a:moveTo>
                  <a:lnTo>
                    <a:pt x="412208" y="3632543"/>
                  </a:lnTo>
                  <a:lnTo>
                    <a:pt x="369185" y="3619188"/>
                  </a:lnTo>
                  <a:lnTo>
                    <a:pt x="330252" y="3598056"/>
                  </a:lnTo>
                  <a:lnTo>
                    <a:pt x="296331" y="3570068"/>
                  </a:lnTo>
                  <a:lnTo>
                    <a:pt x="268343" y="3536147"/>
                  </a:lnTo>
                  <a:lnTo>
                    <a:pt x="247211" y="3497214"/>
                  </a:lnTo>
                  <a:lnTo>
                    <a:pt x="233856" y="3454191"/>
                  </a:lnTo>
                  <a:lnTo>
                    <a:pt x="229199" y="3407999"/>
                  </a:lnTo>
                  <a:lnTo>
                    <a:pt x="229199" y="2047799"/>
                  </a:lnTo>
                  <a:lnTo>
                    <a:pt x="224543" y="2001608"/>
                  </a:lnTo>
                  <a:lnTo>
                    <a:pt x="211188" y="1958585"/>
                  </a:lnTo>
                  <a:lnTo>
                    <a:pt x="190056" y="1919652"/>
                  </a:lnTo>
                  <a:lnTo>
                    <a:pt x="162068" y="1885731"/>
                  </a:lnTo>
                  <a:lnTo>
                    <a:pt x="128147" y="1857743"/>
                  </a:lnTo>
                  <a:lnTo>
                    <a:pt x="89214" y="1836611"/>
                  </a:lnTo>
                  <a:lnTo>
                    <a:pt x="46191" y="1823256"/>
                  </a:lnTo>
                  <a:lnTo>
                    <a:pt x="0" y="1818599"/>
                  </a:lnTo>
                  <a:lnTo>
                    <a:pt x="46191" y="1813943"/>
                  </a:lnTo>
                  <a:lnTo>
                    <a:pt x="89214" y="1800588"/>
                  </a:lnTo>
                  <a:lnTo>
                    <a:pt x="128147" y="1779456"/>
                  </a:lnTo>
                  <a:lnTo>
                    <a:pt x="162068" y="1751468"/>
                  </a:lnTo>
                  <a:lnTo>
                    <a:pt x="190056" y="1717547"/>
                  </a:lnTo>
                  <a:lnTo>
                    <a:pt x="211188" y="1678614"/>
                  </a:lnTo>
                  <a:lnTo>
                    <a:pt x="224543" y="1635591"/>
                  </a:lnTo>
                  <a:lnTo>
                    <a:pt x="229199" y="1589399"/>
                  </a:lnTo>
                  <a:lnTo>
                    <a:pt x="229199" y="229199"/>
                  </a:lnTo>
                  <a:lnTo>
                    <a:pt x="233856" y="183008"/>
                  </a:lnTo>
                  <a:lnTo>
                    <a:pt x="247211" y="139985"/>
                  </a:lnTo>
                  <a:lnTo>
                    <a:pt x="268343" y="101052"/>
                  </a:lnTo>
                  <a:lnTo>
                    <a:pt x="296331" y="67131"/>
                  </a:lnTo>
                  <a:lnTo>
                    <a:pt x="330252" y="39143"/>
                  </a:lnTo>
                  <a:lnTo>
                    <a:pt x="369185" y="18011"/>
                  </a:lnTo>
                  <a:lnTo>
                    <a:pt x="412208" y="4656"/>
                  </a:lnTo>
                  <a:lnTo>
                    <a:pt x="458399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7787" y="2300867"/>
            <a:ext cx="1134745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b="1" dirty="0">
                <a:solidFill>
                  <a:srgbClr val="E69137"/>
                </a:solidFill>
                <a:latin typeface="Cambria"/>
                <a:cs typeface="Cambria"/>
              </a:rPr>
              <a:t>knowledge</a:t>
            </a:r>
            <a:r>
              <a:rPr sz="1150" b="1" spc="12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150" b="1" spc="-20" dirty="0">
                <a:solidFill>
                  <a:srgbClr val="E69137"/>
                </a:solidFill>
                <a:latin typeface="Cambria"/>
                <a:cs typeface="Cambria"/>
              </a:rPr>
              <a:t>base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7006364" y="68529"/>
            <a:ext cx="2066289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2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Megan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Leszczynski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(Stanford)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0812" y="4218048"/>
            <a:ext cx="4439285" cy="3136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52450" algn="ctr">
              <a:lnSpc>
                <a:spcPct val="100000"/>
              </a:lnSpc>
              <a:spcBef>
                <a:spcPts val="140"/>
              </a:spcBef>
            </a:pPr>
            <a:r>
              <a:rPr sz="1850" b="1" dirty="0">
                <a:solidFill>
                  <a:srgbClr val="E69137"/>
                </a:solidFill>
                <a:latin typeface="Cambria"/>
                <a:cs typeface="Cambria"/>
              </a:rPr>
              <a:t>knowledge</a:t>
            </a:r>
            <a:r>
              <a:rPr sz="1850" b="1" spc="5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50" b="1" spc="-20" dirty="0">
                <a:solidFill>
                  <a:srgbClr val="E69137"/>
                </a:solidFill>
                <a:latin typeface="Cambria"/>
                <a:cs typeface="Cambria"/>
              </a:rPr>
              <a:t>graph</a:t>
            </a:r>
            <a:endParaRPr sz="18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5298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What</a:t>
            </a:r>
            <a:r>
              <a:rPr spc="-40" dirty="0"/>
              <a:t> </a:t>
            </a:r>
            <a:r>
              <a:rPr spc="75" dirty="0"/>
              <a:t>is</a:t>
            </a:r>
            <a:r>
              <a:rPr spc="-40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40" dirty="0"/>
              <a:t> </a:t>
            </a:r>
            <a:r>
              <a:rPr spc="100" dirty="0"/>
              <a:t>base?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2725" y="1062887"/>
            <a:ext cx="8898890" cy="3810000"/>
            <a:chOff x="202725" y="1062887"/>
            <a:chExt cx="8898890" cy="381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025" y="1161937"/>
              <a:ext cx="8133200" cy="36372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3025" y="2183899"/>
              <a:ext cx="1950720" cy="2684145"/>
            </a:xfrm>
            <a:custGeom>
              <a:avLst/>
              <a:gdLst/>
              <a:ahLst/>
              <a:cxnLst/>
              <a:rect l="l" t="t" r="r" b="b"/>
              <a:pathLst>
                <a:path w="1950720" h="2684145">
                  <a:moveTo>
                    <a:pt x="1950599" y="2684099"/>
                  </a:moveTo>
                  <a:lnTo>
                    <a:pt x="0" y="2684099"/>
                  </a:lnTo>
                  <a:lnTo>
                    <a:pt x="0" y="0"/>
                  </a:lnTo>
                  <a:lnTo>
                    <a:pt x="1950599" y="0"/>
                  </a:lnTo>
                  <a:lnTo>
                    <a:pt x="1950599" y="268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3025" y="2183899"/>
              <a:ext cx="1950720" cy="2684145"/>
            </a:xfrm>
            <a:custGeom>
              <a:avLst/>
              <a:gdLst/>
              <a:ahLst/>
              <a:cxnLst/>
              <a:rect l="l" t="t" r="r" b="b"/>
              <a:pathLst>
                <a:path w="1950720" h="2684145">
                  <a:moveTo>
                    <a:pt x="0" y="0"/>
                  </a:moveTo>
                  <a:lnTo>
                    <a:pt x="1950599" y="0"/>
                  </a:lnTo>
                  <a:lnTo>
                    <a:pt x="1950599" y="2684099"/>
                  </a:lnTo>
                  <a:lnTo>
                    <a:pt x="0" y="2684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6049" y="4116074"/>
              <a:ext cx="4448810" cy="641985"/>
            </a:xfrm>
            <a:custGeom>
              <a:avLst/>
              <a:gdLst/>
              <a:ahLst/>
              <a:cxnLst/>
              <a:rect l="l" t="t" r="r" b="b"/>
              <a:pathLst>
                <a:path w="4448810" h="641985">
                  <a:moveTo>
                    <a:pt x="4448699" y="641399"/>
                  </a:moveTo>
                  <a:lnTo>
                    <a:pt x="0" y="641399"/>
                  </a:lnTo>
                  <a:lnTo>
                    <a:pt x="0" y="0"/>
                  </a:lnTo>
                  <a:lnTo>
                    <a:pt x="4448699" y="0"/>
                  </a:lnTo>
                  <a:lnTo>
                    <a:pt x="4448699" y="641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86049" y="4116074"/>
              <a:ext cx="4448810" cy="641985"/>
            </a:xfrm>
            <a:custGeom>
              <a:avLst/>
              <a:gdLst/>
              <a:ahLst/>
              <a:cxnLst/>
              <a:rect l="l" t="t" r="r" b="b"/>
              <a:pathLst>
                <a:path w="4448810" h="641985">
                  <a:moveTo>
                    <a:pt x="0" y="0"/>
                  </a:moveTo>
                  <a:lnTo>
                    <a:pt x="4448699" y="0"/>
                  </a:lnTo>
                  <a:lnTo>
                    <a:pt x="4448699" y="641399"/>
                  </a:lnTo>
                  <a:lnTo>
                    <a:pt x="0" y="64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17374" y="3859874"/>
              <a:ext cx="2467610" cy="256540"/>
            </a:xfrm>
            <a:custGeom>
              <a:avLst/>
              <a:gdLst/>
              <a:ahLst/>
              <a:cxnLst/>
              <a:rect l="l" t="t" r="r" b="b"/>
              <a:pathLst>
                <a:path w="2467610" h="256539">
                  <a:moveTo>
                    <a:pt x="2467499" y="256199"/>
                  </a:moveTo>
                  <a:lnTo>
                    <a:pt x="0" y="256199"/>
                  </a:lnTo>
                  <a:lnTo>
                    <a:pt x="0" y="0"/>
                  </a:lnTo>
                  <a:lnTo>
                    <a:pt x="2467499" y="0"/>
                  </a:lnTo>
                  <a:lnTo>
                    <a:pt x="2467499" y="256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17374" y="3859874"/>
              <a:ext cx="2467610" cy="256540"/>
            </a:xfrm>
            <a:custGeom>
              <a:avLst/>
              <a:gdLst/>
              <a:ahLst/>
              <a:cxnLst/>
              <a:rect l="l" t="t" r="r" b="b"/>
              <a:pathLst>
                <a:path w="2467610" h="256539">
                  <a:moveTo>
                    <a:pt x="0" y="0"/>
                  </a:moveTo>
                  <a:lnTo>
                    <a:pt x="2467499" y="0"/>
                  </a:lnTo>
                  <a:lnTo>
                    <a:pt x="2467499" y="256199"/>
                  </a:lnTo>
                  <a:lnTo>
                    <a:pt x="0" y="25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725" y="2525612"/>
              <a:ext cx="1483699" cy="10919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868924" y="1067649"/>
              <a:ext cx="227965" cy="199390"/>
            </a:xfrm>
            <a:custGeom>
              <a:avLst/>
              <a:gdLst/>
              <a:ahLst/>
              <a:cxnLst/>
              <a:rect l="l" t="t" r="r" b="b"/>
              <a:pathLst>
                <a:path w="227965" h="199390">
                  <a:moveTo>
                    <a:pt x="227399" y="199199"/>
                  </a:moveTo>
                  <a:lnTo>
                    <a:pt x="0" y="199199"/>
                  </a:lnTo>
                  <a:lnTo>
                    <a:pt x="0" y="0"/>
                  </a:lnTo>
                  <a:lnTo>
                    <a:pt x="227399" y="0"/>
                  </a:lnTo>
                  <a:lnTo>
                    <a:pt x="227399" y="19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68924" y="1067649"/>
              <a:ext cx="227965" cy="199390"/>
            </a:xfrm>
            <a:custGeom>
              <a:avLst/>
              <a:gdLst/>
              <a:ahLst/>
              <a:cxnLst/>
              <a:rect l="l" t="t" r="r" b="b"/>
              <a:pathLst>
                <a:path w="227965" h="199390">
                  <a:moveTo>
                    <a:pt x="0" y="0"/>
                  </a:moveTo>
                  <a:lnTo>
                    <a:pt x="227399" y="0"/>
                  </a:lnTo>
                  <a:lnTo>
                    <a:pt x="227399" y="199199"/>
                  </a:lnTo>
                  <a:lnTo>
                    <a:pt x="0" y="19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09324" y="2438137"/>
              <a:ext cx="1734185" cy="1267460"/>
            </a:xfrm>
            <a:custGeom>
              <a:avLst/>
              <a:gdLst/>
              <a:ahLst/>
              <a:cxnLst/>
              <a:rect l="l" t="t" r="r" b="b"/>
              <a:pathLst>
                <a:path w="1734185" h="1267460">
                  <a:moveTo>
                    <a:pt x="1522545" y="1266899"/>
                  </a:moveTo>
                  <a:lnTo>
                    <a:pt x="211154" y="1266899"/>
                  </a:lnTo>
                  <a:lnTo>
                    <a:pt x="162738" y="1261323"/>
                  </a:lnTo>
                  <a:lnTo>
                    <a:pt x="118293" y="1245438"/>
                  </a:lnTo>
                  <a:lnTo>
                    <a:pt x="79088" y="1220511"/>
                  </a:lnTo>
                  <a:lnTo>
                    <a:pt x="46388" y="1187811"/>
                  </a:lnTo>
                  <a:lnTo>
                    <a:pt x="21461" y="1148606"/>
                  </a:lnTo>
                  <a:lnTo>
                    <a:pt x="5576" y="1104161"/>
                  </a:lnTo>
                  <a:lnTo>
                    <a:pt x="0" y="1055745"/>
                  </a:lnTo>
                  <a:lnTo>
                    <a:pt x="0" y="211154"/>
                  </a:lnTo>
                  <a:lnTo>
                    <a:pt x="5576" y="162738"/>
                  </a:lnTo>
                  <a:lnTo>
                    <a:pt x="21461" y="118293"/>
                  </a:lnTo>
                  <a:lnTo>
                    <a:pt x="46388" y="79088"/>
                  </a:lnTo>
                  <a:lnTo>
                    <a:pt x="79088" y="46388"/>
                  </a:lnTo>
                  <a:lnTo>
                    <a:pt x="118293" y="21461"/>
                  </a:lnTo>
                  <a:lnTo>
                    <a:pt x="162738" y="5576"/>
                  </a:lnTo>
                  <a:lnTo>
                    <a:pt x="211154" y="0"/>
                  </a:lnTo>
                  <a:lnTo>
                    <a:pt x="1522545" y="0"/>
                  </a:lnTo>
                  <a:lnTo>
                    <a:pt x="1563932" y="4094"/>
                  </a:lnTo>
                  <a:lnTo>
                    <a:pt x="1603350" y="16073"/>
                  </a:lnTo>
                  <a:lnTo>
                    <a:pt x="1639694" y="35476"/>
                  </a:lnTo>
                  <a:lnTo>
                    <a:pt x="1671854" y="61845"/>
                  </a:lnTo>
                  <a:lnTo>
                    <a:pt x="1698223" y="94005"/>
                  </a:lnTo>
                  <a:lnTo>
                    <a:pt x="1717626" y="130349"/>
                  </a:lnTo>
                  <a:lnTo>
                    <a:pt x="1729605" y="169767"/>
                  </a:lnTo>
                  <a:lnTo>
                    <a:pt x="1733699" y="211154"/>
                  </a:lnTo>
                  <a:lnTo>
                    <a:pt x="1733699" y="1055745"/>
                  </a:lnTo>
                  <a:lnTo>
                    <a:pt x="1728123" y="1104161"/>
                  </a:lnTo>
                  <a:lnTo>
                    <a:pt x="1712238" y="1148606"/>
                  </a:lnTo>
                  <a:lnTo>
                    <a:pt x="1687311" y="1187811"/>
                  </a:lnTo>
                  <a:lnTo>
                    <a:pt x="1654611" y="1220511"/>
                  </a:lnTo>
                  <a:lnTo>
                    <a:pt x="1615406" y="1245438"/>
                  </a:lnTo>
                  <a:lnTo>
                    <a:pt x="1570961" y="1261323"/>
                  </a:lnTo>
                  <a:lnTo>
                    <a:pt x="1522545" y="12668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9324" y="2438137"/>
              <a:ext cx="1734185" cy="1267460"/>
            </a:xfrm>
            <a:custGeom>
              <a:avLst/>
              <a:gdLst/>
              <a:ahLst/>
              <a:cxnLst/>
              <a:rect l="l" t="t" r="r" b="b"/>
              <a:pathLst>
                <a:path w="1734185" h="1267460">
                  <a:moveTo>
                    <a:pt x="0" y="211154"/>
                  </a:moveTo>
                  <a:lnTo>
                    <a:pt x="5576" y="162738"/>
                  </a:lnTo>
                  <a:lnTo>
                    <a:pt x="21461" y="118293"/>
                  </a:lnTo>
                  <a:lnTo>
                    <a:pt x="46388" y="79088"/>
                  </a:lnTo>
                  <a:lnTo>
                    <a:pt x="79088" y="46388"/>
                  </a:lnTo>
                  <a:lnTo>
                    <a:pt x="118293" y="21461"/>
                  </a:lnTo>
                  <a:lnTo>
                    <a:pt x="162738" y="5576"/>
                  </a:lnTo>
                  <a:lnTo>
                    <a:pt x="211154" y="0"/>
                  </a:lnTo>
                  <a:lnTo>
                    <a:pt x="1522545" y="0"/>
                  </a:lnTo>
                  <a:lnTo>
                    <a:pt x="1563932" y="4094"/>
                  </a:lnTo>
                  <a:lnTo>
                    <a:pt x="1603350" y="16073"/>
                  </a:lnTo>
                  <a:lnTo>
                    <a:pt x="1639694" y="35476"/>
                  </a:lnTo>
                  <a:lnTo>
                    <a:pt x="1671854" y="61845"/>
                  </a:lnTo>
                  <a:lnTo>
                    <a:pt x="1698223" y="94005"/>
                  </a:lnTo>
                  <a:lnTo>
                    <a:pt x="1717626" y="130349"/>
                  </a:lnTo>
                  <a:lnTo>
                    <a:pt x="1729605" y="169767"/>
                  </a:lnTo>
                  <a:lnTo>
                    <a:pt x="1733699" y="211154"/>
                  </a:lnTo>
                  <a:lnTo>
                    <a:pt x="1733699" y="1055745"/>
                  </a:lnTo>
                  <a:lnTo>
                    <a:pt x="1728123" y="1104161"/>
                  </a:lnTo>
                  <a:lnTo>
                    <a:pt x="1712238" y="1148606"/>
                  </a:lnTo>
                  <a:lnTo>
                    <a:pt x="1687311" y="1187811"/>
                  </a:lnTo>
                  <a:lnTo>
                    <a:pt x="1654611" y="1220511"/>
                  </a:lnTo>
                  <a:lnTo>
                    <a:pt x="1615406" y="1245438"/>
                  </a:lnTo>
                  <a:lnTo>
                    <a:pt x="1570961" y="1261323"/>
                  </a:lnTo>
                  <a:lnTo>
                    <a:pt x="1522545" y="1266899"/>
                  </a:lnTo>
                  <a:lnTo>
                    <a:pt x="211154" y="1266899"/>
                  </a:lnTo>
                  <a:lnTo>
                    <a:pt x="162738" y="1261323"/>
                  </a:lnTo>
                  <a:lnTo>
                    <a:pt x="118293" y="1245438"/>
                  </a:lnTo>
                  <a:lnTo>
                    <a:pt x="79088" y="1220511"/>
                  </a:lnTo>
                  <a:lnTo>
                    <a:pt x="46388" y="1187811"/>
                  </a:lnTo>
                  <a:lnTo>
                    <a:pt x="21461" y="1148606"/>
                  </a:lnTo>
                  <a:lnTo>
                    <a:pt x="5576" y="1104161"/>
                  </a:lnTo>
                  <a:lnTo>
                    <a:pt x="0" y="1055745"/>
                  </a:lnTo>
                  <a:lnTo>
                    <a:pt x="0" y="211154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3299" y="4154624"/>
              <a:ext cx="4391660" cy="603250"/>
            </a:xfrm>
            <a:custGeom>
              <a:avLst/>
              <a:gdLst/>
              <a:ahLst/>
              <a:cxnLst/>
              <a:rect l="l" t="t" r="r" b="b"/>
              <a:pathLst>
                <a:path w="4391660" h="603250">
                  <a:moveTo>
                    <a:pt x="0" y="0"/>
                  </a:moveTo>
                  <a:lnTo>
                    <a:pt x="4391399" y="0"/>
                  </a:lnTo>
                  <a:lnTo>
                    <a:pt x="4391399" y="602999"/>
                  </a:lnTo>
                  <a:lnTo>
                    <a:pt x="0" y="602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26550" y="3948099"/>
              <a:ext cx="1540510" cy="815340"/>
            </a:xfrm>
            <a:custGeom>
              <a:avLst/>
              <a:gdLst/>
              <a:ahLst/>
              <a:cxnLst/>
              <a:rect l="l" t="t" r="r" b="b"/>
              <a:pathLst>
                <a:path w="1540509" h="815339">
                  <a:moveTo>
                    <a:pt x="1404397" y="814799"/>
                  </a:moveTo>
                  <a:lnTo>
                    <a:pt x="135802" y="814799"/>
                  </a:lnTo>
                  <a:lnTo>
                    <a:pt x="92878" y="807876"/>
                  </a:lnTo>
                  <a:lnTo>
                    <a:pt x="55599" y="788598"/>
                  </a:lnTo>
                  <a:lnTo>
                    <a:pt x="26201" y="759200"/>
                  </a:lnTo>
                  <a:lnTo>
                    <a:pt x="6923" y="721921"/>
                  </a:lnTo>
                  <a:lnTo>
                    <a:pt x="0" y="678997"/>
                  </a:lnTo>
                  <a:lnTo>
                    <a:pt x="0" y="135802"/>
                  </a:lnTo>
                  <a:lnTo>
                    <a:pt x="6923" y="92878"/>
                  </a:lnTo>
                  <a:lnTo>
                    <a:pt x="26201" y="55599"/>
                  </a:lnTo>
                  <a:lnTo>
                    <a:pt x="55599" y="26201"/>
                  </a:lnTo>
                  <a:lnTo>
                    <a:pt x="92878" y="6923"/>
                  </a:lnTo>
                  <a:lnTo>
                    <a:pt x="135802" y="0"/>
                  </a:lnTo>
                  <a:lnTo>
                    <a:pt x="1404397" y="0"/>
                  </a:lnTo>
                  <a:lnTo>
                    <a:pt x="1456366" y="10337"/>
                  </a:lnTo>
                  <a:lnTo>
                    <a:pt x="1500424" y="39775"/>
                  </a:lnTo>
                  <a:lnTo>
                    <a:pt x="1529862" y="83833"/>
                  </a:lnTo>
                  <a:lnTo>
                    <a:pt x="1540199" y="135802"/>
                  </a:lnTo>
                  <a:lnTo>
                    <a:pt x="1540199" y="678997"/>
                  </a:lnTo>
                  <a:lnTo>
                    <a:pt x="1533276" y="721921"/>
                  </a:lnTo>
                  <a:lnTo>
                    <a:pt x="1513998" y="759200"/>
                  </a:lnTo>
                  <a:lnTo>
                    <a:pt x="1484600" y="788598"/>
                  </a:lnTo>
                  <a:lnTo>
                    <a:pt x="1447321" y="807876"/>
                  </a:lnTo>
                  <a:lnTo>
                    <a:pt x="1404397" y="8147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26550" y="3948099"/>
              <a:ext cx="1540510" cy="815340"/>
            </a:xfrm>
            <a:custGeom>
              <a:avLst/>
              <a:gdLst/>
              <a:ahLst/>
              <a:cxnLst/>
              <a:rect l="l" t="t" r="r" b="b"/>
              <a:pathLst>
                <a:path w="1540509" h="815339">
                  <a:moveTo>
                    <a:pt x="0" y="135802"/>
                  </a:moveTo>
                  <a:lnTo>
                    <a:pt x="6923" y="92878"/>
                  </a:lnTo>
                  <a:lnTo>
                    <a:pt x="26201" y="55599"/>
                  </a:lnTo>
                  <a:lnTo>
                    <a:pt x="55599" y="26201"/>
                  </a:lnTo>
                  <a:lnTo>
                    <a:pt x="92878" y="6923"/>
                  </a:lnTo>
                  <a:lnTo>
                    <a:pt x="135802" y="0"/>
                  </a:lnTo>
                  <a:lnTo>
                    <a:pt x="1404397" y="0"/>
                  </a:lnTo>
                  <a:lnTo>
                    <a:pt x="1456366" y="10337"/>
                  </a:lnTo>
                  <a:lnTo>
                    <a:pt x="1500424" y="39775"/>
                  </a:lnTo>
                  <a:lnTo>
                    <a:pt x="1529862" y="83833"/>
                  </a:lnTo>
                  <a:lnTo>
                    <a:pt x="1540199" y="135802"/>
                  </a:lnTo>
                  <a:lnTo>
                    <a:pt x="1540199" y="678997"/>
                  </a:lnTo>
                  <a:lnTo>
                    <a:pt x="1533276" y="721921"/>
                  </a:lnTo>
                  <a:lnTo>
                    <a:pt x="1513998" y="759200"/>
                  </a:lnTo>
                  <a:lnTo>
                    <a:pt x="1484600" y="788598"/>
                  </a:lnTo>
                  <a:lnTo>
                    <a:pt x="1447321" y="807876"/>
                  </a:lnTo>
                  <a:lnTo>
                    <a:pt x="1404397" y="814799"/>
                  </a:lnTo>
                  <a:lnTo>
                    <a:pt x="135802" y="814799"/>
                  </a:lnTo>
                  <a:lnTo>
                    <a:pt x="92878" y="807876"/>
                  </a:lnTo>
                  <a:lnTo>
                    <a:pt x="55599" y="788598"/>
                  </a:lnTo>
                  <a:lnTo>
                    <a:pt x="26201" y="759200"/>
                  </a:lnTo>
                  <a:lnTo>
                    <a:pt x="6923" y="721921"/>
                  </a:lnTo>
                  <a:lnTo>
                    <a:pt x="0" y="678997"/>
                  </a:lnTo>
                  <a:lnTo>
                    <a:pt x="0" y="135802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3649" y="1120274"/>
              <a:ext cx="458470" cy="3637279"/>
            </a:xfrm>
            <a:custGeom>
              <a:avLst/>
              <a:gdLst/>
              <a:ahLst/>
              <a:cxnLst/>
              <a:rect l="l" t="t" r="r" b="b"/>
              <a:pathLst>
                <a:path w="458469" h="3637279">
                  <a:moveTo>
                    <a:pt x="458399" y="3637199"/>
                  </a:moveTo>
                  <a:lnTo>
                    <a:pt x="412208" y="3632543"/>
                  </a:lnTo>
                  <a:lnTo>
                    <a:pt x="369185" y="3619188"/>
                  </a:lnTo>
                  <a:lnTo>
                    <a:pt x="330252" y="3598056"/>
                  </a:lnTo>
                  <a:lnTo>
                    <a:pt x="296331" y="3570068"/>
                  </a:lnTo>
                  <a:lnTo>
                    <a:pt x="268343" y="3536147"/>
                  </a:lnTo>
                  <a:lnTo>
                    <a:pt x="247211" y="3497214"/>
                  </a:lnTo>
                  <a:lnTo>
                    <a:pt x="233856" y="3454191"/>
                  </a:lnTo>
                  <a:lnTo>
                    <a:pt x="229199" y="3407999"/>
                  </a:lnTo>
                  <a:lnTo>
                    <a:pt x="229199" y="2047799"/>
                  </a:lnTo>
                  <a:lnTo>
                    <a:pt x="224543" y="2001608"/>
                  </a:lnTo>
                  <a:lnTo>
                    <a:pt x="211188" y="1958585"/>
                  </a:lnTo>
                  <a:lnTo>
                    <a:pt x="190056" y="1919652"/>
                  </a:lnTo>
                  <a:lnTo>
                    <a:pt x="162068" y="1885731"/>
                  </a:lnTo>
                  <a:lnTo>
                    <a:pt x="128147" y="1857743"/>
                  </a:lnTo>
                  <a:lnTo>
                    <a:pt x="89214" y="1836611"/>
                  </a:lnTo>
                  <a:lnTo>
                    <a:pt x="46191" y="1823256"/>
                  </a:lnTo>
                  <a:lnTo>
                    <a:pt x="0" y="1818599"/>
                  </a:lnTo>
                  <a:lnTo>
                    <a:pt x="46191" y="1813943"/>
                  </a:lnTo>
                  <a:lnTo>
                    <a:pt x="89214" y="1800588"/>
                  </a:lnTo>
                  <a:lnTo>
                    <a:pt x="128147" y="1779456"/>
                  </a:lnTo>
                  <a:lnTo>
                    <a:pt x="162068" y="1751468"/>
                  </a:lnTo>
                  <a:lnTo>
                    <a:pt x="190056" y="1717547"/>
                  </a:lnTo>
                  <a:lnTo>
                    <a:pt x="211188" y="1678614"/>
                  </a:lnTo>
                  <a:lnTo>
                    <a:pt x="224543" y="1635591"/>
                  </a:lnTo>
                  <a:lnTo>
                    <a:pt x="229199" y="1589399"/>
                  </a:lnTo>
                  <a:lnTo>
                    <a:pt x="229199" y="229199"/>
                  </a:lnTo>
                  <a:lnTo>
                    <a:pt x="233856" y="183008"/>
                  </a:lnTo>
                  <a:lnTo>
                    <a:pt x="247211" y="139985"/>
                  </a:lnTo>
                  <a:lnTo>
                    <a:pt x="268343" y="101052"/>
                  </a:lnTo>
                  <a:lnTo>
                    <a:pt x="296331" y="67131"/>
                  </a:lnTo>
                  <a:lnTo>
                    <a:pt x="330252" y="39143"/>
                  </a:lnTo>
                  <a:lnTo>
                    <a:pt x="369185" y="18011"/>
                  </a:lnTo>
                  <a:lnTo>
                    <a:pt x="412208" y="4656"/>
                  </a:lnTo>
                  <a:lnTo>
                    <a:pt x="458399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90812" y="4012286"/>
            <a:ext cx="4439285" cy="731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839595" algn="ctr">
              <a:lnSpc>
                <a:spcPct val="100000"/>
              </a:lnSpc>
              <a:spcBef>
                <a:spcPts val="140"/>
              </a:spcBef>
            </a:pPr>
            <a:r>
              <a:rPr sz="1700" b="1" spc="-10" dirty="0">
                <a:solidFill>
                  <a:srgbClr val="E69137"/>
                </a:solidFill>
                <a:latin typeface="Cambria"/>
                <a:cs typeface="Cambria"/>
              </a:rPr>
              <a:t>nodes</a:t>
            </a:r>
            <a:endParaRPr sz="1700">
              <a:latin typeface="Cambria"/>
              <a:cs typeface="Cambria"/>
            </a:endParaRPr>
          </a:p>
          <a:p>
            <a:pPr marL="2508885" marR="660400" indent="-635" algn="ctr">
              <a:lnSpc>
                <a:spcPct val="102899"/>
              </a:lnSpc>
              <a:spcBef>
                <a:spcPts val="10"/>
              </a:spcBef>
            </a:pPr>
            <a:r>
              <a:rPr sz="1400" spc="80" dirty="0">
                <a:solidFill>
                  <a:srgbClr val="595959"/>
                </a:solidFill>
                <a:latin typeface="Times New Roman"/>
                <a:cs typeface="Times New Roman"/>
              </a:rPr>
              <a:t>entities</a:t>
            </a:r>
            <a:r>
              <a:rPr sz="14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595959"/>
                </a:solidFill>
                <a:latin typeface="Times New Roman"/>
                <a:cs typeface="Times New Roman"/>
              </a:rPr>
              <a:t>or </a:t>
            </a:r>
            <a:r>
              <a:rPr sz="1400" spc="95" dirty="0">
                <a:solidFill>
                  <a:srgbClr val="595959"/>
                </a:solidFill>
                <a:latin typeface="Times New Roman"/>
                <a:cs typeface="Times New Roman"/>
              </a:rPr>
              <a:t>abstract</a:t>
            </a:r>
            <a:r>
              <a:rPr sz="14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595959"/>
                </a:solidFill>
                <a:latin typeface="Times New Roman"/>
                <a:cs typeface="Times New Roman"/>
              </a:rPr>
              <a:t>classes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29712" y="3729437"/>
            <a:ext cx="1581785" cy="808355"/>
            <a:chOff x="4429712" y="3729437"/>
            <a:chExt cx="1581785" cy="808355"/>
          </a:xfrm>
        </p:grpSpPr>
        <p:sp>
          <p:nvSpPr>
            <p:cNvPr id="22" name="object 22"/>
            <p:cNvSpPr/>
            <p:nvPr/>
          </p:nvSpPr>
          <p:spPr>
            <a:xfrm>
              <a:off x="4434475" y="3734199"/>
              <a:ext cx="191770" cy="256540"/>
            </a:xfrm>
            <a:custGeom>
              <a:avLst/>
              <a:gdLst/>
              <a:ahLst/>
              <a:cxnLst/>
              <a:rect l="l" t="t" r="r" b="b"/>
              <a:pathLst>
                <a:path w="191770" h="256539">
                  <a:moveTo>
                    <a:pt x="143774" y="256199"/>
                  </a:moveTo>
                  <a:lnTo>
                    <a:pt x="47924" y="256199"/>
                  </a:lnTo>
                  <a:lnTo>
                    <a:pt x="47924" y="95849"/>
                  </a:lnTo>
                  <a:lnTo>
                    <a:pt x="0" y="95849"/>
                  </a:lnTo>
                  <a:lnTo>
                    <a:pt x="95849" y="0"/>
                  </a:lnTo>
                  <a:lnTo>
                    <a:pt x="191699" y="95849"/>
                  </a:lnTo>
                  <a:lnTo>
                    <a:pt x="143774" y="95849"/>
                  </a:lnTo>
                  <a:lnTo>
                    <a:pt x="143774" y="2561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4475" y="3734199"/>
              <a:ext cx="191770" cy="256540"/>
            </a:xfrm>
            <a:custGeom>
              <a:avLst/>
              <a:gdLst/>
              <a:ahLst/>
              <a:cxnLst/>
              <a:rect l="l" t="t" r="r" b="b"/>
              <a:pathLst>
                <a:path w="191770" h="256539">
                  <a:moveTo>
                    <a:pt x="0" y="95849"/>
                  </a:moveTo>
                  <a:lnTo>
                    <a:pt x="95849" y="0"/>
                  </a:lnTo>
                  <a:lnTo>
                    <a:pt x="191699" y="95849"/>
                  </a:lnTo>
                  <a:lnTo>
                    <a:pt x="143774" y="95849"/>
                  </a:lnTo>
                  <a:lnTo>
                    <a:pt x="143774" y="256199"/>
                  </a:lnTo>
                  <a:lnTo>
                    <a:pt x="47924" y="256199"/>
                  </a:lnTo>
                  <a:lnTo>
                    <a:pt x="47924" y="95849"/>
                  </a:lnTo>
                  <a:lnTo>
                    <a:pt x="0" y="9584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86775" y="4340924"/>
              <a:ext cx="920115" cy="191770"/>
            </a:xfrm>
            <a:custGeom>
              <a:avLst/>
              <a:gdLst/>
              <a:ahLst/>
              <a:cxnLst/>
              <a:rect l="l" t="t" r="r" b="b"/>
              <a:pathLst>
                <a:path w="920114" h="191770">
                  <a:moveTo>
                    <a:pt x="823649" y="191699"/>
                  </a:moveTo>
                  <a:lnTo>
                    <a:pt x="8236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823649" y="47924"/>
                  </a:lnTo>
                  <a:lnTo>
                    <a:pt x="823649" y="0"/>
                  </a:lnTo>
                  <a:lnTo>
                    <a:pt x="919499" y="95849"/>
                  </a:lnTo>
                  <a:lnTo>
                    <a:pt x="823649" y="191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86775" y="4340924"/>
              <a:ext cx="920115" cy="191770"/>
            </a:xfrm>
            <a:custGeom>
              <a:avLst/>
              <a:gdLst/>
              <a:ahLst/>
              <a:cxnLst/>
              <a:rect l="l" t="t" r="r" b="b"/>
              <a:pathLst>
                <a:path w="920114" h="191770">
                  <a:moveTo>
                    <a:pt x="823649" y="0"/>
                  </a:moveTo>
                  <a:lnTo>
                    <a:pt x="919499" y="95849"/>
                  </a:lnTo>
                  <a:lnTo>
                    <a:pt x="823649" y="191699"/>
                  </a:lnTo>
                  <a:lnTo>
                    <a:pt x="8236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823649" y="47924"/>
                  </a:lnTo>
                  <a:lnTo>
                    <a:pt x="823649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77787" y="2300867"/>
            <a:ext cx="1134745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b="1" dirty="0">
                <a:solidFill>
                  <a:srgbClr val="E69137"/>
                </a:solidFill>
                <a:latin typeface="Cambria"/>
                <a:cs typeface="Cambria"/>
              </a:rPr>
              <a:t>knowledge</a:t>
            </a:r>
            <a:r>
              <a:rPr sz="1150" b="1" spc="12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150" b="1" spc="-20" dirty="0">
                <a:solidFill>
                  <a:srgbClr val="E69137"/>
                </a:solidFill>
                <a:latin typeface="Cambria"/>
                <a:cs typeface="Cambria"/>
              </a:rPr>
              <a:t>base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7006364" y="68529"/>
            <a:ext cx="2066289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2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Megan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Leszczynski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(Stanford)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5298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What</a:t>
            </a:r>
            <a:r>
              <a:rPr spc="-40" dirty="0"/>
              <a:t> </a:t>
            </a:r>
            <a:r>
              <a:rPr spc="75" dirty="0"/>
              <a:t>is</a:t>
            </a:r>
            <a:r>
              <a:rPr spc="-40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40" dirty="0"/>
              <a:t> </a:t>
            </a:r>
            <a:r>
              <a:rPr spc="100" dirty="0"/>
              <a:t>base?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2725" y="1161937"/>
            <a:ext cx="8763635" cy="3710940"/>
            <a:chOff x="202725" y="1161937"/>
            <a:chExt cx="8763635" cy="3710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025" y="1161937"/>
              <a:ext cx="8133200" cy="36372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3025" y="2183899"/>
              <a:ext cx="1950720" cy="2684145"/>
            </a:xfrm>
            <a:custGeom>
              <a:avLst/>
              <a:gdLst/>
              <a:ahLst/>
              <a:cxnLst/>
              <a:rect l="l" t="t" r="r" b="b"/>
              <a:pathLst>
                <a:path w="1950720" h="2684145">
                  <a:moveTo>
                    <a:pt x="1950599" y="2684099"/>
                  </a:moveTo>
                  <a:lnTo>
                    <a:pt x="0" y="2684099"/>
                  </a:lnTo>
                  <a:lnTo>
                    <a:pt x="0" y="0"/>
                  </a:lnTo>
                  <a:lnTo>
                    <a:pt x="1950599" y="0"/>
                  </a:lnTo>
                  <a:lnTo>
                    <a:pt x="1950599" y="268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3025" y="2183899"/>
              <a:ext cx="1950720" cy="2684145"/>
            </a:xfrm>
            <a:custGeom>
              <a:avLst/>
              <a:gdLst/>
              <a:ahLst/>
              <a:cxnLst/>
              <a:rect l="l" t="t" r="r" b="b"/>
              <a:pathLst>
                <a:path w="1950720" h="2684145">
                  <a:moveTo>
                    <a:pt x="0" y="0"/>
                  </a:moveTo>
                  <a:lnTo>
                    <a:pt x="1950599" y="0"/>
                  </a:lnTo>
                  <a:lnTo>
                    <a:pt x="1950599" y="2684099"/>
                  </a:lnTo>
                  <a:lnTo>
                    <a:pt x="0" y="2684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6039" y="3859885"/>
              <a:ext cx="4448810" cy="897890"/>
            </a:xfrm>
            <a:custGeom>
              <a:avLst/>
              <a:gdLst/>
              <a:ahLst/>
              <a:cxnLst/>
              <a:rect l="l" t="t" r="r" b="b"/>
              <a:pathLst>
                <a:path w="4448810" h="897889">
                  <a:moveTo>
                    <a:pt x="4448708" y="256197"/>
                  </a:moveTo>
                  <a:lnTo>
                    <a:pt x="3898823" y="256197"/>
                  </a:lnTo>
                  <a:lnTo>
                    <a:pt x="3898823" y="0"/>
                  </a:lnTo>
                  <a:lnTo>
                    <a:pt x="1431328" y="0"/>
                  </a:lnTo>
                  <a:lnTo>
                    <a:pt x="1431328" y="256197"/>
                  </a:lnTo>
                  <a:lnTo>
                    <a:pt x="0" y="256197"/>
                  </a:lnTo>
                  <a:lnTo>
                    <a:pt x="0" y="897597"/>
                  </a:lnTo>
                  <a:lnTo>
                    <a:pt x="4448708" y="897597"/>
                  </a:lnTo>
                  <a:lnTo>
                    <a:pt x="4448708" y="2561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7374" y="3859874"/>
              <a:ext cx="2467610" cy="256540"/>
            </a:xfrm>
            <a:custGeom>
              <a:avLst/>
              <a:gdLst/>
              <a:ahLst/>
              <a:cxnLst/>
              <a:rect l="l" t="t" r="r" b="b"/>
              <a:pathLst>
                <a:path w="2467610" h="256539">
                  <a:moveTo>
                    <a:pt x="0" y="0"/>
                  </a:moveTo>
                  <a:lnTo>
                    <a:pt x="2467499" y="0"/>
                  </a:lnTo>
                  <a:lnTo>
                    <a:pt x="2467499" y="256199"/>
                  </a:lnTo>
                  <a:lnTo>
                    <a:pt x="0" y="25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725" y="2525612"/>
              <a:ext cx="1483699" cy="10919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77787" y="2300867"/>
            <a:ext cx="1134745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b="1" dirty="0">
                <a:solidFill>
                  <a:srgbClr val="E69137"/>
                </a:solidFill>
                <a:latin typeface="Cambria"/>
                <a:cs typeface="Cambria"/>
              </a:rPr>
              <a:t>knowledge</a:t>
            </a:r>
            <a:r>
              <a:rPr sz="1150" b="1" spc="12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150" b="1" spc="-20" dirty="0">
                <a:solidFill>
                  <a:srgbClr val="E69137"/>
                </a:solidFill>
                <a:latin typeface="Cambria"/>
                <a:cs typeface="Cambria"/>
              </a:rPr>
              <a:t>base</a:t>
            </a:r>
            <a:endParaRPr sz="115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81287" y="1062887"/>
            <a:ext cx="7720330" cy="3709035"/>
            <a:chOff x="1381287" y="1062887"/>
            <a:chExt cx="7720330" cy="3709035"/>
          </a:xfrm>
        </p:grpSpPr>
        <p:sp>
          <p:nvSpPr>
            <p:cNvPr id="12" name="object 12"/>
            <p:cNvSpPr/>
            <p:nvPr/>
          </p:nvSpPr>
          <p:spPr>
            <a:xfrm>
              <a:off x="8868925" y="1067649"/>
              <a:ext cx="227965" cy="199390"/>
            </a:xfrm>
            <a:custGeom>
              <a:avLst/>
              <a:gdLst/>
              <a:ahLst/>
              <a:cxnLst/>
              <a:rect l="l" t="t" r="r" b="b"/>
              <a:pathLst>
                <a:path w="227965" h="199390">
                  <a:moveTo>
                    <a:pt x="227399" y="199199"/>
                  </a:moveTo>
                  <a:lnTo>
                    <a:pt x="0" y="199199"/>
                  </a:lnTo>
                  <a:lnTo>
                    <a:pt x="0" y="0"/>
                  </a:lnTo>
                  <a:lnTo>
                    <a:pt x="227399" y="0"/>
                  </a:lnTo>
                  <a:lnTo>
                    <a:pt x="227399" y="19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6049" y="1067649"/>
              <a:ext cx="7710805" cy="3689985"/>
            </a:xfrm>
            <a:custGeom>
              <a:avLst/>
              <a:gdLst/>
              <a:ahLst/>
              <a:cxnLst/>
              <a:rect l="l" t="t" r="r" b="b"/>
              <a:pathLst>
                <a:path w="7710805" h="3689985">
                  <a:moveTo>
                    <a:pt x="7482874" y="0"/>
                  </a:moveTo>
                  <a:lnTo>
                    <a:pt x="7710274" y="0"/>
                  </a:lnTo>
                  <a:lnTo>
                    <a:pt x="7710274" y="199199"/>
                  </a:lnTo>
                  <a:lnTo>
                    <a:pt x="7482874" y="199199"/>
                  </a:lnTo>
                  <a:lnTo>
                    <a:pt x="7482874" y="0"/>
                  </a:lnTo>
                  <a:close/>
                </a:path>
                <a:path w="7710805" h="3689985">
                  <a:moveTo>
                    <a:pt x="0" y="3048324"/>
                  </a:moveTo>
                  <a:lnTo>
                    <a:pt x="4448699" y="3048324"/>
                  </a:lnTo>
                  <a:lnTo>
                    <a:pt x="4448699" y="3689724"/>
                  </a:lnTo>
                  <a:lnTo>
                    <a:pt x="0" y="3689724"/>
                  </a:lnTo>
                  <a:lnTo>
                    <a:pt x="0" y="3048324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03649" y="1120274"/>
              <a:ext cx="458470" cy="3637279"/>
            </a:xfrm>
            <a:custGeom>
              <a:avLst/>
              <a:gdLst/>
              <a:ahLst/>
              <a:cxnLst/>
              <a:rect l="l" t="t" r="r" b="b"/>
              <a:pathLst>
                <a:path w="458469" h="3637279">
                  <a:moveTo>
                    <a:pt x="458399" y="3637199"/>
                  </a:moveTo>
                  <a:lnTo>
                    <a:pt x="412208" y="3632543"/>
                  </a:lnTo>
                  <a:lnTo>
                    <a:pt x="369185" y="3619188"/>
                  </a:lnTo>
                  <a:lnTo>
                    <a:pt x="330252" y="3598056"/>
                  </a:lnTo>
                  <a:lnTo>
                    <a:pt x="296331" y="3570068"/>
                  </a:lnTo>
                  <a:lnTo>
                    <a:pt x="268343" y="3536147"/>
                  </a:lnTo>
                  <a:lnTo>
                    <a:pt x="247211" y="3497214"/>
                  </a:lnTo>
                  <a:lnTo>
                    <a:pt x="233856" y="3454191"/>
                  </a:lnTo>
                  <a:lnTo>
                    <a:pt x="229199" y="3407999"/>
                  </a:lnTo>
                  <a:lnTo>
                    <a:pt x="229199" y="2047799"/>
                  </a:lnTo>
                  <a:lnTo>
                    <a:pt x="224543" y="2001608"/>
                  </a:lnTo>
                  <a:lnTo>
                    <a:pt x="211188" y="1958585"/>
                  </a:lnTo>
                  <a:lnTo>
                    <a:pt x="190056" y="1919652"/>
                  </a:lnTo>
                  <a:lnTo>
                    <a:pt x="162068" y="1885731"/>
                  </a:lnTo>
                  <a:lnTo>
                    <a:pt x="128147" y="1857743"/>
                  </a:lnTo>
                  <a:lnTo>
                    <a:pt x="89214" y="1836611"/>
                  </a:lnTo>
                  <a:lnTo>
                    <a:pt x="46191" y="1823256"/>
                  </a:lnTo>
                  <a:lnTo>
                    <a:pt x="0" y="1818599"/>
                  </a:lnTo>
                  <a:lnTo>
                    <a:pt x="46191" y="1813943"/>
                  </a:lnTo>
                  <a:lnTo>
                    <a:pt x="89214" y="1800588"/>
                  </a:lnTo>
                  <a:lnTo>
                    <a:pt x="128147" y="1779456"/>
                  </a:lnTo>
                  <a:lnTo>
                    <a:pt x="162068" y="1751468"/>
                  </a:lnTo>
                  <a:lnTo>
                    <a:pt x="190056" y="1717547"/>
                  </a:lnTo>
                  <a:lnTo>
                    <a:pt x="211188" y="1678614"/>
                  </a:lnTo>
                  <a:lnTo>
                    <a:pt x="224543" y="1635591"/>
                  </a:lnTo>
                  <a:lnTo>
                    <a:pt x="229199" y="1589399"/>
                  </a:lnTo>
                  <a:lnTo>
                    <a:pt x="229199" y="229199"/>
                  </a:lnTo>
                  <a:lnTo>
                    <a:pt x="233856" y="183008"/>
                  </a:lnTo>
                  <a:lnTo>
                    <a:pt x="247211" y="139985"/>
                  </a:lnTo>
                  <a:lnTo>
                    <a:pt x="268343" y="101052"/>
                  </a:lnTo>
                  <a:lnTo>
                    <a:pt x="296331" y="67131"/>
                  </a:lnTo>
                  <a:lnTo>
                    <a:pt x="330252" y="39143"/>
                  </a:lnTo>
                  <a:lnTo>
                    <a:pt x="369185" y="18011"/>
                  </a:lnTo>
                  <a:lnTo>
                    <a:pt x="412208" y="4656"/>
                  </a:lnTo>
                  <a:lnTo>
                    <a:pt x="458399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90812" y="3831011"/>
            <a:ext cx="4439285" cy="731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816610" algn="ctr">
              <a:lnSpc>
                <a:spcPct val="100000"/>
              </a:lnSpc>
              <a:spcBef>
                <a:spcPts val="140"/>
              </a:spcBef>
            </a:pPr>
            <a:r>
              <a:rPr sz="1700" b="1" spc="-10" dirty="0">
                <a:solidFill>
                  <a:srgbClr val="E69137"/>
                </a:solidFill>
                <a:latin typeface="Cambria"/>
                <a:cs typeface="Cambria"/>
              </a:rPr>
              <a:t>edges</a:t>
            </a:r>
            <a:endParaRPr sz="1700">
              <a:latin typeface="Cambria"/>
              <a:cs typeface="Cambria"/>
            </a:endParaRPr>
          </a:p>
          <a:p>
            <a:pPr marL="1080770" marR="1896745" algn="ctr">
              <a:lnSpc>
                <a:spcPct val="102899"/>
              </a:lnSpc>
              <a:spcBef>
                <a:spcPts val="10"/>
              </a:spcBef>
            </a:pPr>
            <a:r>
              <a:rPr sz="1400" spc="90" dirty="0">
                <a:solidFill>
                  <a:srgbClr val="595959"/>
                </a:solidFill>
                <a:latin typeface="Times New Roman"/>
                <a:cs typeface="Times New Roman"/>
              </a:rPr>
              <a:t>relations</a:t>
            </a:r>
            <a:r>
              <a:rPr sz="1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595959"/>
                </a:solidFill>
                <a:latin typeface="Times New Roman"/>
                <a:cs typeface="Times New Roman"/>
              </a:rPr>
              <a:t>between </a:t>
            </a:r>
            <a:r>
              <a:rPr sz="1400" spc="70" dirty="0">
                <a:solidFill>
                  <a:srgbClr val="595959"/>
                </a:solidFill>
                <a:latin typeface="Times New Roman"/>
                <a:cs typeface="Times New Roman"/>
              </a:rPr>
              <a:t>entities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50137" y="1771416"/>
            <a:ext cx="3081020" cy="2598420"/>
            <a:chOff x="3150137" y="1771416"/>
            <a:chExt cx="3081020" cy="2598420"/>
          </a:xfrm>
        </p:grpSpPr>
        <p:sp>
          <p:nvSpPr>
            <p:cNvPr id="17" name="object 17"/>
            <p:cNvSpPr/>
            <p:nvPr/>
          </p:nvSpPr>
          <p:spPr>
            <a:xfrm>
              <a:off x="4924280" y="3379306"/>
              <a:ext cx="1292225" cy="976630"/>
            </a:xfrm>
            <a:custGeom>
              <a:avLst/>
              <a:gdLst/>
              <a:ahLst/>
              <a:cxnLst/>
              <a:rect l="l" t="t" r="r" b="b"/>
              <a:pathLst>
                <a:path w="1292225" h="976629">
                  <a:moveTo>
                    <a:pt x="1044167" y="976237"/>
                  </a:moveTo>
                  <a:lnTo>
                    <a:pt x="44523" y="455545"/>
                  </a:lnTo>
                  <a:lnTo>
                    <a:pt x="3454" y="405995"/>
                  </a:lnTo>
                  <a:lnTo>
                    <a:pt x="0" y="373944"/>
                  </a:lnTo>
                  <a:lnTo>
                    <a:pt x="9436" y="341917"/>
                  </a:lnTo>
                  <a:lnTo>
                    <a:pt x="166434" y="44520"/>
                  </a:lnTo>
                  <a:lnTo>
                    <a:pt x="187554" y="18665"/>
                  </a:lnTo>
                  <a:lnTo>
                    <a:pt x="215962" y="3449"/>
                  </a:lnTo>
                  <a:lnTo>
                    <a:pt x="248003" y="0"/>
                  </a:lnTo>
                  <a:lnTo>
                    <a:pt x="280023" y="9445"/>
                  </a:lnTo>
                  <a:lnTo>
                    <a:pt x="1247647" y="520692"/>
                  </a:lnTo>
                  <a:lnTo>
                    <a:pt x="1282295" y="554974"/>
                  </a:lnTo>
                  <a:lnTo>
                    <a:pt x="1292096" y="602877"/>
                  </a:lnTo>
                  <a:lnTo>
                    <a:pt x="1288986" y="618985"/>
                  </a:lnTo>
                  <a:lnTo>
                    <a:pt x="1125736" y="931717"/>
                  </a:lnTo>
                  <a:lnTo>
                    <a:pt x="1076208" y="972787"/>
                  </a:lnTo>
                  <a:lnTo>
                    <a:pt x="1044167" y="976237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24280" y="3379306"/>
              <a:ext cx="1292225" cy="976630"/>
            </a:xfrm>
            <a:custGeom>
              <a:avLst/>
              <a:gdLst/>
              <a:ahLst/>
              <a:cxnLst/>
              <a:rect l="l" t="t" r="r" b="b"/>
              <a:pathLst>
                <a:path w="1292225" h="976629">
                  <a:moveTo>
                    <a:pt x="166434" y="44520"/>
                  </a:moveTo>
                  <a:lnTo>
                    <a:pt x="187554" y="18665"/>
                  </a:lnTo>
                  <a:lnTo>
                    <a:pt x="215962" y="3449"/>
                  </a:lnTo>
                  <a:lnTo>
                    <a:pt x="280023" y="9445"/>
                  </a:lnTo>
                  <a:lnTo>
                    <a:pt x="1247647" y="520692"/>
                  </a:lnTo>
                  <a:lnTo>
                    <a:pt x="1282295" y="554974"/>
                  </a:lnTo>
                  <a:lnTo>
                    <a:pt x="1292096" y="602877"/>
                  </a:lnTo>
                  <a:lnTo>
                    <a:pt x="1288986" y="618985"/>
                  </a:lnTo>
                  <a:lnTo>
                    <a:pt x="1125736" y="931717"/>
                  </a:lnTo>
                  <a:lnTo>
                    <a:pt x="1076208" y="972787"/>
                  </a:lnTo>
                  <a:lnTo>
                    <a:pt x="1044167" y="976237"/>
                  </a:lnTo>
                  <a:lnTo>
                    <a:pt x="1012147" y="966792"/>
                  </a:lnTo>
                  <a:lnTo>
                    <a:pt x="44523" y="455545"/>
                  </a:lnTo>
                  <a:lnTo>
                    <a:pt x="18672" y="434414"/>
                  </a:lnTo>
                  <a:lnTo>
                    <a:pt x="3454" y="405995"/>
                  </a:lnTo>
                  <a:lnTo>
                    <a:pt x="0" y="373944"/>
                  </a:lnTo>
                  <a:lnTo>
                    <a:pt x="9436" y="341917"/>
                  </a:lnTo>
                  <a:lnTo>
                    <a:pt x="166434" y="44520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64424" y="1785704"/>
              <a:ext cx="1113155" cy="1040130"/>
            </a:xfrm>
            <a:custGeom>
              <a:avLst/>
              <a:gdLst/>
              <a:ahLst/>
              <a:cxnLst/>
              <a:rect l="l" t="t" r="r" b="b"/>
              <a:pathLst>
                <a:path w="1113154" h="1040130">
                  <a:moveTo>
                    <a:pt x="786978" y="1040043"/>
                  </a:moveTo>
                  <a:lnTo>
                    <a:pt x="716932" y="1019199"/>
                  </a:lnTo>
                  <a:lnTo>
                    <a:pt x="34781" y="465444"/>
                  </a:lnTo>
                  <a:lnTo>
                    <a:pt x="0" y="401192"/>
                  </a:lnTo>
                  <a:lnTo>
                    <a:pt x="3250" y="364742"/>
                  </a:lnTo>
                  <a:lnTo>
                    <a:pt x="20858" y="331170"/>
                  </a:lnTo>
                  <a:lnTo>
                    <a:pt x="261655" y="34773"/>
                  </a:lnTo>
                  <a:lnTo>
                    <a:pt x="290913" y="10658"/>
                  </a:lnTo>
                  <a:lnTo>
                    <a:pt x="325934" y="0"/>
                  </a:lnTo>
                  <a:lnTo>
                    <a:pt x="362398" y="3246"/>
                  </a:lnTo>
                  <a:lnTo>
                    <a:pt x="1078132" y="574599"/>
                  </a:lnTo>
                  <a:lnTo>
                    <a:pt x="1109142" y="620433"/>
                  </a:lnTo>
                  <a:lnTo>
                    <a:pt x="1113001" y="657652"/>
                  </a:lnTo>
                  <a:lnTo>
                    <a:pt x="1109451" y="675935"/>
                  </a:lnTo>
                  <a:lnTo>
                    <a:pt x="851258" y="1005270"/>
                  </a:lnTo>
                  <a:lnTo>
                    <a:pt x="786978" y="1040043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64424" y="1785704"/>
              <a:ext cx="1113155" cy="1040130"/>
            </a:xfrm>
            <a:custGeom>
              <a:avLst/>
              <a:gdLst/>
              <a:ahLst/>
              <a:cxnLst/>
              <a:rect l="l" t="t" r="r" b="b"/>
              <a:pathLst>
                <a:path w="1113154" h="1040130">
                  <a:moveTo>
                    <a:pt x="261655" y="34773"/>
                  </a:moveTo>
                  <a:lnTo>
                    <a:pt x="290913" y="10658"/>
                  </a:lnTo>
                  <a:lnTo>
                    <a:pt x="325934" y="0"/>
                  </a:lnTo>
                  <a:lnTo>
                    <a:pt x="395981" y="20844"/>
                  </a:lnTo>
                  <a:lnTo>
                    <a:pt x="1078132" y="574599"/>
                  </a:lnTo>
                  <a:lnTo>
                    <a:pt x="1109142" y="620433"/>
                  </a:lnTo>
                  <a:lnTo>
                    <a:pt x="1113001" y="657652"/>
                  </a:lnTo>
                  <a:lnTo>
                    <a:pt x="1109451" y="675935"/>
                  </a:lnTo>
                  <a:lnTo>
                    <a:pt x="851258" y="1005270"/>
                  </a:lnTo>
                  <a:lnTo>
                    <a:pt x="786978" y="1040043"/>
                  </a:lnTo>
                  <a:lnTo>
                    <a:pt x="750515" y="1036797"/>
                  </a:lnTo>
                  <a:lnTo>
                    <a:pt x="716932" y="1019199"/>
                  </a:lnTo>
                  <a:lnTo>
                    <a:pt x="34781" y="465444"/>
                  </a:lnTo>
                  <a:lnTo>
                    <a:pt x="10659" y="436199"/>
                  </a:lnTo>
                  <a:lnTo>
                    <a:pt x="0" y="401192"/>
                  </a:lnTo>
                  <a:lnTo>
                    <a:pt x="3250" y="364742"/>
                  </a:lnTo>
                  <a:lnTo>
                    <a:pt x="20858" y="331170"/>
                  </a:lnTo>
                  <a:lnTo>
                    <a:pt x="261655" y="34773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80075" y="3892125"/>
              <a:ext cx="1321435" cy="191770"/>
            </a:xfrm>
            <a:custGeom>
              <a:avLst/>
              <a:gdLst/>
              <a:ahLst/>
              <a:cxnLst/>
              <a:rect l="l" t="t" r="r" b="b"/>
              <a:pathLst>
                <a:path w="1321435" h="191770">
                  <a:moveTo>
                    <a:pt x="1225349" y="191699"/>
                  </a:moveTo>
                  <a:lnTo>
                    <a:pt x="12253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1225349" y="47924"/>
                  </a:lnTo>
                  <a:lnTo>
                    <a:pt x="1225349" y="0"/>
                  </a:lnTo>
                  <a:lnTo>
                    <a:pt x="1321199" y="95849"/>
                  </a:lnTo>
                  <a:lnTo>
                    <a:pt x="1225349" y="191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80075" y="3892125"/>
              <a:ext cx="1321435" cy="191770"/>
            </a:xfrm>
            <a:custGeom>
              <a:avLst/>
              <a:gdLst/>
              <a:ahLst/>
              <a:cxnLst/>
              <a:rect l="l" t="t" r="r" b="b"/>
              <a:pathLst>
                <a:path w="1321435" h="191770">
                  <a:moveTo>
                    <a:pt x="1225349" y="0"/>
                  </a:moveTo>
                  <a:lnTo>
                    <a:pt x="1321199" y="95849"/>
                  </a:lnTo>
                  <a:lnTo>
                    <a:pt x="1225349" y="191699"/>
                  </a:lnTo>
                  <a:lnTo>
                    <a:pt x="12253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1225349" y="47924"/>
                  </a:lnTo>
                  <a:lnTo>
                    <a:pt x="1225349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12905" y="2679925"/>
              <a:ext cx="494030" cy="1165225"/>
            </a:xfrm>
            <a:custGeom>
              <a:avLst/>
              <a:gdLst/>
              <a:ahLst/>
              <a:cxnLst/>
              <a:rect l="l" t="t" r="r" b="b"/>
              <a:pathLst>
                <a:path w="494029" h="1165225">
                  <a:moveTo>
                    <a:pt x="90749" y="1164675"/>
                  </a:moveTo>
                  <a:lnTo>
                    <a:pt x="0" y="1133925"/>
                  </a:lnTo>
                  <a:lnTo>
                    <a:pt x="357815" y="75397"/>
                  </a:lnTo>
                  <a:lnTo>
                    <a:pt x="312440" y="60022"/>
                  </a:lnTo>
                  <a:lnTo>
                    <a:pt x="433874" y="0"/>
                  </a:lnTo>
                  <a:lnTo>
                    <a:pt x="493940" y="121522"/>
                  </a:lnTo>
                  <a:lnTo>
                    <a:pt x="448565" y="106147"/>
                  </a:lnTo>
                  <a:lnTo>
                    <a:pt x="90749" y="1164675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12905" y="2679925"/>
              <a:ext cx="494030" cy="1165225"/>
            </a:xfrm>
            <a:custGeom>
              <a:avLst/>
              <a:gdLst/>
              <a:ahLst/>
              <a:cxnLst/>
              <a:rect l="l" t="t" r="r" b="b"/>
              <a:pathLst>
                <a:path w="494029" h="1165225">
                  <a:moveTo>
                    <a:pt x="312440" y="60022"/>
                  </a:moveTo>
                  <a:lnTo>
                    <a:pt x="433874" y="0"/>
                  </a:lnTo>
                  <a:lnTo>
                    <a:pt x="493940" y="121522"/>
                  </a:lnTo>
                  <a:lnTo>
                    <a:pt x="448565" y="106147"/>
                  </a:lnTo>
                  <a:lnTo>
                    <a:pt x="90749" y="1164675"/>
                  </a:lnTo>
                  <a:lnTo>
                    <a:pt x="0" y="1133925"/>
                  </a:lnTo>
                  <a:lnTo>
                    <a:pt x="357815" y="75397"/>
                  </a:lnTo>
                  <a:lnTo>
                    <a:pt x="312440" y="6002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006364" y="68529"/>
            <a:ext cx="2066289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2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Megan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Leszczynski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(Stanford)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5298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What</a:t>
            </a:r>
            <a:r>
              <a:rPr spc="-40" dirty="0"/>
              <a:t> </a:t>
            </a:r>
            <a:r>
              <a:rPr spc="75" dirty="0"/>
              <a:t>is</a:t>
            </a:r>
            <a:r>
              <a:rPr spc="-40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40" dirty="0"/>
              <a:t> </a:t>
            </a:r>
            <a:r>
              <a:rPr spc="100" dirty="0"/>
              <a:t>base?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6499" y="1062887"/>
            <a:ext cx="8295005" cy="3810000"/>
            <a:chOff x="806499" y="1062887"/>
            <a:chExt cx="8295005" cy="381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025" y="1161937"/>
              <a:ext cx="8133200" cy="36372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3024" y="2183899"/>
              <a:ext cx="1950720" cy="2684145"/>
            </a:xfrm>
            <a:custGeom>
              <a:avLst/>
              <a:gdLst/>
              <a:ahLst/>
              <a:cxnLst/>
              <a:rect l="l" t="t" r="r" b="b"/>
              <a:pathLst>
                <a:path w="1950720" h="2684145">
                  <a:moveTo>
                    <a:pt x="1950599" y="2684099"/>
                  </a:moveTo>
                  <a:lnTo>
                    <a:pt x="0" y="2684099"/>
                  </a:lnTo>
                  <a:lnTo>
                    <a:pt x="0" y="0"/>
                  </a:lnTo>
                  <a:lnTo>
                    <a:pt x="1950599" y="0"/>
                  </a:lnTo>
                  <a:lnTo>
                    <a:pt x="1950599" y="268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3024" y="2183899"/>
              <a:ext cx="1950720" cy="2684145"/>
            </a:xfrm>
            <a:custGeom>
              <a:avLst/>
              <a:gdLst/>
              <a:ahLst/>
              <a:cxnLst/>
              <a:rect l="l" t="t" r="r" b="b"/>
              <a:pathLst>
                <a:path w="1950720" h="2684145">
                  <a:moveTo>
                    <a:pt x="0" y="0"/>
                  </a:moveTo>
                  <a:lnTo>
                    <a:pt x="1950599" y="0"/>
                  </a:lnTo>
                  <a:lnTo>
                    <a:pt x="1950599" y="2684099"/>
                  </a:lnTo>
                  <a:lnTo>
                    <a:pt x="0" y="2684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6039" y="3859885"/>
              <a:ext cx="4448810" cy="897890"/>
            </a:xfrm>
            <a:custGeom>
              <a:avLst/>
              <a:gdLst/>
              <a:ahLst/>
              <a:cxnLst/>
              <a:rect l="l" t="t" r="r" b="b"/>
              <a:pathLst>
                <a:path w="4448810" h="897889">
                  <a:moveTo>
                    <a:pt x="4448708" y="256197"/>
                  </a:moveTo>
                  <a:lnTo>
                    <a:pt x="3898823" y="256197"/>
                  </a:lnTo>
                  <a:lnTo>
                    <a:pt x="3898823" y="0"/>
                  </a:lnTo>
                  <a:lnTo>
                    <a:pt x="1431328" y="0"/>
                  </a:lnTo>
                  <a:lnTo>
                    <a:pt x="1431328" y="256197"/>
                  </a:lnTo>
                  <a:lnTo>
                    <a:pt x="0" y="256197"/>
                  </a:lnTo>
                  <a:lnTo>
                    <a:pt x="0" y="897597"/>
                  </a:lnTo>
                  <a:lnTo>
                    <a:pt x="4448708" y="897597"/>
                  </a:lnTo>
                  <a:lnTo>
                    <a:pt x="4448708" y="2561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7374" y="3859874"/>
              <a:ext cx="2467610" cy="256540"/>
            </a:xfrm>
            <a:custGeom>
              <a:avLst/>
              <a:gdLst/>
              <a:ahLst/>
              <a:cxnLst/>
              <a:rect l="l" t="t" r="r" b="b"/>
              <a:pathLst>
                <a:path w="2467610" h="256539">
                  <a:moveTo>
                    <a:pt x="0" y="0"/>
                  </a:moveTo>
                  <a:lnTo>
                    <a:pt x="2467499" y="0"/>
                  </a:lnTo>
                  <a:lnTo>
                    <a:pt x="2467499" y="256199"/>
                  </a:lnTo>
                  <a:lnTo>
                    <a:pt x="0" y="25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868924" y="1067649"/>
              <a:ext cx="227965" cy="199390"/>
            </a:xfrm>
            <a:custGeom>
              <a:avLst/>
              <a:gdLst/>
              <a:ahLst/>
              <a:cxnLst/>
              <a:rect l="l" t="t" r="r" b="b"/>
              <a:pathLst>
                <a:path w="227965" h="199390">
                  <a:moveTo>
                    <a:pt x="227399" y="199199"/>
                  </a:moveTo>
                  <a:lnTo>
                    <a:pt x="0" y="199199"/>
                  </a:lnTo>
                  <a:lnTo>
                    <a:pt x="0" y="0"/>
                  </a:lnTo>
                  <a:lnTo>
                    <a:pt x="227399" y="0"/>
                  </a:lnTo>
                  <a:lnTo>
                    <a:pt x="227399" y="19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6049" y="1067649"/>
              <a:ext cx="7710805" cy="3689985"/>
            </a:xfrm>
            <a:custGeom>
              <a:avLst/>
              <a:gdLst/>
              <a:ahLst/>
              <a:cxnLst/>
              <a:rect l="l" t="t" r="r" b="b"/>
              <a:pathLst>
                <a:path w="7710805" h="3689985">
                  <a:moveTo>
                    <a:pt x="7482874" y="0"/>
                  </a:moveTo>
                  <a:lnTo>
                    <a:pt x="7710274" y="0"/>
                  </a:lnTo>
                  <a:lnTo>
                    <a:pt x="7710274" y="199199"/>
                  </a:lnTo>
                  <a:lnTo>
                    <a:pt x="7482874" y="199199"/>
                  </a:lnTo>
                  <a:lnTo>
                    <a:pt x="7482874" y="0"/>
                  </a:lnTo>
                  <a:close/>
                </a:path>
                <a:path w="7710805" h="3689985">
                  <a:moveTo>
                    <a:pt x="0" y="3048324"/>
                  </a:moveTo>
                  <a:lnTo>
                    <a:pt x="4448699" y="3048324"/>
                  </a:lnTo>
                  <a:lnTo>
                    <a:pt x="4448699" y="3689724"/>
                  </a:lnTo>
                  <a:lnTo>
                    <a:pt x="0" y="3689724"/>
                  </a:lnTo>
                  <a:lnTo>
                    <a:pt x="0" y="3048324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499" y="3929364"/>
              <a:ext cx="3763599" cy="64214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90812" y="4455661"/>
            <a:ext cx="44392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990000"/>
                </a:solidFill>
                <a:latin typeface="Cambria"/>
                <a:cs typeface="Cambria"/>
              </a:rPr>
              <a:t>query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70404" y="1053351"/>
            <a:ext cx="6965315" cy="1572260"/>
            <a:chOff x="2070404" y="1053351"/>
            <a:chExt cx="6965315" cy="1572260"/>
          </a:xfrm>
        </p:grpSpPr>
        <p:sp>
          <p:nvSpPr>
            <p:cNvPr id="14" name="object 14"/>
            <p:cNvSpPr/>
            <p:nvPr/>
          </p:nvSpPr>
          <p:spPr>
            <a:xfrm>
              <a:off x="7025291" y="1266838"/>
              <a:ext cx="1995805" cy="1344295"/>
            </a:xfrm>
            <a:custGeom>
              <a:avLst/>
              <a:gdLst/>
              <a:ahLst/>
              <a:cxnLst/>
              <a:rect l="l" t="t" r="r" b="b"/>
              <a:pathLst>
                <a:path w="1995804" h="1344295">
                  <a:moveTo>
                    <a:pt x="1771545" y="0"/>
                  </a:moveTo>
                  <a:lnTo>
                    <a:pt x="1816690" y="4550"/>
                  </a:lnTo>
                  <a:lnTo>
                    <a:pt x="1858741" y="17603"/>
                  </a:lnTo>
                  <a:lnTo>
                    <a:pt x="1896796" y="38256"/>
                  </a:lnTo>
                  <a:lnTo>
                    <a:pt x="1929955" y="65609"/>
                  </a:lnTo>
                  <a:lnTo>
                    <a:pt x="1957315" y="98761"/>
                  </a:lnTo>
                  <a:lnTo>
                    <a:pt x="1977977" y="136811"/>
                  </a:lnTo>
                  <a:lnTo>
                    <a:pt x="1991038" y="178859"/>
                  </a:lnTo>
                  <a:lnTo>
                    <a:pt x="1995599" y="224004"/>
                  </a:lnTo>
                  <a:lnTo>
                    <a:pt x="1995799" y="1119995"/>
                  </a:lnTo>
                  <a:lnTo>
                    <a:pt x="1991466" y="1163900"/>
                  </a:lnTo>
                  <a:lnTo>
                    <a:pt x="1978768" y="1205718"/>
                  </a:lnTo>
                  <a:lnTo>
                    <a:pt x="1958192" y="1244273"/>
                  </a:lnTo>
                  <a:lnTo>
                    <a:pt x="1930225" y="1278390"/>
                  </a:lnTo>
                  <a:lnTo>
                    <a:pt x="1896115" y="1306364"/>
                  </a:lnTo>
                  <a:lnTo>
                    <a:pt x="1857564" y="1326948"/>
                  </a:lnTo>
                  <a:lnTo>
                    <a:pt x="1815749" y="1339656"/>
                  </a:lnTo>
                  <a:lnTo>
                    <a:pt x="1771845" y="1344000"/>
                  </a:lnTo>
                  <a:lnTo>
                    <a:pt x="224254" y="1344000"/>
                  </a:lnTo>
                  <a:lnTo>
                    <a:pt x="179108" y="1339449"/>
                  </a:lnTo>
                  <a:lnTo>
                    <a:pt x="137057" y="1326396"/>
                  </a:lnTo>
                  <a:lnTo>
                    <a:pt x="99002" y="1305743"/>
                  </a:lnTo>
                  <a:lnTo>
                    <a:pt x="65844" y="1278390"/>
                  </a:lnTo>
                  <a:lnTo>
                    <a:pt x="38484" y="1245238"/>
                  </a:lnTo>
                  <a:lnTo>
                    <a:pt x="17822" y="1207188"/>
                  </a:lnTo>
                  <a:lnTo>
                    <a:pt x="4760" y="1165140"/>
                  </a:lnTo>
                  <a:lnTo>
                    <a:pt x="199" y="1119995"/>
                  </a:lnTo>
                  <a:lnTo>
                    <a:pt x="0" y="224004"/>
                  </a:lnTo>
                  <a:lnTo>
                    <a:pt x="4540" y="178859"/>
                  </a:lnTo>
                  <a:lnTo>
                    <a:pt x="17583" y="136811"/>
                  </a:lnTo>
                  <a:lnTo>
                    <a:pt x="38228" y="98761"/>
                  </a:lnTo>
                  <a:lnTo>
                    <a:pt x="65573" y="65609"/>
                  </a:lnTo>
                  <a:lnTo>
                    <a:pt x="98719" y="38256"/>
                  </a:lnTo>
                  <a:lnTo>
                    <a:pt x="136765" y="17603"/>
                  </a:lnTo>
                  <a:lnTo>
                    <a:pt x="178810" y="4550"/>
                  </a:lnTo>
                  <a:lnTo>
                    <a:pt x="223954" y="0"/>
                  </a:lnTo>
                  <a:lnTo>
                    <a:pt x="1771545" y="0"/>
                  </a:lnTo>
                  <a:close/>
                </a:path>
              </a:pathLst>
            </a:custGeom>
            <a:ln w="28574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84691" y="1067638"/>
              <a:ext cx="1995805" cy="1344295"/>
            </a:xfrm>
            <a:custGeom>
              <a:avLst/>
              <a:gdLst/>
              <a:ahLst/>
              <a:cxnLst/>
              <a:rect l="l" t="t" r="r" b="b"/>
              <a:pathLst>
                <a:path w="1995804" h="1344295">
                  <a:moveTo>
                    <a:pt x="1771845" y="1344000"/>
                  </a:moveTo>
                  <a:lnTo>
                    <a:pt x="224254" y="1344000"/>
                  </a:lnTo>
                  <a:lnTo>
                    <a:pt x="179108" y="1339449"/>
                  </a:lnTo>
                  <a:lnTo>
                    <a:pt x="137057" y="1326396"/>
                  </a:lnTo>
                  <a:lnTo>
                    <a:pt x="99002" y="1305743"/>
                  </a:lnTo>
                  <a:lnTo>
                    <a:pt x="65844" y="1278390"/>
                  </a:lnTo>
                  <a:lnTo>
                    <a:pt x="38484" y="1245238"/>
                  </a:lnTo>
                  <a:lnTo>
                    <a:pt x="17822" y="1207188"/>
                  </a:lnTo>
                  <a:lnTo>
                    <a:pt x="4761" y="1165140"/>
                  </a:lnTo>
                  <a:lnTo>
                    <a:pt x="199" y="1119995"/>
                  </a:lnTo>
                  <a:lnTo>
                    <a:pt x="0" y="224004"/>
                  </a:lnTo>
                  <a:lnTo>
                    <a:pt x="4540" y="178859"/>
                  </a:lnTo>
                  <a:lnTo>
                    <a:pt x="17583" y="136811"/>
                  </a:lnTo>
                  <a:lnTo>
                    <a:pt x="38228" y="98761"/>
                  </a:lnTo>
                  <a:lnTo>
                    <a:pt x="65573" y="65609"/>
                  </a:lnTo>
                  <a:lnTo>
                    <a:pt x="98719" y="38256"/>
                  </a:lnTo>
                  <a:lnTo>
                    <a:pt x="136765" y="17603"/>
                  </a:lnTo>
                  <a:lnTo>
                    <a:pt x="178810" y="4550"/>
                  </a:lnTo>
                  <a:lnTo>
                    <a:pt x="223954" y="0"/>
                  </a:lnTo>
                  <a:lnTo>
                    <a:pt x="1771545" y="0"/>
                  </a:lnTo>
                  <a:lnTo>
                    <a:pt x="1816691" y="4550"/>
                  </a:lnTo>
                  <a:lnTo>
                    <a:pt x="1858741" y="17603"/>
                  </a:lnTo>
                  <a:lnTo>
                    <a:pt x="1896796" y="38256"/>
                  </a:lnTo>
                  <a:lnTo>
                    <a:pt x="1929955" y="65609"/>
                  </a:lnTo>
                  <a:lnTo>
                    <a:pt x="1957315" y="98761"/>
                  </a:lnTo>
                  <a:lnTo>
                    <a:pt x="1977977" y="136811"/>
                  </a:lnTo>
                  <a:lnTo>
                    <a:pt x="1991038" y="178859"/>
                  </a:lnTo>
                  <a:lnTo>
                    <a:pt x="1995599" y="224004"/>
                  </a:lnTo>
                  <a:lnTo>
                    <a:pt x="1995799" y="1119995"/>
                  </a:lnTo>
                  <a:lnTo>
                    <a:pt x="1991465" y="1163900"/>
                  </a:lnTo>
                  <a:lnTo>
                    <a:pt x="1978767" y="1205718"/>
                  </a:lnTo>
                  <a:lnTo>
                    <a:pt x="1958192" y="1244273"/>
                  </a:lnTo>
                  <a:lnTo>
                    <a:pt x="1930225" y="1278390"/>
                  </a:lnTo>
                  <a:lnTo>
                    <a:pt x="1896114" y="1306364"/>
                  </a:lnTo>
                  <a:lnTo>
                    <a:pt x="1857564" y="1326948"/>
                  </a:lnTo>
                  <a:lnTo>
                    <a:pt x="1815749" y="1339656"/>
                  </a:lnTo>
                  <a:lnTo>
                    <a:pt x="1771845" y="1344000"/>
                  </a:lnTo>
                  <a:close/>
                </a:path>
              </a:pathLst>
            </a:custGeom>
            <a:solidFill>
              <a:srgbClr val="990000">
                <a:alpha val="136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84691" y="1067638"/>
              <a:ext cx="1995805" cy="1344295"/>
            </a:xfrm>
            <a:custGeom>
              <a:avLst/>
              <a:gdLst/>
              <a:ahLst/>
              <a:cxnLst/>
              <a:rect l="l" t="t" r="r" b="b"/>
              <a:pathLst>
                <a:path w="1995804" h="1344295">
                  <a:moveTo>
                    <a:pt x="1771545" y="0"/>
                  </a:moveTo>
                  <a:lnTo>
                    <a:pt x="1816691" y="4550"/>
                  </a:lnTo>
                  <a:lnTo>
                    <a:pt x="1858741" y="17603"/>
                  </a:lnTo>
                  <a:lnTo>
                    <a:pt x="1896796" y="38256"/>
                  </a:lnTo>
                  <a:lnTo>
                    <a:pt x="1929955" y="65609"/>
                  </a:lnTo>
                  <a:lnTo>
                    <a:pt x="1957315" y="98761"/>
                  </a:lnTo>
                  <a:lnTo>
                    <a:pt x="1977977" y="136811"/>
                  </a:lnTo>
                  <a:lnTo>
                    <a:pt x="1991038" y="178859"/>
                  </a:lnTo>
                  <a:lnTo>
                    <a:pt x="1995599" y="224004"/>
                  </a:lnTo>
                  <a:lnTo>
                    <a:pt x="1995799" y="1119995"/>
                  </a:lnTo>
                  <a:lnTo>
                    <a:pt x="1991465" y="1163900"/>
                  </a:lnTo>
                  <a:lnTo>
                    <a:pt x="1978767" y="1205718"/>
                  </a:lnTo>
                  <a:lnTo>
                    <a:pt x="1958192" y="1244273"/>
                  </a:lnTo>
                  <a:lnTo>
                    <a:pt x="1930225" y="1278390"/>
                  </a:lnTo>
                  <a:lnTo>
                    <a:pt x="1896114" y="1306364"/>
                  </a:lnTo>
                  <a:lnTo>
                    <a:pt x="1857564" y="1326948"/>
                  </a:lnTo>
                  <a:lnTo>
                    <a:pt x="1815749" y="1339656"/>
                  </a:lnTo>
                  <a:lnTo>
                    <a:pt x="1771845" y="1344000"/>
                  </a:lnTo>
                  <a:lnTo>
                    <a:pt x="224254" y="1344000"/>
                  </a:lnTo>
                  <a:lnTo>
                    <a:pt x="179108" y="1339449"/>
                  </a:lnTo>
                  <a:lnTo>
                    <a:pt x="137057" y="1326396"/>
                  </a:lnTo>
                  <a:lnTo>
                    <a:pt x="99002" y="1305743"/>
                  </a:lnTo>
                  <a:lnTo>
                    <a:pt x="65844" y="1278390"/>
                  </a:lnTo>
                  <a:lnTo>
                    <a:pt x="38484" y="1245238"/>
                  </a:lnTo>
                  <a:lnTo>
                    <a:pt x="17822" y="1207188"/>
                  </a:lnTo>
                  <a:lnTo>
                    <a:pt x="4761" y="1165140"/>
                  </a:lnTo>
                  <a:lnTo>
                    <a:pt x="199" y="1119995"/>
                  </a:lnTo>
                  <a:lnTo>
                    <a:pt x="0" y="224004"/>
                  </a:lnTo>
                  <a:lnTo>
                    <a:pt x="4540" y="178859"/>
                  </a:lnTo>
                  <a:lnTo>
                    <a:pt x="17583" y="136811"/>
                  </a:lnTo>
                  <a:lnTo>
                    <a:pt x="38228" y="98761"/>
                  </a:lnTo>
                  <a:lnTo>
                    <a:pt x="65573" y="65609"/>
                  </a:lnTo>
                  <a:lnTo>
                    <a:pt x="98719" y="38256"/>
                  </a:lnTo>
                  <a:lnTo>
                    <a:pt x="136765" y="17603"/>
                  </a:lnTo>
                  <a:lnTo>
                    <a:pt x="178810" y="4550"/>
                  </a:lnTo>
                  <a:lnTo>
                    <a:pt x="223954" y="0"/>
                  </a:lnTo>
                  <a:lnTo>
                    <a:pt x="1771545" y="0"/>
                  </a:lnTo>
                  <a:close/>
                </a:path>
              </a:pathLst>
            </a:custGeom>
            <a:ln w="28574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06364" y="68529"/>
            <a:ext cx="2066289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2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Megan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Leszczynski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4"/>
              </a:rPr>
              <a:t>(Stanford)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6337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How</a:t>
            </a:r>
            <a:r>
              <a:rPr spc="-35" dirty="0"/>
              <a:t> </a:t>
            </a:r>
            <a:r>
              <a:rPr spc="135" dirty="0"/>
              <a:t>were</a:t>
            </a:r>
            <a:r>
              <a:rPr spc="-30" dirty="0"/>
              <a:t> </a:t>
            </a:r>
            <a:r>
              <a:rPr spc="110" dirty="0"/>
              <a:t>knowledge</a:t>
            </a:r>
            <a:r>
              <a:rPr spc="-30" dirty="0"/>
              <a:t> </a:t>
            </a:r>
            <a:r>
              <a:rPr spc="140" dirty="0"/>
              <a:t>bases</a:t>
            </a:r>
            <a:r>
              <a:rPr spc="-30" dirty="0"/>
              <a:t> </a:t>
            </a:r>
            <a:r>
              <a:rPr spc="114" dirty="0"/>
              <a:t>formed?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3575" y="1232048"/>
            <a:ext cx="2484120" cy="2520950"/>
            <a:chOff x="393575" y="1232048"/>
            <a:chExt cx="2484120" cy="2520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3076" y="4145489"/>
            <a:ext cx="17792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E69137"/>
                </a:solidFill>
                <a:latin typeface="Cambria"/>
                <a:cs typeface="Cambria"/>
              </a:rPr>
              <a:t>unstructured</a:t>
            </a:r>
            <a:r>
              <a:rPr sz="1700" b="1" spc="-4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E69137"/>
                </a:solidFill>
                <a:latin typeface="Cambria"/>
                <a:cs typeface="Cambria"/>
              </a:rPr>
              <a:t>text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6776672" y="4145489"/>
            <a:ext cx="16103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E69137"/>
                </a:solidFill>
                <a:latin typeface="Cambria"/>
                <a:cs typeface="Cambria"/>
              </a:rPr>
              <a:t>knowledge</a:t>
            </a:r>
            <a:r>
              <a:rPr sz="1700" b="1" spc="-4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E69137"/>
                </a:solidFill>
                <a:latin typeface="Cambria"/>
                <a:cs typeface="Cambria"/>
              </a:rPr>
              <a:t>base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6337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How</a:t>
            </a:r>
            <a:r>
              <a:rPr spc="-35" dirty="0"/>
              <a:t> </a:t>
            </a:r>
            <a:r>
              <a:rPr spc="135" dirty="0"/>
              <a:t>were</a:t>
            </a:r>
            <a:r>
              <a:rPr spc="-30" dirty="0"/>
              <a:t> </a:t>
            </a:r>
            <a:r>
              <a:rPr spc="110" dirty="0"/>
              <a:t>knowledge</a:t>
            </a:r>
            <a:r>
              <a:rPr spc="-30" dirty="0"/>
              <a:t> </a:t>
            </a:r>
            <a:r>
              <a:rPr spc="140" dirty="0"/>
              <a:t>bases</a:t>
            </a:r>
            <a:r>
              <a:rPr spc="-30" dirty="0"/>
              <a:t> </a:t>
            </a:r>
            <a:r>
              <a:rPr spc="114" dirty="0"/>
              <a:t>formed?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3575" y="1232048"/>
            <a:ext cx="2484120" cy="2520950"/>
            <a:chOff x="393575" y="1232048"/>
            <a:chExt cx="2484120" cy="2520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3076" y="4145489"/>
            <a:ext cx="17792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E69137"/>
                </a:solidFill>
                <a:latin typeface="Cambria"/>
                <a:cs typeface="Cambria"/>
              </a:rPr>
              <a:t>unstructured</a:t>
            </a:r>
            <a:r>
              <a:rPr sz="1700" b="1" spc="-4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E69137"/>
                </a:solidFill>
                <a:latin typeface="Cambria"/>
                <a:cs typeface="Cambria"/>
              </a:rPr>
              <a:t>text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01937" y="2180437"/>
            <a:ext cx="2129790" cy="1320165"/>
            <a:chOff x="3601937" y="2180437"/>
            <a:chExt cx="2129790" cy="1320165"/>
          </a:xfrm>
        </p:grpSpPr>
        <p:sp>
          <p:nvSpPr>
            <p:cNvPr id="12" name="object 12"/>
            <p:cNvSpPr/>
            <p:nvPr/>
          </p:nvSpPr>
          <p:spPr>
            <a:xfrm>
              <a:off x="3616225" y="2194724"/>
              <a:ext cx="2101215" cy="1291590"/>
            </a:xfrm>
            <a:custGeom>
              <a:avLst/>
              <a:gdLst/>
              <a:ahLst/>
              <a:cxnLst/>
              <a:rect l="l" t="t" r="r" b="b"/>
              <a:pathLst>
                <a:path w="2101215" h="1291589">
                  <a:moveTo>
                    <a:pt x="1885345" y="1291499"/>
                  </a:moveTo>
                  <a:lnTo>
                    <a:pt x="215254" y="1291499"/>
                  </a:lnTo>
                  <a:lnTo>
                    <a:pt x="165898" y="1285814"/>
                  </a:lnTo>
                  <a:lnTo>
                    <a:pt x="120590" y="1269621"/>
                  </a:lnTo>
                  <a:lnTo>
                    <a:pt x="80623" y="1244211"/>
                  </a:lnTo>
                  <a:lnTo>
                    <a:pt x="47288" y="1210876"/>
                  </a:lnTo>
                  <a:lnTo>
                    <a:pt x="21878" y="1170909"/>
                  </a:lnTo>
                  <a:lnTo>
                    <a:pt x="5685" y="1125601"/>
                  </a:lnTo>
                  <a:lnTo>
                    <a:pt x="0" y="1076245"/>
                  </a:lnTo>
                  <a:lnTo>
                    <a:pt x="0" y="215254"/>
                  </a:lnTo>
                  <a:lnTo>
                    <a:pt x="5685" y="165898"/>
                  </a:lnTo>
                  <a:lnTo>
                    <a:pt x="21878" y="120590"/>
                  </a:lnTo>
                  <a:lnTo>
                    <a:pt x="47288" y="80623"/>
                  </a:lnTo>
                  <a:lnTo>
                    <a:pt x="80623" y="47288"/>
                  </a:lnTo>
                  <a:lnTo>
                    <a:pt x="120590" y="21878"/>
                  </a:lnTo>
                  <a:lnTo>
                    <a:pt x="165898" y="5685"/>
                  </a:lnTo>
                  <a:lnTo>
                    <a:pt x="215254" y="0"/>
                  </a:lnTo>
                  <a:lnTo>
                    <a:pt x="1885345" y="0"/>
                  </a:lnTo>
                  <a:lnTo>
                    <a:pt x="1927535" y="4174"/>
                  </a:lnTo>
                  <a:lnTo>
                    <a:pt x="1967719" y="16385"/>
                  </a:lnTo>
                  <a:lnTo>
                    <a:pt x="2004768" y="36165"/>
                  </a:lnTo>
                  <a:lnTo>
                    <a:pt x="2037553" y="63046"/>
                  </a:lnTo>
                  <a:lnTo>
                    <a:pt x="2064434" y="95831"/>
                  </a:lnTo>
                  <a:lnTo>
                    <a:pt x="2084214" y="132879"/>
                  </a:lnTo>
                  <a:lnTo>
                    <a:pt x="2096425" y="173064"/>
                  </a:lnTo>
                  <a:lnTo>
                    <a:pt x="2100599" y="215254"/>
                  </a:lnTo>
                  <a:lnTo>
                    <a:pt x="2100599" y="1076245"/>
                  </a:lnTo>
                  <a:lnTo>
                    <a:pt x="2094914" y="1125601"/>
                  </a:lnTo>
                  <a:lnTo>
                    <a:pt x="2078721" y="1170909"/>
                  </a:lnTo>
                  <a:lnTo>
                    <a:pt x="2053311" y="1210876"/>
                  </a:lnTo>
                  <a:lnTo>
                    <a:pt x="2019976" y="1244211"/>
                  </a:lnTo>
                  <a:lnTo>
                    <a:pt x="1980009" y="1269621"/>
                  </a:lnTo>
                  <a:lnTo>
                    <a:pt x="1934701" y="1285814"/>
                  </a:lnTo>
                  <a:lnTo>
                    <a:pt x="1885345" y="12914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16225" y="2194724"/>
              <a:ext cx="2101215" cy="1291590"/>
            </a:xfrm>
            <a:custGeom>
              <a:avLst/>
              <a:gdLst/>
              <a:ahLst/>
              <a:cxnLst/>
              <a:rect l="l" t="t" r="r" b="b"/>
              <a:pathLst>
                <a:path w="2101215" h="1291589">
                  <a:moveTo>
                    <a:pt x="0" y="215254"/>
                  </a:moveTo>
                  <a:lnTo>
                    <a:pt x="5685" y="165898"/>
                  </a:lnTo>
                  <a:lnTo>
                    <a:pt x="21878" y="120590"/>
                  </a:lnTo>
                  <a:lnTo>
                    <a:pt x="47288" y="80623"/>
                  </a:lnTo>
                  <a:lnTo>
                    <a:pt x="80623" y="47288"/>
                  </a:lnTo>
                  <a:lnTo>
                    <a:pt x="120590" y="21878"/>
                  </a:lnTo>
                  <a:lnTo>
                    <a:pt x="165898" y="5685"/>
                  </a:lnTo>
                  <a:lnTo>
                    <a:pt x="215254" y="0"/>
                  </a:lnTo>
                  <a:lnTo>
                    <a:pt x="1885345" y="0"/>
                  </a:lnTo>
                  <a:lnTo>
                    <a:pt x="1927535" y="4174"/>
                  </a:lnTo>
                  <a:lnTo>
                    <a:pt x="1967719" y="16385"/>
                  </a:lnTo>
                  <a:lnTo>
                    <a:pt x="2004768" y="36165"/>
                  </a:lnTo>
                  <a:lnTo>
                    <a:pt x="2037553" y="63046"/>
                  </a:lnTo>
                  <a:lnTo>
                    <a:pt x="2064434" y="95831"/>
                  </a:lnTo>
                  <a:lnTo>
                    <a:pt x="2084214" y="132879"/>
                  </a:lnTo>
                  <a:lnTo>
                    <a:pt x="2096425" y="173064"/>
                  </a:lnTo>
                  <a:lnTo>
                    <a:pt x="2100599" y="215254"/>
                  </a:lnTo>
                  <a:lnTo>
                    <a:pt x="2100599" y="1076245"/>
                  </a:lnTo>
                  <a:lnTo>
                    <a:pt x="2094914" y="1125601"/>
                  </a:lnTo>
                  <a:lnTo>
                    <a:pt x="2078721" y="1170909"/>
                  </a:lnTo>
                  <a:lnTo>
                    <a:pt x="2053311" y="1210876"/>
                  </a:lnTo>
                  <a:lnTo>
                    <a:pt x="2019976" y="1244211"/>
                  </a:lnTo>
                  <a:lnTo>
                    <a:pt x="1980009" y="1269621"/>
                  </a:lnTo>
                  <a:lnTo>
                    <a:pt x="1934701" y="1285814"/>
                  </a:lnTo>
                  <a:lnTo>
                    <a:pt x="1885345" y="1291499"/>
                  </a:lnTo>
                  <a:lnTo>
                    <a:pt x="215254" y="1291499"/>
                  </a:lnTo>
                  <a:lnTo>
                    <a:pt x="165898" y="1285814"/>
                  </a:lnTo>
                  <a:lnTo>
                    <a:pt x="120590" y="1269621"/>
                  </a:lnTo>
                  <a:lnTo>
                    <a:pt x="80623" y="1244211"/>
                  </a:lnTo>
                  <a:lnTo>
                    <a:pt x="47288" y="1210876"/>
                  </a:lnTo>
                  <a:lnTo>
                    <a:pt x="21878" y="1170909"/>
                  </a:lnTo>
                  <a:lnTo>
                    <a:pt x="5685" y="1125601"/>
                  </a:lnTo>
                  <a:lnTo>
                    <a:pt x="0" y="1076245"/>
                  </a:lnTo>
                  <a:lnTo>
                    <a:pt x="0" y="215254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67012" y="2611112"/>
            <a:ext cx="18014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66420" marR="5080" indent="-554355">
              <a:lnSpc>
                <a:spcPts val="1650"/>
              </a:lnSpc>
              <a:spcBef>
                <a:spcPts val="180"/>
              </a:spcBef>
            </a:pPr>
            <a:r>
              <a:rPr sz="1400" b="1" spc="-45" dirty="0">
                <a:latin typeface="Book Antiqua"/>
                <a:cs typeface="Book Antiqua"/>
              </a:rPr>
              <a:t>Knowledge</a:t>
            </a:r>
            <a:r>
              <a:rPr sz="1400" b="1" spc="-5" dirty="0">
                <a:latin typeface="Book Antiqua"/>
                <a:cs typeface="Book Antiqua"/>
              </a:rPr>
              <a:t> </a:t>
            </a:r>
            <a:r>
              <a:rPr sz="1400" b="1" spc="-10" dirty="0">
                <a:latin typeface="Book Antiqua"/>
                <a:cs typeface="Book Antiqua"/>
              </a:rPr>
              <a:t>Extraction Pipeline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16537" y="2645312"/>
            <a:ext cx="397510" cy="201295"/>
            <a:chOff x="3016537" y="2645312"/>
            <a:chExt cx="397510" cy="201295"/>
          </a:xfrm>
        </p:grpSpPr>
        <p:sp>
          <p:nvSpPr>
            <p:cNvPr id="16" name="object 16"/>
            <p:cNvSpPr/>
            <p:nvPr/>
          </p:nvSpPr>
          <p:spPr>
            <a:xfrm>
              <a:off x="3021300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191699"/>
                  </a:move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lnTo>
                    <a:pt x="387899" y="95849"/>
                  </a:lnTo>
                  <a:lnTo>
                    <a:pt x="292049" y="191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21300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0"/>
                  </a:moveTo>
                  <a:lnTo>
                    <a:pt x="387899" y="95849"/>
                  </a:lnTo>
                  <a:lnTo>
                    <a:pt x="292049" y="191699"/>
                  </a:ln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76672" y="4145489"/>
            <a:ext cx="16103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E69137"/>
                </a:solidFill>
                <a:latin typeface="Cambria"/>
                <a:cs typeface="Cambria"/>
              </a:rPr>
              <a:t>knowledge</a:t>
            </a:r>
            <a:r>
              <a:rPr sz="1700" b="1" spc="-4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E69137"/>
                </a:solidFill>
                <a:latin typeface="Cambria"/>
                <a:cs typeface="Cambria"/>
              </a:rPr>
              <a:t>base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6337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How</a:t>
            </a:r>
            <a:r>
              <a:rPr spc="-35" dirty="0"/>
              <a:t> </a:t>
            </a:r>
            <a:r>
              <a:rPr spc="135" dirty="0"/>
              <a:t>were</a:t>
            </a:r>
            <a:r>
              <a:rPr spc="-30" dirty="0"/>
              <a:t> </a:t>
            </a:r>
            <a:r>
              <a:rPr spc="110" dirty="0"/>
              <a:t>knowledge</a:t>
            </a:r>
            <a:r>
              <a:rPr spc="-30" dirty="0"/>
              <a:t> </a:t>
            </a:r>
            <a:r>
              <a:rPr spc="140" dirty="0"/>
              <a:t>bases</a:t>
            </a:r>
            <a:r>
              <a:rPr spc="-30" dirty="0"/>
              <a:t> </a:t>
            </a:r>
            <a:r>
              <a:rPr spc="114" dirty="0"/>
              <a:t>formed?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3575" y="1232048"/>
            <a:ext cx="2484120" cy="2520950"/>
            <a:chOff x="393575" y="1232048"/>
            <a:chExt cx="2484120" cy="2520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3076" y="4145489"/>
            <a:ext cx="17792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E69137"/>
                </a:solidFill>
                <a:latin typeface="Cambria"/>
                <a:cs typeface="Cambria"/>
              </a:rPr>
              <a:t>unstructured</a:t>
            </a:r>
            <a:r>
              <a:rPr sz="1700" b="1" spc="-4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E69137"/>
                </a:solidFill>
                <a:latin typeface="Cambria"/>
                <a:cs typeface="Cambria"/>
              </a:rPr>
              <a:t>text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01937" y="2180437"/>
            <a:ext cx="2129790" cy="1320165"/>
            <a:chOff x="3601937" y="2180437"/>
            <a:chExt cx="2129790" cy="1320165"/>
          </a:xfrm>
        </p:grpSpPr>
        <p:sp>
          <p:nvSpPr>
            <p:cNvPr id="12" name="object 12"/>
            <p:cNvSpPr/>
            <p:nvPr/>
          </p:nvSpPr>
          <p:spPr>
            <a:xfrm>
              <a:off x="3616225" y="2194724"/>
              <a:ext cx="2101215" cy="1291590"/>
            </a:xfrm>
            <a:custGeom>
              <a:avLst/>
              <a:gdLst/>
              <a:ahLst/>
              <a:cxnLst/>
              <a:rect l="l" t="t" r="r" b="b"/>
              <a:pathLst>
                <a:path w="2101215" h="1291589">
                  <a:moveTo>
                    <a:pt x="1885345" y="1291499"/>
                  </a:moveTo>
                  <a:lnTo>
                    <a:pt x="215254" y="1291499"/>
                  </a:lnTo>
                  <a:lnTo>
                    <a:pt x="165898" y="1285814"/>
                  </a:lnTo>
                  <a:lnTo>
                    <a:pt x="120590" y="1269621"/>
                  </a:lnTo>
                  <a:lnTo>
                    <a:pt x="80623" y="1244211"/>
                  </a:lnTo>
                  <a:lnTo>
                    <a:pt x="47288" y="1210876"/>
                  </a:lnTo>
                  <a:lnTo>
                    <a:pt x="21878" y="1170909"/>
                  </a:lnTo>
                  <a:lnTo>
                    <a:pt x="5685" y="1125601"/>
                  </a:lnTo>
                  <a:lnTo>
                    <a:pt x="0" y="1076245"/>
                  </a:lnTo>
                  <a:lnTo>
                    <a:pt x="0" y="215254"/>
                  </a:lnTo>
                  <a:lnTo>
                    <a:pt x="5685" y="165898"/>
                  </a:lnTo>
                  <a:lnTo>
                    <a:pt x="21878" y="120590"/>
                  </a:lnTo>
                  <a:lnTo>
                    <a:pt x="47288" y="80623"/>
                  </a:lnTo>
                  <a:lnTo>
                    <a:pt x="80623" y="47288"/>
                  </a:lnTo>
                  <a:lnTo>
                    <a:pt x="120590" y="21878"/>
                  </a:lnTo>
                  <a:lnTo>
                    <a:pt x="165898" y="5685"/>
                  </a:lnTo>
                  <a:lnTo>
                    <a:pt x="215254" y="0"/>
                  </a:lnTo>
                  <a:lnTo>
                    <a:pt x="1885345" y="0"/>
                  </a:lnTo>
                  <a:lnTo>
                    <a:pt x="1927535" y="4174"/>
                  </a:lnTo>
                  <a:lnTo>
                    <a:pt x="1967719" y="16385"/>
                  </a:lnTo>
                  <a:lnTo>
                    <a:pt x="2004768" y="36165"/>
                  </a:lnTo>
                  <a:lnTo>
                    <a:pt x="2037553" y="63046"/>
                  </a:lnTo>
                  <a:lnTo>
                    <a:pt x="2064434" y="95831"/>
                  </a:lnTo>
                  <a:lnTo>
                    <a:pt x="2084214" y="132879"/>
                  </a:lnTo>
                  <a:lnTo>
                    <a:pt x="2096425" y="173064"/>
                  </a:lnTo>
                  <a:lnTo>
                    <a:pt x="2100599" y="215254"/>
                  </a:lnTo>
                  <a:lnTo>
                    <a:pt x="2100599" y="1076245"/>
                  </a:lnTo>
                  <a:lnTo>
                    <a:pt x="2094914" y="1125601"/>
                  </a:lnTo>
                  <a:lnTo>
                    <a:pt x="2078721" y="1170909"/>
                  </a:lnTo>
                  <a:lnTo>
                    <a:pt x="2053311" y="1210876"/>
                  </a:lnTo>
                  <a:lnTo>
                    <a:pt x="2019976" y="1244211"/>
                  </a:lnTo>
                  <a:lnTo>
                    <a:pt x="1980009" y="1269621"/>
                  </a:lnTo>
                  <a:lnTo>
                    <a:pt x="1934701" y="1285814"/>
                  </a:lnTo>
                  <a:lnTo>
                    <a:pt x="1885345" y="12914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16225" y="2194724"/>
              <a:ext cx="2101215" cy="1291590"/>
            </a:xfrm>
            <a:custGeom>
              <a:avLst/>
              <a:gdLst/>
              <a:ahLst/>
              <a:cxnLst/>
              <a:rect l="l" t="t" r="r" b="b"/>
              <a:pathLst>
                <a:path w="2101215" h="1291589">
                  <a:moveTo>
                    <a:pt x="0" y="215254"/>
                  </a:moveTo>
                  <a:lnTo>
                    <a:pt x="5685" y="165898"/>
                  </a:lnTo>
                  <a:lnTo>
                    <a:pt x="21878" y="120590"/>
                  </a:lnTo>
                  <a:lnTo>
                    <a:pt x="47288" y="80623"/>
                  </a:lnTo>
                  <a:lnTo>
                    <a:pt x="80623" y="47288"/>
                  </a:lnTo>
                  <a:lnTo>
                    <a:pt x="120590" y="21878"/>
                  </a:lnTo>
                  <a:lnTo>
                    <a:pt x="165898" y="5685"/>
                  </a:lnTo>
                  <a:lnTo>
                    <a:pt x="215254" y="0"/>
                  </a:lnTo>
                  <a:lnTo>
                    <a:pt x="1885345" y="0"/>
                  </a:lnTo>
                  <a:lnTo>
                    <a:pt x="1927535" y="4174"/>
                  </a:lnTo>
                  <a:lnTo>
                    <a:pt x="1967719" y="16385"/>
                  </a:lnTo>
                  <a:lnTo>
                    <a:pt x="2004768" y="36165"/>
                  </a:lnTo>
                  <a:lnTo>
                    <a:pt x="2037553" y="63046"/>
                  </a:lnTo>
                  <a:lnTo>
                    <a:pt x="2064434" y="95831"/>
                  </a:lnTo>
                  <a:lnTo>
                    <a:pt x="2084214" y="132879"/>
                  </a:lnTo>
                  <a:lnTo>
                    <a:pt x="2096425" y="173064"/>
                  </a:lnTo>
                  <a:lnTo>
                    <a:pt x="2100599" y="215254"/>
                  </a:lnTo>
                  <a:lnTo>
                    <a:pt x="2100599" y="1076245"/>
                  </a:lnTo>
                  <a:lnTo>
                    <a:pt x="2094914" y="1125601"/>
                  </a:lnTo>
                  <a:lnTo>
                    <a:pt x="2078721" y="1170909"/>
                  </a:lnTo>
                  <a:lnTo>
                    <a:pt x="2053311" y="1210876"/>
                  </a:lnTo>
                  <a:lnTo>
                    <a:pt x="2019976" y="1244211"/>
                  </a:lnTo>
                  <a:lnTo>
                    <a:pt x="1980009" y="1269621"/>
                  </a:lnTo>
                  <a:lnTo>
                    <a:pt x="1934701" y="1285814"/>
                  </a:lnTo>
                  <a:lnTo>
                    <a:pt x="1885345" y="1291499"/>
                  </a:lnTo>
                  <a:lnTo>
                    <a:pt x="215254" y="1291499"/>
                  </a:lnTo>
                  <a:lnTo>
                    <a:pt x="165898" y="1285814"/>
                  </a:lnTo>
                  <a:lnTo>
                    <a:pt x="120590" y="1269621"/>
                  </a:lnTo>
                  <a:lnTo>
                    <a:pt x="80623" y="1244211"/>
                  </a:lnTo>
                  <a:lnTo>
                    <a:pt x="47288" y="1210876"/>
                  </a:lnTo>
                  <a:lnTo>
                    <a:pt x="21878" y="1170909"/>
                  </a:lnTo>
                  <a:lnTo>
                    <a:pt x="5685" y="1125601"/>
                  </a:lnTo>
                  <a:lnTo>
                    <a:pt x="0" y="1076245"/>
                  </a:lnTo>
                  <a:lnTo>
                    <a:pt x="0" y="215254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67012" y="2611112"/>
            <a:ext cx="18014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66420" marR="5080" indent="-554355">
              <a:lnSpc>
                <a:spcPts val="1650"/>
              </a:lnSpc>
              <a:spcBef>
                <a:spcPts val="180"/>
              </a:spcBef>
            </a:pPr>
            <a:r>
              <a:rPr sz="1400" b="1" spc="-45" dirty="0">
                <a:latin typeface="Book Antiqua"/>
                <a:cs typeface="Book Antiqua"/>
              </a:rPr>
              <a:t>Knowledge</a:t>
            </a:r>
            <a:r>
              <a:rPr sz="1400" b="1" spc="-5" dirty="0">
                <a:latin typeface="Book Antiqua"/>
                <a:cs typeface="Book Antiqua"/>
              </a:rPr>
              <a:t> </a:t>
            </a:r>
            <a:r>
              <a:rPr sz="1400" b="1" spc="-10" dirty="0">
                <a:latin typeface="Book Antiqua"/>
                <a:cs typeface="Book Antiqua"/>
              </a:rPr>
              <a:t>Extraction Pipeline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16537" y="2645312"/>
            <a:ext cx="397510" cy="201295"/>
            <a:chOff x="3016537" y="2645312"/>
            <a:chExt cx="397510" cy="201295"/>
          </a:xfrm>
        </p:grpSpPr>
        <p:sp>
          <p:nvSpPr>
            <p:cNvPr id="16" name="object 16"/>
            <p:cNvSpPr/>
            <p:nvPr/>
          </p:nvSpPr>
          <p:spPr>
            <a:xfrm>
              <a:off x="3021300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191699"/>
                  </a:move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lnTo>
                    <a:pt x="387899" y="95849"/>
                  </a:lnTo>
                  <a:lnTo>
                    <a:pt x="292049" y="191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21300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0"/>
                  </a:moveTo>
                  <a:lnTo>
                    <a:pt x="387899" y="95849"/>
                  </a:lnTo>
                  <a:lnTo>
                    <a:pt x="292049" y="191699"/>
                  </a:ln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919075" y="2645312"/>
            <a:ext cx="397510" cy="201295"/>
            <a:chOff x="5919075" y="2645312"/>
            <a:chExt cx="397510" cy="201295"/>
          </a:xfrm>
        </p:grpSpPr>
        <p:sp>
          <p:nvSpPr>
            <p:cNvPr id="19" name="object 19"/>
            <p:cNvSpPr/>
            <p:nvPr/>
          </p:nvSpPr>
          <p:spPr>
            <a:xfrm>
              <a:off x="5923837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191699"/>
                  </a:move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lnTo>
                    <a:pt x="387899" y="95849"/>
                  </a:lnTo>
                  <a:lnTo>
                    <a:pt x="292049" y="191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23837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0"/>
                  </a:moveTo>
                  <a:lnTo>
                    <a:pt x="387899" y="95849"/>
                  </a:lnTo>
                  <a:lnTo>
                    <a:pt x="292049" y="191699"/>
                  </a:ln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776672" y="4145489"/>
            <a:ext cx="16103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E69137"/>
                </a:solidFill>
                <a:latin typeface="Cambria"/>
                <a:cs typeface="Cambria"/>
              </a:rPr>
              <a:t>knowledge</a:t>
            </a:r>
            <a:r>
              <a:rPr sz="1700" b="1" spc="-4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E69137"/>
                </a:solidFill>
                <a:latin typeface="Cambria"/>
                <a:cs typeface="Cambria"/>
              </a:rPr>
              <a:t>base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504050" y="1793624"/>
            <a:ext cx="2237740" cy="1938020"/>
            <a:chOff x="6504050" y="1793624"/>
            <a:chExt cx="2237740" cy="193802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4050" y="1793624"/>
              <a:ext cx="2021475" cy="193761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038525" y="2535299"/>
              <a:ext cx="698500" cy="759460"/>
            </a:xfrm>
            <a:custGeom>
              <a:avLst/>
              <a:gdLst/>
              <a:ahLst/>
              <a:cxnLst/>
              <a:rect l="l" t="t" r="r" b="b"/>
              <a:pathLst>
                <a:path w="698500" h="759460">
                  <a:moveTo>
                    <a:pt x="173399" y="758999"/>
                  </a:moveTo>
                  <a:lnTo>
                    <a:pt x="0" y="145199"/>
                  </a:lnTo>
                  <a:lnTo>
                    <a:pt x="524999" y="0"/>
                  </a:lnTo>
                  <a:lnTo>
                    <a:pt x="698399" y="613799"/>
                  </a:lnTo>
                  <a:lnTo>
                    <a:pt x="173399" y="75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38525" y="2535299"/>
              <a:ext cx="698500" cy="759460"/>
            </a:xfrm>
            <a:custGeom>
              <a:avLst/>
              <a:gdLst/>
              <a:ahLst/>
              <a:cxnLst/>
              <a:rect l="l" t="t" r="r" b="b"/>
              <a:pathLst>
                <a:path w="698500" h="759460">
                  <a:moveTo>
                    <a:pt x="0" y="145199"/>
                  </a:moveTo>
                  <a:lnTo>
                    <a:pt x="524999" y="0"/>
                  </a:lnTo>
                  <a:lnTo>
                    <a:pt x="698399" y="613799"/>
                  </a:lnTo>
                  <a:lnTo>
                    <a:pt x="173399" y="758999"/>
                  </a:lnTo>
                  <a:lnTo>
                    <a:pt x="0" y="1451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67949" y="1273812"/>
            <a:ext cx="1480820" cy="906144"/>
          </a:xfrm>
          <a:custGeom>
            <a:avLst/>
            <a:gdLst/>
            <a:ahLst/>
            <a:cxnLst/>
            <a:rect l="l" t="t" r="r" b="b"/>
            <a:pathLst>
              <a:path w="1480820" h="906144">
                <a:moveTo>
                  <a:pt x="0" y="150952"/>
                </a:moveTo>
                <a:lnTo>
                  <a:pt x="7695" y="103240"/>
                </a:lnTo>
                <a:lnTo>
                  <a:pt x="29125" y="61802"/>
                </a:lnTo>
                <a:lnTo>
                  <a:pt x="61801" y="29125"/>
                </a:lnTo>
                <a:lnTo>
                  <a:pt x="103239" y="7695"/>
                </a:lnTo>
                <a:lnTo>
                  <a:pt x="150952" y="0"/>
                </a:lnTo>
                <a:lnTo>
                  <a:pt x="1329546" y="0"/>
                </a:lnTo>
                <a:lnTo>
                  <a:pt x="1387314" y="11490"/>
                </a:lnTo>
                <a:lnTo>
                  <a:pt x="1436286" y="44213"/>
                </a:lnTo>
                <a:lnTo>
                  <a:pt x="1469009" y="93185"/>
                </a:lnTo>
                <a:lnTo>
                  <a:pt x="1480499" y="150952"/>
                </a:lnTo>
                <a:lnTo>
                  <a:pt x="1480499" y="754746"/>
                </a:lnTo>
                <a:lnTo>
                  <a:pt x="1472804" y="802459"/>
                </a:lnTo>
                <a:lnTo>
                  <a:pt x="1451374" y="843897"/>
                </a:lnTo>
                <a:lnTo>
                  <a:pt x="1418698" y="876574"/>
                </a:lnTo>
                <a:lnTo>
                  <a:pt x="1377259" y="898004"/>
                </a:lnTo>
                <a:lnTo>
                  <a:pt x="1329546" y="905699"/>
                </a:lnTo>
                <a:lnTo>
                  <a:pt x="150952" y="905699"/>
                </a:lnTo>
                <a:lnTo>
                  <a:pt x="103239" y="898004"/>
                </a:lnTo>
                <a:lnTo>
                  <a:pt x="61801" y="876574"/>
                </a:lnTo>
                <a:lnTo>
                  <a:pt x="29125" y="843897"/>
                </a:lnTo>
                <a:lnTo>
                  <a:pt x="7695" y="802459"/>
                </a:lnTo>
                <a:lnTo>
                  <a:pt x="0" y="754746"/>
                </a:lnTo>
                <a:lnTo>
                  <a:pt x="0" y="1509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49028" y="1287750"/>
            <a:ext cx="91948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latin typeface="Book Antiqua"/>
                <a:cs typeface="Book Antiqua"/>
              </a:rPr>
              <a:t>Untrained </a:t>
            </a:r>
            <a:r>
              <a:rPr sz="1400" b="1" spc="-50" dirty="0">
                <a:latin typeface="Book Antiqua"/>
                <a:cs typeface="Book Antiqua"/>
              </a:rPr>
              <a:t>Knowledge </a:t>
            </a:r>
            <a:r>
              <a:rPr sz="1400" b="1" spc="-10" dirty="0">
                <a:latin typeface="Book Antiqua"/>
                <a:cs typeface="Book Antiqua"/>
              </a:rPr>
              <a:t>Extraction Pipeline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93575" y="1232048"/>
            <a:ext cx="3056890" cy="2520950"/>
            <a:chOff x="393575" y="1232048"/>
            <a:chExt cx="3056890" cy="2520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924" y="2518599"/>
              <a:ext cx="1005840" cy="146685"/>
            </a:xfrm>
            <a:custGeom>
              <a:avLst/>
              <a:gdLst/>
              <a:ahLst/>
              <a:cxnLst/>
              <a:rect l="l" t="t" r="r" b="b"/>
              <a:pathLst>
                <a:path w="1005839" h="146685">
                  <a:moveTo>
                    <a:pt x="0" y="24350"/>
                  </a:moveTo>
                  <a:lnTo>
                    <a:pt x="1913" y="14872"/>
                  </a:lnTo>
                  <a:lnTo>
                    <a:pt x="7132" y="7132"/>
                  </a:lnTo>
                  <a:lnTo>
                    <a:pt x="14872" y="1913"/>
                  </a:lnTo>
                  <a:lnTo>
                    <a:pt x="24350" y="0"/>
                  </a:lnTo>
                  <a:lnTo>
                    <a:pt x="981249" y="0"/>
                  </a:lnTo>
                  <a:lnTo>
                    <a:pt x="987707" y="0"/>
                  </a:lnTo>
                  <a:lnTo>
                    <a:pt x="993901" y="2565"/>
                  </a:lnTo>
                  <a:lnTo>
                    <a:pt x="998467" y="7131"/>
                  </a:lnTo>
                  <a:lnTo>
                    <a:pt x="1003034" y="11698"/>
                  </a:lnTo>
                  <a:lnTo>
                    <a:pt x="1005599" y="17892"/>
                  </a:lnTo>
                  <a:lnTo>
                    <a:pt x="1005599" y="24350"/>
                  </a:lnTo>
                  <a:lnTo>
                    <a:pt x="1005599" y="121749"/>
                  </a:lnTo>
                  <a:lnTo>
                    <a:pt x="1003686" y="131227"/>
                  </a:lnTo>
                  <a:lnTo>
                    <a:pt x="998467" y="138967"/>
                  </a:lnTo>
                  <a:lnTo>
                    <a:pt x="990727" y="144186"/>
                  </a:lnTo>
                  <a:lnTo>
                    <a:pt x="981249" y="146099"/>
                  </a:lnTo>
                  <a:lnTo>
                    <a:pt x="24350" y="146099"/>
                  </a:lnTo>
                  <a:lnTo>
                    <a:pt x="14872" y="144186"/>
                  </a:lnTo>
                  <a:lnTo>
                    <a:pt x="7132" y="138967"/>
                  </a:lnTo>
                  <a:lnTo>
                    <a:pt x="1913" y="131227"/>
                  </a:lnTo>
                  <a:lnTo>
                    <a:pt x="0" y="121749"/>
                  </a:lnTo>
                  <a:lnTo>
                    <a:pt x="0" y="2435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24899" y="649329"/>
                  </a:moveTo>
                  <a:lnTo>
                    <a:pt x="0" y="587829"/>
                  </a:ln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0" y="587829"/>
                  </a:move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lnTo>
                    <a:pt x="0" y="58782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87342" y="1189838"/>
            <a:ext cx="2241550" cy="9664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1400" b="1" dirty="0">
                <a:solidFill>
                  <a:srgbClr val="E69137"/>
                </a:solidFill>
                <a:latin typeface="Book Antiqua"/>
                <a:cs typeface="Book Antiqua"/>
              </a:rPr>
              <a:t>unstructured</a:t>
            </a:r>
            <a:r>
              <a:rPr sz="1400" b="1" spc="5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400" b="1" spc="-20" dirty="0">
                <a:solidFill>
                  <a:srgbClr val="E69137"/>
                </a:solidFill>
                <a:latin typeface="Book Antiqua"/>
                <a:cs typeface="Book Antiqua"/>
              </a:rPr>
              <a:t>text</a:t>
            </a:r>
            <a:endParaRPr sz="1400">
              <a:latin typeface="Book Antiqua"/>
              <a:cs typeface="Book Antiqua"/>
            </a:endParaRPr>
          </a:p>
          <a:p>
            <a:pPr marL="12700" marR="5080" algn="ctr">
              <a:lnSpc>
                <a:spcPct val="100000"/>
              </a:lnSpc>
              <a:spcBef>
                <a:spcPts val="345"/>
              </a:spcBef>
            </a:pPr>
            <a:r>
              <a:rPr sz="1400" spc="-20" dirty="0">
                <a:latin typeface="Book Antiqua"/>
                <a:cs typeface="Book Antiqua"/>
              </a:rPr>
              <a:t>“Born </a:t>
            </a:r>
            <a:r>
              <a:rPr sz="1400" dirty="0">
                <a:latin typeface="Book Antiqua"/>
                <a:cs typeface="Book Antiqua"/>
              </a:rPr>
              <a:t>in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St.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Louis,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Missouri, </a:t>
            </a:r>
            <a:r>
              <a:rPr sz="1400" dirty="0">
                <a:latin typeface="Book Antiqua"/>
                <a:cs typeface="Book Antiqua"/>
              </a:rPr>
              <a:t>to a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prominent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Boston </a:t>
            </a:r>
            <a:r>
              <a:rPr sz="1400" dirty="0">
                <a:latin typeface="Book Antiqua"/>
                <a:cs typeface="Book Antiqua"/>
              </a:rPr>
              <a:t>Brahmin</a:t>
            </a:r>
            <a:r>
              <a:rPr sz="1400" spc="6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family…”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78974" y="2627839"/>
            <a:ext cx="1416050" cy="1206500"/>
            <a:chOff x="6978974" y="2627839"/>
            <a:chExt cx="1416050" cy="12065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8974" y="2627839"/>
              <a:ext cx="1258431" cy="12062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977274" y="3126750"/>
              <a:ext cx="413384" cy="446405"/>
            </a:xfrm>
            <a:custGeom>
              <a:avLst/>
              <a:gdLst/>
              <a:ahLst/>
              <a:cxnLst/>
              <a:rect l="l" t="t" r="r" b="b"/>
              <a:pathLst>
                <a:path w="413384" h="446404">
                  <a:moveTo>
                    <a:pt x="77699" y="446100"/>
                  </a:moveTo>
                  <a:lnTo>
                    <a:pt x="0" y="31199"/>
                  </a:lnTo>
                  <a:lnTo>
                    <a:pt x="335099" y="0"/>
                  </a:lnTo>
                  <a:lnTo>
                    <a:pt x="412799" y="414900"/>
                  </a:lnTo>
                  <a:lnTo>
                    <a:pt x="77699" y="446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77274" y="3126750"/>
              <a:ext cx="413384" cy="446405"/>
            </a:xfrm>
            <a:custGeom>
              <a:avLst/>
              <a:gdLst/>
              <a:ahLst/>
              <a:cxnLst/>
              <a:rect l="l" t="t" r="r" b="b"/>
              <a:pathLst>
                <a:path w="413384" h="446404">
                  <a:moveTo>
                    <a:pt x="0" y="31199"/>
                  </a:moveTo>
                  <a:lnTo>
                    <a:pt x="335099" y="0"/>
                  </a:lnTo>
                  <a:lnTo>
                    <a:pt x="412799" y="414900"/>
                  </a:lnTo>
                  <a:lnTo>
                    <a:pt x="77699" y="446100"/>
                  </a:lnTo>
                  <a:lnTo>
                    <a:pt x="0" y="311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4890" y="4540353"/>
            <a:ext cx="7365365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spc="75" dirty="0">
                <a:latin typeface="Times New Roman"/>
                <a:cs typeface="Times New Roman"/>
              </a:rPr>
              <a:t>Requires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supervised</a:t>
            </a:r>
            <a:r>
              <a:rPr sz="1700" b="1" spc="-4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data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train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pipeline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and/or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ﬁll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base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67949" y="1273812"/>
            <a:ext cx="1480820" cy="906144"/>
          </a:xfrm>
          <a:custGeom>
            <a:avLst/>
            <a:gdLst/>
            <a:ahLst/>
            <a:cxnLst/>
            <a:rect l="l" t="t" r="r" b="b"/>
            <a:pathLst>
              <a:path w="1480820" h="906144">
                <a:moveTo>
                  <a:pt x="0" y="150952"/>
                </a:moveTo>
                <a:lnTo>
                  <a:pt x="7695" y="103240"/>
                </a:lnTo>
                <a:lnTo>
                  <a:pt x="29125" y="61802"/>
                </a:lnTo>
                <a:lnTo>
                  <a:pt x="61801" y="29125"/>
                </a:lnTo>
                <a:lnTo>
                  <a:pt x="103239" y="7695"/>
                </a:lnTo>
                <a:lnTo>
                  <a:pt x="150952" y="0"/>
                </a:lnTo>
                <a:lnTo>
                  <a:pt x="1329546" y="0"/>
                </a:lnTo>
                <a:lnTo>
                  <a:pt x="1387314" y="11490"/>
                </a:lnTo>
                <a:lnTo>
                  <a:pt x="1436286" y="44213"/>
                </a:lnTo>
                <a:lnTo>
                  <a:pt x="1469009" y="93185"/>
                </a:lnTo>
                <a:lnTo>
                  <a:pt x="1480499" y="150952"/>
                </a:lnTo>
                <a:lnTo>
                  <a:pt x="1480499" y="754746"/>
                </a:lnTo>
                <a:lnTo>
                  <a:pt x="1472804" y="802459"/>
                </a:lnTo>
                <a:lnTo>
                  <a:pt x="1451374" y="843897"/>
                </a:lnTo>
                <a:lnTo>
                  <a:pt x="1418698" y="876574"/>
                </a:lnTo>
                <a:lnTo>
                  <a:pt x="1377259" y="898004"/>
                </a:lnTo>
                <a:lnTo>
                  <a:pt x="1329546" y="905699"/>
                </a:lnTo>
                <a:lnTo>
                  <a:pt x="150952" y="905699"/>
                </a:lnTo>
                <a:lnTo>
                  <a:pt x="103239" y="898004"/>
                </a:lnTo>
                <a:lnTo>
                  <a:pt x="61801" y="876574"/>
                </a:lnTo>
                <a:lnTo>
                  <a:pt x="29125" y="843897"/>
                </a:lnTo>
                <a:lnTo>
                  <a:pt x="7695" y="802459"/>
                </a:lnTo>
                <a:lnTo>
                  <a:pt x="0" y="754746"/>
                </a:lnTo>
                <a:lnTo>
                  <a:pt x="0" y="1509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49028" y="1287750"/>
            <a:ext cx="91948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latin typeface="Book Antiqua"/>
                <a:cs typeface="Book Antiqua"/>
              </a:rPr>
              <a:t>Untrained </a:t>
            </a:r>
            <a:r>
              <a:rPr sz="1400" b="1" spc="-50" dirty="0">
                <a:latin typeface="Book Antiqua"/>
                <a:cs typeface="Book Antiqua"/>
              </a:rPr>
              <a:t>Knowledge </a:t>
            </a:r>
            <a:r>
              <a:rPr sz="1400" b="1" spc="-10" dirty="0">
                <a:latin typeface="Book Antiqua"/>
                <a:cs typeface="Book Antiqua"/>
              </a:rPr>
              <a:t>Extraction Pipeline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93575" y="1232048"/>
            <a:ext cx="3056890" cy="2520950"/>
            <a:chOff x="393575" y="1232048"/>
            <a:chExt cx="3056890" cy="2520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924" y="2518599"/>
              <a:ext cx="1005840" cy="146685"/>
            </a:xfrm>
            <a:custGeom>
              <a:avLst/>
              <a:gdLst/>
              <a:ahLst/>
              <a:cxnLst/>
              <a:rect l="l" t="t" r="r" b="b"/>
              <a:pathLst>
                <a:path w="1005839" h="146685">
                  <a:moveTo>
                    <a:pt x="0" y="24350"/>
                  </a:moveTo>
                  <a:lnTo>
                    <a:pt x="1913" y="14872"/>
                  </a:lnTo>
                  <a:lnTo>
                    <a:pt x="7132" y="7132"/>
                  </a:lnTo>
                  <a:lnTo>
                    <a:pt x="14872" y="1913"/>
                  </a:lnTo>
                  <a:lnTo>
                    <a:pt x="24350" y="0"/>
                  </a:lnTo>
                  <a:lnTo>
                    <a:pt x="981249" y="0"/>
                  </a:lnTo>
                  <a:lnTo>
                    <a:pt x="987707" y="0"/>
                  </a:lnTo>
                  <a:lnTo>
                    <a:pt x="993901" y="2565"/>
                  </a:lnTo>
                  <a:lnTo>
                    <a:pt x="998467" y="7131"/>
                  </a:lnTo>
                  <a:lnTo>
                    <a:pt x="1003034" y="11698"/>
                  </a:lnTo>
                  <a:lnTo>
                    <a:pt x="1005599" y="17892"/>
                  </a:lnTo>
                  <a:lnTo>
                    <a:pt x="1005599" y="24350"/>
                  </a:lnTo>
                  <a:lnTo>
                    <a:pt x="1005599" y="121749"/>
                  </a:lnTo>
                  <a:lnTo>
                    <a:pt x="1003686" y="131227"/>
                  </a:lnTo>
                  <a:lnTo>
                    <a:pt x="998467" y="138967"/>
                  </a:lnTo>
                  <a:lnTo>
                    <a:pt x="990727" y="144186"/>
                  </a:lnTo>
                  <a:lnTo>
                    <a:pt x="981249" y="146099"/>
                  </a:lnTo>
                  <a:lnTo>
                    <a:pt x="24350" y="146099"/>
                  </a:lnTo>
                  <a:lnTo>
                    <a:pt x="14872" y="144186"/>
                  </a:lnTo>
                  <a:lnTo>
                    <a:pt x="7132" y="138967"/>
                  </a:lnTo>
                  <a:lnTo>
                    <a:pt x="1913" y="131227"/>
                  </a:lnTo>
                  <a:lnTo>
                    <a:pt x="0" y="121749"/>
                  </a:lnTo>
                  <a:lnTo>
                    <a:pt x="0" y="2435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24899" y="649329"/>
                  </a:moveTo>
                  <a:lnTo>
                    <a:pt x="0" y="587829"/>
                  </a:ln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0" y="587829"/>
                  </a:move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lnTo>
                    <a:pt x="0" y="58782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557261" y="1549022"/>
            <a:ext cx="2837815" cy="2285365"/>
            <a:chOff x="5557261" y="1549022"/>
            <a:chExt cx="2837815" cy="2285365"/>
          </a:xfrm>
        </p:grpSpPr>
        <p:sp>
          <p:nvSpPr>
            <p:cNvPr id="16" name="object 16"/>
            <p:cNvSpPr/>
            <p:nvPr/>
          </p:nvSpPr>
          <p:spPr>
            <a:xfrm>
              <a:off x="5562024" y="2010200"/>
              <a:ext cx="1312545" cy="1096645"/>
            </a:xfrm>
            <a:custGeom>
              <a:avLst/>
              <a:gdLst/>
              <a:ahLst/>
              <a:cxnLst/>
              <a:rect l="l" t="t" r="r" b="b"/>
              <a:pathLst>
                <a:path w="1312545" h="1096645">
                  <a:moveTo>
                    <a:pt x="1218307" y="1096565"/>
                  </a:moveTo>
                  <a:lnTo>
                    <a:pt x="1239457" y="1070840"/>
                  </a:lnTo>
                  <a:lnTo>
                    <a:pt x="0" y="51449"/>
                  </a:lnTo>
                  <a:lnTo>
                    <a:pt x="42299" y="0"/>
                  </a:lnTo>
                  <a:lnTo>
                    <a:pt x="1281757" y="1019390"/>
                  </a:lnTo>
                  <a:lnTo>
                    <a:pt x="1302907" y="993665"/>
                  </a:lnTo>
                  <a:lnTo>
                    <a:pt x="1312050" y="1087424"/>
                  </a:lnTo>
                  <a:lnTo>
                    <a:pt x="1218307" y="1096565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62024" y="2010200"/>
              <a:ext cx="1312545" cy="1096645"/>
            </a:xfrm>
            <a:custGeom>
              <a:avLst/>
              <a:gdLst/>
              <a:ahLst/>
              <a:cxnLst/>
              <a:rect l="l" t="t" r="r" b="b"/>
              <a:pathLst>
                <a:path w="1312545" h="1096645">
                  <a:moveTo>
                    <a:pt x="42299" y="0"/>
                  </a:moveTo>
                  <a:lnTo>
                    <a:pt x="1281757" y="1019390"/>
                  </a:lnTo>
                  <a:lnTo>
                    <a:pt x="1302907" y="993665"/>
                  </a:lnTo>
                  <a:lnTo>
                    <a:pt x="1312050" y="1087424"/>
                  </a:lnTo>
                  <a:lnTo>
                    <a:pt x="1218307" y="1096565"/>
                  </a:lnTo>
                  <a:lnTo>
                    <a:pt x="1239457" y="1070840"/>
                  </a:lnTo>
                  <a:lnTo>
                    <a:pt x="0" y="51449"/>
                  </a:lnTo>
                  <a:lnTo>
                    <a:pt x="42299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66863" y="1763809"/>
              <a:ext cx="1073785" cy="133350"/>
            </a:xfrm>
            <a:custGeom>
              <a:avLst/>
              <a:gdLst/>
              <a:ahLst/>
              <a:cxnLst/>
              <a:rect l="l" t="t" r="r" b="b"/>
              <a:pathLst>
                <a:path w="1073784" h="133350">
                  <a:moveTo>
                    <a:pt x="1007249" y="132899"/>
                  </a:moveTo>
                  <a:lnTo>
                    <a:pt x="1007249" y="99674"/>
                  </a:lnTo>
                  <a:lnTo>
                    <a:pt x="0" y="99674"/>
                  </a:lnTo>
                  <a:lnTo>
                    <a:pt x="0" y="33224"/>
                  </a:lnTo>
                  <a:lnTo>
                    <a:pt x="1007249" y="33224"/>
                  </a:lnTo>
                  <a:lnTo>
                    <a:pt x="1007249" y="0"/>
                  </a:lnTo>
                  <a:lnTo>
                    <a:pt x="1073699" y="66449"/>
                  </a:lnTo>
                  <a:lnTo>
                    <a:pt x="1007249" y="1328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6863" y="1763809"/>
              <a:ext cx="1073785" cy="133350"/>
            </a:xfrm>
            <a:custGeom>
              <a:avLst/>
              <a:gdLst/>
              <a:ahLst/>
              <a:cxnLst/>
              <a:rect l="l" t="t" r="r" b="b"/>
              <a:pathLst>
                <a:path w="1073784" h="133350">
                  <a:moveTo>
                    <a:pt x="0" y="33224"/>
                  </a:moveTo>
                  <a:lnTo>
                    <a:pt x="1007249" y="33224"/>
                  </a:lnTo>
                  <a:lnTo>
                    <a:pt x="1007249" y="0"/>
                  </a:lnTo>
                  <a:lnTo>
                    <a:pt x="1073699" y="66449"/>
                  </a:lnTo>
                  <a:lnTo>
                    <a:pt x="1007249" y="132899"/>
                  </a:lnTo>
                  <a:lnTo>
                    <a:pt x="1007249" y="99674"/>
                  </a:lnTo>
                  <a:lnTo>
                    <a:pt x="0" y="99674"/>
                  </a:lnTo>
                  <a:lnTo>
                    <a:pt x="0" y="33224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75774" y="1553785"/>
              <a:ext cx="506095" cy="553085"/>
            </a:xfrm>
            <a:custGeom>
              <a:avLst/>
              <a:gdLst/>
              <a:ahLst/>
              <a:cxnLst/>
              <a:rect l="l" t="t" r="r" b="b"/>
              <a:pathLst>
                <a:path w="506095" h="553085">
                  <a:moveTo>
                    <a:pt x="411562" y="552947"/>
                  </a:moveTo>
                  <a:lnTo>
                    <a:pt x="252839" y="371438"/>
                  </a:lnTo>
                  <a:lnTo>
                    <a:pt x="94115" y="552947"/>
                  </a:lnTo>
                  <a:lnTo>
                    <a:pt x="0" y="470647"/>
                  </a:lnTo>
                  <a:lnTo>
                    <a:pt x="169796" y="276473"/>
                  </a:lnTo>
                  <a:lnTo>
                    <a:pt x="0" y="82300"/>
                  </a:lnTo>
                  <a:lnTo>
                    <a:pt x="94115" y="0"/>
                  </a:lnTo>
                  <a:lnTo>
                    <a:pt x="252839" y="181509"/>
                  </a:lnTo>
                  <a:lnTo>
                    <a:pt x="411562" y="0"/>
                  </a:lnTo>
                  <a:lnTo>
                    <a:pt x="505678" y="82300"/>
                  </a:lnTo>
                  <a:lnTo>
                    <a:pt x="335881" y="276473"/>
                  </a:lnTo>
                  <a:lnTo>
                    <a:pt x="505678" y="470647"/>
                  </a:lnTo>
                  <a:lnTo>
                    <a:pt x="411562" y="552947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75774" y="1553785"/>
              <a:ext cx="506095" cy="553085"/>
            </a:xfrm>
            <a:custGeom>
              <a:avLst/>
              <a:gdLst/>
              <a:ahLst/>
              <a:cxnLst/>
              <a:rect l="l" t="t" r="r" b="b"/>
              <a:pathLst>
                <a:path w="506095" h="553085">
                  <a:moveTo>
                    <a:pt x="0" y="82300"/>
                  </a:moveTo>
                  <a:lnTo>
                    <a:pt x="94115" y="0"/>
                  </a:lnTo>
                  <a:lnTo>
                    <a:pt x="252839" y="181509"/>
                  </a:lnTo>
                  <a:lnTo>
                    <a:pt x="411562" y="0"/>
                  </a:lnTo>
                  <a:lnTo>
                    <a:pt x="505678" y="82300"/>
                  </a:lnTo>
                  <a:lnTo>
                    <a:pt x="335881" y="276473"/>
                  </a:lnTo>
                  <a:lnTo>
                    <a:pt x="505678" y="470647"/>
                  </a:lnTo>
                  <a:lnTo>
                    <a:pt x="411562" y="552947"/>
                  </a:lnTo>
                  <a:lnTo>
                    <a:pt x="252839" y="371438"/>
                  </a:lnTo>
                  <a:lnTo>
                    <a:pt x="94115" y="552947"/>
                  </a:lnTo>
                  <a:lnTo>
                    <a:pt x="0" y="470647"/>
                  </a:lnTo>
                  <a:lnTo>
                    <a:pt x="169796" y="276473"/>
                  </a:lnTo>
                  <a:lnTo>
                    <a:pt x="0" y="82300"/>
                  </a:lnTo>
                  <a:close/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61718" y="2272959"/>
              <a:ext cx="631190" cy="637540"/>
            </a:xfrm>
            <a:custGeom>
              <a:avLst/>
              <a:gdLst/>
              <a:ahLst/>
              <a:cxnLst/>
              <a:rect l="l" t="t" r="r" b="b"/>
              <a:pathLst>
                <a:path w="631190" h="637539">
                  <a:moveTo>
                    <a:pt x="319107" y="637378"/>
                  </a:moveTo>
                  <a:lnTo>
                    <a:pt x="269028" y="401590"/>
                  </a:lnTo>
                  <a:lnTo>
                    <a:pt x="42078" y="482751"/>
                  </a:lnTo>
                  <a:lnTo>
                    <a:pt x="0" y="365084"/>
                  </a:lnTo>
                  <a:lnTo>
                    <a:pt x="242830" y="278244"/>
                  </a:lnTo>
                  <a:lnTo>
                    <a:pt x="189246" y="25958"/>
                  </a:lnTo>
                  <a:lnTo>
                    <a:pt x="311474" y="0"/>
                  </a:lnTo>
                  <a:lnTo>
                    <a:pt x="361553" y="235787"/>
                  </a:lnTo>
                  <a:lnTo>
                    <a:pt x="588503" y="154626"/>
                  </a:lnTo>
                  <a:lnTo>
                    <a:pt x="630581" y="272293"/>
                  </a:lnTo>
                  <a:lnTo>
                    <a:pt x="387751" y="359133"/>
                  </a:lnTo>
                  <a:lnTo>
                    <a:pt x="441334" y="611420"/>
                  </a:lnTo>
                  <a:lnTo>
                    <a:pt x="319107" y="637378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61718" y="2272959"/>
              <a:ext cx="631190" cy="637540"/>
            </a:xfrm>
            <a:custGeom>
              <a:avLst/>
              <a:gdLst/>
              <a:ahLst/>
              <a:cxnLst/>
              <a:rect l="l" t="t" r="r" b="b"/>
              <a:pathLst>
                <a:path w="631190" h="637539">
                  <a:moveTo>
                    <a:pt x="189246" y="25958"/>
                  </a:moveTo>
                  <a:lnTo>
                    <a:pt x="311474" y="0"/>
                  </a:lnTo>
                  <a:lnTo>
                    <a:pt x="361553" y="235787"/>
                  </a:lnTo>
                  <a:lnTo>
                    <a:pt x="588503" y="154626"/>
                  </a:lnTo>
                  <a:lnTo>
                    <a:pt x="630581" y="272293"/>
                  </a:lnTo>
                  <a:lnTo>
                    <a:pt x="387751" y="359133"/>
                  </a:lnTo>
                  <a:lnTo>
                    <a:pt x="441334" y="611420"/>
                  </a:lnTo>
                  <a:lnTo>
                    <a:pt x="319107" y="637378"/>
                  </a:lnTo>
                  <a:lnTo>
                    <a:pt x="269028" y="401590"/>
                  </a:lnTo>
                  <a:lnTo>
                    <a:pt x="42078" y="482751"/>
                  </a:lnTo>
                  <a:lnTo>
                    <a:pt x="0" y="365084"/>
                  </a:lnTo>
                  <a:lnTo>
                    <a:pt x="242830" y="278244"/>
                  </a:lnTo>
                  <a:lnTo>
                    <a:pt x="189246" y="25958"/>
                  </a:lnTo>
                  <a:close/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8974" y="2627840"/>
              <a:ext cx="1258431" cy="120622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977274" y="3126750"/>
              <a:ext cx="413384" cy="446405"/>
            </a:xfrm>
            <a:custGeom>
              <a:avLst/>
              <a:gdLst/>
              <a:ahLst/>
              <a:cxnLst/>
              <a:rect l="l" t="t" r="r" b="b"/>
              <a:pathLst>
                <a:path w="413384" h="446404">
                  <a:moveTo>
                    <a:pt x="77699" y="446100"/>
                  </a:moveTo>
                  <a:lnTo>
                    <a:pt x="0" y="31199"/>
                  </a:lnTo>
                  <a:lnTo>
                    <a:pt x="335099" y="0"/>
                  </a:lnTo>
                  <a:lnTo>
                    <a:pt x="412799" y="414900"/>
                  </a:lnTo>
                  <a:lnTo>
                    <a:pt x="77699" y="446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977274" y="3126750"/>
              <a:ext cx="413384" cy="446405"/>
            </a:xfrm>
            <a:custGeom>
              <a:avLst/>
              <a:gdLst/>
              <a:ahLst/>
              <a:cxnLst/>
              <a:rect l="l" t="t" r="r" b="b"/>
              <a:pathLst>
                <a:path w="413384" h="446404">
                  <a:moveTo>
                    <a:pt x="0" y="31199"/>
                  </a:moveTo>
                  <a:lnTo>
                    <a:pt x="335099" y="0"/>
                  </a:lnTo>
                  <a:lnTo>
                    <a:pt x="412799" y="414900"/>
                  </a:lnTo>
                  <a:lnTo>
                    <a:pt x="77699" y="446100"/>
                  </a:lnTo>
                  <a:lnTo>
                    <a:pt x="0" y="311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387342" y="1189838"/>
            <a:ext cx="2241550" cy="9664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1400" b="1" dirty="0">
                <a:solidFill>
                  <a:srgbClr val="E69137"/>
                </a:solidFill>
                <a:latin typeface="Book Antiqua"/>
                <a:cs typeface="Book Antiqua"/>
              </a:rPr>
              <a:t>unstructured</a:t>
            </a:r>
            <a:r>
              <a:rPr sz="1400" b="1" spc="5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400" b="1" spc="-20" dirty="0">
                <a:solidFill>
                  <a:srgbClr val="E69137"/>
                </a:solidFill>
                <a:latin typeface="Book Antiqua"/>
                <a:cs typeface="Book Antiqua"/>
              </a:rPr>
              <a:t>text</a:t>
            </a:r>
            <a:endParaRPr sz="1400">
              <a:latin typeface="Book Antiqua"/>
              <a:cs typeface="Book Antiqua"/>
            </a:endParaRPr>
          </a:p>
          <a:p>
            <a:pPr marL="12700" marR="5080" algn="ctr">
              <a:lnSpc>
                <a:spcPct val="100000"/>
              </a:lnSpc>
              <a:spcBef>
                <a:spcPts val="345"/>
              </a:spcBef>
            </a:pPr>
            <a:r>
              <a:rPr sz="1400" spc="-20" dirty="0">
                <a:latin typeface="Book Antiqua"/>
                <a:cs typeface="Book Antiqua"/>
              </a:rPr>
              <a:t>“Born </a:t>
            </a:r>
            <a:r>
              <a:rPr sz="1400" dirty="0">
                <a:latin typeface="Book Antiqua"/>
                <a:cs typeface="Book Antiqua"/>
              </a:rPr>
              <a:t>in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St.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Louis,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Missouri, </a:t>
            </a:r>
            <a:r>
              <a:rPr sz="1400" dirty="0">
                <a:latin typeface="Book Antiqua"/>
                <a:cs typeface="Book Antiqua"/>
              </a:rPr>
              <a:t>to a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prominent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Boston </a:t>
            </a:r>
            <a:r>
              <a:rPr sz="1400" dirty="0">
                <a:latin typeface="Book Antiqua"/>
                <a:cs typeface="Book Antiqua"/>
              </a:rPr>
              <a:t>Brahmin</a:t>
            </a:r>
            <a:r>
              <a:rPr sz="1400" spc="6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family…”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4890" y="4540353"/>
            <a:ext cx="7365365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spc="75" dirty="0">
                <a:latin typeface="Times New Roman"/>
                <a:cs typeface="Times New Roman"/>
              </a:rPr>
              <a:t>Requires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supervised</a:t>
            </a:r>
            <a:r>
              <a:rPr sz="1700" b="1" spc="-4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data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train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pipeline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and/or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ﬁll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base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8" name="object 28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67949" y="1273812"/>
            <a:ext cx="1480820" cy="906144"/>
          </a:xfrm>
          <a:custGeom>
            <a:avLst/>
            <a:gdLst/>
            <a:ahLst/>
            <a:cxnLst/>
            <a:rect l="l" t="t" r="r" b="b"/>
            <a:pathLst>
              <a:path w="1480820" h="906144">
                <a:moveTo>
                  <a:pt x="0" y="150952"/>
                </a:moveTo>
                <a:lnTo>
                  <a:pt x="7695" y="103240"/>
                </a:lnTo>
                <a:lnTo>
                  <a:pt x="29125" y="61802"/>
                </a:lnTo>
                <a:lnTo>
                  <a:pt x="61801" y="29125"/>
                </a:lnTo>
                <a:lnTo>
                  <a:pt x="103239" y="7695"/>
                </a:lnTo>
                <a:lnTo>
                  <a:pt x="150952" y="0"/>
                </a:lnTo>
                <a:lnTo>
                  <a:pt x="1329546" y="0"/>
                </a:lnTo>
                <a:lnTo>
                  <a:pt x="1387314" y="11490"/>
                </a:lnTo>
                <a:lnTo>
                  <a:pt x="1436286" y="44213"/>
                </a:lnTo>
                <a:lnTo>
                  <a:pt x="1469009" y="93185"/>
                </a:lnTo>
                <a:lnTo>
                  <a:pt x="1480499" y="150952"/>
                </a:lnTo>
                <a:lnTo>
                  <a:pt x="1480499" y="754746"/>
                </a:lnTo>
                <a:lnTo>
                  <a:pt x="1472804" y="802459"/>
                </a:lnTo>
                <a:lnTo>
                  <a:pt x="1451374" y="843897"/>
                </a:lnTo>
                <a:lnTo>
                  <a:pt x="1418698" y="876574"/>
                </a:lnTo>
                <a:lnTo>
                  <a:pt x="1377259" y="898004"/>
                </a:lnTo>
                <a:lnTo>
                  <a:pt x="1329546" y="905699"/>
                </a:lnTo>
                <a:lnTo>
                  <a:pt x="150952" y="905699"/>
                </a:lnTo>
                <a:lnTo>
                  <a:pt x="103239" y="898004"/>
                </a:lnTo>
                <a:lnTo>
                  <a:pt x="61801" y="876574"/>
                </a:lnTo>
                <a:lnTo>
                  <a:pt x="29125" y="843897"/>
                </a:lnTo>
                <a:lnTo>
                  <a:pt x="7695" y="802459"/>
                </a:lnTo>
                <a:lnTo>
                  <a:pt x="0" y="754746"/>
                </a:lnTo>
                <a:lnTo>
                  <a:pt x="0" y="1509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49028" y="1287750"/>
            <a:ext cx="91948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latin typeface="Book Antiqua"/>
                <a:cs typeface="Book Antiqua"/>
              </a:rPr>
              <a:t>Untrained </a:t>
            </a:r>
            <a:r>
              <a:rPr sz="1400" b="1" spc="-50" dirty="0">
                <a:latin typeface="Book Antiqua"/>
                <a:cs typeface="Book Antiqua"/>
              </a:rPr>
              <a:t>Knowledge </a:t>
            </a:r>
            <a:r>
              <a:rPr sz="1400" b="1" spc="-10" dirty="0">
                <a:latin typeface="Book Antiqua"/>
                <a:cs typeface="Book Antiqua"/>
              </a:rPr>
              <a:t>Extraction Pipeline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93575" y="1232048"/>
            <a:ext cx="3056890" cy="2520950"/>
            <a:chOff x="393575" y="1232048"/>
            <a:chExt cx="3056890" cy="2520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924" y="2518599"/>
              <a:ext cx="1005840" cy="146685"/>
            </a:xfrm>
            <a:custGeom>
              <a:avLst/>
              <a:gdLst/>
              <a:ahLst/>
              <a:cxnLst/>
              <a:rect l="l" t="t" r="r" b="b"/>
              <a:pathLst>
                <a:path w="1005839" h="146685">
                  <a:moveTo>
                    <a:pt x="0" y="24350"/>
                  </a:moveTo>
                  <a:lnTo>
                    <a:pt x="1913" y="14872"/>
                  </a:lnTo>
                  <a:lnTo>
                    <a:pt x="7132" y="7132"/>
                  </a:lnTo>
                  <a:lnTo>
                    <a:pt x="14872" y="1913"/>
                  </a:lnTo>
                  <a:lnTo>
                    <a:pt x="24350" y="0"/>
                  </a:lnTo>
                  <a:lnTo>
                    <a:pt x="981249" y="0"/>
                  </a:lnTo>
                  <a:lnTo>
                    <a:pt x="987707" y="0"/>
                  </a:lnTo>
                  <a:lnTo>
                    <a:pt x="993901" y="2565"/>
                  </a:lnTo>
                  <a:lnTo>
                    <a:pt x="998467" y="7131"/>
                  </a:lnTo>
                  <a:lnTo>
                    <a:pt x="1003034" y="11698"/>
                  </a:lnTo>
                  <a:lnTo>
                    <a:pt x="1005599" y="17892"/>
                  </a:lnTo>
                  <a:lnTo>
                    <a:pt x="1005599" y="24350"/>
                  </a:lnTo>
                  <a:lnTo>
                    <a:pt x="1005599" y="121749"/>
                  </a:lnTo>
                  <a:lnTo>
                    <a:pt x="1003686" y="131227"/>
                  </a:lnTo>
                  <a:lnTo>
                    <a:pt x="998467" y="138967"/>
                  </a:lnTo>
                  <a:lnTo>
                    <a:pt x="990727" y="144186"/>
                  </a:lnTo>
                  <a:lnTo>
                    <a:pt x="981249" y="146099"/>
                  </a:lnTo>
                  <a:lnTo>
                    <a:pt x="24350" y="146099"/>
                  </a:lnTo>
                  <a:lnTo>
                    <a:pt x="14872" y="144186"/>
                  </a:lnTo>
                  <a:lnTo>
                    <a:pt x="7132" y="138967"/>
                  </a:lnTo>
                  <a:lnTo>
                    <a:pt x="1913" y="131227"/>
                  </a:lnTo>
                  <a:lnTo>
                    <a:pt x="0" y="121749"/>
                  </a:lnTo>
                  <a:lnTo>
                    <a:pt x="0" y="2435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24899" y="649329"/>
                  </a:moveTo>
                  <a:lnTo>
                    <a:pt x="0" y="587829"/>
                  </a:ln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0" y="587829"/>
                  </a:move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lnTo>
                    <a:pt x="0" y="58782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87342" y="1189838"/>
            <a:ext cx="2241550" cy="9664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1400" b="1" dirty="0">
                <a:solidFill>
                  <a:srgbClr val="E69137"/>
                </a:solidFill>
                <a:latin typeface="Book Antiqua"/>
                <a:cs typeface="Book Antiqua"/>
              </a:rPr>
              <a:t>unstructured</a:t>
            </a:r>
            <a:r>
              <a:rPr sz="1400" b="1" spc="5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400" b="1" spc="-20" dirty="0">
                <a:solidFill>
                  <a:srgbClr val="E69137"/>
                </a:solidFill>
                <a:latin typeface="Book Antiqua"/>
                <a:cs typeface="Book Antiqua"/>
              </a:rPr>
              <a:t>text</a:t>
            </a:r>
            <a:endParaRPr sz="1400">
              <a:latin typeface="Book Antiqua"/>
              <a:cs typeface="Book Antiqua"/>
            </a:endParaRPr>
          </a:p>
          <a:p>
            <a:pPr marL="12700" marR="5080" algn="ctr">
              <a:lnSpc>
                <a:spcPct val="100000"/>
              </a:lnSpc>
              <a:spcBef>
                <a:spcPts val="345"/>
              </a:spcBef>
            </a:pPr>
            <a:r>
              <a:rPr sz="1400" spc="-20" dirty="0">
                <a:latin typeface="Book Antiqua"/>
                <a:cs typeface="Book Antiqua"/>
              </a:rPr>
              <a:t>“Born </a:t>
            </a:r>
            <a:r>
              <a:rPr sz="1400" dirty="0">
                <a:latin typeface="Book Antiqua"/>
                <a:cs typeface="Book Antiqua"/>
              </a:rPr>
              <a:t>in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St.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Louis,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Missouri, </a:t>
            </a:r>
            <a:r>
              <a:rPr sz="1400" dirty="0">
                <a:latin typeface="Book Antiqua"/>
                <a:cs typeface="Book Antiqua"/>
              </a:rPr>
              <a:t>to a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prominent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Boston </a:t>
            </a:r>
            <a:r>
              <a:rPr sz="1400" dirty="0">
                <a:latin typeface="Book Antiqua"/>
                <a:cs typeface="Book Antiqua"/>
              </a:rPr>
              <a:t>Brahmin</a:t>
            </a:r>
            <a:r>
              <a:rPr sz="1400" spc="6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family…”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78974" y="2627839"/>
            <a:ext cx="1416050" cy="1206500"/>
            <a:chOff x="6978974" y="2627839"/>
            <a:chExt cx="1416050" cy="12065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8974" y="2627839"/>
              <a:ext cx="1258431" cy="12062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977274" y="3126750"/>
              <a:ext cx="413384" cy="446405"/>
            </a:xfrm>
            <a:custGeom>
              <a:avLst/>
              <a:gdLst/>
              <a:ahLst/>
              <a:cxnLst/>
              <a:rect l="l" t="t" r="r" b="b"/>
              <a:pathLst>
                <a:path w="413384" h="446404">
                  <a:moveTo>
                    <a:pt x="77699" y="446100"/>
                  </a:moveTo>
                  <a:lnTo>
                    <a:pt x="0" y="31199"/>
                  </a:lnTo>
                  <a:lnTo>
                    <a:pt x="335099" y="0"/>
                  </a:lnTo>
                  <a:lnTo>
                    <a:pt x="412799" y="414900"/>
                  </a:lnTo>
                  <a:lnTo>
                    <a:pt x="77699" y="446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77274" y="3126750"/>
              <a:ext cx="413384" cy="446405"/>
            </a:xfrm>
            <a:custGeom>
              <a:avLst/>
              <a:gdLst/>
              <a:ahLst/>
              <a:cxnLst/>
              <a:rect l="l" t="t" r="r" b="b"/>
              <a:pathLst>
                <a:path w="413384" h="446404">
                  <a:moveTo>
                    <a:pt x="0" y="31199"/>
                  </a:moveTo>
                  <a:lnTo>
                    <a:pt x="335099" y="0"/>
                  </a:lnTo>
                  <a:lnTo>
                    <a:pt x="412799" y="414900"/>
                  </a:lnTo>
                  <a:lnTo>
                    <a:pt x="77699" y="446100"/>
                  </a:lnTo>
                  <a:lnTo>
                    <a:pt x="0" y="311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136366" y="2195786"/>
            <a:ext cx="690880" cy="993775"/>
            <a:chOff x="4136366" y="2195786"/>
            <a:chExt cx="690880" cy="993775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6366" y="2498341"/>
              <a:ext cx="690767" cy="69076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439200" y="2200549"/>
              <a:ext cx="133350" cy="318135"/>
            </a:xfrm>
            <a:custGeom>
              <a:avLst/>
              <a:gdLst/>
              <a:ahLst/>
              <a:cxnLst/>
              <a:rect l="l" t="t" r="r" b="b"/>
              <a:pathLst>
                <a:path w="133350" h="318135">
                  <a:moveTo>
                    <a:pt x="66449" y="317999"/>
                  </a:moveTo>
                  <a:lnTo>
                    <a:pt x="0" y="251549"/>
                  </a:lnTo>
                  <a:lnTo>
                    <a:pt x="33224" y="251549"/>
                  </a:lnTo>
                  <a:lnTo>
                    <a:pt x="33224" y="0"/>
                  </a:lnTo>
                  <a:lnTo>
                    <a:pt x="99674" y="0"/>
                  </a:lnTo>
                  <a:lnTo>
                    <a:pt x="99674" y="251549"/>
                  </a:lnTo>
                  <a:lnTo>
                    <a:pt x="132899" y="251549"/>
                  </a:lnTo>
                  <a:lnTo>
                    <a:pt x="66449" y="3179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9200" y="2200549"/>
              <a:ext cx="133350" cy="318135"/>
            </a:xfrm>
            <a:custGeom>
              <a:avLst/>
              <a:gdLst/>
              <a:ahLst/>
              <a:cxnLst/>
              <a:rect l="l" t="t" r="r" b="b"/>
              <a:pathLst>
                <a:path w="133350" h="318135">
                  <a:moveTo>
                    <a:pt x="99674" y="0"/>
                  </a:moveTo>
                  <a:lnTo>
                    <a:pt x="99674" y="251549"/>
                  </a:lnTo>
                  <a:lnTo>
                    <a:pt x="132899" y="251549"/>
                  </a:lnTo>
                  <a:lnTo>
                    <a:pt x="66449" y="317999"/>
                  </a:lnTo>
                  <a:lnTo>
                    <a:pt x="0" y="251549"/>
                  </a:lnTo>
                  <a:lnTo>
                    <a:pt x="33224" y="251549"/>
                  </a:lnTo>
                  <a:lnTo>
                    <a:pt x="33224" y="0"/>
                  </a:lnTo>
                  <a:lnTo>
                    <a:pt x="99674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4890" y="4540353"/>
            <a:ext cx="7365365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spc="75" dirty="0">
                <a:latin typeface="Times New Roman"/>
                <a:cs typeface="Times New Roman"/>
              </a:rPr>
              <a:t>Requires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supervised</a:t>
            </a:r>
            <a:r>
              <a:rPr sz="1700" b="1" spc="-4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data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train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pipeline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and/or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ﬁll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base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25450" y="3625924"/>
            <a:ext cx="2362835" cy="356870"/>
          </a:xfrm>
          <a:custGeom>
            <a:avLst/>
            <a:gdLst/>
            <a:ahLst/>
            <a:cxnLst/>
            <a:rect l="l" t="t" r="r" b="b"/>
            <a:pathLst>
              <a:path w="2362835" h="356870">
                <a:moveTo>
                  <a:pt x="0" y="59451"/>
                </a:moveTo>
                <a:lnTo>
                  <a:pt x="4671" y="36310"/>
                </a:lnTo>
                <a:lnTo>
                  <a:pt x="17412" y="17412"/>
                </a:lnTo>
                <a:lnTo>
                  <a:pt x="36310" y="4671"/>
                </a:lnTo>
                <a:lnTo>
                  <a:pt x="59451" y="0"/>
                </a:lnTo>
                <a:lnTo>
                  <a:pt x="2303348" y="0"/>
                </a:lnTo>
                <a:lnTo>
                  <a:pt x="2345386" y="17412"/>
                </a:lnTo>
                <a:lnTo>
                  <a:pt x="2362799" y="59451"/>
                </a:lnTo>
                <a:lnTo>
                  <a:pt x="2362799" y="297248"/>
                </a:lnTo>
                <a:lnTo>
                  <a:pt x="2358128" y="320389"/>
                </a:lnTo>
                <a:lnTo>
                  <a:pt x="2345387" y="339287"/>
                </a:lnTo>
                <a:lnTo>
                  <a:pt x="2326489" y="352028"/>
                </a:lnTo>
                <a:lnTo>
                  <a:pt x="2303348" y="356699"/>
                </a:lnTo>
                <a:lnTo>
                  <a:pt x="59451" y="356699"/>
                </a:lnTo>
                <a:lnTo>
                  <a:pt x="36310" y="352028"/>
                </a:lnTo>
                <a:lnTo>
                  <a:pt x="17412" y="339287"/>
                </a:lnTo>
                <a:lnTo>
                  <a:pt x="4671" y="320389"/>
                </a:lnTo>
                <a:lnTo>
                  <a:pt x="0" y="297248"/>
                </a:lnTo>
                <a:lnTo>
                  <a:pt x="0" y="59451"/>
                </a:lnTo>
                <a:close/>
              </a:path>
            </a:pathLst>
          </a:custGeom>
          <a:ln w="19049">
            <a:solidFill>
              <a:srgbClr val="3C7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67949" y="1273812"/>
            <a:ext cx="1480820" cy="906144"/>
          </a:xfrm>
          <a:custGeom>
            <a:avLst/>
            <a:gdLst/>
            <a:ahLst/>
            <a:cxnLst/>
            <a:rect l="l" t="t" r="r" b="b"/>
            <a:pathLst>
              <a:path w="1480820" h="906144">
                <a:moveTo>
                  <a:pt x="0" y="150952"/>
                </a:moveTo>
                <a:lnTo>
                  <a:pt x="7695" y="103240"/>
                </a:lnTo>
                <a:lnTo>
                  <a:pt x="29125" y="61802"/>
                </a:lnTo>
                <a:lnTo>
                  <a:pt x="61801" y="29125"/>
                </a:lnTo>
                <a:lnTo>
                  <a:pt x="103239" y="7695"/>
                </a:lnTo>
                <a:lnTo>
                  <a:pt x="150952" y="0"/>
                </a:lnTo>
                <a:lnTo>
                  <a:pt x="1329546" y="0"/>
                </a:lnTo>
                <a:lnTo>
                  <a:pt x="1387314" y="11490"/>
                </a:lnTo>
                <a:lnTo>
                  <a:pt x="1436286" y="44213"/>
                </a:lnTo>
                <a:lnTo>
                  <a:pt x="1469009" y="93185"/>
                </a:lnTo>
                <a:lnTo>
                  <a:pt x="1480499" y="150952"/>
                </a:lnTo>
                <a:lnTo>
                  <a:pt x="1480499" y="754746"/>
                </a:lnTo>
                <a:lnTo>
                  <a:pt x="1472804" y="802459"/>
                </a:lnTo>
                <a:lnTo>
                  <a:pt x="1451374" y="843897"/>
                </a:lnTo>
                <a:lnTo>
                  <a:pt x="1418698" y="876574"/>
                </a:lnTo>
                <a:lnTo>
                  <a:pt x="1377259" y="898004"/>
                </a:lnTo>
                <a:lnTo>
                  <a:pt x="1329546" y="905699"/>
                </a:lnTo>
                <a:lnTo>
                  <a:pt x="150952" y="905699"/>
                </a:lnTo>
                <a:lnTo>
                  <a:pt x="103239" y="898004"/>
                </a:lnTo>
                <a:lnTo>
                  <a:pt x="61801" y="876574"/>
                </a:lnTo>
                <a:lnTo>
                  <a:pt x="29125" y="843897"/>
                </a:lnTo>
                <a:lnTo>
                  <a:pt x="7695" y="802459"/>
                </a:lnTo>
                <a:lnTo>
                  <a:pt x="0" y="754746"/>
                </a:lnTo>
                <a:lnTo>
                  <a:pt x="0" y="1509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49028" y="1287750"/>
            <a:ext cx="91948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latin typeface="Book Antiqua"/>
                <a:cs typeface="Book Antiqua"/>
              </a:rPr>
              <a:t>Untrained </a:t>
            </a:r>
            <a:r>
              <a:rPr sz="1400" b="1" spc="-50" dirty="0">
                <a:latin typeface="Book Antiqua"/>
                <a:cs typeface="Book Antiqua"/>
              </a:rPr>
              <a:t>Knowledge </a:t>
            </a:r>
            <a:r>
              <a:rPr sz="1400" b="1" spc="-10" dirty="0">
                <a:latin typeface="Book Antiqua"/>
                <a:cs typeface="Book Antiqua"/>
              </a:rPr>
              <a:t>Extraction Pipeline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93575" y="1232048"/>
            <a:ext cx="3056890" cy="2520950"/>
            <a:chOff x="393575" y="1232048"/>
            <a:chExt cx="3056890" cy="25209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8924" y="2518599"/>
              <a:ext cx="1005840" cy="146685"/>
            </a:xfrm>
            <a:custGeom>
              <a:avLst/>
              <a:gdLst/>
              <a:ahLst/>
              <a:cxnLst/>
              <a:rect l="l" t="t" r="r" b="b"/>
              <a:pathLst>
                <a:path w="1005839" h="146685">
                  <a:moveTo>
                    <a:pt x="0" y="24350"/>
                  </a:moveTo>
                  <a:lnTo>
                    <a:pt x="1913" y="14872"/>
                  </a:lnTo>
                  <a:lnTo>
                    <a:pt x="7132" y="7132"/>
                  </a:lnTo>
                  <a:lnTo>
                    <a:pt x="14872" y="1913"/>
                  </a:lnTo>
                  <a:lnTo>
                    <a:pt x="24350" y="0"/>
                  </a:lnTo>
                  <a:lnTo>
                    <a:pt x="981249" y="0"/>
                  </a:lnTo>
                  <a:lnTo>
                    <a:pt x="987707" y="0"/>
                  </a:lnTo>
                  <a:lnTo>
                    <a:pt x="993901" y="2565"/>
                  </a:lnTo>
                  <a:lnTo>
                    <a:pt x="998467" y="7131"/>
                  </a:lnTo>
                  <a:lnTo>
                    <a:pt x="1003034" y="11698"/>
                  </a:lnTo>
                  <a:lnTo>
                    <a:pt x="1005599" y="17892"/>
                  </a:lnTo>
                  <a:lnTo>
                    <a:pt x="1005599" y="24350"/>
                  </a:lnTo>
                  <a:lnTo>
                    <a:pt x="1005599" y="121749"/>
                  </a:lnTo>
                  <a:lnTo>
                    <a:pt x="1003686" y="131227"/>
                  </a:lnTo>
                  <a:lnTo>
                    <a:pt x="998467" y="138967"/>
                  </a:lnTo>
                  <a:lnTo>
                    <a:pt x="990727" y="144186"/>
                  </a:lnTo>
                  <a:lnTo>
                    <a:pt x="981249" y="146099"/>
                  </a:lnTo>
                  <a:lnTo>
                    <a:pt x="24350" y="146099"/>
                  </a:lnTo>
                  <a:lnTo>
                    <a:pt x="14872" y="144186"/>
                  </a:lnTo>
                  <a:lnTo>
                    <a:pt x="7132" y="138967"/>
                  </a:lnTo>
                  <a:lnTo>
                    <a:pt x="1913" y="131227"/>
                  </a:lnTo>
                  <a:lnTo>
                    <a:pt x="0" y="121749"/>
                  </a:lnTo>
                  <a:lnTo>
                    <a:pt x="0" y="2435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24899" y="649329"/>
                  </a:moveTo>
                  <a:lnTo>
                    <a:pt x="0" y="587829"/>
                  </a:ln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0" y="587829"/>
                  </a:move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lnTo>
                    <a:pt x="0" y="58782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656437" y="2195863"/>
            <a:ext cx="2738755" cy="1638300"/>
            <a:chOff x="5656437" y="2195863"/>
            <a:chExt cx="2738755" cy="1638300"/>
          </a:xfrm>
        </p:grpSpPr>
        <p:sp>
          <p:nvSpPr>
            <p:cNvPr id="17" name="object 17"/>
            <p:cNvSpPr/>
            <p:nvPr/>
          </p:nvSpPr>
          <p:spPr>
            <a:xfrm>
              <a:off x="5661199" y="2200625"/>
              <a:ext cx="1252220" cy="1403350"/>
            </a:xfrm>
            <a:custGeom>
              <a:avLst/>
              <a:gdLst/>
              <a:ahLst/>
              <a:cxnLst/>
              <a:rect l="l" t="t" r="r" b="b"/>
              <a:pathLst>
                <a:path w="1252220" h="1403350">
                  <a:moveTo>
                    <a:pt x="49799" y="1403250"/>
                  </a:moveTo>
                  <a:lnTo>
                    <a:pt x="0" y="1359150"/>
                  </a:lnTo>
                  <a:lnTo>
                    <a:pt x="1177236" y="27782"/>
                  </a:lnTo>
                  <a:lnTo>
                    <a:pt x="1152336" y="5732"/>
                  </a:lnTo>
                  <a:lnTo>
                    <a:pt x="1246199" y="0"/>
                  </a:lnTo>
                  <a:lnTo>
                    <a:pt x="1251936" y="93932"/>
                  </a:lnTo>
                  <a:lnTo>
                    <a:pt x="1227036" y="71882"/>
                  </a:lnTo>
                  <a:lnTo>
                    <a:pt x="49799" y="1403250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61199" y="2200625"/>
              <a:ext cx="1252220" cy="1403350"/>
            </a:xfrm>
            <a:custGeom>
              <a:avLst/>
              <a:gdLst/>
              <a:ahLst/>
              <a:cxnLst/>
              <a:rect l="l" t="t" r="r" b="b"/>
              <a:pathLst>
                <a:path w="1252220" h="1403350">
                  <a:moveTo>
                    <a:pt x="0" y="1359150"/>
                  </a:moveTo>
                  <a:lnTo>
                    <a:pt x="1177236" y="27782"/>
                  </a:lnTo>
                  <a:lnTo>
                    <a:pt x="1152336" y="5732"/>
                  </a:lnTo>
                  <a:lnTo>
                    <a:pt x="1246199" y="0"/>
                  </a:lnTo>
                  <a:lnTo>
                    <a:pt x="1251936" y="93932"/>
                  </a:lnTo>
                  <a:lnTo>
                    <a:pt x="1227036" y="71882"/>
                  </a:lnTo>
                  <a:lnTo>
                    <a:pt x="49799" y="1403250"/>
                  </a:lnTo>
                  <a:lnTo>
                    <a:pt x="0" y="1359150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8974" y="2627840"/>
              <a:ext cx="1258431" cy="120622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977274" y="3126750"/>
              <a:ext cx="413384" cy="446405"/>
            </a:xfrm>
            <a:custGeom>
              <a:avLst/>
              <a:gdLst/>
              <a:ahLst/>
              <a:cxnLst/>
              <a:rect l="l" t="t" r="r" b="b"/>
              <a:pathLst>
                <a:path w="413384" h="446404">
                  <a:moveTo>
                    <a:pt x="77699" y="446100"/>
                  </a:moveTo>
                  <a:lnTo>
                    <a:pt x="0" y="31199"/>
                  </a:lnTo>
                  <a:lnTo>
                    <a:pt x="335099" y="0"/>
                  </a:lnTo>
                  <a:lnTo>
                    <a:pt x="412799" y="414900"/>
                  </a:lnTo>
                  <a:lnTo>
                    <a:pt x="77699" y="446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77274" y="3126750"/>
              <a:ext cx="413384" cy="446405"/>
            </a:xfrm>
            <a:custGeom>
              <a:avLst/>
              <a:gdLst/>
              <a:ahLst/>
              <a:cxnLst/>
              <a:rect l="l" t="t" r="r" b="b"/>
              <a:pathLst>
                <a:path w="413384" h="446404">
                  <a:moveTo>
                    <a:pt x="0" y="31199"/>
                  </a:moveTo>
                  <a:lnTo>
                    <a:pt x="335099" y="0"/>
                  </a:lnTo>
                  <a:lnTo>
                    <a:pt x="412799" y="414900"/>
                  </a:lnTo>
                  <a:lnTo>
                    <a:pt x="77699" y="446100"/>
                  </a:lnTo>
                  <a:lnTo>
                    <a:pt x="0" y="311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136366" y="2195786"/>
            <a:ext cx="690880" cy="993775"/>
            <a:chOff x="4136366" y="2195786"/>
            <a:chExt cx="690880" cy="99377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6366" y="2498341"/>
              <a:ext cx="690767" cy="69076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439200" y="2200549"/>
              <a:ext cx="133350" cy="318135"/>
            </a:xfrm>
            <a:custGeom>
              <a:avLst/>
              <a:gdLst/>
              <a:ahLst/>
              <a:cxnLst/>
              <a:rect l="l" t="t" r="r" b="b"/>
              <a:pathLst>
                <a:path w="133350" h="318135">
                  <a:moveTo>
                    <a:pt x="66449" y="317999"/>
                  </a:moveTo>
                  <a:lnTo>
                    <a:pt x="0" y="251549"/>
                  </a:lnTo>
                  <a:lnTo>
                    <a:pt x="33224" y="251549"/>
                  </a:lnTo>
                  <a:lnTo>
                    <a:pt x="33224" y="0"/>
                  </a:lnTo>
                  <a:lnTo>
                    <a:pt x="99674" y="0"/>
                  </a:lnTo>
                  <a:lnTo>
                    <a:pt x="99674" y="251549"/>
                  </a:lnTo>
                  <a:lnTo>
                    <a:pt x="132899" y="251549"/>
                  </a:lnTo>
                  <a:lnTo>
                    <a:pt x="66449" y="3179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39200" y="2200549"/>
              <a:ext cx="133350" cy="318135"/>
            </a:xfrm>
            <a:custGeom>
              <a:avLst/>
              <a:gdLst/>
              <a:ahLst/>
              <a:cxnLst/>
              <a:rect l="l" t="t" r="r" b="b"/>
              <a:pathLst>
                <a:path w="133350" h="318135">
                  <a:moveTo>
                    <a:pt x="99674" y="0"/>
                  </a:moveTo>
                  <a:lnTo>
                    <a:pt x="99674" y="251549"/>
                  </a:lnTo>
                  <a:lnTo>
                    <a:pt x="132899" y="251549"/>
                  </a:lnTo>
                  <a:lnTo>
                    <a:pt x="66449" y="317999"/>
                  </a:lnTo>
                  <a:lnTo>
                    <a:pt x="0" y="251549"/>
                  </a:lnTo>
                  <a:lnTo>
                    <a:pt x="33224" y="251549"/>
                  </a:lnTo>
                  <a:lnTo>
                    <a:pt x="33224" y="0"/>
                  </a:lnTo>
                  <a:lnTo>
                    <a:pt x="99674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435637" y="3282494"/>
            <a:ext cx="142875" cy="295275"/>
            <a:chOff x="4435637" y="3282494"/>
            <a:chExt cx="142875" cy="295275"/>
          </a:xfrm>
        </p:grpSpPr>
        <p:sp>
          <p:nvSpPr>
            <p:cNvPr id="27" name="object 27"/>
            <p:cNvSpPr/>
            <p:nvPr/>
          </p:nvSpPr>
          <p:spPr>
            <a:xfrm>
              <a:off x="4440399" y="3287257"/>
              <a:ext cx="133350" cy="285750"/>
            </a:xfrm>
            <a:custGeom>
              <a:avLst/>
              <a:gdLst/>
              <a:ahLst/>
              <a:cxnLst/>
              <a:rect l="l" t="t" r="r" b="b"/>
              <a:pathLst>
                <a:path w="133350" h="285750">
                  <a:moveTo>
                    <a:pt x="66449" y="285599"/>
                  </a:moveTo>
                  <a:lnTo>
                    <a:pt x="0" y="219149"/>
                  </a:lnTo>
                  <a:lnTo>
                    <a:pt x="33224" y="219149"/>
                  </a:lnTo>
                  <a:lnTo>
                    <a:pt x="33224" y="0"/>
                  </a:lnTo>
                  <a:lnTo>
                    <a:pt x="99674" y="0"/>
                  </a:lnTo>
                  <a:lnTo>
                    <a:pt x="99674" y="219149"/>
                  </a:lnTo>
                  <a:lnTo>
                    <a:pt x="132899" y="219149"/>
                  </a:lnTo>
                  <a:lnTo>
                    <a:pt x="66449" y="28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40399" y="3287257"/>
              <a:ext cx="133350" cy="285750"/>
            </a:xfrm>
            <a:custGeom>
              <a:avLst/>
              <a:gdLst/>
              <a:ahLst/>
              <a:cxnLst/>
              <a:rect l="l" t="t" r="r" b="b"/>
              <a:pathLst>
                <a:path w="133350" h="285750">
                  <a:moveTo>
                    <a:pt x="99674" y="0"/>
                  </a:moveTo>
                  <a:lnTo>
                    <a:pt x="99674" y="219149"/>
                  </a:lnTo>
                  <a:lnTo>
                    <a:pt x="132899" y="219149"/>
                  </a:lnTo>
                  <a:lnTo>
                    <a:pt x="66449" y="285599"/>
                  </a:lnTo>
                  <a:lnTo>
                    <a:pt x="0" y="219149"/>
                  </a:lnTo>
                  <a:lnTo>
                    <a:pt x="33224" y="219149"/>
                  </a:lnTo>
                  <a:lnTo>
                    <a:pt x="33224" y="0"/>
                  </a:lnTo>
                  <a:lnTo>
                    <a:pt x="99674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360466" y="3558048"/>
            <a:ext cx="2291715" cy="71564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1400" spc="-10" dirty="0">
                <a:latin typeface="Book Antiqua"/>
                <a:cs typeface="Book Antiqua"/>
              </a:rPr>
              <a:t>(T.S.</a:t>
            </a:r>
            <a:r>
              <a:rPr sz="1400" spc="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Eliot,</a:t>
            </a:r>
            <a:r>
              <a:rPr sz="14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BORN-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400" dirty="0">
                <a:latin typeface="Book Antiqua"/>
                <a:cs typeface="Book Antiqua"/>
              </a:rPr>
              <a:t>,</a:t>
            </a:r>
            <a:r>
              <a:rPr sz="1400" spc="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St.</a:t>
            </a:r>
            <a:r>
              <a:rPr sz="1400" spc="25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Louis)</a:t>
            </a:r>
            <a:endParaRPr sz="1400">
              <a:latin typeface="Book Antiqua"/>
              <a:cs typeface="Book Antiqua"/>
            </a:endParaRPr>
          </a:p>
          <a:p>
            <a:pPr marL="1905" algn="ctr">
              <a:lnSpc>
                <a:spcPct val="100000"/>
              </a:lnSpc>
              <a:spcBef>
                <a:spcPts val="1010"/>
              </a:spcBef>
            </a:pPr>
            <a:r>
              <a:rPr sz="1500" b="1" dirty="0">
                <a:solidFill>
                  <a:srgbClr val="3C78D8"/>
                </a:solidFill>
                <a:latin typeface="Book Antiqua"/>
                <a:cs typeface="Book Antiqua"/>
              </a:rPr>
              <a:t>annotated</a:t>
            </a:r>
            <a:r>
              <a:rPr sz="1500" b="1" spc="-2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500" b="1" spc="-10" dirty="0">
                <a:solidFill>
                  <a:srgbClr val="3C78D8"/>
                </a:solidFill>
                <a:latin typeface="Book Antiqua"/>
                <a:cs typeface="Book Antiqua"/>
              </a:rPr>
              <a:t>triple</a:t>
            </a:r>
            <a:endParaRPr sz="1500">
              <a:latin typeface="Book Antiqua"/>
              <a:cs typeface="Book Antiqu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706799" y="3191108"/>
            <a:ext cx="1243330" cy="501650"/>
            <a:chOff x="5706799" y="3191108"/>
            <a:chExt cx="1243330" cy="501650"/>
          </a:xfrm>
        </p:grpSpPr>
        <p:sp>
          <p:nvSpPr>
            <p:cNvPr id="31" name="object 31"/>
            <p:cNvSpPr/>
            <p:nvPr/>
          </p:nvSpPr>
          <p:spPr>
            <a:xfrm>
              <a:off x="5711561" y="3195870"/>
              <a:ext cx="1233805" cy="492125"/>
            </a:xfrm>
            <a:custGeom>
              <a:avLst/>
              <a:gdLst/>
              <a:ahLst/>
              <a:cxnLst/>
              <a:rect l="l" t="t" r="r" b="b"/>
              <a:pathLst>
                <a:path w="1233804" h="492125">
                  <a:moveTo>
                    <a:pt x="21599" y="491536"/>
                  </a:moveTo>
                  <a:lnTo>
                    <a:pt x="0" y="428686"/>
                  </a:lnTo>
                  <a:lnTo>
                    <a:pt x="1159628" y="31424"/>
                  </a:lnTo>
                  <a:lnTo>
                    <a:pt x="1148828" y="0"/>
                  </a:lnTo>
                  <a:lnTo>
                    <a:pt x="1233299" y="41311"/>
                  </a:lnTo>
                  <a:lnTo>
                    <a:pt x="1192028" y="125699"/>
                  </a:lnTo>
                  <a:lnTo>
                    <a:pt x="1181228" y="94274"/>
                  </a:lnTo>
                  <a:lnTo>
                    <a:pt x="21599" y="491536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11561" y="3195870"/>
              <a:ext cx="1233805" cy="492125"/>
            </a:xfrm>
            <a:custGeom>
              <a:avLst/>
              <a:gdLst/>
              <a:ahLst/>
              <a:cxnLst/>
              <a:rect l="l" t="t" r="r" b="b"/>
              <a:pathLst>
                <a:path w="1233804" h="492125">
                  <a:moveTo>
                    <a:pt x="0" y="428686"/>
                  </a:moveTo>
                  <a:lnTo>
                    <a:pt x="1159628" y="31424"/>
                  </a:lnTo>
                  <a:lnTo>
                    <a:pt x="1148828" y="0"/>
                  </a:lnTo>
                  <a:lnTo>
                    <a:pt x="1233299" y="41311"/>
                  </a:lnTo>
                  <a:lnTo>
                    <a:pt x="1192028" y="125699"/>
                  </a:lnTo>
                  <a:lnTo>
                    <a:pt x="1181228" y="94274"/>
                  </a:lnTo>
                  <a:lnTo>
                    <a:pt x="21599" y="491536"/>
                  </a:lnTo>
                  <a:lnTo>
                    <a:pt x="0" y="428686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387342" y="1189838"/>
            <a:ext cx="2241550" cy="9664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1400" b="1" dirty="0">
                <a:solidFill>
                  <a:srgbClr val="E69137"/>
                </a:solidFill>
                <a:latin typeface="Book Antiqua"/>
                <a:cs typeface="Book Antiqua"/>
              </a:rPr>
              <a:t>unstructured</a:t>
            </a:r>
            <a:r>
              <a:rPr sz="1400" b="1" spc="5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400" b="1" spc="-20" dirty="0">
                <a:solidFill>
                  <a:srgbClr val="E69137"/>
                </a:solidFill>
                <a:latin typeface="Book Antiqua"/>
                <a:cs typeface="Book Antiqua"/>
              </a:rPr>
              <a:t>text</a:t>
            </a:r>
            <a:endParaRPr sz="1400">
              <a:latin typeface="Book Antiqua"/>
              <a:cs typeface="Book Antiqua"/>
            </a:endParaRPr>
          </a:p>
          <a:p>
            <a:pPr marL="12700" marR="5080" algn="ctr">
              <a:lnSpc>
                <a:spcPct val="100000"/>
              </a:lnSpc>
              <a:spcBef>
                <a:spcPts val="345"/>
              </a:spcBef>
            </a:pPr>
            <a:r>
              <a:rPr sz="1400" spc="-20" dirty="0">
                <a:latin typeface="Book Antiqua"/>
                <a:cs typeface="Book Antiqua"/>
              </a:rPr>
              <a:t>“Born </a:t>
            </a:r>
            <a:r>
              <a:rPr sz="1400" dirty="0">
                <a:latin typeface="Book Antiqua"/>
                <a:cs typeface="Book Antiqua"/>
              </a:rPr>
              <a:t>in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St.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Louis,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Missouri, </a:t>
            </a:r>
            <a:r>
              <a:rPr sz="1400" dirty="0">
                <a:latin typeface="Book Antiqua"/>
                <a:cs typeface="Book Antiqua"/>
              </a:rPr>
              <a:t>to a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prominent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Boston </a:t>
            </a:r>
            <a:r>
              <a:rPr sz="1400" dirty="0">
                <a:latin typeface="Book Antiqua"/>
                <a:cs typeface="Book Antiqua"/>
              </a:rPr>
              <a:t>Brahmin</a:t>
            </a:r>
            <a:r>
              <a:rPr sz="1400" spc="6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family…”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24890" y="4540353"/>
            <a:ext cx="7365365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spc="75" dirty="0">
                <a:latin typeface="Times New Roman"/>
                <a:cs typeface="Times New Roman"/>
              </a:rPr>
              <a:t>Requires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supervised</a:t>
            </a:r>
            <a:r>
              <a:rPr sz="1700" b="1" spc="-4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data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train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pipeline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and/or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ﬁll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base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4" name="object 34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6662" y="1536137"/>
            <a:ext cx="2129790" cy="2419985"/>
            <a:chOff x="3616662" y="1536137"/>
            <a:chExt cx="2129790" cy="2419985"/>
          </a:xfrm>
        </p:grpSpPr>
        <p:sp>
          <p:nvSpPr>
            <p:cNvPr id="3" name="object 3"/>
            <p:cNvSpPr/>
            <p:nvPr/>
          </p:nvSpPr>
          <p:spPr>
            <a:xfrm>
              <a:off x="3630950" y="1550425"/>
              <a:ext cx="2101215" cy="2391410"/>
            </a:xfrm>
            <a:custGeom>
              <a:avLst/>
              <a:gdLst/>
              <a:ahLst/>
              <a:cxnLst/>
              <a:rect l="l" t="t" r="r" b="b"/>
              <a:pathLst>
                <a:path w="2101215" h="2391410">
                  <a:moveTo>
                    <a:pt x="0" y="350106"/>
                  </a:moveTo>
                  <a:lnTo>
                    <a:pt x="3196" y="302599"/>
                  </a:lnTo>
                  <a:lnTo>
                    <a:pt x="12506" y="257034"/>
                  </a:lnTo>
                  <a:lnTo>
                    <a:pt x="27513" y="213829"/>
                  </a:lnTo>
                  <a:lnTo>
                    <a:pt x="47799" y="173401"/>
                  </a:lnTo>
                  <a:lnTo>
                    <a:pt x="72949" y="136167"/>
                  </a:lnTo>
                  <a:lnTo>
                    <a:pt x="102544" y="102543"/>
                  </a:lnTo>
                  <a:lnTo>
                    <a:pt x="136167" y="72949"/>
                  </a:lnTo>
                  <a:lnTo>
                    <a:pt x="173401" y="47799"/>
                  </a:lnTo>
                  <a:lnTo>
                    <a:pt x="213829" y="27513"/>
                  </a:lnTo>
                  <a:lnTo>
                    <a:pt x="257034" y="12506"/>
                  </a:lnTo>
                  <a:lnTo>
                    <a:pt x="302599" y="3196"/>
                  </a:lnTo>
                  <a:lnTo>
                    <a:pt x="350106" y="0"/>
                  </a:lnTo>
                  <a:lnTo>
                    <a:pt x="1750492" y="0"/>
                  </a:lnTo>
                  <a:lnTo>
                    <a:pt x="1796512" y="3036"/>
                  </a:lnTo>
                  <a:lnTo>
                    <a:pt x="1841353" y="11994"/>
                  </a:lnTo>
                  <a:lnTo>
                    <a:pt x="1884473" y="26650"/>
                  </a:lnTo>
                  <a:lnTo>
                    <a:pt x="1925325" y="46777"/>
                  </a:lnTo>
                  <a:lnTo>
                    <a:pt x="1963368" y="72150"/>
                  </a:lnTo>
                  <a:lnTo>
                    <a:pt x="1998055" y="102543"/>
                  </a:lnTo>
                  <a:lnTo>
                    <a:pt x="2028449" y="137231"/>
                  </a:lnTo>
                  <a:lnTo>
                    <a:pt x="2053822" y="175273"/>
                  </a:lnTo>
                  <a:lnTo>
                    <a:pt x="2073949" y="216126"/>
                  </a:lnTo>
                  <a:lnTo>
                    <a:pt x="2088605" y="259246"/>
                  </a:lnTo>
                  <a:lnTo>
                    <a:pt x="2097563" y="304087"/>
                  </a:lnTo>
                  <a:lnTo>
                    <a:pt x="2100599" y="350106"/>
                  </a:lnTo>
                  <a:lnTo>
                    <a:pt x="2100599" y="2040892"/>
                  </a:lnTo>
                  <a:lnTo>
                    <a:pt x="2097403" y="2088400"/>
                  </a:lnTo>
                  <a:lnTo>
                    <a:pt x="2088093" y="2133965"/>
                  </a:lnTo>
                  <a:lnTo>
                    <a:pt x="2073086" y="2177170"/>
                  </a:lnTo>
                  <a:lnTo>
                    <a:pt x="2052800" y="2217598"/>
                  </a:lnTo>
                  <a:lnTo>
                    <a:pt x="2027650" y="2254832"/>
                  </a:lnTo>
                  <a:lnTo>
                    <a:pt x="1998055" y="2288455"/>
                  </a:lnTo>
                  <a:lnTo>
                    <a:pt x="1964432" y="2318050"/>
                  </a:lnTo>
                  <a:lnTo>
                    <a:pt x="1927198" y="2343200"/>
                  </a:lnTo>
                  <a:lnTo>
                    <a:pt x="1886770" y="2363486"/>
                  </a:lnTo>
                  <a:lnTo>
                    <a:pt x="1843565" y="2378493"/>
                  </a:lnTo>
                  <a:lnTo>
                    <a:pt x="1798000" y="2387803"/>
                  </a:lnTo>
                  <a:lnTo>
                    <a:pt x="1750492" y="2390999"/>
                  </a:lnTo>
                  <a:lnTo>
                    <a:pt x="350106" y="2390999"/>
                  </a:lnTo>
                  <a:lnTo>
                    <a:pt x="302599" y="2387803"/>
                  </a:lnTo>
                  <a:lnTo>
                    <a:pt x="257034" y="2378493"/>
                  </a:lnTo>
                  <a:lnTo>
                    <a:pt x="213829" y="2363486"/>
                  </a:lnTo>
                  <a:lnTo>
                    <a:pt x="173401" y="2343200"/>
                  </a:lnTo>
                  <a:lnTo>
                    <a:pt x="136167" y="2318050"/>
                  </a:lnTo>
                  <a:lnTo>
                    <a:pt x="102544" y="2288455"/>
                  </a:lnTo>
                  <a:lnTo>
                    <a:pt x="72949" y="2254832"/>
                  </a:lnTo>
                  <a:lnTo>
                    <a:pt x="47799" y="2217598"/>
                  </a:lnTo>
                  <a:lnTo>
                    <a:pt x="27513" y="2177170"/>
                  </a:lnTo>
                  <a:lnTo>
                    <a:pt x="12506" y="2133965"/>
                  </a:lnTo>
                  <a:lnTo>
                    <a:pt x="3196" y="2088400"/>
                  </a:lnTo>
                  <a:lnTo>
                    <a:pt x="0" y="2040892"/>
                  </a:lnTo>
                  <a:lnTo>
                    <a:pt x="0" y="350106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59187" y="2981650"/>
              <a:ext cx="1814195" cy="275590"/>
            </a:xfrm>
            <a:custGeom>
              <a:avLst/>
              <a:gdLst/>
              <a:ahLst/>
              <a:cxnLst/>
              <a:rect l="l" t="t" r="r" b="b"/>
              <a:pathLst>
                <a:path w="1814195" h="275589">
                  <a:moveTo>
                    <a:pt x="1768249" y="275099"/>
                  </a:moveTo>
                  <a:lnTo>
                    <a:pt x="45850" y="275099"/>
                  </a:lnTo>
                  <a:lnTo>
                    <a:pt x="28003" y="271496"/>
                  </a:lnTo>
                  <a:lnTo>
                    <a:pt x="13429" y="261670"/>
                  </a:lnTo>
                  <a:lnTo>
                    <a:pt x="3603" y="247096"/>
                  </a:lnTo>
                  <a:lnTo>
                    <a:pt x="0" y="229248"/>
                  </a:lnTo>
                  <a:lnTo>
                    <a:pt x="0" y="45850"/>
                  </a:lnTo>
                  <a:lnTo>
                    <a:pt x="3603" y="28003"/>
                  </a:lnTo>
                  <a:lnTo>
                    <a:pt x="13429" y="13429"/>
                  </a:lnTo>
                  <a:lnTo>
                    <a:pt x="28003" y="3603"/>
                  </a:lnTo>
                  <a:lnTo>
                    <a:pt x="45850" y="0"/>
                  </a:lnTo>
                  <a:lnTo>
                    <a:pt x="1768249" y="0"/>
                  </a:lnTo>
                  <a:lnTo>
                    <a:pt x="1806396" y="20412"/>
                  </a:lnTo>
                  <a:lnTo>
                    <a:pt x="1814099" y="45850"/>
                  </a:lnTo>
                  <a:lnTo>
                    <a:pt x="1814099" y="229248"/>
                  </a:lnTo>
                  <a:lnTo>
                    <a:pt x="1810496" y="247096"/>
                  </a:lnTo>
                  <a:lnTo>
                    <a:pt x="1800670" y="261670"/>
                  </a:lnTo>
                  <a:lnTo>
                    <a:pt x="1786096" y="271496"/>
                  </a:lnTo>
                  <a:lnTo>
                    <a:pt x="1768249" y="2750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59187" y="2981650"/>
              <a:ext cx="1814195" cy="275590"/>
            </a:xfrm>
            <a:custGeom>
              <a:avLst/>
              <a:gdLst/>
              <a:ahLst/>
              <a:cxnLst/>
              <a:rect l="l" t="t" r="r" b="b"/>
              <a:pathLst>
                <a:path w="1814195" h="275589">
                  <a:moveTo>
                    <a:pt x="0" y="45850"/>
                  </a:moveTo>
                  <a:lnTo>
                    <a:pt x="3603" y="28003"/>
                  </a:lnTo>
                  <a:lnTo>
                    <a:pt x="13429" y="13429"/>
                  </a:lnTo>
                  <a:lnTo>
                    <a:pt x="28003" y="3603"/>
                  </a:lnTo>
                  <a:lnTo>
                    <a:pt x="45850" y="0"/>
                  </a:lnTo>
                  <a:lnTo>
                    <a:pt x="1768249" y="0"/>
                  </a:lnTo>
                  <a:lnTo>
                    <a:pt x="1806396" y="20412"/>
                  </a:lnTo>
                  <a:lnTo>
                    <a:pt x="1814099" y="45850"/>
                  </a:lnTo>
                  <a:lnTo>
                    <a:pt x="1814099" y="229248"/>
                  </a:lnTo>
                  <a:lnTo>
                    <a:pt x="1810496" y="247096"/>
                  </a:lnTo>
                  <a:lnTo>
                    <a:pt x="1800670" y="261670"/>
                  </a:lnTo>
                  <a:lnTo>
                    <a:pt x="1786096" y="271496"/>
                  </a:lnTo>
                  <a:lnTo>
                    <a:pt x="1768249" y="275099"/>
                  </a:lnTo>
                  <a:lnTo>
                    <a:pt x="45850" y="275099"/>
                  </a:lnTo>
                  <a:lnTo>
                    <a:pt x="28003" y="271496"/>
                  </a:lnTo>
                  <a:lnTo>
                    <a:pt x="13429" y="261670"/>
                  </a:lnTo>
                  <a:lnTo>
                    <a:pt x="3603" y="247096"/>
                  </a:lnTo>
                  <a:lnTo>
                    <a:pt x="0" y="229248"/>
                  </a:lnTo>
                  <a:lnTo>
                    <a:pt x="0" y="45850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9512" y="3331125"/>
              <a:ext cx="1814195" cy="275590"/>
            </a:xfrm>
            <a:custGeom>
              <a:avLst/>
              <a:gdLst/>
              <a:ahLst/>
              <a:cxnLst/>
              <a:rect l="l" t="t" r="r" b="b"/>
              <a:pathLst>
                <a:path w="1814195" h="275589">
                  <a:moveTo>
                    <a:pt x="1768249" y="275099"/>
                  </a:moveTo>
                  <a:lnTo>
                    <a:pt x="45850" y="275099"/>
                  </a:lnTo>
                  <a:lnTo>
                    <a:pt x="28003" y="271496"/>
                  </a:lnTo>
                  <a:lnTo>
                    <a:pt x="13429" y="261670"/>
                  </a:lnTo>
                  <a:lnTo>
                    <a:pt x="3603" y="247096"/>
                  </a:lnTo>
                  <a:lnTo>
                    <a:pt x="0" y="229249"/>
                  </a:lnTo>
                  <a:lnTo>
                    <a:pt x="0" y="45850"/>
                  </a:lnTo>
                  <a:lnTo>
                    <a:pt x="3603" y="28003"/>
                  </a:lnTo>
                  <a:lnTo>
                    <a:pt x="13429" y="13429"/>
                  </a:lnTo>
                  <a:lnTo>
                    <a:pt x="28003" y="3603"/>
                  </a:lnTo>
                  <a:lnTo>
                    <a:pt x="45850" y="0"/>
                  </a:lnTo>
                  <a:lnTo>
                    <a:pt x="1768249" y="0"/>
                  </a:lnTo>
                  <a:lnTo>
                    <a:pt x="1806396" y="20412"/>
                  </a:lnTo>
                  <a:lnTo>
                    <a:pt x="1814099" y="45850"/>
                  </a:lnTo>
                  <a:lnTo>
                    <a:pt x="1814099" y="229249"/>
                  </a:lnTo>
                  <a:lnTo>
                    <a:pt x="1810496" y="247096"/>
                  </a:lnTo>
                  <a:lnTo>
                    <a:pt x="1800670" y="261670"/>
                  </a:lnTo>
                  <a:lnTo>
                    <a:pt x="1786096" y="271496"/>
                  </a:lnTo>
                  <a:lnTo>
                    <a:pt x="1768249" y="2750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49512" y="3331125"/>
              <a:ext cx="1814195" cy="275590"/>
            </a:xfrm>
            <a:custGeom>
              <a:avLst/>
              <a:gdLst/>
              <a:ahLst/>
              <a:cxnLst/>
              <a:rect l="l" t="t" r="r" b="b"/>
              <a:pathLst>
                <a:path w="1814195" h="275589">
                  <a:moveTo>
                    <a:pt x="0" y="45850"/>
                  </a:moveTo>
                  <a:lnTo>
                    <a:pt x="3603" y="28003"/>
                  </a:lnTo>
                  <a:lnTo>
                    <a:pt x="13429" y="13429"/>
                  </a:lnTo>
                  <a:lnTo>
                    <a:pt x="28003" y="3603"/>
                  </a:lnTo>
                  <a:lnTo>
                    <a:pt x="45850" y="0"/>
                  </a:lnTo>
                  <a:lnTo>
                    <a:pt x="1768249" y="0"/>
                  </a:lnTo>
                  <a:lnTo>
                    <a:pt x="1806396" y="20412"/>
                  </a:lnTo>
                  <a:lnTo>
                    <a:pt x="1814099" y="45850"/>
                  </a:lnTo>
                  <a:lnTo>
                    <a:pt x="1814099" y="229249"/>
                  </a:lnTo>
                  <a:lnTo>
                    <a:pt x="1810496" y="247096"/>
                  </a:lnTo>
                  <a:lnTo>
                    <a:pt x="1800670" y="261670"/>
                  </a:lnTo>
                  <a:lnTo>
                    <a:pt x="1786096" y="271496"/>
                  </a:lnTo>
                  <a:lnTo>
                    <a:pt x="1768249" y="275099"/>
                  </a:lnTo>
                  <a:lnTo>
                    <a:pt x="45850" y="275099"/>
                  </a:lnTo>
                  <a:lnTo>
                    <a:pt x="28003" y="271496"/>
                  </a:lnTo>
                  <a:lnTo>
                    <a:pt x="13429" y="261670"/>
                  </a:lnTo>
                  <a:lnTo>
                    <a:pt x="3603" y="247096"/>
                  </a:lnTo>
                  <a:lnTo>
                    <a:pt x="0" y="229249"/>
                  </a:lnTo>
                  <a:lnTo>
                    <a:pt x="0" y="45850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9437" y="2282700"/>
              <a:ext cx="1814195" cy="275590"/>
            </a:xfrm>
            <a:custGeom>
              <a:avLst/>
              <a:gdLst/>
              <a:ahLst/>
              <a:cxnLst/>
              <a:rect l="l" t="t" r="r" b="b"/>
              <a:pathLst>
                <a:path w="1814195" h="275589">
                  <a:moveTo>
                    <a:pt x="1768249" y="275099"/>
                  </a:moveTo>
                  <a:lnTo>
                    <a:pt x="45850" y="275099"/>
                  </a:lnTo>
                  <a:lnTo>
                    <a:pt x="28003" y="271496"/>
                  </a:lnTo>
                  <a:lnTo>
                    <a:pt x="13429" y="261670"/>
                  </a:lnTo>
                  <a:lnTo>
                    <a:pt x="3603" y="247096"/>
                  </a:lnTo>
                  <a:lnTo>
                    <a:pt x="0" y="229248"/>
                  </a:lnTo>
                  <a:lnTo>
                    <a:pt x="0" y="45850"/>
                  </a:lnTo>
                  <a:lnTo>
                    <a:pt x="3603" y="28003"/>
                  </a:lnTo>
                  <a:lnTo>
                    <a:pt x="13429" y="13429"/>
                  </a:lnTo>
                  <a:lnTo>
                    <a:pt x="28003" y="3603"/>
                  </a:lnTo>
                  <a:lnTo>
                    <a:pt x="45850" y="0"/>
                  </a:lnTo>
                  <a:lnTo>
                    <a:pt x="1768249" y="0"/>
                  </a:lnTo>
                  <a:lnTo>
                    <a:pt x="1806396" y="20412"/>
                  </a:lnTo>
                  <a:lnTo>
                    <a:pt x="1814099" y="45850"/>
                  </a:lnTo>
                  <a:lnTo>
                    <a:pt x="1814099" y="229248"/>
                  </a:lnTo>
                  <a:lnTo>
                    <a:pt x="1810496" y="247096"/>
                  </a:lnTo>
                  <a:lnTo>
                    <a:pt x="1800670" y="261670"/>
                  </a:lnTo>
                  <a:lnTo>
                    <a:pt x="1786096" y="271496"/>
                  </a:lnTo>
                  <a:lnTo>
                    <a:pt x="1768249" y="2750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69437" y="2282700"/>
              <a:ext cx="1814195" cy="275590"/>
            </a:xfrm>
            <a:custGeom>
              <a:avLst/>
              <a:gdLst/>
              <a:ahLst/>
              <a:cxnLst/>
              <a:rect l="l" t="t" r="r" b="b"/>
              <a:pathLst>
                <a:path w="1814195" h="275589">
                  <a:moveTo>
                    <a:pt x="0" y="45850"/>
                  </a:moveTo>
                  <a:lnTo>
                    <a:pt x="3603" y="28003"/>
                  </a:lnTo>
                  <a:lnTo>
                    <a:pt x="13429" y="13429"/>
                  </a:lnTo>
                  <a:lnTo>
                    <a:pt x="28003" y="3603"/>
                  </a:lnTo>
                  <a:lnTo>
                    <a:pt x="45850" y="0"/>
                  </a:lnTo>
                  <a:lnTo>
                    <a:pt x="1768249" y="0"/>
                  </a:lnTo>
                  <a:lnTo>
                    <a:pt x="1806396" y="20412"/>
                  </a:lnTo>
                  <a:lnTo>
                    <a:pt x="1814099" y="45850"/>
                  </a:lnTo>
                  <a:lnTo>
                    <a:pt x="1814099" y="229248"/>
                  </a:lnTo>
                  <a:lnTo>
                    <a:pt x="1810496" y="247096"/>
                  </a:lnTo>
                  <a:lnTo>
                    <a:pt x="1800670" y="261670"/>
                  </a:lnTo>
                  <a:lnTo>
                    <a:pt x="1786096" y="271496"/>
                  </a:lnTo>
                  <a:lnTo>
                    <a:pt x="1768249" y="275099"/>
                  </a:lnTo>
                  <a:lnTo>
                    <a:pt x="45850" y="275099"/>
                  </a:lnTo>
                  <a:lnTo>
                    <a:pt x="28003" y="271496"/>
                  </a:lnTo>
                  <a:lnTo>
                    <a:pt x="13429" y="261670"/>
                  </a:lnTo>
                  <a:lnTo>
                    <a:pt x="3603" y="247096"/>
                  </a:lnTo>
                  <a:lnTo>
                    <a:pt x="0" y="229248"/>
                  </a:lnTo>
                  <a:lnTo>
                    <a:pt x="0" y="45850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54775" y="2632174"/>
              <a:ext cx="1814195" cy="275590"/>
            </a:xfrm>
            <a:custGeom>
              <a:avLst/>
              <a:gdLst/>
              <a:ahLst/>
              <a:cxnLst/>
              <a:rect l="l" t="t" r="r" b="b"/>
              <a:pathLst>
                <a:path w="1814195" h="275589">
                  <a:moveTo>
                    <a:pt x="1768249" y="275099"/>
                  </a:moveTo>
                  <a:lnTo>
                    <a:pt x="45850" y="275099"/>
                  </a:lnTo>
                  <a:lnTo>
                    <a:pt x="28003" y="271496"/>
                  </a:lnTo>
                  <a:lnTo>
                    <a:pt x="13429" y="261670"/>
                  </a:lnTo>
                  <a:lnTo>
                    <a:pt x="3603" y="247096"/>
                  </a:lnTo>
                  <a:lnTo>
                    <a:pt x="0" y="229248"/>
                  </a:lnTo>
                  <a:lnTo>
                    <a:pt x="0" y="45850"/>
                  </a:lnTo>
                  <a:lnTo>
                    <a:pt x="3603" y="28003"/>
                  </a:lnTo>
                  <a:lnTo>
                    <a:pt x="13429" y="13429"/>
                  </a:lnTo>
                  <a:lnTo>
                    <a:pt x="28003" y="3603"/>
                  </a:lnTo>
                  <a:lnTo>
                    <a:pt x="45850" y="0"/>
                  </a:lnTo>
                  <a:lnTo>
                    <a:pt x="1768249" y="0"/>
                  </a:lnTo>
                  <a:lnTo>
                    <a:pt x="1806396" y="20412"/>
                  </a:lnTo>
                  <a:lnTo>
                    <a:pt x="1814099" y="45850"/>
                  </a:lnTo>
                  <a:lnTo>
                    <a:pt x="1814099" y="229248"/>
                  </a:lnTo>
                  <a:lnTo>
                    <a:pt x="1810496" y="247096"/>
                  </a:lnTo>
                  <a:lnTo>
                    <a:pt x="1800670" y="261670"/>
                  </a:lnTo>
                  <a:lnTo>
                    <a:pt x="1786096" y="271496"/>
                  </a:lnTo>
                  <a:lnTo>
                    <a:pt x="1768249" y="2750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54775" y="2632174"/>
              <a:ext cx="1814195" cy="275590"/>
            </a:xfrm>
            <a:custGeom>
              <a:avLst/>
              <a:gdLst/>
              <a:ahLst/>
              <a:cxnLst/>
              <a:rect l="l" t="t" r="r" b="b"/>
              <a:pathLst>
                <a:path w="1814195" h="275589">
                  <a:moveTo>
                    <a:pt x="0" y="45850"/>
                  </a:moveTo>
                  <a:lnTo>
                    <a:pt x="3603" y="28003"/>
                  </a:lnTo>
                  <a:lnTo>
                    <a:pt x="13429" y="13429"/>
                  </a:lnTo>
                  <a:lnTo>
                    <a:pt x="28003" y="3603"/>
                  </a:lnTo>
                  <a:lnTo>
                    <a:pt x="45850" y="0"/>
                  </a:lnTo>
                  <a:lnTo>
                    <a:pt x="1768249" y="0"/>
                  </a:lnTo>
                  <a:lnTo>
                    <a:pt x="1806396" y="20412"/>
                  </a:lnTo>
                  <a:lnTo>
                    <a:pt x="1814099" y="45850"/>
                  </a:lnTo>
                  <a:lnTo>
                    <a:pt x="1814099" y="229248"/>
                  </a:lnTo>
                  <a:lnTo>
                    <a:pt x="1810496" y="247096"/>
                  </a:lnTo>
                  <a:lnTo>
                    <a:pt x="1800670" y="261670"/>
                  </a:lnTo>
                  <a:lnTo>
                    <a:pt x="1786096" y="271496"/>
                  </a:lnTo>
                  <a:lnTo>
                    <a:pt x="1768249" y="275099"/>
                  </a:lnTo>
                  <a:lnTo>
                    <a:pt x="45850" y="275099"/>
                  </a:lnTo>
                  <a:lnTo>
                    <a:pt x="28003" y="271496"/>
                  </a:lnTo>
                  <a:lnTo>
                    <a:pt x="13429" y="261670"/>
                  </a:lnTo>
                  <a:lnTo>
                    <a:pt x="3603" y="247096"/>
                  </a:lnTo>
                  <a:lnTo>
                    <a:pt x="0" y="229248"/>
                  </a:lnTo>
                  <a:lnTo>
                    <a:pt x="0" y="45850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45642" y="1718880"/>
            <a:ext cx="1623060" cy="21196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6223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latin typeface="Book Antiqua"/>
                <a:cs typeface="Book Antiqua"/>
              </a:rPr>
              <a:t>Knowledge </a:t>
            </a:r>
            <a:r>
              <a:rPr sz="1400" b="1" dirty="0">
                <a:latin typeface="Book Antiqua"/>
                <a:cs typeface="Book Antiqua"/>
              </a:rPr>
              <a:t>Extraction</a:t>
            </a:r>
            <a:r>
              <a:rPr sz="1400" b="1" spc="114" dirty="0">
                <a:latin typeface="Book Antiqua"/>
                <a:cs typeface="Book Antiqua"/>
              </a:rPr>
              <a:t> </a:t>
            </a:r>
            <a:r>
              <a:rPr sz="1400" b="1" spc="-25" dirty="0">
                <a:latin typeface="Book Antiqua"/>
                <a:cs typeface="Book Antiqua"/>
              </a:rPr>
              <a:t>Pipeline</a:t>
            </a:r>
            <a:endParaRPr sz="1400">
              <a:latin typeface="Book Antiqua"/>
              <a:cs typeface="Book Antiqua"/>
            </a:endParaRPr>
          </a:p>
          <a:p>
            <a:pPr marL="218440" marR="170815" algn="ctr">
              <a:lnSpc>
                <a:spcPts val="2750"/>
              </a:lnSpc>
              <a:spcBef>
                <a:spcPts val="220"/>
              </a:spcBef>
            </a:pPr>
            <a:r>
              <a:rPr sz="1100" b="1" spc="-25" dirty="0">
                <a:latin typeface="Book Antiqua"/>
                <a:cs typeface="Book Antiqua"/>
              </a:rPr>
              <a:t>Data</a:t>
            </a:r>
            <a:r>
              <a:rPr sz="1100" b="1" spc="-4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preprocessing </a:t>
            </a:r>
            <a:r>
              <a:rPr sz="1100" b="1" spc="-25" dirty="0">
                <a:latin typeface="Book Antiqua"/>
                <a:cs typeface="Book Antiqua"/>
              </a:rPr>
              <a:t>Data</a:t>
            </a:r>
            <a:r>
              <a:rPr sz="1100" b="1" spc="-4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merging</a:t>
            </a:r>
            <a:endParaRPr sz="1100">
              <a:latin typeface="Book Antiqua"/>
              <a:cs typeface="Book Antiqua"/>
            </a:endParaRPr>
          </a:p>
          <a:p>
            <a:pPr marL="12700" marR="5080" algn="ctr">
              <a:lnSpc>
                <a:spcPts val="2750"/>
              </a:lnSpc>
              <a:spcBef>
                <a:spcPts val="5"/>
              </a:spcBef>
            </a:pPr>
            <a:r>
              <a:rPr sz="1100" b="1" spc="-10" dirty="0">
                <a:latin typeface="Book Antiqua"/>
                <a:cs typeface="Book Antiqua"/>
              </a:rPr>
              <a:t>Entity/relation</a:t>
            </a:r>
            <a:r>
              <a:rPr sz="1100" b="1" spc="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extraction </a:t>
            </a:r>
            <a:r>
              <a:rPr sz="1100" b="1" spc="-35" dirty="0">
                <a:latin typeface="Book Antiqua"/>
                <a:cs typeface="Book Antiqua"/>
              </a:rPr>
              <a:t>Ontology</a:t>
            </a:r>
            <a:r>
              <a:rPr sz="1100" b="1" spc="-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extraction</a:t>
            </a:r>
            <a:endParaRPr sz="1100">
              <a:latin typeface="Book Antiqua"/>
              <a:cs typeface="Book Antiqua"/>
            </a:endParaRPr>
          </a:p>
          <a:p>
            <a:pPr marL="8255" algn="ctr">
              <a:lnSpc>
                <a:spcPts val="1880"/>
              </a:lnSpc>
            </a:pPr>
            <a:r>
              <a:rPr sz="1800" b="1" spc="120" dirty="0">
                <a:solidFill>
                  <a:srgbClr val="E69137"/>
                </a:solidFill>
                <a:latin typeface="Cambria"/>
                <a:cs typeface="Cambria"/>
              </a:rPr>
              <a:t>.</a:t>
            </a:r>
            <a:r>
              <a:rPr sz="1800" b="1" spc="37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00" b="1" spc="120" dirty="0">
                <a:solidFill>
                  <a:srgbClr val="E69137"/>
                </a:solidFill>
                <a:latin typeface="Cambria"/>
                <a:cs typeface="Cambria"/>
              </a:rPr>
              <a:t>.</a:t>
            </a:r>
            <a:r>
              <a:rPr sz="1800" b="1" spc="37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00" b="1" spc="70" dirty="0">
                <a:solidFill>
                  <a:srgbClr val="E69137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27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3575" y="1232048"/>
            <a:ext cx="2484120" cy="2520950"/>
            <a:chOff x="393575" y="1232048"/>
            <a:chExt cx="2484120" cy="252095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016537" y="2645312"/>
            <a:ext cx="397510" cy="201295"/>
            <a:chOff x="3016537" y="2645312"/>
            <a:chExt cx="397510" cy="201295"/>
          </a:xfrm>
        </p:grpSpPr>
        <p:sp>
          <p:nvSpPr>
            <p:cNvPr id="23" name="object 23"/>
            <p:cNvSpPr/>
            <p:nvPr/>
          </p:nvSpPr>
          <p:spPr>
            <a:xfrm>
              <a:off x="3021300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191699"/>
                  </a:move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lnTo>
                    <a:pt x="387899" y="95849"/>
                  </a:lnTo>
                  <a:lnTo>
                    <a:pt x="292049" y="191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21300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0"/>
                  </a:moveTo>
                  <a:lnTo>
                    <a:pt x="387899" y="95849"/>
                  </a:lnTo>
                  <a:lnTo>
                    <a:pt x="292049" y="191699"/>
                  </a:ln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5919075" y="2645312"/>
            <a:ext cx="397510" cy="201295"/>
            <a:chOff x="5919075" y="2645312"/>
            <a:chExt cx="397510" cy="201295"/>
          </a:xfrm>
        </p:grpSpPr>
        <p:sp>
          <p:nvSpPr>
            <p:cNvPr id="26" name="object 26"/>
            <p:cNvSpPr/>
            <p:nvPr/>
          </p:nvSpPr>
          <p:spPr>
            <a:xfrm>
              <a:off x="5923837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191699"/>
                  </a:move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lnTo>
                    <a:pt x="387899" y="95849"/>
                  </a:lnTo>
                  <a:lnTo>
                    <a:pt x="292049" y="191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23837" y="2650075"/>
              <a:ext cx="387985" cy="191770"/>
            </a:xfrm>
            <a:custGeom>
              <a:avLst/>
              <a:gdLst/>
              <a:ahLst/>
              <a:cxnLst/>
              <a:rect l="l" t="t" r="r" b="b"/>
              <a:pathLst>
                <a:path w="387985" h="191769">
                  <a:moveTo>
                    <a:pt x="292049" y="0"/>
                  </a:moveTo>
                  <a:lnTo>
                    <a:pt x="387899" y="95849"/>
                  </a:lnTo>
                  <a:lnTo>
                    <a:pt x="292049" y="191699"/>
                  </a:lnTo>
                  <a:lnTo>
                    <a:pt x="292049" y="143774"/>
                  </a:lnTo>
                  <a:lnTo>
                    <a:pt x="0" y="143774"/>
                  </a:lnTo>
                  <a:lnTo>
                    <a:pt x="0" y="47924"/>
                  </a:lnTo>
                  <a:lnTo>
                    <a:pt x="292049" y="47924"/>
                  </a:lnTo>
                  <a:lnTo>
                    <a:pt x="292049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504050" y="1793624"/>
            <a:ext cx="2237740" cy="1938020"/>
            <a:chOff x="6504050" y="1793624"/>
            <a:chExt cx="2237740" cy="193802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4050" y="1793624"/>
              <a:ext cx="2021475" cy="193761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038525" y="2535299"/>
              <a:ext cx="698500" cy="759460"/>
            </a:xfrm>
            <a:custGeom>
              <a:avLst/>
              <a:gdLst/>
              <a:ahLst/>
              <a:cxnLst/>
              <a:rect l="l" t="t" r="r" b="b"/>
              <a:pathLst>
                <a:path w="698500" h="759460">
                  <a:moveTo>
                    <a:pt x="173399" y="758999"/>
                  </a:moveTo>
                  <a:lnTo>
                    <a:pt x="0" y="145199"/>
                  </a:lnTo>
                  <a:lnTo>
                    <a:pt x="524999" y="0"/>
                  </a:lnTo>
                  <a:lnTo>
                    <a:pt x="698399" y="613799"/>
                  </a:lnTo>
                  <a:lnTo>
                    <a:pt x="173399" y="75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38525" y="2535299"/>
              <a:ext cx="698500" cy="759460"/>
            </a:xfrm>
            <a:custGeom>
              <a:avLst/>
              <a:gdLst/>
              <a:ahLst/>
              <a:cxnLst/>
              <a:rect l="l" t="t" r="r" b="b"/>
              <a:pathLst>
                <a:path w="698500" h="759460">
                  <a:moveTo>
                    <a:pt x="0" y="145199"/>
                  </a:moveTo>
                  <a:lnTo>
                    <a:pt x="524999" y="0"/>
                  </a:lnTo>
                  <a:lnTo>
                    <a:pt x="698399" y="613799"/>
                  </a:lnTo>
                  <a:lnTo>
                    <a:pt x="173399" y="758999"/>
                  </a:lnTo>
                  <a:lnTo>
                    <a:pt x="0" y="1451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20918" y="4522649"/>
            <a:ext cx="81724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70" dirty="0">
                <a:latin typeface="Times New Roman"/>
                <a:cs typeface="Times New Roman"/>
              </a:rPr>
              <a:t>Populating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base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often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involves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complicated,</a:t>
            </a:r>
            <a:r>
              <a:rPr sz="1700" b="1" spc="20" dirty="0">
                <a:latin typeface="Book Antiqua"/>
                <a:cs typeface="Book Antiqua"/>
              </a:rPr>
              <a:t> </a:t>
            </a:r>
            <a:r>
              <a:rPr sz="1700" b="1" spc="-20" dirty="0">
                <a:latin typeface="Book Antiqua"/>
                <a:cs typeface="Book Antiqua"/>
              </a:rPr>
              <a:t>multi-step</a:t>
            </a:r>
            <a:r>
              <a:rPr sz="1700" b="1" spc="25" dirty="0">
                <a:latin typeface="Book Antiqua"/>
                <a:cs typeface="Book Antiqua"/>
              </a:rPr>
              <a:t> </a:t>
            </a:r>
            <a:r>
              <a:rPr sz="1700" b="1" spc="-105" dirty="0">
                <a:latin typeface="Book Antiqua"/>
                <a:cs typeface="Book Antiqua"/>
              </a:rPr>
              <a:t>NLP</a:t>
            </a:r>
            <a:r>
              <a:rPr sz="1700" b="1" spc="2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pipelines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15925" y="3616399"/>
            <a:ext cx="2381885" cy="375920"/>
            <a:chOff x="3315925" y="3616399"/>
            <a:chExt cx="2381885" cy="375920"/>
          </a:xfrm>
        </p:grpSpPr>
        <p:sp>
          <p:nvSpPr>
            <p:cNvPr id="3" name="object 3"/>
            <p:cNvSpPr/>
            <p:nvPr/>
          </p:nvSpPr>
          <p:spPr>
            <a:xfrm>
              <a:off x="3325450" y="3625924"/>
              <a:ext cx="2362835" cy="356870"/>
            </a:xfrm>
            <a:custGeom>
              <a:avLst/>
              <a:gdLst/>
              <a:ahLst/>
              <a:cxnLst/>
              <a:rect l="l" t="t" r="r" b="b"/>
              <a:pathLst>
                <a:path w="2362835" h="356870">
                  <a:moveTo>
                    <a:pt x="2303348" y="356699"/>
                  </a:moveTo>
                  <a:lnTo>
                    <a:pt x="59451" y="356699"/>
                  </a:lnTo>
                  <a:lnTo>
                    <a:pt x="36310" y="352028"/>
                  </a:lnTo>
                  <a:lnTo>
                    <a:pt x="17412" y="339287"/>
                  </a:lnTo>
                  <a:lnTo>
                    <a:pt x="4671" y="320389"/>
                  </a:lnTo>
                  <a:lnTo>
                    <a:pt x="0" y="297248"/>
                  </a:lnTo>
                  <a:lnTo>
                    <a:pt x="0" y="59451"/>
                  </a:lnTo>
                  <a:lnTo>
                    <a:pt x="4671" y="36310"/>
                  </a:lnTo>
                  <a:lnTo>
                    <a:pt x="17412" y="17412"/>
                  </a:lnTo>
                  <a:lnTo>
                    <a:pt x="36310" y="4671"/>
                  </a:lnTo>
                  <a:lnTo>
                    <a:pt x="59451" y="0"/>
                  </a:lnTo>
                  <a:lnTo>
                    <a:pt x="2303348" y="0"/>
                  </a:lnTo>
                  <a:lnTo>
                    <a:pt x="2345386" y="17412"/>
                  </a:lnTo>
                  <a:lnTo>
                    <a:pt x="2362799" y="59451"/>
                  </a:lnTo>
                  <a:lnTo>
                    <a:pt x="2362799" y="297248"/>
                  </a:lnTo>
                  <a:lnTo>
                    <a:pt x="2358128" y="320389"/>
                  </a:lnTo>
                  <a:lnTo>
                    <a:pt x="2345387" y="339287"/>
                  </a:lnTo>
                  <a:lnTo>
                    <a:pt x="2326489" y="352028"/>
                  </a:lnTo>
                  <a:lnTo>
                    <a:pt x="2303348" y="356699"/>
                  </a:lnTo>
                  <a:close/>
                </a:path>
              </a:pathLst>
            </a:custGeom>
            <a:solidFill>
              <a:srgbClr val="990000">
                <a:alpha val="136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25450" y="3625924"/>
              <a:ext cx="2362835" cy="356870"/>
            </a:xfrm>
            <a:custGeom>
              <a:avLst/>
              <a:gdLst/>
              <a:ahLst/>
              <a:cxnLst/>
              <a:rect l="l" t="t" r="r" b="b"/>
              <a:pathLst>
                <a:path w="2362835" h="356870">
                  <a:moveTo>
                    <a:pt x="0" y="59451"/>
                  </a:moveTo>
                  <a:lnTo>
                    <a:pt x="4671" y="36310"/>
                  </a:lnTo>
                  <a:lnTo>
                    <a:pt x="17412" y="17412"/>
                  </a:lnTo>
                  <a:lnTo>
                    <a:pt x="36310" y="4671"/>
                  </a:lnTo>
                  <a:lnTo>
                    <a:pt x="59451" y="0"/>
                  </a:lnTo>
                  <a:lnTo>
                    <a:pt x="2303348" y="0"/>
                  </a:lnTo>
                  <a:lnTo>
                    <a:pt x="2345386" y="17412"/>
                  </a:lnTo>
                  <a:lnTo>
                    <a:pt x="2362799" y="59451"/>
                  </a:lnTo>
                  <a:lnTo>
                    <a:pt x="2362799" y="297248"/>
                  </a:lnTo>
                  <a:lnTo>
                    <a:pt x="2358128" y="320389"/>
                  </a:lnTo>
                  <a:lnTo>
                    <a:pt x="2345387" y="339287"/>
                  </a:lnTo>
                  <a:lnTo>
                    <a:pt x="2326489" y="352028"/>
                  </a:lnTo>
                  <a:lnTo>
                    <a:pt x="2303348" y="356699"/>
                  </a:lnTo>
                  <a:lnTo>
                    <a:pt x="59451" y="356699"/>
                  </a:lnTo>
                  <a:lnTo>
                    <a:pt x="36310" y="352028"/>
                  </a:lnTo>
                  <a:lnTo>
                    <a:pt x="17412" y="339287"/>
                  </a:lnTo>
                  <a:lnTo>
                    <a:pt x="4671" y="320389"/>
                  </a:lnTo>
                  <a:lnTo>
                    <a:pt x="0" y="297248"/>
                  </a:lnTo>
                  <a:lnTo>
                    <a:pt x="0" y="59451"/>
                  </a:lnTo>
                  <a:close/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247150" y="2616562"/>
            <a:ext cx="2519680" cy="572770"/>
          </a:xfrm>
          <a:custGeom>
            <a:avLst/>
            <a:gdLst/>
            <a:ahLst/>
            <a:cxnLst/>
            <a:rect l="l" t="t" r="r" b="b"/>
            <a:pathLst>
              <a:path w="2519679" h="572769">
                <a:moveTo>
                  <a:pt x="0" y="95451"/>
                </a:moveTo>
                <a:lnTo>
                  <a:pt x="7501" y="58297"/>
                </a:lnTo>
                <a:lnTo>
                  <a:pt x="27957" y="27957"/>
                </a:lnTo>
                <a:lnTo>
                  <a:pt x="58297" y="7501"/>
                </a:lnTo>
                <a:lnTo>
                  <a:pt x="95451" y="0"/>
                </a:lnTo>
                <a:lnTo>
                  <a:pt x="2423947" y="0"/>
                </a:lnTo>
                <a:lnTo>
                  <a:pt x="2476905" y="16037"/>
                </a:lnTo>
                <a:lnTo>
                  <a:pt x="2512134" y="58924"/>
                </a:lnTo>
                <a:lnTo>
                  <a:pt x="2519399" y="95451"/>
                </a:lnTo>
                <a:lnTo>
                  <a:pt x="2519399" y="477247"/>
                </a:lnTo>
                <a:lnTo>
                  <a:pt x="2511898" y="514402"/>
                </a:lnTo>
                <a:lnTo>
                  <a:pt x="2491442" y="544742"/>
                </a:lnTo>
                <a:lnTo>
                  <a:pt x="2461102" y="565198"/>
                </a:lnTo>
                <a:lnTo>
                  <a:pt x="2423947" y="572699"/>
                </a:lnTo>
                <a:lnTo>
                  <a:pt x="95451" y="572699"/>
                </a:lnTo>
                <a:lnTo>
                  <a:pt x="58297" y="565198"/>
                </a:lnTo>
                <a:lnTo>
                  <a:pt x="27957" y="544742"/>
                </a:lnTo>
                <a:lnTo>
                  <a:pt x="7501" y="514402"/>
                </a:lnTo>
                <a:lnTo>
                  <a:pt x="0" y="477247"/>
                </a:lnTo>
                <a:lnTo>
                  <a:pt x="0" y="95451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93575" y="1232048"/>
            <a:ext cx="3056890" cy="2520950"/>
            <a:chOff x="393575" y="1232048"/>
            <a:chExt cx="3056890" cy="25209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924" y="2518599"/>
              <a:ext cx="1005840" cy="146685"/>
            </a:xfrm>
            <a:custGeom>
              <a:avLst/>
              <a:gdLst/>
              <a:ahLst/>
              <a:cxnLst/>
              <a:rect l="l" t="t" r="r" b="b"/>
              <a:pathLst>
                <a:path w="1005839" h="146685">
                  <a:moveTo>
                    <a:pt x="0" y="24350"/>
                  </a:moveTo>
                  <a:lnTo>
                    <a:pt x="1913" y="14872"/>
                  </a:lnTo>
                  <a:lnTo>
                    <a:pt x="7132" y="7132"/>
                  </a:lnTo>
                  <a:lnTo>
                    <a:pt x="14872" y="1913"/>
                  </a:lnTo>
                  <a:lnTo>
                    <a:pt x="24350" y="0"/>
                  </a:lnTo>
                  <a:lnTo>
                    <a:pt x="981249" y="0"/>
                  </a:lnTo>
                  <a:lnTo>
                    <a:pt x="987707" y="0"/>
                  </a:lnTo>
                  <a:lnTo>
                    <a:pt x="993901" y="2565"/>
                  </a:lnTo>
                  <a:lnTo>
                    <a:pt x="998467" y="7131"/>
                  </a:lnTo>
                  <a:lnTo>
                    <a:pt x="1003034" y="11698"/>
                  </a:lnTo>
                  <a:lnTo>
                    <a:pt x="1005599" y="17892"/>
                  </a:lnTo>
                  <a:lnTo>
                    <a:pt x="1005599" y="24350"/>
                  </a:lnTo>
                  <a:lnTo>
                    <a:pt x="1005599" y="121749"/>
                  </a:lnTo>
                  <a:lnTo>
                    <a:pt x="1003686" y="131227"/>
                  </a:lnTo>
                  <a:lnTo>
                    <a:pt x="998467" y="138967"/>
                  </a:lnTo>
                  <a:lnTo>
                    <a:pt x="990727" y="144186"/>
                  </a:lnTo>
                  <a:lnTo>
                    <a:pt x="981249" y="146099"/>
                  </a:lnTo>
                  <a:lnTo>
                    <a:pt x="24350" y="146099"/>
                  </a:lnTo>
                  <a:lnTo>
                    <a:pt x="14872" y="144186"/>
                  </a:lnTo>
                  <a:lnTo>
                    <a:pt x="7132" y="138967"/>
                  </a:lnTo>
                  <a:lnTo>
                    <a:pt x="1913" y="131227"/>
                  </a:lnTo>
                  <a:lnTo>
                    <a:pt x="0" y="121749"/>
                  </a:lnTo>
                  <a:lnTo>
                    <a:pt x="0" y="2435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24899" y="649329"/>
                  </a:moveTo>
                  <a:lnTo>
                    <a:pt x="0" y="587829"/>
                  </a:ln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0" y="587829"/>
                  </a:move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lnTo>
                    <a:pt x="0" y="58782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87342" y="1189838"/>
            <a:ext cx="2241550" cy="9664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1400" b="1" dirty="0">
                <a:solidFill>
                  <a:srgbClr val="E69137"/>
                </a:solidFill>
                <a:latin typeface="Book Antiqua"/>
                <a:cs typeface="Book Antiqua"/>
              </a:rPr>
              <a:t>unstructured</a:t>
            </a:r>
            <a:r>
              <a:rPr sz="1400" b="1" spc="5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400" b="1" spc="-20" dirty="0">
                <a:solidFill>
                  <a:srgbClr val="E69137"/>
                </a:solidFill>
                <a:latin typeface="Book Antiqua"/>
                <a:cs typeface="Book Antiqua"/>
              </a:rPr>
              <a:t>text</a:t>
            </a:r>
            <a:endParaRPr sz="1400">
              <a:latin typeface="Book Antiqua"/>
              <a:cs typeface="Book Antiqua"/>
            </a:endParaRPr>
          </a:p>
          <a:p>
            <a:pPr marL="12700" marR="5080" algn="ctr">
              <a:lnSpc>
                <a:spcPct val="100000"/>
              </a:lnSpc>
              <a:spcBef>
                <a:spcPts val="345"/>
              </a:spcBef>
            </a:pPr>
            <a:r>
              <a:rPr sz="1400" spc="-20" dirty="0">
                <a:latin typeface="Book Antiqua"/>
                <a:cs typeface="Book Antiqua"/>
              </a:rPr>
              <a:t>“Born </a:t>
            </a:r>
            <a:r>
              <a:rPr sz="1400" dirty="0">
                <a:latin typeface="Book Antiqua"/>
                <a:cs typeface="Book Antiqua"/>
              </a:rPr>
              <a:t>in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St.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Louis,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Missouri, </a:t>
            </a:r>
            <a:r>
              <a:rPr sz="1400" dirty="0">
                <a:latin typeface="Book Antiqua"/>
                <a:cs typeface="Book Antiqua"/>
              </a:rPr>
              <a:t>to a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prominent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Boston </a:t>
            </a:r>
            <a:r>
              <a:rPr sz="1400" dirty="0">
                <a:latin typeface="Book Antiqua"/>
                <a:cs typeface="Book Antiqua"/>
              </a:rPr>
              <a:t>Brahmin</a:t>
            </a:r>
            <a:r>
              <a:rPr sz="1400" spc="6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family…”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84475" y="1798746"/>
            <a:ext cx="2247265" cy="2044064"/>
            <a:chOff x="6484475" y="1798746"/>
            <a:chExt cx="2247265" cy="2044064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4475" y="1798746"/>
              <a:ext cx="2132214" cy="20437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143007" y="2679015"/>
              <a:ext cx="583565" cy="635635"/>
            </a:xfrm>
            <a:custGeom>
              <a:avLst/>
              <a:gdLst/>
              <a:ahLst/>
              <a:cxnLst/>
              <a:rect l="l" t="t" r="r" b="b"/>
              <a:pathLst>
                <a:path w="583565" h="635635">
                  <a:moveTo>
                    <a:pt x="583499" y="635399"/>
                  </a:moveTo>
                  <a:lnTo>
                    <a:pt x="57899" y="634499"/>
                  </a:lnTo>
                  <a:lnTo>
                    <a:pt x="0" y="0"/>
                  </a:lnTo>
                  <a:lnTo>
                    <a:pt x="525599" y="899"/>
                  </a:lnTo>
                  <a:lnTo>
                    <a:pt x="583499" y="63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43007" y="2679015"/>
              <a:ext cx="583565" cy="635635"/>
            </a:xfrm>
            <a:custGeom>
              <a:avLst/>
              <a:gdLst/>
              <a:ahLst/>
              <a:cxnLst/>
              <a:rect l="l" t="t" r="r" b="b"/>
              <a:pathLst>
                <a:path w="583565" h="635635">
                  <a:moveTo>
                    <a:pt x="0" y="0"/>
                  </a:moveTo>
                  <a:lnTo>
                    <a:pt x="525599" y="899"/>
                  </a:lnTo>
                  <a:lnTo>
                    <a:pt x="583499" y="635399"/>
                  </a:lnTo>
                  <a:lnTo>
                    <a:pt x="57899" y="634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434437" y="3260044"/>
            <a:ext cx="142875" cy="295275"/>
            <a:chOff x="4434437" y="3260044"/>
            <a:chExt cx="142875" cy="295275"/>
          </a:xfrm>
        </p:grpSpPr>
        <p:sp>
          <p:nvSpPr>
            <p:cNvPr id="23" name="object 23"/>
            <p:cNvSpPr/>
            <p:nvPr/>
          </p:nvSpPr>
          <p:spPr>
            <a:xfrm>
              <a:off x="4439199" y="3264806"/>
              <a:ext cx="133350" cy="285750"/>
            </a:xfrm>
            <a:custGeom>
              <a:avLst/>
              <a:gdLst/>
              <a:ahLst/>
              <a:cxnLst/>
              <a:rect l="l" t="t" r="r" b="b"/>
              <a:pathLst>
                <a:path w="133350" h="285750">
                  <a:moveTo>
                    <a:pt x="66449" y="285600"/>
                  </a:moveTo>
                  <a:lnTo>
                    <a:pt x="0" y="219150"/>
                  </a:lnTo>
                  <a:lnTo>
                    <a:pt x="33224" y="219150"/>
                  </a:lnTo>
                  <a:lnTo>
                    <a:pt x="33224" y="0"/>
                  </a:lnTo>
                  <a:lnTo>
                    <a:pt x="99674" y="0"/>
                  </a:lnTo>
                  <a:lnTo>
                    <a:pt x="99674" y="219150"/>
                  </a:lnTo>
                  <a:lnTo>
                    <a:pt x="132899" y="219150"/>
                  </a:lnTo>
                  <a:lnTo>
                    <a:pt x="66449" y="2856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39199" y="3264806"/>
              <a:ext cx="133350" cy="285750"/>
            </a:xfrm>
            <a:custGeom>
              <a:avLst/>
              <a:gdLst/>
              <a:ahLst/>
              <a:cxnLst/>
              <a:rect l="l" t="t" r="r" b="b"/>
              <a:pathLst>
                <a:path w="133350" h="285750">
                  <a:moveTo>
                    <a:pt x="99674" y="0"/>
                  </a:moveTo>
                  <a:lnTo>
                    <a:pt x="99674" y="219150"/>
                  </a:lnTo>
                  <a:lnTo>
                    <a:pt x="132899" y="219150"/>
                  </a:lnTo>
                  <a:lnTo>
                    <a:pt x="66449" y="285600"/>
                  </a:lnTo>
                  <a:lnTo>
                    <a:pt x="0" y="219150"/>
                  </a:lnTo>
                  <a:lnTo>
                    <a:pt x="33224" y="219150"/>
                  </a:lnTo>
                  <a:lnTo>
                    <a:pt x="33224" y="0"/>
                  </a:lnTo>
                  <a:lnTo>
                    <a:pt x="99674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10221" y="2673550"/>
            <a:ext cx="2191385" cy="16002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09550" marR="197485" algn="ctr">
              <a:lnSpc>
                <a:spcPts val="1650"/>
              </a:lnSpc>
              <a:spcBef>
                <a:spcPts val="180"/>
              </a:spcBef>
            </a:pPr>
            <a:r>
              <a:rPr sz="1400" b="1" spc="-45" dirty="0">
                <a:latin typeface="Book Antiqua"/>
                <a:cs typeface="Book Antiqua"/>
              </a:rPr>
              <a:t>Knowledge</a:t>
            </a:r>
            <a:r>
              <a:rPr sz="1400" b="1" spc="-5" dirty="0">
                <a:latin typeface="Book Antiqua"/>
                <a:cs typeface="Book Antiqua"/>
              </a:rPr>
              <a:t> </a:t>
            </a:r>
            <a:r>
              <a:rPr sz="1400" b="1" spc="-10" dirty="0">
                <a:latin typeface="Book Antiqua"/>
                <a:cs typeface="Book Antiqua"/>
              </a:rPr>
              <a:t>Extraction Pipeline</a:t>
            </a:r>
            <a:endParaRPr sz="14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7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(T.S.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Eliot</a:t>
            </a:r>
            <a:r>
              <a:rPr sz="1400" dirty="0">
                <a:latin typeface="Book Antiqua"/>
                <a:cs typeface="Book Antiqua"/>
              </a:rPr>
              <a:t>,</a:t>
            </a:r>
            <a:r>
              <a:rPr sz="1400" spc="6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BORN-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400" dirty="0">
                <a:latin typeface="Book Antiqua"/>
                <a:cs typeface="Book Antiqua"/>
              </a:rPr>
              <a:t>,</a:t>
            </a:r>
            <a:r>
              <a:rPr sz="1400" spc="70" dirty="0"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CC0000"/>
                </a:solidFill>
                <a:latin typeface="Cambria"/>
                <a:cs typeface="Cambria"/>
              </a:rPr>
              <a:t>Boston</a:t>
            </a:r>
            <a:r>
              <a:rPr sz="1400" spc="-1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1010"/>
              </a:spcBef>
            </a:pPr>
            <a:r>
              <a:rPr sz="1500" b="1" dirty="0">
                <a:solidFill>
                  <a:srgbClr val="CC0000"/>
                </a:solidFill>
                <a:latin typeface="Book Antiqua"/>
                <a:cs typeface="Book Antiqua"/>
              </a:rPr>
              <a:t>incorrect</a:t>
            </a:r>
            <a:r>
              <a:rPr sz="1500" b="1" spc="229" dirty="0">
                <a:solidFill>
                  <a:srgbClr val="CC0000"/>
                </a:solidFill>
                <a:latin typeface="Book Antiqua"/>
                <a:cs typeface="Book Antiqua"/>
              </a:rPr>
              <a:t> </a:t>
            </a:r>
            <a:r>
              <a:rPr sz="1500" b="1" spc="-10" dirty="0">
                <a:solidFill>
                  <a:srgbClr val="CC0000"/>
                </a:solidFill>
                <a:latin typeface="Book Antiqua"/>
                <a:cs typeface="Book Antiqua"/>
              </a:rPr>
              <a:t>extraction</a:t>
            </a:r>
            <a:endParaRPr sz="1500">
              <a:latin typeface="Book Antiqua"/>
              <a:cs typeface="Book Antiqu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34437" y="2195786"/>
            <a:ext cx="142875" cy="327660"/>
            <a:chOff x="4434437" y="2195786"/>
            <a:chExt cx="142875" cy="327660"/>
          </a:xfrm>
        </p:grpSpPr>
        <p:sp>
          <p:nvSpPr>
            <p:cNvPr id="27" name="object 27"/>
            <p:cNvSpPr/>
            <p:nvPr/>
          </p:nvSpPr>
          <p:spPr>
            <a:xfrm>
              <a:off x="4439199" y="2200549"/>
              <a:ext cx="133350" cy="318135"/>
            </a:xfrm>
            <a:custGeom>
              <a:avLst/>
              <a:gdLst/>
              <a:ahLst/>
              <a:cxnLst/>
              <a:rect l="l" t="t" r="r" b="b"/>
              <a:pathLst>
                <a:path w="133350" h="318135">
                  <a:moveTo>
                    <a:pt x="66449" y="317999"/>
                  </a:moveTo>
                  <a:lnTo>
                    <a:pt x="0" y="251549"/>
                  </a:lnTo>
                  <a:lnTo>
                    <a:pt x="33224" y="251549"/>
                  </a:lnTo>
                  <a:lnTo>
                    <a:pt x="33224" y="0"/>
                  </a:lnTo>
                  <a:lnTo>
                    <a:pt x="99674" y="0"/>
                  </a:lnTo>
                  <a:lnTo>
                    <a:pt x="99674" y="251549"/>
                  </a:lnTo>
                  <a:lnTo>
                    <a:pt x="132899" y="251549"/>
                  </a:lnTo>
                  <a:lnTo>
                    <a:pt x="66449" y="3179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39199" y="2200549"/>
              <a:ext cx="133350" cy="318135"/>
            </a:xfrm>
            <a:custGeom>
              <a:avLst/>
              <a:gdLst/>
              <a:ahLst/>
              <a:cxnLst/>
              <a:rect l="l" t="t" r="r" b="b"/>
              <a:pathLst>
                <a:path w="133350" h="318135">
                  <a:moveTo>
                    <a:pt x="99674" y="0"/>
                  </a:moveTo>
                  <a:lnTo>
                    <a:pt x="99674" y="251549"/>
                  </a:lnTo>
                  <a:lnTo>
                    <a:pt x="132899" y="251549"/>
                  </a:lnTo>
                  <a:lnTo>
                    <a:pt x="66449" y="317999"/>
                  </a:lnTo>
                  <a:lnTo>
                    <a:pt x="0" y="251549"/>
                  </a:lnTo>
                  <a:lnTo>
                    <a:pt x="33224" y="251549"/>
                  </a:lnTo>
                  <a:lnTo>
                    <a:pt x="33224" y="0"/>
                  </a:lnTo>
                  <a:lnTo>
                    <a:pt x="99674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968" y="4540353"/>
            <a:ext cx="7639684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spc="105" dirty="0">
                <a:latin typeface="Times New Roman"/>
                <a:cs typeface="Times New Roman"/>
              </a:rPr>
              <a:t>Prone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b="1" spc="50" dirty="0">
                <a:latin typeface="Book Antiqua"/>
                <a:cs typeface="Book Antiqua"/>
              </a:rPr>
              <a:t>error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propagation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b="1" spc="90" dirty="0">
                <a:latin typeface="Book Antiqua"/>
                <a:cs typeface="Book Antiqua"/>
              </a:rPr>
              <a:t>(</a:t>
            </a:r>
            <a:r>
              <a:rPr sz="1700" spc="9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50" dirty="0">
                <a:latin typeface="Times New Roman"/>
                <a:cs typeface="Times New Roman"/>
              </a:rPr>
              <a:t>human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annotations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extraction)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32862" y="2602275"/>
            <a:ext cx="2548255" cy="1390015"/>
            <a:chOff x="3232862" y="2602275"/>
            <a:chExt cx="2548255" cy="1390015"/>
          </a:xfrm>
        </p:grpSpPr>
        <p:sp>
          <p:nvSpPr>
            <p:cNvPr id="3" name="object 3"/>
            <p:cNvSpPr/>
            <p:nvPr/>
          </p:nvSpPr>
          <p:spPr>
            <a:xfrm>
              <a:off x="3325450" y="3625925"/>
              <a:ext cx="2362835" cy="356870"/>
            </a:xfrm>
            <a:custGeom>
              <a:avLst/>
              <a:gdLst/>
              <a:ahLst/>
              <a:cxnLst/>
              <a:rect l="l" t="t" r="r" b="b"/>
              <a:pathLst>
                <a:path w="2362835" h="356870">
                  <a:moveTo>
                    <a:pt x="2303348" y="356699"/>
                  </a:moveTo>
                  <a:lnTo>
                    <a:pt x="59451" y="356699"/>
                  </a:lnTo>
                  <a:lnTo>
                    <a:pt x="36310" y="352028"/>
                  </a:lnTo>
                  <a:lnTo>
                    <a:pt x="17412" y="339287"/>
                  </a:lnTo>
                  <a:lnTo>
                    <a:pt x="4671" y="320389"/>
                  </a:lnTo>
                  <a:lnTo>
                    <a:pt x="0" y="297248"/>
                  </a:lnTo>
                  <a:lnTo>
                    <a:pt x="0" y="59451"/>
                  </a:lnTo>
                  <a:lnTo>
                    <a:pt x="4671" y="36310"/>
                  </a:lnTo>
                  <a:lnTo>
                    <a:pt x="17412" y="17412"/>
                  </a:lnTo>
                  <a:lnTo>
                    <a:pt x="36310" y="4671"/>
                  </a:lnTo>
                  <a:lnTo>
                    <a:pt x="59451" y="0"/>
                  </a:lnTo>
                  <a:lnTo>
                    <a:pt x="2303348" y="0"/>
                  </a:lnTo>
                  <a:lnTo>
                    <a:pt x="2345386" y="17412"/>
                  </a:lnTo>
                  <a:lnTo>
                    <a:pt x="2362799" y="59451"/>
                  </a:lnTo>
                  <a:lnTo>
                    <a:pt x="2362799" y="297248"/>
                  </a:lnTo>
                  <a:lnTo>
                    <a:pt x="2358128" y="320389"/>
                  </a:lnTo>
                  <a:lnTo>
                    <a:pt x="2345387" y="339287"/>
                  </a:lnTo>
                  <a:lnTo>
                    <a:pt x="2326489" y="352028"/>
                  </a:lnTo>
                  <a:lnTo>
                    <a:pt x="2303348" y="356699"/>
                  </a:lnTo>
                  <a:close/>
                </a:path>
              </a:pathLst>
            </a:custGeom>
            <a:solidFill>
              <a:srgbClr val="990000">
                <a:alpha val="136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25450" y="3625925"/>
              <a:ext cx="2362835" cy="356870"/>
            </a:xfrm>
            <a:custGeom>
              <a:avLst/>
              <a:gdLst/>
              <a:ahLst/>
              <a:cxnLst/>
              <a:rect l="l" t="t" r="r" b="b"/>
              <a:pathLst>
                <a:path w="2362835" h="356870">
                  <a:moveTo>
                    <a:pt x="0" y="59451"/>
                  </a:moveTo>
                  <a:lnTo>
                    <a:pt x="4671" y="36310"/>
                  </a:lnTo>
                  <a:lnTo>
                    <a:pt x="17412" y="17412"/>
                  </a:lnTo>
                  <a:lnTo>
                    <a:pt x="36310" y="4671"/>
                  </a:lnTo>
                  <a:lnTo>
                    <a:pt x="59451" y="0"/>
                  </a:lnTo>
                  <a:lnTo>
                    <a:pt x="2303348" y="0"/>
                  </a:lnTo>
                  <a:lnTo>
                    <a:pt x="2345386" y="17412"/>
                  </a:lnTo>
                  <a:lnTo>
                    <a:pt x="2362799" y="59451"/>
                  </a:lnTo>
                  <a:lnTo>
                    <a:pt x="2362799" y="297248"/>
                  </a:lnTo>
                  <a:lnTo>
                    <a:pt x="2358128" y="320389"/>
                  </a:lnTo>
                  <a:lnTo>
                    <a:pt x="2345387" y="339287"/>
                  </a:lnTo>
                  <a:lnTo>
                    <a:pt x="2326489" y="352028"/>
                  </a:lnTo>
                  <a:lnTo>
                    <a:pt x="2303348" y="356699"/>
                  </a:lnTo>
                  <a:lnTo>
                    <a:pt x="59451" y="356699"/>
                  </a:lnTo>
                  <a:lnTo>
                    <a:pt x="36310" y="352028"/>
                  </a:lnTo>
                  <a:lnTo>
                    <a:pt x="17412" y="339287"/>
                  </a:lnTo>
                  <a:lnTo>
                    <a:pt x="4671" y="320389"/>
                  </a:lnTo>
                  <a:lnTo>
                    <a:pt x="0" y="297248"/>
                  </a:lnTo>
                  <a:lnTo>
                    <a:pt x="0" y="59451"/>
                  </a:lnTo>
                  <a:close/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47150" y="2616562"/>
              <a:ext cx="2519680" cy="572770"/>
            </a:xfrm>
            <a:custGeom>
              <a:avLst/>
              <a:gdLst/>
              <a:ahLst/>
              <a:cxnLst/>
              <a:rect l="l" t="t" r="r" b="b"/>
              <a:pathLst>
                <a:path w="2519679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423947" y="0"/>
                  </a:lnTo>
                  <a:lnTo>
                    <a:pt x="2476905" y="16037"/>
                  </a:lnTo>
                  <a:lnTo>
                    <a:pt x="2512134" y="58924"/>
                  </a:lnTo>
                  <a:lnTo>
                    <a:pt x="2519399" y="95451"/>
                  </a:lnTo>
                  <a:lnTo>
                    <a:pt x="2519399" y="477247"/>
                  </a:lnTo>
                  <a:lnTo>
                    <a:pt x="2511898" y="514402"/>
                  </a:lnTo>
                  <a:lnTo>
                    <a:pt x="2491442" y="544742"/>
                  </a:lnTo>
                  <a:lnTo>
                    <a:pt x="2461102" y="565198"/>
                  </a:lnTo>
                  <a:lnTo>
                    <a:pt x="24239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07337" y="2673550"/>
            <a:ext cx="18014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66420" marR="5080" indent="-554355">
              <a:lnSpc>
                <a:spcPts val="1650"/>
              </a:lnSpc>
              <a:spcBef>
                <a:spcPts val="180"/>
              </a:spcBef>
            </a:pPr>
            <a:r>
              <a:rPr sz="1400" b="1" spc="-45" dirty="0">
                <a:latin typeface="Book Antiqua"/>
                <a:cs typeface="Book Antiqua"/>
              </a:rPr>
              <a:t>Knowledge</a:t>
            </a:r>
            <a:r>
              <a:rPr sz="1400" b="1" spc="-5" dirty="0">
                <a:latin typeface="Book Antiqua"/>
                <a:cs typeface="Book Antiqua"/>
              </a:rPr>
              <a:t> </a:t>
            </a:r>
            <a:r>
              <a:rPr sz="1400" b="1" spc="-10" dirty="0">
                <a:latin typeface="Book Antiqua"/>
                <a:cs typeface="Book Antiqua"/>
              </a:rPr>
              <a:t>Extraction Pipeline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93575" y="1232048"/>
            <a:ext cx="3056890" cy="2520950"/>
            <a:chOff x="393575" y="1232048"/>
            <a:chExt cx="3056890" cy="25209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625" y="1251098"/>
              <a:ext cx="1861261" cy="20830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3100" y="1241573"/>
              <a:ext cx="1913255" cy="2102485"/>
            </a:xfrm>
            <a:custGeom>
              <a:avLst/>
              <a:gdLst/>
              <a:ahLst/>
              <a:cxnLst/>
              <a:rect l="l" t="t" r="r" b="b"/>
              <a:pathLst>
                <a:path w="1913255" h="2102485">
                  <a:moveTo>
                    <a:pt x="0" y="0"/>
                  </a:moveTo>
                  <a:lnTo>
                    <a:pt x="1912775" y="0"/>
                  </a:lnTo>
                  <a:lnTo>
                    <a:pt x="1912775" y="2102125"/>
                  </a:lnTo>
                  <a:lnTo>
                    <a:pt x="0" y="210212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50" y="1549849"/>
              <a:ext cx="1893725" cy="18991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2425" y="1540324"/>
              <a:ext cx="1913255" cy="1918335"/>
            </a:xfrm>
            <a:custGeom>
              <a:avLst/>
              <a:gdLst/>
              <a:ahLst/>
              <a:cxnLst/>
              <a:rect l="l" t="t" r="r" b="b"/>
              <a:pathLst>
                <a:path w="1913255" h="1918335">
                  <a:moveTo>
                    <a:pt x="0" y="0"/>
                  </a:moveTo>
                  <a:lnTo>
                    <a:pt x="1912775" y="0"/>
                  </a:lnTo>
                  <a:lnTo>
                    <a:pt x="1912775" y="1918162"/>
                  </a:lnTo>
                  <a:lnTo>
                    <a:pt x="0" y="191816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50" y="1758135"/>
              <a:ext cx="1893724" cy="19755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5225" y="1748610"/>
              <a:ext cx="1913255" cy="1995170"/>
            </a:xfrm>
            <a:custGeom>
              <a:avLst/>
              <a:gdLst/>
              <a:ahLst/>
              <a:cxnLst/>
              <a:rect l="l" t="t" r="r" b="b"/>
              <a:pathLst>
                <a:path w="1913255" h="1995170">
                  <a:moveTo>
                    <a:pt x="0" y="0"/>
                  </a:moveTo>
                  <a:lnTo>
                    <a:pt x="1912774" y="0"/>
                  </a:lnTo>
                  <a:lnTo>
                    <a:pt x="1912774" y="1994631"/>
                  </a:lnTo>
                  <a:lnTo>
                    <a:pt x="0" y="199463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8924" y="2518599"/>
              <a:ext cx="1005840" cy="146685"/>
            </a:xfrm>
            <a:custGeom>
              <a:avLst/>
              <a:gdLst/>
              <a:ahLst/>
              <a:cxnLst/>
              <a:rect l="l" t="t" r="r" b="b"/>
              <a:pathLst>
                <a:path w="1005839" h="146685">
                  <a:moveTo>
                    <a:pt x="0" y="24350"/>
                  </a:moveTo>
                  <a:lnTo>
                    <a:pt x="1913" y="14872"/>
                  </a:lnTo>
                  <a:lnTo>
                    <a:pt x="7132" y="7132"/>
                  </a:lnTo>
                  <a:lnTo>
                    <a:pt x="14872" y="1913"/>
                  </a:lnTo>
                  <a:lnTo>
                    <a:pt x="24350" y="0"/>
                  </a:lnTo>
                  <a:lnTo>
                    <a:pt x="981249" y="0"/>
                  </a:lnTo>
                  <a:lnTo>
                    <a:pt x="987707" y="0"/>
                  </a:lnTo>
                  <a:lnTo>
                    <a:pt x="993901" y="2565"/>
                  </a:lnTo>
                  <a:lnTo>
                    <a:pt x="998467" y="7131"/>
                  </a:lnTo>
                  <a:lnTo>
                    <a:pt x="1003034" y="11698"/>
                  </a:lnTo>
                  <a:lnTo>
                    <a:pt x="1005599" y="17892"/>
                  </a:lnTo>
                  <a:lnTo>
                    <a:pt x="1005599" y="24350"/>
                  </a:lnTo>
                  <a:lnTo>
                    <a:pt x="1005599" y="121749"/>
                  </a:lnTo>
                  <a:lnTo>
                    <a:pt x="1003686" y="131227"/>
                  </a:lnTo>
                  <a:lnTo>
                    <a:pt x="998467" y="138967"/>
                  </a:lnTo>
                  <a:lnTo>
                    <a:pt x="990727" y="144186"/>
                  </a:lnTo>
                  <a:lnTo>
                    <a:pt x="981249" y="146099"/>
                  </a:lnTo>
                  <a:lnTo>
                    <a:pt x="24350" y="146099"/>
                  </a:lnTo>
                  <a:lnTo>
                    <a:pt x="14872" y="144186"/>
                  </a:lnTo>
                  <a:lnTo>
                    <a:pt x="7132" y="138967"/>
                  </a:lnTo>
                  <a:lnTo>
                    <a:pt x="1913" y="131227"/>
                  </a:lnTo>
                  <a:lnTo>
                    <a:pt x="0" y="121749"/>
                  </a:lnTo>
                  <a:lnTo>
                    <a:pt x="0" y="2435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24899" y="649329"/>
                  </a:moveTo>
                  <a:lnTo>
                    <a:pt x="0" y="587829"/>
                  </a:ln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96975" y="1891672"/>
              <a:ext cx="1449070" cy="649605"/>
            </a:xfrm>
            <a:custGeom>
              <a:avLst/>
              <a:gdLst/>
              <a:ahLst/>
              <a:cxnLst/>
              <a:rect l="l" t="t" r="r" b="b"/>
              <a:pathLst>
                <a:path w="1449070" h="649605">
                  <a:moveTo>
                    <a:pt x="0" y="587829"/>
                  </a:moveTo>
                  <a:lnTo>
                    <a:pt x="1374608" y="30749"/>
                  </a:lnTo>
                  <a:lnTo>
                    <a:pt x="1362158" y="0"/>
                  </a:lnTo>
                  <a:lnTo>
                    <a:pt x="1448549" y="36579"/>
                  </a:lnTo>
                  <a:lnTo>
                    <a:pt x="1411958" y="122999"/>
                  </a:lnTo>
                  <a:lnTo>
                    <a:pt x="1399508" y="92249"/>
                  </a:lnTo>
                  <a:lnTo>
                    <a:pt x="24899" y="649329"/>
                  </a:lnTo>
                  <a:lnTo>
                    <a:pt x="0" y="58782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87342" y="1189838"/>
            <a:ext cx="2241550" cy="9664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1400" b="1" dirty="0">
                <a:solidFill>
                  <a:srgbClr val="E69137"/>
                </a:solidFill>
                <a:latin typeface="Book Antiqua"/>
                <a:cs typeface="Book Antiqua"/>
              </a:rPr>
              <a:t>unstructured</a:t>
            </a:r>
            <a:r>
              <a:rPr sz="1400" b="1" spc="5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400" b="1" spc="-20" dirty="0">
                <a:solidFill>
                  <a:srgbClr val="E69137"/>
                </a:solidFill>
                <a:latin typeface="Book Antiqua"/>
                <a:cs typeface="Book Antiqua"/>
              </a:rPr>
              <a:t>text</a:t>
            </a:r>
            <a:endParaRPr sz="1400">
              <a:latin typeface="Book Antiqua"/>
              <a:cs typeface="Book Antiqua"/>
            </a:endParaRPr>
          </a:p>
          <a:p>
            <a:pPr marL="12700" marR="5080" algn="ctr">
              <a:lnSpc>
                <a:spcPct val="100000"/>
              </a:lnSpc>
              <a:spcBef>
                <a:spcPts val="345"/>
              </a:spcBef>
            </a:pPr>
            <a:r>
              <a:rPr sz="1400" spc="-20" dirty="0">
                <a:latin typeface="Book Antiqua"/>
                <a:cs typeface="Book Antiqua"/>
              </a:rPr>
              <a:t>“Born </a:t>
            </a:r>
            <a:r>
              <a:rPr sz="1400" dirty="0">
                <a:latin typeface="Book Antiqua"/>
                <a:cs typeface="Book Antiqua"/>
              </a:rPr>
              <a:t>in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St.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Louis,</a:t>
            </a:r>
            <a:r>
              <a:rPr sz="1400" spc="-2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Missouri, </a:t>
            </a:r>
            <a:r>
              <a:rPr sz="1400" dirty="0">
                <a:latin typeface="Book Antiqua"/>
                <a:cs typeface="Book Antiqua"/>
              </a:rPr>
              <a:t>to a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dirty="0">
                <a:latin typeface="Book Antiqua"/>
                <a:cs typeface="Book Antiqua"/>
              </a:rPr>
              <a:t>prominent</a:t>
            </a:r>
            <a:r>
              <a:rPr sz="1400" spc="5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Boston </a:t>
            </a:r>
            <a:r>
              <a:rPr sz="1400" dirty="0">
                <a:latin typeface="Book Antiqua"/>
                <a:cs typeface="Book Antiqua"/>
              </a:rPr>
              <a:t>Brahmin</a:t>
            </a:r>
            <a:r>
              <a:rPr sz="1400" spc="60" dirty="0">
                <a:latin typeface="Book Antiqua"/>
                <a:cs typeface="Book Antiqua"/>
              </a:rPr>
              <a:t> </a:t>
            </a:r>
            <a:r>
              <a:rPr sz="1400" spc="-10" dirty="0">
                <a:latin typeface="Book Antiqua"/>
                <a:cs typeface="Book Antiqua"/>
              </a:rPr>
              <a:t>family…”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84475" y="1798746"/>
            <a:ext cx="2247265" cy="2044064"/>
            <a:chOff x="6484475" y="1798746"/>
            <a:chExt cx="2247265" cy="2044064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4475" y="1798746"/>
              <a:ext cx="2132214" cy="20437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43007" y="2679015"/>
              <a:ext cx="583565" cy="635635"/>
            </a:xfrm>
            <a:custGeom>
              <a:avLst/>
              <a:gdLst/>
              <a:ahLst/>
              <a:cxnLst/>
              <a:rect l="l" t="t" r="r" b="b"/>
              <a:pathLst>
                <a:path w="583565" h="635635">
                  <a:moveTo>
                    <a:pt x="583499" y="635399"/>
                  </a:moveTo>
                  <a:lnTo>
                    <a:pt x="57899" y="634499"/>
                  </a:lnTo>
                  <a:lnTo>
                    <a:pt x="0" y="0"/>
                  </a:lnTo>
                  <a:lnTo>
                    <a:pt x="525599" y="899"/>
                  </a:lnTo>
                  <a:lnTo>
                    <a:pt x="583499" y="63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43007" y="2679015"/>
              <a:ext cx="583565" cy="635635"/>
            </a:xfrm>
            <a:custGeom>
              <a:avLst/>
              <a:gdLst/>
              <a:ahLst/>
              <a:cxnLst/>
              <a:rect l="l" t="t" r="r" b="b"/>
              <a:pathLst>
                <a:path w="583565" h="635635">
                  <a:moveTo>
                    <a:pt x="0" y="0"/>
                  </a:moveTo>
                  <a:lnTo>
                    <a:pt x="525599" y="899"/>
                  </a:lnTo>
                  <a:lnTo>
                    <a:pt x="583499" y="635399"/>
                  </a:lnTo>
                  <a:lnTo>
                    <a:pt x="57899" y="634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434437" y="3260044"/>
            <a:ext cx="142875" cy="295275"/>
            <a:chOff x="4434437" y="3260044"/>
            <a:chExt cx="142875" cy="295275"/>
          </a:xfrm>
        </p:grpSpPr>
        <p:sp>
          <p:nvSpPr>
            <p:cNvPr id="24" name="object 24"/>
            <p:cNvSpPr/>
            <p:nvPr/>
          </p:nvSpPr>
          <p:spPr>
            <a:xfrm>
              <a:off x="4439199" y="3264806"/>
              <a:ext cx="133350" cy="285750"/>
            </a:xfrm>
            <a:custGeom>
              <a:avLst/>
              <a:gdLst/>
              <a:ahLst/>
              <a:cxnLst/>
              <a:rect l="l" t="t" r="r" b="b"/>
              <a:pathLst>
                <a:path w="133350" h="285750">
                  <a:moveTo>
                    <a:pt x="66449" y="285600"/>
                  </a:moveTo>
                  <a:lnTo>
                    <a:pt x="0" y="219150"/>
                  </a:lnTo>
                  <a:lnTo>
                    <a:pt x="33224" y="219150"/>
                  </a:lnTo>
                  <a:lnTo>
                    <a:pt x="33224" y="0"/>
                  </a:lnTo>
                  <a:lnTo>
                    <a:pt x="99674" y="0"/>
                  </a:lnTo>
                  <a:lnTo>
                    <a:pt x="99674" y="219150"/>
                  </a:lnTo>
                  <a:lnTo>
                    <a:pt x="132899" y="219150"/>
                  </a:lnTo>
                  <a:lnTo>
                    <a:pt x="66449" y="2856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39199" y="3264806"/>
              <a:ext cx="133350" cy="285750"/>
            </a:xfrm>
            <a:custGeom>
              <a:avLst/>
              <a:gdLst/>
              <a:ahLst/>
              <a:cxnLst/>
              <a:rect l="l" t="t" r="r" b="b"/>
              <a:pathLst>
                <a:path w="133350" h="285750">
                  <a:moveTo>
                    <a:pt x="99674" y="0"/>
                  </a:moveTo>
                  <a:lnTo>
                    <a:pt x="99674" y="219150"/>
                  </a:lnTo>
                  <a:lnTo>
                    <a:pt x="132899" y="219150"/>
                  </a:lnTo>
                  <a:lnTo>
                    <a:pt x="66449" y="285600"/>
                  </a:lnTo>
                  <a:lnTo>
                    <a:pt x="0" y="219150"/>
                  </a:lnTo>
                  <a:lnTo>
                    <a:pt x="33224" y="219150"/>
                  </a:lnTo>
                  <a:lnTo>
                    <a:pt x="33224" y="0"/>
                  </a:lnTo>
                  <a:lnTo>
                    <a:pt x="99674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434437" y="2195786"/>
            <a:ext cx="142875" cy="327660"/>
            <a:chOff x="4434437" y="2195786"/>
            <a:chExt cx="142875" cy="327660"/>
          </a:xfrm>
        </p:grpSpPr>
        <p:sp>
          <p:nvSpPr>
            <p:cNvPr id="27" name="object 27"/>
            <p:cNvSpPr/>
            <p:nvPr/>
          </p:nvSpPr>
          <p:spPr>
            <a:xfrm>
              <a:off x="4439199" y="2200549"/>
              <a:ext cx="133350" cy="318135"/>
            </a:xfrm>
            <a:custGeom>
              <a:avLst/>
              <a:gdLst/>
              <a:ahLst/>
              <a:cxnLst/>
              <a:rect l="l" t="t" r="r" b="b"/>
              <a:pathLst>
                <a:path w="133350" h="318135">
                  <a:moveTo>
                    <a:pt x="66449" y="317999"/>
                  </a:moveTo>
                  <a:lnTo>
                    <a:pt x="0" y="251549"/>
                  </a:lnTo>
                  <a:lnTo>
                    <a:pt x="33224" y="251549"/>
                  </a:lnTo>
                  <a:lnTo>
                    <a:pt x="33224" y="0"/>
                  </a:lnTo>
                  <a:lnTo>
                    <a:pt x="99674" y="0"/>
                  </a:lnTo>
                  <a:lnTo>
                    <a:pt x="99674" y="251549"/>
                  </a:lnTo>
                  <a:lnTo>
                    <a:pt x="132899" y="251549"/>
                  </a:lnTo>
                  <a:lnTo>
                    <a:pt x="66449" y="3179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39199" y="2200549"/>
              <a:ext cx="133350" cy="318135"/>
            </a:xfrm>
            <a:custGeom>
              <a:avLst/>
              <a:gdLst/>
              <a:ahLst/>
              <a:cxnLst/>
              <a:rect l="l" t="t" r="r" b="b"/>
              <a:pathLst>
                <a:path w="133350" h="318135">
                  <a:moveTo>
                    <a:pt x="99674" y="0"/>
                  </a:moveTo>
                  <a:lnTo>
                    <a:pt x="99674" y="251549"/>
                  </a:lnTo>
                  <a:lnTo>
                    <a:pt x="132899" y="251549"/>
                  </a:lnTo>
                  <a:lnTo>
                    <a:pt x="66449" y="317999"/>
                  </a:lnTo>
                  <a:lnTo>
                    <a:pt x="0" y="251549"/>
                  </a:lnTo>
                  <a:lnTo>
                    <a:pt x="33224" y="251549"/>
                  </a:lnTo>
                  <a:lnTo>
                    <a:pt x="33224" y="0"/>
                  </a:lnTo>
                  <a:lnTo>
                    <a:pt x="99674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151828" y="2702299"/>
            <a:ext cx="758190" cy="228600"/>
          </a:xfrm>
          <a:prstGeom prst="rect">
            <a:avLst/>
          </a:prstGeom>
          <a:solidFill>
            <a:srgbClr val="DCE7D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00" spc="-10" dirty="0">
                <a:latin typeface="Times New Roman"/>
                <a:cs typeface="Times New Roman"/>
              </a:rPr>
              <a:t>T.S.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Eliot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681014" y="2230075"/>
            <a:ext cx="2392045" cy="1394460"/>
            <a:chOff x="5681014" y="2230075"/>
            <a:chExt cx="2392045" cy="1394460"/>
          </a:xfrm>
        </p:grpSpPr>
        <p:sp>
          <p:nvSpPr>
            <p:cNvPr id="31" name="object 31"/>
            <p:cNvSpPr/>
            <p:nvPr/>
          </p:nvSpPr>
          <p:spPr>
            <a:xfrm>
              <a:off x="5685776" y="2945327"/>
              <a:ext cx="862965" cy="674370"/>
            </a:xfrm>
            <a:custGeom>
              <a:avLst/>
              <a:gdLst/>
              <a:ahLst/>
              <a:cxnLst/>
              <a:rect l="l" t="t" r="r" b="b"/>
              <a:pathLst>
                <a:path w="862965" h="674370">
                  <a:moveTo>
                    <a:pt x="40049" y="674269"/>
                  </a:moveTo>
                  <a:lnTo>
                    <a:pt x="0" y="621319"/>
                  </a:lnTo>
                  <a:lnTo>
                    <a:pt x="789378" y="26474"/>
                  </a:lnTo>
                  <a:lnTo>
                    <a:pt x="769353" y="0"/>
                  </a:lnTo>
                  <a:lnTo>
                    <a:pt x="862424" y="12994"/>
                  </a:lnTo>
                  <a:lnTo>
                    <a:pt x="849453" y="105899"/>
                  </a:lnTo>
                  <a:lnTo>
                    <a:pt x="829428" y="79424"/>
                  </a:lnTo>
                  <a:lnTo>
                    <a:pt x="40049" y="674269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85776" y="2945327"/>
              <a:ext cx="862965" cy="674370"/>
            </a:xfrm>
            <a:custGeom>
              <a:avLst/>
              <a:gdLst/>
              <a:ahLst/>
              <a:cxnLst/>
              <a:rect l="l" t="t" r="r" b="b"/>
              <a:pathLst>
                <a:path w="862965" h="674370">
                  <a:moveTo>
                    <a:pt x="0" y="621319"/>
                  </a:moveTo>
                  <a:lnTo>
                    <a:pt x="789378" y="26474"/>
                  </a:lnTo>
                  <a:lnTo>
                    <a:pt x="769353" y="0"/>
                  </a:lnTo>
                  <a:lnTo>
                    <a:pt x="862424" y="12994"/>
                  </a:lnTo>
                  <a:lnTo>
                    <a:pt x="849453" y="105899"/>
                  </a:lnTo>
                  <a:lnTo>
                    <a:pt x="829428" y="79424"/>
                  </a:lnTo>
                  <a:lnTo>
                    <a:pt x="40049" y="674269"/>
                  </a:lnTo>
                  <a:lnTo>
                    <a:pt x="0" y="621319"/>
                  </a:lnTo>
                  <a:close/>
                </a:path>
              </a:pathLst>
            </a:custGeom>
            <a:ln w="9524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86615" y="2230075"/>
              <a:ext cx="586740" cy="167640"/>
            </a:xfrm>
            <a:custGeom>
              <a:avLst/>
              <a:gdLst/>
              <a:ahLst/>
              <a:cxnLst/>
              <a:rect l="l" t="t" r="r" b="b"/>
              <a:pathLst>
                <a:path w="586740" h="167639">
                  <a:moveTo>
                    <a:pt x="586418" y="167639"/>
                  </a:moveTo>
                  <a:lnTo>
                    <a:pt x="0" y="167639"/>
                  </a:lnTo>
                  <a:lnTo>
                    <a:pt x="0" y="0"/>
                  </a:lnTo>
                  <a:lnTo>
                    <a:pt x="586418" y="0"/>
                  </a:lnTo>
                  <a:lnTo>
                    <a:pt x="586418" y="167639"/>
                  </a:lnTo>
                  <a:close/>
                </a:path>
              </a:pathLst>
            </a:custGeom>
            <a:solidFill>
              <a:srgbClr val="DCE7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473915" y="2211787"/>
            <a:ext cx="6121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BORN-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039106" y="1522217"/>
            <a:ext cx="6267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C0000"/>
                </a:solidFill>
                <a:latin typeface="Book Antiqua"/>
                <a:cs typeface="Book Antiqua"/>
              </a:rPr>
              <a:t>Boston</a:t>
            </a:r>
            <a:endParaRPr sz="1500">
              <a:latin typeface="Book Antiqua"/>
              <a:cs typeface="Book Antiqu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772375" y="1823074"/>
            <a:ext cx="735330" cy="1151255"/>
            <a:chOff x="7772375" y="1823074"/>
            <a:chExt cx="735330" cy="1151255"/>
          </a:xfrm>
        </p:grpSpPr>
        <p:sp>
          <p:nvSpPr>
            <p:cNvPr id="37" name="object 37"/>
            <p:cNvSpPr/>
            <p:nvPr/>
          </p:nvSpPr>
          <p:spPr>
            <a:xfrm>
              <a:off x="7781900" y="2679024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145799" y="285599"/>
                  </a:move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174377" y="2769"/>
                  </a:lnTo>
                  <a:lnTo>
                    <a:pt x="226689" y="23992"/>
                  </a:lnTo>
                  <a:lnTo>
                    <a:pt x="267103" y="63574"/>
                  </a:lnTo>
                  <a:lnTo>
                    <a:pt x="288772" y="114811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close/>
                </a:path>
              </a:pathLst>
            </a:custGeom>
            <a:solidFill>
              <a:srgbClr val="6AA84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81900" y="2679024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0" y="142799"/>
                  </a:move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201595" y="10870"/>
                  </a:lnTo>
                  <a:lnTo>
                    <a:pt x="248895" y="41825"/>
                  </a:lnTo>
                  <a:lnTo>
                    <a:pt x="280501" y="88152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974247" y="2103987"/>
              <a:ext cx="330200" cy="594995"/>
            </a:xfrm>
            <a:custGeom>
              <a:avLst/>
              <a:gdLst/>
              <a:ahLst/>
              <a:cxnLst/>
              <a:rect l="l" t="t" r="r" b="b"/>
              <a:pathLst>
                <a:path w="330200" h="594994">
                  <a:moveTo>
                    <a:pt x="39691" y="594533"/>
                  </a:moveTo>
                  <a:lnTo>
                    <a:pt x="35577" y="592462"/>
                  </a:lnTo>
                  <a:lnTo>
                    <a:pt x="5777" y="577462"/>
                  </a:lnTo>
                  <a:lnTo>
                    <a:pt x="1662" y="575391"/>
                  </a:lnTo>
                  <a:lnTo>
                    <a:pt x="0" y="570373"/>
                  </a:lnTo>
                  <a:lnTo>
                    <a:pt x="283193" y="4870"/>
                  </a:lnTo>
                  <a:lnTo>
                    <a:pt x="284183" y="2892"/>
                  </a:lnTo>
                  <a:lnTo>
                    <a:pt x="285918" y="1390"/>
                  </a:lnTo>
                  <a:lnTo>
                    <a:pt x="290113" y="0"/>
                  </a:lnTo>
                  <a:lnTo>
                    <a:pt x="292402" y="168"/>
                  </a:lnTo>
                  <a:lnTo>
                    <a:pt x="324177" y="16162"/>
                  </a:lnTo>
                  <a:lnTo>
                    <a:pt x="328291" y="18233"/>
                  </a:lnTo>
                  <a:lnTo>
                    <a:pt x="329955" y="23251"/>
                  </a:lnTo>
                  <a:lnTo>
                    <a:pt x="44699" y="592873"/>
                  </a:lnTo>
                  <a:lnTo>
                    <a:pt x="39691" y="594533"/>
                  </a:lnTo>
                  <a:close/>
                </a:path>
              </a:pathLst>
            </a:custGeom>
            <a:solidFill>
              <a:srgbClr val="6AA84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974247" y="2103987"/>
              <a:ext cx="330200" cy="594995"/>
            </a:xfrm>
            <a:custGeom>
              <a:avLst/>
              <a:gdLst/>
              <a:ahLst/>
              <a:cxnLst/>
              <a:rect l="l" t="t" r="r" b="b"/>
              <a:pathLst>
                <a:path w="330200" h="594994">
                  <a:moveTo>
                    <a:pt x="5777" y="577462"/>
                  </a:moveTo>
                  <a:lnTo>
                    <a:pt x="1662" y="575391"/>
                  </a:lnTo>
                  <a:lnTo>
                    <a:pt x="0" y="570373"/>
                  </a:lnTo>
                  <a:lnTo>
                    <a:pt x="2062" y="566254"/>
                  </a:lnTo>
                  <a:lnTo>
                    <a:pt x="283193" y="4870"/>
                  </a:lnTo>
                  <a:lnTo>
                    <a:pt x="284183" y="2892"/>
                  </a:lnTo>
                  <a:lnTo>
                    <a:pt x="285918" y="1390"/>
                  </a:lnTo>
                  <a:lnTo>
                    <a:pt x="288016" y="695"/>
                  </a:lnTo>
                  <a:lnTo>
                    <a:pt x="290113" y="0"/>
                  </a:lnTo>
                  <a:lnTo>
                    <a:pt x="292402" y="168"/>
                  </a:lnTo>
                  <a:lnTo>
                    <a:pt x="294377" y="1162"/>
                  </a:lnTo>
                  <a:lnTo>
                    <a:pt x="324177" y="16162"/>
                  </a:lnTo>
                  <a:lnTo>
                    <a:pt x="328291" y="18233"/>
                  </a:lnTo>
                  <a:lnTo>
                    <a:pt x="329955" y="23251"/>
                  </a:lnTo>
                  <a:lnTo>
                    <a:pt x="327893" y="27370"/>
                  </a:lnTo>
                  <a:lnTo>
                    <a:pt x="46762" y="588754"/>
                  </a:lnTo>
                  <a:lnTo>
                    <a:pt x="44699" y="592873"/>
                  </a:lnTo>
                  <a:lnTo>
                    <a:pt x="39691" y="594533"/>
                  </a:lnTo>
                  <a:lnTo>
                    <a:pt x="35577" y="592462"/>
                  </a:lnTo>
                  <a:lnTo>
                    <a:pt x="5777" y="577462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06425" y="1832599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145799" y="285599"/>
                  </a:move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174377" y="2769"/>
                  </a:lnTo>
                  <a:lnTo>
                    <a:pt x="226689" y="23992"/>
                  </a:lnTo>
                  <a:lnTo>
                    <a:pt x="267103" y="63574"/>
                  </a:lnTo>
                  <a:lnTo>
                    <a:pt x="288772" y="114811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close/>
                </a:path>
              </a:pathLst>
            </a:custGeom>
            <a:solidFill>
              <a:srgbClr val="990000">
                <a:alpha val="136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06425" y="1832599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0" y="142799"/>
                  </a:move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201595" y="10870"/>
                  </a:lnTo>
                  <a:lnTo>
                    <a:pt x="248895" y="41825"/>
                  </a:lnTo>
                  <a:lnTo>
                    <a:pt x="280501" y="88152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close/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10221" y="3558048"/>
            <a:ext cx="2191385" cy="71564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1400" spc="-10" dirty="0">
                <a:latin typeface="Times New Roman"/>
                <a:cs typeface="Times New Roman"/>
              </a:rPr>
              <a:t>(T.S.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Eliot</a:t>
            </a:r>
            <a:r>
              <a:rPr sz="1400" dirty="0">
                <a:latin typeface="Book Antiqua"/>
                <a:cs typeface="Book Antiqua"/>
              </a:rPr>
              <a:t>,</a:t>
            </a:r>
            <a:r>
              <a:rPr sz="1400" spc="6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BORN-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400" dirty="0">
                <a:latin typeface="Book Antiqua"/>
                <a:cs typeface="Book Antiqua"/>
              </a:rPr>
              <a:t>,</a:t>
            </a:r>
            <a:r>
              <a:rPr sz="1400" spc="70" dirty="0"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CC0000"/>
                </a:solidFill>
                <a:latin typeface="Cambria"/>
                <a:cs typeface="Cambria"/>
              </a:rPr>
              <a:t>Boston</a:t>
            </a:r>
            <a:r>
              <a:rPr sz="1400" spc="-1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1010"/>
              </a:spcBef>
            </a:pPr>
            <a:r>
              <a:rPr sz="1500" b="1" dirty="0">
                <a:solidFill>
                  <a:srgbClr val="CC0000"/>
                </a:solidFill>
                <a:latin typeface="Book Antiqua"/>
                <a:cs typeface="Book Antiqua"/>
              </a:rPr>
              <a:t>incorrect</a:t>
            </a:r>
            <a:r>
              <a:rPr sz="1500" b="1" spc="229" dirty="0">
                <a:solidFill>
                  <a:srgbClr val="CC0000"/>
                </a:solidFill>
                <a:latin typeface="Book Antiqua"/>
                <a:cs typeface="Book Antiqua"/>
              </a:rPr>
              <a:t> </a:t>
            </a:r>
            <a:r>
              <a:rPr sz="1500" b="1" spc="-10" dirty="0">
                <a:solidFill>
                  <a:srgbClr val="CC0000"/>
                </a:solidFill>
                <a:latin typeface="Book Antiqua"/>
                <a:cs typeface="Book Antiqua"/>
              </a:rPr>
              <a:t>extraction</a:t>
            </a:r>
            <a:endParaRPr sz="1500">
              <a:latin typeface="Book Antiqua"/>
              <a:cs typeface="Book Antiqu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7968" y="4540353"/>
            <a:ext cx="7639684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spc="105" dirty="0">
                <a:latin typeface="Times New Roman"/>
                <a:cs typeface="Times New Roman"/>
              </a:rPr>
              <a:t>Prone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b="1" spc="50" dirty="0">
                <a:latin typeface="Book Antiqua"/>
                <a:cs typeface="Book Antiqua"/>
              </a:rPr>
              <a:t>error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propagation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b="1" spc="90" dirty="0">
                <a:latin typeface="Book Antiqua"/>
                <a:cs typeface="Book Antiqua"/>
              </a:rPr>
              <a:t>(</a:t>
            </a:r>
            <a:r>
              <a:rPr sz="1700" spc="9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50" dirty="0">
                <a:latin typeface="Times New Roman"/>
                <a:cs typeface="Times New Roman"/>
              </a:rPr>
              <a:t>human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annotations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extraction)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44" name="object 44"/>
          <p:cNvSpPr txBox="1"/>
          <p:nvPr/>
        </p:nvSpPr>
        <p:spPr>
          <a:xfrm>
            <a:off x="6992316" y="68529"/>
            <a:ext cx="207962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Right-most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2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79412" y="1663070"/>
            <a:ext cx="2247265" cy="2044064"/>
            <a:chOff x="3879412" y="1663070"/>
            <a:chExt cx="2247265" cy="20440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9412" y="1663070"/>
              <a:ext cx="2132215" cy="20437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37945" y="2543340"/>
              <a:ext cx="583565" cy="635635"/>
            </a:xfrm>
            <a:custGeom>
              <a:avLst/>
              <a:gdLst/>
              <a:ahLst/>
              <a:cxnLst/>
              <a:rect l="l" t="t" r="r" b="b"/>
              <a:pathLst>
                <a:path w="583564" h="635635">
                  <a:moveTo>
                    <a:pt x="583499" y="635399"/>
                  </a:moveTo>
                  <a:lnTo>
                    <a:pt x="57899" y="634499"/>
                  </a:lnTo>
                  <a:lnTo>
                    <a:pt x="0" y="0"/>
                  </a:lnTo>
                  <a:lnTo>
                    <a:pt x="525599" y="899"/>
                  </a:lnTo>
                  <a:lnTo>
                    <a:pt x="583499" y="63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37945" y="2543340"/>
              <a:ext cx="583565" cy="635635"/>
            </a:xfrm>
            <a:custGeom>
              <a:avLst/>
              <a:gdLst/>
              <a:ahLst/>
              <a:cxnLst/>
              <a:rect l="l" t="t" r="r" b="b"/>
              <a:pathLst>
                <a:path w="583564" h="635635">
                  <a:moveTo>
                    <a:pt x="0" y="0"/>
                  </a:moveTo>
                  <a:lnTo>
                    <a:pt x="525599" y="899"/>
                  </a:lnTo>
                  <a:lnTo>
                    <a:pt x="583499" y="635399"/>
                  </a:lnTo>
                  <a:lnTo>
                    <a:pt x="57899" y="634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46765" y="2566625"/>
            <a:ext cx="758190" cy="228600"/>
          </a:xfrm>
          <a:prstGeom prst="rect">
            <a:avLst/>
          </a:prstGeom>
          <a:solidFill>
            <a:srgbClr val="FCE4C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00" spc="-10" dirty="0">
                <a:latin typeface="Times New Roman"/>
                <a:cs typeface="Times New Roman"/>
              </a:rPr>
              <a:t>T.S.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Eliot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81553" y="2094400"/>
            <a:ext cx="586740" cy="167640"/>
          </a:xfrm>
          <a:custGeom>
            <a:avLst/>
            <a:gdLst/>
            <a:ahLst/>
            <a:cxnLst/>
            <a:rect l="l" t="t" r="r" b="b"/>
            <a:pathLst>
              <a:path w="586739" h="167639">
                <a:moveTo>
                  <a:pt x="586418" y="167639"/>
                </a:moveTo>
                <a:lnTo>
                  <a:pt x="0" y="167639"/>
                </a:lnTo>
                <a:lnTo>
                  <a:pt x="0" y="0"/>
                </a:lnTo>
                <a:lnTo>
                  <a:pt x="586418" y="0"/>
                </a:lnTo>
                <a:lnTo>
                  <a:pt x="586418" y="1676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68853" y="2076112"/>
            <a:ext cx="6121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BORN</a:t>
            </a:r>
            <a:r>
              <a:rPr sz="1100" b="1" spc="-1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2649" y="1406862"/>
            <a:ext cx="601980" cy="228600"/>
          </a:xfrm>
          <a:prstGeom prst="rect">
            <a:avLst/>
          </a:prstGeom>
          <a:solidFill>
            <a:srgbClr val="FCE4C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00" spc="50" dirty="0">
                <a:latin typeface="Times New Roman"/>
                <a:cs typeface="Times New Roman"/>
              </a:rPr>
              <a:t>Boston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7312" y="1687399"/>
            <a:ext cx="735330" cy="1151255"/>
            <a:chOff x="5167312" y="1687399"/>
            <a:chExt cx="735330" cy="1151255"/>
          </a:xfrm>
        </p:grpSpPr>
        <p:sp>
          <p:nvSpPr>
            <p:cNvPr id="12" name="object 12"/>
            <p:cNvSpPr/>
            <p:nvPr/>
          </p:nvSpPr>
          <p:spPr>
            <a:xfrm>
              <a:off x="5176837" y="2543349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145799" y="285599"/>
                  </a:move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174377" y="2769"/>
                  </a:lnTo>
                  <a:lnTo>
                    <a:pt x="226689" y="23992"/>
                  </a:lnTo>
                  <a:lnTo>
                    <a:pt x="267103" y="63574"/>
                  </a:lnTo>
                  <a:lnTo>
                    <a:pt x="288772" y="114811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76837" y="2543349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0" y="142799"/>
                  </a:move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201595" y="10870"/>
                  </a:lnTo>
                  <a:lnTo>
                    <a:pt x="248895" y="41825"/>
                  </a:lnTo>
                  <a:lnTo>
                    <a:pt x="280501" y="88152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69184" y="1968312"/>
              <a:ext cx="330200" cy="594995"/>
            </a:xfrm>
            <a:custGeom>
              <a:avLst/>
              <a:gdLst/>
              <a:ahLst/>
              <a:cxnLst/>
              <a:rect l="l" t="t" r="r" b="b"/>
              <a:pathLst>
                <a:path w="330200" h="594994">
                  <a:moveTo>
                    <a:pt x="39692" y="594533"/>
                  </a:moveTo>
                  <a:lnTo>
                    <a:pt x="5777" y="577462"/>
                  </a:lnTo>
                  <a:lnTo>
                    <a:pt x="1663" y="575391"/>
                  </a:lnTo>
                  <a:lnTo>
                    <a:pt x="0" y="570373"/>
                  </a:lnTo>
                  <a:lnTo>
                    <a:pt x="284183" y="2892"/>
                  </a:lnTo>
                  <a:lnTo>
                    <a:pt x="285918" y="1390"/>
                  </a:lnTo>
                  <a:lnTo>
                    <a:pt x="290113" y="0"/>
                  </a:lnTo>
                  <a:lnTo>
                    <a:pt x="292401" y="168"/>
                  </a:lnTo>
                  <a:lnTo>
                    <a:pt x="328292" y="18233"/>
                  </a:lnTo>
                  <a:lnTo>
                    <a:pt x="329955" y="23251"/>
                  </a:lnTo>
                  <a:lnTo>
                    <a:pt x="44699" y="592873"/>
                  </a:lnTo>
                  <a:lnTo>
                    <a:pt x="39692" y="594533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69184" y="1968312"/>
              <a:ext cx="330200" cy="594995"/>
            </a:xfrm>
            <a:custGeom>
              <a:avLst/>
              <a:gdLst/>
              <a:ahLst/>
              <a:cxnLst/>
              <a:rect l="l" t="t" r="r" b="b"/>
              <a:pathLst>
                <a:path w="330200" h="594994">
                  <a:moveTo>
                    <a:pt x="5777" y="577462"/>
                  </a:moveTo>
                  <a:lnTo>
                    <a:pt x="1663" y="575391"/>
                  </a:lnTo>
                  <a:lnTo>
                    <a:pt x="0" y="570373"/>
                  </a:lnTo>
                  <a:lnTo>
                    <a:pt x="283192" y="4870"/>
                  </a:lnTo>
                  <a:lnTo>
                    <a:pt x="290113" y="0"/>
                  </a:lnTo>
                  <a:lnTo>
                    <a:pt x="292401" y="168"/>
                  </a:lnTo>
                  <a:lnTo>
                    <a:pt x="294377" y="1162"/>
                  </a:lnTo>
                  <a:lnTo>
                    <a:pt x="324177" y="16162"/>
                  </a:lnTo>
                  <a:lnTo>
                    <a:pt x="328292" y="18233"/>
                  </a:lnTo>
                  <a:lnTo>
                    <a:pt x="329955" y="23251"/>
                  </a:lnTo>
                  <a:lnTo>
                    <a:pt x="327892" y="27370"/>
                  </a:lnTo>
                  <a:lnTo>
                    <a:pt x="46762" y="588754"/>
                  </a:lnTo>
                  <a:lnTo>
                    <a:pt x="44699" y="592873"/>
                  </a:lnTo>
                  <a:lnTo>
                    <a:pt x="39692" y="594533"/>
                  </a:lnTo>
                  <a:lnTo>
                    <a:pt x="35577" y="592462"/>
                  </a:lnTo>
                  <a:lnTo>
                    <a:pt x="5777" y="577462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01362" y="1696924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145799" y="285599"/>
                  </a:move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174377" y="2769"/>
                  </a:lnTo>
                  <a:lnTo>
                    <a:pt x="226689" y="23992"/>
                  </a:lnTo>
                  <a:lnTo>
                    <a:pt x="267103" y="63574"/>
                  </a:lnTo>
                  <a:lnTo>
                    <a:pt x="288772" y="114811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01362" y="1696924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0" y="142799"/>
                  </a:move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201595" y="10870"/>
                  </a:lnTo>
                  <a:lnTo>
                    <a:pt x="248895" y="41825"/>
                  </a:lnTo>
                  <a:lnTo>
                    <a:pt x="280501" y="88152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56737" y="2350712"/>
            <a:ext cx="2663825" cy="627380"/>
            <a:chOff x="456737" y="2350712"/>
            <a:chExt cx="2663825" cy="627380"/>
          </a:xfrm>
        </p:grpSpPr>
        <p:sp>
          <p:nvSpPr>
            <p:cNvPr id="19" name="object 19"/>
            <p:cNvSpPr/>
            <p:nvPr/>
          </p:nvSpPr>
          <p:spPr>
            <a:xfrm>
              <a:off x="471024" y="2365000"/>
              <a:ext cx="2635250" cy="598805"/>
            </a:xfrm>
            <a:custGeom>
              <a:avLst/>
              <a:gdLst/>
              <a:ahLst/>
              <a:cxnLst/>
              <a:rect l="l" t="t" r="r" b="b"/>
              <a:pathLst>
                <a:path w="2635250" h="598805">
                  <a:moveTo>
                    <a:pt x="2535097" y="598799"/>
                  </a:moveTo>
                  <a:lnTo>
                    <a:pt x="99801" y="598799"/>
                  </a:lnTo>
                  <a:lnTo>
                    <a:pt x="60954" y="590957"/>
                  </a:lnTo>
                  <a:lnTo>
                    <a:pt x="29231" y="569568"/>
                  </a:lnTo>
                  <a:lnTo>
                    <a:pt x="7842" y="537845"/>
                  </a:lnTo>
                  <a:lnTo>
                    <a:pt x="0" y="498997"/>
                  </a:lnTo>
                  <a:lnTo>
                    <a:pt x="0" y="99801"/>
                  </a:lnTo>
                  <a:lnTo>
                    <a:pt x="7842" y="60954"/>
                  </a:lnTo>
                  <a:lnTo>
                    <a:pt x="29231" y="29231"/>
                  </a:lnTo>
                  <a:lnTo>
                    <a:pt x="60954" y="7842"/>
                  </a:lnTo>
                  <a:lnTo>
                    <a:pt x="99801" y="0"/>
                  </a:lnTo>
                  <a:lnTo>
                    <a:pt x="2535097" y="0"/>
                  </a:lnTo>
                  <a:lnTo>
                    <a:pt x="2573290" y="7596"/>
                  </a:lnTo>
                  <a:lnTo>
                    <a:pt x="2605668" y="29231"/>
                  </a:lnTo>
                  <a:lnTo>
                    <a:pt x="2627303" y="61609"/>
                  </a:lnTo>
                  <a:lnTo>
                    <a:pt x="2634899" y="99801"/>
                  </a:lnTo>
                  <a:lnTo>
                    <a:pt x="2634899" y="498997"/>
                  </a:lnTo>
                  <a:lnTo>
                    <a:pt x="2627057" y="537845"/>
                  </a:lnTo>
                  <a:lnTo>
                    <a:pt x="2605668" y="569568"/>
                  </a:lnTo>
                  <a:lnTo>
                    <a:pt x="2573945" y="590957"/>
                  </a:lnTo>
                  <a:lnTo>
                    <a:pt x="2535097" y="598799"/>
                  </a:lnTo>
                  <a:close/>
                </a:path>
              </a:pathLst>
            </a:custGeom>
            <a:solidFill>
              <a:srgbClr val="990000">
                <a:alpha val="136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1024" y="2365000"/>
              <a:ext cx="2635250" cy="598805"/>
            </a:xfrm>
            <a:custGeom>
              <a:avLst/>
              <a:gdLst/>
              <a:ahLst/>
              <a:cxnLst/>
              <a:rect l="l" t="t" r="r" b="b"/>
              <a:pathLst>
                <a:path w="2635250" h="598805">
                  <a:moveTo>
                    <a:pt x="0" y="99801"/>
                  </a:moveTo>
                  <a:lnTo>
                    <a:pt x="7842" y="60954"/>
                  </a:lnTo>
                  <a:lnTo>
                    <a:pt x="29231" y="29231"/>
                  </a:lnTo>
                  <a:lnTo>
                    <a:pt x="60954" y="7842"/>
                  </a:lnTo>
                  <a:lnTo>
                    <a:pt x="99801" y="0"/>
                  </a:lnTo>
                  <a:lnTo>
                    <a:pt x="2535097" y="0"/>
                  </a:lnTo>
                  <a:lnTo>
                    <a:pt x="2573290" y="7596"/>
                  </a:lnTo>
                  <a:lnTo>
                    <a:pt x="2605668" y="29231"/>
                  </a:lnTo>
                  <a:lnTo>
                    <a:pt x="2627303" y="61609"/>
                  </a:lnTo>
                  <a:lnTo>
                    <a:pt x="2634899" y="99801"/>
                  </a:lnTo>
                  <a:lnTo>
                    <a:pt x="2634899" y="498997"/>
                  </a:lnTo>
                  <a:lnTo>
                    <a:pt x="2627057" y="537845"/>
                  </a:lnTo>
                  <a:lnTo>
                    <a:pt x="2605668" y="569568"/>
                  </a:lnTo>
                  <a:lnTo>
                    <a:pt x="2573945" y="590957"/>
                  </a:lnTo>
                  <a:lnTo>
                    <a:pt x="2535097" y="598799"/>
                  </a:lnTo>
                  <a:lnTo>
                    <a:pt x="99801" y="598799"/>
                  </a:lnTo>
                  <a:lnTo>
                    <a:pt x="60954" y="590957"/>
                  </a:lnTo>
                  <a:lnTo>
                    <a:pt x="29231" y="569568"/>
                  </a:lnTo>
                  <a:lnTo>
                    <a:pt x="7842" y="537845"/>
                  </a:lnTo>
                  <a:lnTo>
                    <a:pt x="0" y="498997"/>
                  </a:lnTo>
                  <a:lnTo>
                    <a:pt x="0" y="99801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3281" y="2545083"/>
            <a:ext cx="24028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Courier New"/>
                <a:cs typeface="Courier New"/>
              </a:rPr>
              <a:t>(T.S.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Eliot,</a:t>
            </a:r>
            <a:r>
              <a:rPr sz="1300" spc="-2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C0000"/>
                </a:solidFill>
                <a:latin typeface="Courier New"/>
                <a:cs typeface="Courier New"/>
              </a:rPr>
              <a:t>BORN</a:t>
            </a:r>
            <a:r>
              <a:rPr sz="1300" b="1" spc="-25" dirty="0">
                <a:solidFill>
                  <a:srgbClr val="CC0000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C0000"/>
                </a:solidFill>
                <a:latin typeface="Courier New"/>
                <a:cs typeface="Courier New"/>
              </a:rPr>
              <a:t>IN</a:t>
            </a:r>
            <a:r>
              <a:rPr sz="1300" dirty="0">
                <a:latin typeface="Courier New"/>
                <a:cs typeface="Courier New"/>
              </a:rPr>
              <a:t>,</a:t>
            </a:r>
            <a:r>
              <a:rPr sz="1300" spc="-20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X)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1499" y="2990586"/>
            <a:ext cx="2376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990000"/>
                </a:solidFill>
                <a:latin typeface="Cambria"/>
                <a:cs typeface="Cambria"/>
              </a:rPr>
              <a:t>slightly</a:t>
            </a:r>
            <a:r>
              <a:rPr sz="1700" b="1" spc="35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990000"/>
                </a:solidFill>
                <a:latin typeface="Cambria"/>
                <a:cs typeface="Cambria"/>
              </a:rPr>
              <a:t>incorrect</a:t>
            </a:r>
            <a:r>
              <a:rPr sz="1700" b="1" spc="35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990000"/>
                </a:solidFill>
                <a:latin typeface="Cambria"/>
                <a:cs typeface="Cambria"/>
              </a:rPr>
              <a:t>query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68837" y="2582987"/>
            <a:ext cx="513715" cy="163195"/>
            <a:chOff x="3268837" y="2582987"/>
            <a:chExt cx="513715" cy="163195"/>
          </a:xfrm>
        </p:grpSpPr>
        <p:sp>
          <p:nvSpPr>
            <p:cNvPr id="24" name="object 24"/>
            <p:cNvSpPr/>
            <p:nvPr/>
          </p:nvSpPr>
          <p:spPr>
            <a:xfrm>
              <a:off x="3273599" y="2587749"/>
              <a:ext cx="504190" cy="153670"/>
            </a:xfrm>
            <a:custGeom>
              <a:avLst/>
              <a:gdLst/>
              <a:ahLst/>
              <a:cxnLst/>
              <a:rect l="l" t="t" r="r" b="b"/>
              <a:pathLst>
                <a:path w="504189" h="153669">
                  <a:moveTo>
                    <a:pt x="427049" y="153299"/>
                  </a:moveTo>
                  <a:lnTo>
                    <a:pt x="427049" y="114974"/>
                  </a:lnTo>
                  <a:lnTo>
                    <a:pt x="0" y="114974"/>
                  </a:lnTo>
                  <a:lnTo>
                    <a:pt x="0" y="38324"/>
                  </a:lnTo>
                  <a:lnTo>
                    <a:pt x="427049" y="38324"/>
                  </a:lnTo>
                  <a:lnTo>
                    <a:pt x="427049" y="0"/>
                  </a:lnTo>
                  <a:lnTo>
                    <a:pt x="503699" y="76649"/>
                  </a:lnTo>
                  <a:lnTo>
                    <a:pt x="427049" y="1532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73599" y="2587749"/>
              <a:ext cx="504190" cy="153670"/>
            </a:xfrm>
            <a:custGeom>
              <a:avLst/>
              <a:gdLst/>
              <a:ahLst/>
              <a:cxnLst/>
              <a:rect l="l" t="t" r="r" b="b"/>
              <a:pathLst>
                <a:path w="504189" h="153669">
                  <a:moveTo>
                    <a:pt x="0" y="38324"/>
                  </a:moveTo>
                  <a:lnTo>
                    <a:pt x="427049" y="38324"/>
                  </a:lnTo>
                  <a:lnTo>
                    <a:pt x="427049" y="0"/>
                  </a:lnTo>
                  <a:lnTo>
                    <a:pt x="503699" y="76649"/>
                  </a:lnTo>
                  <a:lnTo>
                    <a:pt x="427049" y="153299"/>
                  </a:lnTo>
                  <a:lnTo>
                    <a:pt x="427049" y="114974"/>
                  </a:lnTo>
                  <a:lnTo>
                    <a:pt x="0" y="114974"/>
                  </a:lnTo>
                  <a:lnTo>
                    <a:pt x="0" y="38324"/>
                  </a:lnTo>
                  <a:close/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515492" y="68529"/>
            <a:ext cx="155638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0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06241" y="4540353"/>
            <a:ext cx="453263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spc="60" dirty="0">
                <a:latin typeface="Times New Roman"/>
                <a:cs typeface="Times New Roman"/>
              </a:rPr>
              <a:t>Reliant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ﬁxed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schemas</a:t>
            </a:r>
            <a:r>
              <a:rPr sz="1700" b="1" spc="-15" dirty="0">
                <a:latin typeface="Book Antiqua"/>
                <a:cs typeface="Book Antiqua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store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query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data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Downsides</a:t>
            </a:r>
            <a:r>
              <a:rPr spc="-35" dirty="0"/>
              <a:t> </a:t>
            </a:r>
            <a:r>
              <a:rPr spc="80" dirty="0"/>
              <a:t>of</a:t>
            </a:r>
            <a:r>
              <a:rPr spc="-35" dirty="0"/>
              <a:t> </a:t>
            </a:r>
            <a:r>
              <a:rPr spc="130" dirty="0"/>
              <a:t>using</a:t>
            </a:r>
            <a:r>
              <a:rPr spc="-35" dirty="0"/>
              <a:t> </a:t>
            </a:r>
            <a:r>
              <a:rPr spc="110" dirty="0"/>
              <a:t>knowledge</a:t>
            </a:r>
            <a:r>
              <a:rPr spc="-35" dirty="0"/>
              <a:t> </a:t>
            </a:r>
            <a:r>
              <a:rPr spc="130" dirty="0"/>
              <a:t>bases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79412" y="1663070"/>
            <a:ext cx="2247265" cy="2044064"/>
            <a:chOff x="3879412" y="1663070"/>
            <a:chExt cx="2247265" cy="20440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9412" y="1663070"/>
              <a:ext cx="2132215" cy="20437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37945" y="2543340"/>
              <a:ext cx="583565" cy="635635"/>
            </a:xfrm>
            <a:custGeom>
              <a:avLst/>
              <a:gdLst/>
              <a:ahLst/>
              <a:cxnLst/>
              <a:rect l="l" t="t" r="r" b="b"/>
              <a:pathLst>
                <a:path w="583564" h="635635">
                  <a:moveTo>
                    <a:pt x="583499" y="635399"/>
                  </a:moveTo>
                  <a:lnTo>
                    <a:pt x="57899" y="634499"/>
                  </a:lnTo>
                  <a:lnTo>
                    <a:pt x="0" y="0"/>
                  </a:lnTo>
                  <a:lnTo>
                    <a:pt x="525599" y="899"/>
                  </a:lnTo>
                  <a:lnTo>
                    <a:pt x="583499" y="63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37945" y="2543340"/>
              <a:ext cx="583565" cy="635635"/>
            </a:xfrm>
            <a:custGeom>
              <a:avLst/>
              <a:gdLst/>
              <a:ahLst/>
              <a:cxnLst/>
              <a:rect l="l" t="t" r="r" b="b"/>
              <a:pathLst>
                <a:path w="583564" h="635635">
                  <a:moveTo>
                    <a:pt x="0" y="0"/>
                  </a:moveTo>
                  <a:lnTo>
                    <a:pt x="525599" y="899"/>
                  </a:lnTo>
                  <a:lnTo>
                    <a:pt x="583499" y="635399"/>
                  </a:lnTo>
                  <a:lnTo>
                    <a:pt x="57899" y="634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46765" y="2566625"/>
            <a:ext cx="758190" cy="228600"/>
          </a:xfrm>
          <a:prstGeom prst="rect">
            <a:avLst/>
          </a:prstGeom>
          <a:solidFill>
            <a:srgbClr val="FCE4C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00" spc="-10" dirty="0">
                <a:latin typeface="Times New Roman"/>
                <a:cs typeface="Times New Roman"/>
              </a:rPr>
              <a:t>T.S.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Eliot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81553" y="2094400"/>
            <a:ext cx="586740" cy="167640"/>
          </a:xfrm>
          <a:custGeom>
            <a:avLst/>
            <a:gdLst/>
            <a:ahLst/>
            <a:cxnLst/>
            <a:rect l="l" t="t" r="r" b="b"/>
            <a:pathLst>
              <a:path w="586739" h="167639">
                <a:moveTo>
                  <a:pt x="586418" y="167639"/>
                </a:moveTo>
                <a:lnTo>
                  <a:pt x="0" y="167639"/>
                </a:lnTo>
                <a:lnTo>
                  <a:pt x="0" y="0"/>
                </a:lnTo>
                <a:lnTo>
                  <a:pt x="586418" y="0"/>
                </a:lnTo>
                <a:lnTo>
                  <a:pt x="586418" y="1676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68853" y="2076112"/>
            <a:ext cx="6121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BORN</a:t>
            </a:r>
            <a:r>
              <a:rPr sz="1100" b="1" spc="-1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2649" y="1406862"/>
            <a:ext cx="601980" cy="228600"/>
          </a:xfrm>
          <a:prstGeom prst="rect">
            <a:avLst/>
          </a:prstGeom>
          <a:solidFill>
            <a:srgbClr val="FCE4C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00" spc="50" dirty="0">
                <a:latin typeface="Times New Roman"/>
                <a:cs typeface="Times New Roman"/>
              </a:rPr>
              <a:t>Boston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7312" y="1687399"/>
            <a:ext cx="735330" cy="1151255"/>
            <a:chOff x="5167312" y="1687399"/>
            <a:chExt cx="735330" cy="1151255"/>
          </a:xfrm>
        </p:grpSpPr>
        <p:sp>
          <p:nvSpPr>
            <p:cNvPr id="12" name="object 12"/>
            <p:cNvSpPr/>
            <p:nvPr/>
          </p:nvSpPr>
          <p:spPr>
            <a:xfrm>
              <a:off x="5176837" y="2543349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145799" y="285599"/>
                  </a:move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174377" y="2769"/>
                  </a:lnTo>
                  <a:lnTo>
                    <a:pt x="226689" y="23992"/>
                  </a:lnTo>
                  <a:lnTo>
                    <a:pt x="267103" y="63574"/>
                  </a:lnTo>
                  <a:lnTo>
                    <a:pt x="288772" y="114811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76837" y="2543349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0" y="142799"/>
                  </a:move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201595" y="10870"/>
                  </a:lnTo>
                  <a:lnTo>
                    <a:pt x="248895" y="41825"/>
                  </a:lnTo>
                  <a:lnTo>
                    <a:pt x="280501" y="88152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69184" y="1968312"/>
              <a:ext cx="330200" cy="594995"/>
            </a:xfrm>
            <a:custGeom>
              <a:avLst/>
              <a:gdLst/>
              <a:ahLst/>
              <a:cxnLst/>
              <a:rect l="l" t="t" r="r" b="b"/>
              <a:pathLst>
                <a:path w="330200" h="594994">
                  <a:moveTo>
                    <a:pt x="39692" y="594533"/>
                  </a:moveTo>
                  <a:lnTo>
                    <a:pt x="5777" y="577462"/>
                  </a:lnTo>
                  <a:lnTo>
                    <a:pt x="1663" y="575391"/>
                  </a:lnTo>
                  <a:lnTo>
                    <a:pt x="0" y="570373"/>
                  </a:lnTo>
                  <a:lnTo>
                    <a:pt x="284183" y="2892"/>
                  </a:lnTo>
                  <a:lnTo>
                    <a:pt x="285918" y="1390"/>
                  </a:lnTo>
                  <a:lnTo>
                    <a:pt x="290113" y="0"/>
                  </a:lnTo>
                  <a:lnTo>
                    <a:pt x="292401" y="168"/>
                  </a:lnTo>
                  <a:lnTo>
                    <a:pt x="328292" y="18233"/>
                  </a:lnTo>
                  <a:lnTo>
                    <a:pt x="329955" y="23251"/>
                  </a:lnTo>
                  <a:lnTo>
                    <a:pt x="44699" y="592873"/>
                  </a:lnTo>
                  <a:lnTo>
                    <a:pt x="39692" y="594533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69184" y="1968312"/>
              <a:ext cx="330200" cy="594995"/>
            </a:xfrm>
            <a:custGeom>
              <a:avLst/>
              <a:gdLst/>
              <a:ahLst/>
              <a:cxnLst/>
              <a:rect l="l" t="t" r="r" b="b"/>
              <a:pathLst>
                <a:path w="330200" h="594994">
                  <a:moveTo>
                    <a:pt x="5777" y="577462"/>
                  </a:moveTo>
                  <a:lnTo>
                    <a:pt x="1663" y="575391"/>
                  </a:lnTo>
                  <a:lnTo>
                    <a:pt x="0" y="570373"/>
                  </a:lnTo>
                  <a:lnTo>
                    <a:pt x="283192" y="4870"/>
                  </a:lnTo>
                  <a:lnTo>
                    <a:pt x="290113" y="0"/>
                  </a:lnTo>
                  <a:lnTo>
                    <a:pt x="292401" y="168"/>
                  </a:lnTo>
                  <a:lnTo>
                    <a:pt x="294377" y="1162"/>
                  </a:lnTo>
                  <a:lnTo>
                    <a:pt x="324177" y="16162"/>
                  </a:lnTo>
                  <a:lnTo>
                    <a:pt x="328292" y="18233"/>
                  </a:lnTo>
                  <a:lnTo>
                    <a:pt x="329955" y="23251"/>
                  </a:lnTo>
                  <a:lnTo>
                    <a:pt x="327892" y="27370"/>
                  </a:lnTo>
                  <a:lnTo>
                    <a:pt x="46762" y="588754"/>
                  </a:lnTo>
                  <a:lnTo>
                    <a:pt x="44699" y="592873"/>
                  </a:lnTo>
                  <a:lnTo>
                    <a:pt x="39692" y="594533"/>
                  </a:lnTo>
                  <a:lnTo>
                    <a:pt x="35577" y="592462"/>
                  </a:lnTo>
                  <a:lnTo>
                    <a:pt x="5777" y="577462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01362" y="1696924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145799" y="285599"/>
                  </a:move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174377" y="2769"/>
                  </a:lnTo>
                  <a:lnTo>
                    <a:pt x="226689" y="23992"/>
                  </a:lnTo>
                  <a:lnTo>
                    <a:pt x="267103" y="63574"/>
                  </a:lnTo>
                  <a:lnTo>
                    <a:pt x="288772" y="114811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01362" y="1696924"/>
              <a:ext cx="292100" cy="285750"/>
            </a:xfrm>
            <a:custGeom>
              <a:avLst/>
              <a:gdLst/>
              <a:ahLst/>
              <a:cxnLst/>
              <a:rect l="l" t="t" r="r" b="b"/>
              <a:pathLst>
                <a:path w="292100" h="285750">
                  <a:moveTo>
                    <a:pt x="0" y="142799"/>
                  </a:moveTo>
                  <a:lnTo>
                    <a:pt x="7432" y="97664"/>
                  </a:lnTo>
                  <a:lnTo>
                    <a:pt x="28130" y="58464"/>
                  </a:lnTo>
                  <a:lnTo>
                    <a:pt x="59692" y="27552"/>
                  </a:lnTo>
                  <a:lnTo>
                    <a:pt x="99715" y="7280"/>
                  </a:lnTo>
                  <a:lnTo>
                    <a:pt x="145799" y="0"/>
                  </a:lnTo>
                  <a:lnTo>
                    <a:pt x="201595" y="10870"/>
                  </a:lnTo>
                  <a:lnTo>
                    <a:pt x="248895" y="41825"/>
                  </a:lnTo>
                  <a:lnTo>
                    <a:pt x="280501" y="88152"/>
                  </a:lnTo>
                  <a:lnTo>
                    <a:pt x="291599" y="142799"/>
                  </a:lnTo>
                  <a:lnTo>
                    <a:pt x="284167" y="187935"/>
                  </a:lnTo>
                  <a:lnTo>
                    <a:pt x="263469" y="227135"/>
                  </a:lnTo>
                  <a:lnTo>
                    <a:pt x="231907" y="258047"/>
                  </a:lnTo>
                  <a:lnTo>
                    <a:pt x="191884" y="278319"/>
                  </a:lnTo>
                  <a:lnTo>
                    <a:pt x="145799" y="285599"/>
                  </a:lnTo>
                  <a:lnTo>
                    <a:pt x="99715" y="278319"/>
                  </a:lnTo>
                  <a:lnTo>
                    <a:pt x="59692" y="258047"/>
                  </a:lnTo>
                  <a:lnTo>
                    <a:pt x="28130" y="227135"/>
                  </a:lnTo>
                  <a:lnTo>
                    <a:pt x="7432" y="187935"/>
                  </a:lnTo>
                  <a:lnTo>
                    <a:pt x="0" y="142799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56737" y="2350712"/>
            <a:ext cx="2663825" cy="627380"/>
            <a:chOff x="456737" y="2350712"/>
            <a:chExt cx="2663825" cy="627380"/>
          </a:xfrm>
        </p:grpSpPr>
        <p:sp>
          <p:nvSpPr>
            <p:cNvPr id="19" name="object 19"/>
            <p:cNvSpPr/>
            <p:nvPr/>
          </p:nvSpPr>
          <p:spPr>
            <a:xfrm>
              <a:off x="471024" y="2365000"/>
              <a:ext cx="2635250" cy="598805"/>
            </a:xfrm>
            <a:custGeom>
              <a:avLst/>
              <a:gdLst/>
              <a:ahLst/>
              <a:cxnLst/>
              <a:rect l="l" t="t" r="r" b="b"/>
              <a:pathLst>
                <a:path w="2635250" h="598805">
                  <a:moveTo>
                    <a:pt x="2535097" y="598799"/>
                  </a:moveTo>
                  <a:lnTo>
                    <a:pt x="99801" y="598799"/>
                  </a:lnTo>
                  <a:lnTo>
                    <a:pt x="60954" y="590957"/>
                  </a:lnTo>
                  <a:lnTo>
                    <a:pt x="29231" y="569568"/>
                  </a:lnTo>
                  <a:lnTo>
                    <a:pt x="7842" y="537845"/>
                  </a:lnTo>
                  <a:lnTo>
                    <a:pt x="0" y="498997"/>
                  </a:lnTo>
                  <a:lnTo>
                    <a:pt x="0" y="99801"/>
                  </a:lnTo>
                  <a:lnTo>
                    <a:pt x="7842" y="60954"/>
                  </a:lnTo>
                  <a:lnTo>
                    <a:pt x="29231" y="29231"/>
                  </a:lnTo>
                  <a:lnTo>
                    <a:pt x="60954" y="7842"/>
                  </a:lnTo>
                  <a:lnTo>
                    <a:pt x="99801" y="0"/>
                  </a:lnTo>
                  <a:lnTo>
                    <a:pt x="2535097" y="0"/>
                  </a:lnTo>
                  <a:lnTo>
                    <a:pt x="2573290" y="7596"/>
                  </a:lnTo>
                  <a:lnTo>
                    <a:pt x="2605668" y="29231"/>
                  </a:lnTo>
                  <a:lnTo>
                    <a:pt x="2627303" y="61609"/>
                  </a:lnTo>
                  <a:lnTo>
                    <a:pt x="2634899" y="99801"/>
                  </a:lnTo>
                  <a:lnTo>
                    <a:pt x="2634899" y="498997"/>
                  </a:lnTo>
                  <a:lnTo>
                    <a:pt x="2627057" y="537845"/>
                  </a:lnTo>
                  <a:lnTo>
                    <a:pt x="2605668" y="569568"/>
                  </a:lnTo>
                  <a:lnTo>
                    <a:pt x="2573945" y="590957"/>
                  </a:lnTo>
                  <a:lnTo>
                    <a:pt x="2535097" y="598799"/>
                  </a:lnTo>
                  <a:close/>
                </a:path>
              </a:pathLst>
            </a:custGeom>
            <a:solidFill>
              <a:srgbClr val="990000">
                <a:alpha val="136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1024" y="2365000"/>
              <a:ext cx="2635250" cy="598805"/>
            </a:xfrm>
            <a:custGeom>
              <a:avLst/>
              <a:gdLst/>
              <a:ahLst/>
              <a:cxnLst/>
              <a:rect l="l" t="t" r="r" b="b"/>
              <a:pathLst>
                <a:path w="2635250" h="598805">
                  <a:moveTo>
                    <a:pt x="0" y="99801"/>
                  </a:moveTo>
                  <a:lnTo>
                    <a:pt x="7842" y="60954"/>
                  </a:lnTo>
                  <a:lnTo>
                    <a:pt x="29231" y="29231"/>
                  </a:lnTo>
                  <a:lnTo>
                    <a:pt x="60954" y="7842"/>
                  </a:lnTo>
                  <a:lnTo>
                    <a:pt x="99801" y="0"/>
                  </a:lnTo>
                  <a:lnTo>
                    <a:pt x="2535097" y="0"/>
                  </a:lnTo>
                  <a:lnTo>
                    <a:pt x="2573290" y="7596"/>
                  </a:lnTo>
                  <a:lnTo>
                    <a:pt x="2605668" y="29231"/>
                  </a:lnTo>
                  <a:lnTo>
                    <a:pt x="2627303" y="61609"/>
                  </a:lnTo>
                  <a:lnTo>
                    <a:pt x="2634899" y="99801"/>
                  </a:lnTo>
                  <a:lnTo>
                    <a:pt x="2634899" y="498997"/>
                  </a:lnTo>
                  <a:lnTo>
                    <a:pt x="2627057" y="537845"/>
                  </a:lnTo>
                  <a:lnTo>
                    <a:pt x="2605668" y="569568"/>
                  </a:lnTo>
                  <a:lnTo>
                    <a:pt x="2573945" y="590957"/>
                  </a:lnTo>
                  <a:lnTo>
                    <a:pt x="2535097" y="598799"/>
                  </a:lnTo>
                  <a:lnTo>
                    <a:pt x="99801" y="598799"/>
                  </a:lnTo>
                  <a:lnTo>
                    <a:pt x="60954" y="590957"/>
                  </a:lnTo>
                  <a:lnTo>
                    <a:pt x="29231" y="569568"/>
                  </a:lnTo>
                  <a:lnTo>
                    <a:pt x="7842" y="537845"/>
                  </a:lnTo>
                  <a:lnTo>
                    <a:pt x="0" y="498997"/>
                  </a:lnTo>
                  <a:lnTo>
                    <a:pt x="0" y="99801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3281" y="2545083"/>
            <a:ext cx="24028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Courier New"/>
                <a:cs typeface="Courier New"/>
              </a:rPr>
              <a:t>(T.S.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Eliot,</a:t>
            </a:r>
            <a:r>
              <a:rPr sz="1300" spc="-2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C0000"/>
                </a:solidFill>
                <a:latin typeface="Courier New"/>
                <a:cs typeface="Courier New"/>
              </a:rPr>
              <a:t>BORN</a:t>
            </a:r>
            <a:r>
              <a:rPr sz="1300" b="1" spc="-25" dirty="0">
                <a:solidFill>
                  <a:srgbClr val="CC0000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C0000"/>
                </a:solidFill>
                <a:latin typeface="Courier New"/>
                <a:cs typeface="Courier New"/>
              </a:rPr>
              <a:t>IN</a:t>
            </a:r>
            <a:r>
              <a:rPr sz="1300" dirty="0">
                <a:latin typeface="Courier New"/>
                <a:cs typeface="Courier New"/>
              </a:rPr>
              <a:t>,</a:t>
            </a:r>
            <a:r>
              <a:rPr sz="1300" spc="-20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X)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68837" y="2582987"/>
            <a:ext cx="513715" cy="163195"/>
            <a:chOff x="3268837" y="2582987"/>
            <a:chExt cx="513715" cy="163195"/>
          </a:xfrm>
        </p:grpSpPr>
        <p:sp>
          <p:nvSpPr>
            <p:cNvPr id="23" name="object 23"/>
            <p:cNvSpPr/>
            <p:nvPr/>
          </p:nvSpPr>
          <p:spPr>
            <a:xfrm>
              <a:off x="3273599" y="2587749"/>
              <a:ext cx="504190" cy="153670"/>
            </a:xfrm>
            <a:custGeom>
              <a:avLst/>
              <a:gdLst/>
              <a:ahLst/>
              <a:cxnLst/>
              <a:rect l="l" t="t" r="r" b="b"/>
              <a:pathLst>
                <a:path w="504189" h="153669">
                  <a:moveTo>
                    <a:pt x="427049" y="153299"/>
                  </a:moveTo>
                  <a:lnTo>
                    <a:pt x="427049" y="114974"/>
                  </a:lnTo>
                  <a:lnTo>
                    <a:pt x="0" y="114974"/>
                  </a:lnTo>
                  <a:lnTo>
                    <a:pt x="0" y="38324"/>
                  </a:lnTo>
                  <a:lnTo>
                    <a:pt x="427049" y="38324"/>
                  </a:lnTo>
                  <a:lnTo>
                    <a:pt x="427049" y="0"/>
                  </a:lnTo>
                  <a:lnTo>
                    <a:pt x="503699" y="76649"/>
                  </a:lnTo>
                  <a:lnTo>
                    <a:pt x="427049" y="1532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3599" y="2587749"/>
              <a:ext cx="504190" cy="153670"/>
            </a:xfrm>
            <a:custGeom>
              <a:avLst/>
              <a:gdLst/>
              <a:ahLst/>
              <a:cxnLst/>
              <a:rect l="l" t="t" r="r" b="b"/>
              <a:pathLst>
                <a:path w="504189" h="153669">
                  <a:moveTo>
                    <a:pt x="0" y="38324"/>
                  </a:moveTo>
                  <a:lnTo>
                    <a:pt x="427049" y="38324"/>
                  </a:lnTo>
                  <a:lnTo>
                    <a:pt x="427049" y="0"/>
                  </a:lnTo>
                  <a:lnTo>
                    <a:pt x="503699" y="76649"/>
                  </a:lnTo>
                  <a:lnTo>
                    <a:pt x="427049" y="153299"/>
                  </a:lnTo>
                  <a:lnTo>
                    <a:pt x="427049" y="114974"/>
                  </a:lnTo>
                  <a:lnTo>
                    <a:pt x="0" y="114974"/>
                  </a:lnTo>
                  <a:lnTo>
                    <a:pt x="0" y="38324"/>
                  </a:lnTo>
                  <a:close/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494062" y="2582987"/>
            <a:ext cx="513715" cy="163195"/>
            <a:chOff x="6494062" y="2582987"/>
            <a:chExt cx="513715" cy="163195"/>
          </a:xfrm>
        </p:grpSpPr>
        <p:sp>
          <p:nvSpPr>
            <p:cNvPr id="26" name="object 26"/>
            <p:cNvSpPr/>
            <p:nvPr/>
          </p:nvSpPr>
          <p:spPr>
            <a:xfrm>
              <a:off x="6498825" y="2587749"/>
              <a:ext cx="504190" cy="153670"/>
            </a:xfrm>
            <a:custGeom>
              <a:avLst/>
              <a:gdLst/>
              <a:ahLst/>
              <a:cxnLst/>
              <a:rect l="l" t="t" r="r" b="b"/>
              <a:pathLst>
                <a:path w="504190" h="153669">
                  <a:moveTo>
                    <a:pt x="427049" y="153299"/>
                  </a:moveTo>
                  <a:lnTo>
                    <a:pt x="427049" y="114974"/>
                  </a:lnTo>
                  <a:lnTo>
                    <a:pt x="0" y="114974"/>
                  </a:lnTo>
                  <a:lnTo>
                    <a:pt x="0" y="38324"/>
                  </a:lnTo>
                  <a:lnTo>
                    <a:pt x="427049" y="38324"/>
                  </a:lnTo>
                  <a:lnTo>
                    <a:pt x="427049" y="0"/>
                  </a:lnTo>
                  <a:lnTo>
                    <a:pt x="503699" y="76649"/>
                  </a:lnTo>
                  <a:lnTo>
                    <a:pt x="427049" y="1532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98825" y="2587749"/>
              <a:ext cx="504190" cy="153670"/>
            </a:xfrm>
            <a:custGeom>
              <a:avLst/>
              <a:gdLst/>
              <a:ahLst/>
              <a:cxnLst/>
              <a:rect l="l" t="t" r="r" b="b"/>
              <a:pathLst>
                <a:path w="504190" h="153669">
                  <a:moveTo>
                    <a:pt x="0" y="38324"/>
                  </a:moveTo>
                  <a:lnTo>
                    <a:pt x="427049" y="38324"/>
                  </a:lnTo>
                  <a:lnTo>
                    <a:pt x="427049" y="0"/>
                  </a:lnTo>
                  <a:lnTo>
                    <a:pt x="503699" y="76649"/>
                  </a:lnTo>
                  <a:lnTo>
                    <a:pt x="427049" y="153299"/>
                  </a:lnTo>
                  <a:lnTo>
                    <a:pt x="427049" y="114974"/>
                  </a:lnTo>
                  <a:lnTo>
                    <a:pt x="0" y="114974"/>
                  </a:lnTo>
                  <a:lnTo>
                    <a:pt x="0" y="38324"/>
                  </a:lnTo>
                  <a:close/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302620" y="2191430"/>
            <a:ext cx="1394460" cy="7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Book Antiqua"/>
                <a:cs typeface="Book Antiqua"/>
              </a:rPr>
              <a:t>ERROR</a:t>
            </a:r>
            <a:endParaRPr sz="1800">
              <a:latin typeface="Book Antiqua"/>
              <a:cs typeface="Book Antiqua"/>
            </a:endParaRPr>
          </a:p>
          <a:p>
            <a:pPr marL="12700" marR="5080" algn="ctr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Times New Roman"/>
                <a:cs typeface="Times New Roman"/>
              </a:rPr>
              <a:t>“</a:t>
            </a:r>
            <a:r>
              <a:rPr sz="1400" dirty="0">
                <a:latin typeface="Courier New"/>
                <a:cs typeface="Courier New"/>
              </a:rPr>
              <a:t>BORN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IN</a:t>
            </a:r>
            <a:r>
              <a:rPr sz="1400" dirty="0">
                <a:latin typeface="Times New Roman"/>
                <a:cs typeface="Times New Roman"/>
              </a:rPr>
              <a:t>”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not </a:t>
            </a:r>
            <a:r>
              <a:rPr sz="1400" spc="85" dirty="0">
                <a:latin typeface="Times New Roman"/>
                <a:cs typeface="Times New Roman"/>
              </a:rPr>
              <a:t>a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legal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relation.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241" y="4540353"/>
            <a:ext cx="453263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spc="60" dirty="0">
                <a:latin typeface="Times New Roman"/>
                <a:cs typeface="Times New Roman"/>
              </a:rPr>
              <a:t>Reliant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ﬁxed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schemas</a:t>
            </a:r>
            <a:r>
              <a:rPr sz="1700" b="1" spc="-15" dirty="0">
                <a:latin typeface="Book Antiqua"/>
                <a:cs typeface="Book Antiqua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store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query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data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29" name="object 29"/>
          <p:cNvSpPr txBox="1"/>
          <p:nvPr/>
        </p:nvSpPr>
        <p:spPr>
          <a:xfrm>
            <a:off x="7515492" y="68529"/>
            <a:ext cx="155638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Graphic</a:t>
            </a:r>
            <a:r>
              <a:rPr sz="850" i="1" spc="10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0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0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1499" y="2990586"/>
            <a:ext cx="2376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990000"/>
                </a:solidFill>
                <a:latin typeface="Cambria"/>
                <a:cs typeface="Cambria"/>
              </a:rPr>
              <a:t>slightly</a:t>
            </a:r>
            <a:r>
              <a:rPr sz="1700" b="1" spc="35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990000"/>
                </a:solidFill>
                <a:latin typeface="Cambria"/>
                <a:cs typeface="Cambria"/>
              </a:rPr>
              <a:t>incorrect</a:t>
            </a:r>
            <a:r>
              <a:rPr sz="1700" b="1" spc="35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990000"/>
                </a:solidFill>
                <a:latin typeface="Cambria"/>
                <a:cs typeface="Cambria"/>
              </a:rPr>
              <a:t>query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663846" y="1454992"/>
            <a:ext cx="5817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5" dirty="0">
                <a:solidFill>
                  <a:srgbClr val="595959"/>
                </a:solidFill>
                <a:latin typeface="Times New Roman"/>
                <a:cs typeface="Times New Roman"/>
              </a:rPr>
              <a:t>Traditional</a:t>
            </a:r>
            <a:r>
              <a:rPr sz="2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105" dirty="0">
                <a:solidFill>
                  <a:srgbClr val="595959"/>
                </a:solidFill>
                <a:latin typeface="Times New Roman"/>
                <a:cs typeface="Times New Roman"/>
              </a:rPr>
              <a:t>knowledge</a:t>
            </a:r>
            <a:r>
              <a:rPr sz="2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135" dirty="0">
                <a:solidFill>
                  <a:srgbClr val="595959"/>
                </a:solidFill>
                <a:latin typeface="Times New Roman"/>
                <a:cs typeface="Times New Roman"/>
              </a:rPr>
              <a:t>bases</a:t>
            </a:r>
            <a:r>
              <a:rPr sz="2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155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E69137"/>
                </a:solidFill>
                <a:latin typeface="Cambria"/>
                <a:cs typeface="Cambria"/>
              </a:rPr>
              <a:t>inﬂexible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7659" y="1767466"/>
            <a:ext cx="6069965" cy="107315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64135" algn="ctr">
              <a:lnSpc>
                <a:spcPct val="100000"/>
              </a:lnSpc>
              <a:spcBef>
                <a:spcPts val="520"/>
              </a:spcBef>
            </a:pPr>
            <a:r>
              <a:rPr sz="2400" spc="18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150" dirty="0">
                <a:solidFill>
                  <a:srgbClr val="595959"/>
                </a:solidFill>
                <a:latin typeface="Times New Roman"/>
                <a:cs typeface="Times New Roman"/>
              </a:rPr>
              <a:t>require</a:t>
            </a:r>
            <a:r>
              <a:rPr sz="24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E69137"/>
                </a:solidFill>
                <a:latin typeface="Cambria"/>
                <a:cs typeface="Cambria"/>
              </a:rPr>
              <a:t>signiﬁcant</a:t>
            </a:r>
            <a:r>
              <a:rPr sz="2400" b="1" spc="1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E69137"/>
                </a:solidFill>
                <a:latin typeface="Cambria"/>
                <a:cs typeface="Cambria"/>
              </a:rPr>
              <a:t>manual</a:t>
            </a:r>
            <a:r>
              <a:rPr sz="2400" b="1" spc="1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E69137"/>
                </a:solidFill>
                <a:latin typeface="Cambria"/>
                <a:cs typeface="Cambria"/>
              </a:rPr>
              <a:t>eﬀort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3600" b="1" spc="-45" dirty="0">
                <a:latin typeface="Book Antiqua"/>
                <a:cs typeface="Book Antiqua"/>
              </a:rPr>
              <a:t>Are</a:t>
            </a:r>
            <a:r>
              <a:rPr sz="3600" b="1" spc="-25" dirty="0">
                <a:latin typeface="Book Antiqua"/>
                <a:cs typeface="Book Antiqua"/>
              </a:rPr>
              <a:t> </a:t>
            </a:r>
            <a:r>
              <a:rPr sz="3600" b="1" spc="50" dirty="0">
                <a:latin typeface="Book Antiqua"/>
                <a:cs typeface="Book Antiqua"/>
              </a:rPr>
              <a:t>there</a:t>
            </a:r>
            <a:r>
              <a:rPr sz="3600" b="1" spc="-20" dirty="0">
                <a:latin typeface="Book Antiqua"/>
                <a:cs typeface="Book Antiqua"/>
              </a:rPr>
              <a:t> </a:t>
            </a:r>
            <a:r>
              <a:rPr sz="3600" b="1" dirty="0">
                <a:latin typeface="Book Antiqua"/>
                <a:cs typeface="Book Antiqua"/>
              </a:rPr>
              <a:t>better</a:t>
            </a:r>
            <a:r>
              <a:rPr sz="3600" b="1" spc="-25" dirty="0">
                <a:latin typeface="Book Antiqua"/>
                <a:cs typeface="Book Antiqua"/>
              </a:rPr>
              <a:t> </a:t>
            </a:r>
            <a:r>
              <a:rPr sz="3600" b="1" spc="-10" dirty="0">
                <a:latin typeface="Book Antiqua"/>
                <a:cs typeface="Book Antiqua"/>
              </a:rPr>
              <a:t>alternatives?</a:t>
            </a:r>
            <a:endParaRPr sz="36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225" y="1992122"/>
            <a:ext cx="79425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7385" marR="5080" indent="-1925320">
              <a:lnSpc>
                <a:spcPct val="100000"/>
              </a:lnSpc>
              <a:spcBef>
                <a:spcPts val="100"/>
              </a:spcBef>
            </a:pPr>
            <a:r>
              <a:rPr sz="3600" spc="160" dirty="0"/>
              <a:t>Language</a:t>
            </a:r>
            <a:r>
              <a:rPr sz="3600" spc="-45" dirty="0"/>
              <a:t> </a:t>
            </a:r>
            <a:r>
              <a:rPr sz="3600" spc="125" dirty="0"/>
              <a:t>Models</a:t>
            </a:r>
            <a:r>
              <a:rPr sz="3600" spc="-45" dirty="0"/>
              <a:t> </a:t>
            </a:r>
            <a:r>
              <a:rPr sz="3600" spc="190" dirty="0"/>
              <a:t>as</a:t>
            </a:r>
            <a:r>
              <a:rPr sz="3600" spc="-45" dirty="0"/>
              <a:t> </a:t>
            </a:r>
            <a:r>
              <a:rPr sz="3600" spc="120" dirty="0"/>
              <a:t>Knowledge</a:t>
            </a:r>
            <a:r>
              <a:rPr sz="3600" spc="-40" dirty="0"/>
              <a:t> </a:t>
            </a:r>
            <a:r>
              <a:rPr sz="3600" spc="70" dirty="0"/>
              <a:t>Bases? </a:t>
            </a:r>
            <a:r>
              <a:rPr sz="3600" spc="165" dirty="0"/>
              <a:t>(Petroni</a:t>
            </a:r>
            <a:r>
              <a:rPr sz="3600" spc="-50" dirty="0"/>
              <a:t> </a:t>
            </a:r>
            <a:r>
              <a:rPr sz="3600" spc="190" dirty="0"/>
              <a:t>et</a:t>
            </a:r>
            <a:r>
              <a:rPr sz="3600" spc="-50" dirty="0"/>
              <a:t> </a:t>
            </a:r>
            <a:r>
              <a:rPr sz="3600" spc="160" dirty="0"/>
              <a:t>al.,</a:t>
            </a:r>
            <a:r>
              <a:rPr sz="3600" spc="-50" dirty="0"/>
              <a:t> </a:t>
            </a:r>
            <a:r>
              <a:rPr sz="3600" spc="-10" dirty="0"/>
              <a:t>2019)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409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Language</a:t>
            </a:r>
            <a:r>
              <a:rPr spc="-30" dirty="0"/>
              <a:t> </a:t>
            </a:r>
            <a:r>
              <a:rPr spc="140" dirty="0"/>
              <a:t>models</a:t>
            </a:r>
            <a:r>
              <a:rPr spc="-30" dirty="0"/>
              <a:t> </a:t>
            </a:r>
            <a:r>
              <a:rPr spc="135" dirty="0"/>
              <a:t>as</a:t>
            </a:r>
            <a:r>
              <a:rPr spc="-30" dirty="0"/>
              <a:t> </a:t>
            </a:r>
            <a:r>
              <a:rPr spc="110" dirty="0"/>
              <a:t>knowledge</a:t>
            </a:r>
            <a:r>
              <a:rPr spc="-25" dirty="0"/>
              <a:t> </a:t>
            </a:r>
            <a:r>
              <a:rPr spc="95" dirty="0"/>
              <a:t>bases?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75" y="1159758"/>
            <a:ext cx="4670425" cy="15862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spc="-70" dirty="0">
                <a:latin typeface="Book Antiqua"/>
                <a:cs typeface="Book Antiqua"/>
              </a:rPr>
              <a:t>Why</a:t>
            </a:r>
            <a:r>
              <a:rPr sz="2000" b="1" spc="-45" dirty="0">
                <a:latin typeface="Book Antiqua"/>
                <a:cs typeface="Book Antiqua"/>
              </a:rPr>
              <a:t> </a:t>
            </a:r>
            <a:r>
              <a:rPr sz="2000" b="1" spc="-20" dirty="0">
                <a:latin typeface="Book Antiqua"/>
                <a:cs typeface="Book Antiqua"/>
              </a:rPr>
              <a:t>language</a:t>
            </a:r>
            <a:r>
              <a:rPr sz="2000" b="1" spc="-40" dirty="0">
                <a:latin typeface="Book Antiqua"/>
                <a:cs typeface="Book Antiqua"/>
              </a:rPr>
              <a:t> </a:t>
            </a:r>
            <a:r>
              <a:rPr sz="2000" b="1" spc="-10" dirty="0">
                <a:latin typeface="Book Antiqua"/>
                <a:cs typeface="Book Antiqua"/>
              </a:rPr>
              <a:t>models?</a:t>
            </a:r>
            <a:endParaRPr sz="2000">
              <a:latin typeface="Book Antiqua"/>
              <a:cs typeface="Book Antiqua"/>
            </a:endParaRPr>
          </a:p>
          <a:p>
            <a:pPr marL="469265" indent="-358775">
              <a:lnSpc>
                <a:spcPct val="100000"/>
              </a:lnSpc>
              <a:spcBef>
                <a:spcPts val="37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95" dirty="0">
                <a:latin typeface="Times New Roman"/>
                <a:cs typeface="Times New Roman"/>
              </a:rPr>
              <a:t>Pretrained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huge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corpus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data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Doesnʼt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require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annotations/supervision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70" dirty="0">
                <a:latin typeface="Times New Roman"/>
                <a:cs typeface="Times New Roman"/>
              </a:rPr>
              <a:t>More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ﬂexible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with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natural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queries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65" dirty="0">
                <a:latin typeface="Times New Roman"/>
                <a:cs typeface="Times New Roman"/>
              </a:rPr>
              <a:t>Can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be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oﬀ-</a:t>
            </a:r>
            <a:r>
              <a:rPr sz="1700" spc="55" dirty="0">
                <a:latin typeface="Times New Roman"/>
                <a:cs typeface="Times New Roman"/>
              </a:rPr>
              <a:t>the-</a:t>
            </a:r>
            <a:r>
              <a:rPr sz="1700" spc="60" dirty="0">
                <a:latin typeface="Times New Roman"/>
                <a:cs typeface="Times New Roman"/>
              </a:rPr>
              <a:t>shelf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75485" y="68529"/>
            <a:ext cx="169672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Image</a:t>
            </a:r>
            <a:r>
              <a:rPr sz="850" i="1" spc="14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40" dirty="0">
                <a:latin typeface="Book Antiqua"/>
                <a:cs typeface="Book Antiqua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www.slyderstavern.com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409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Language</a:t>
            </a:r>
            <a:r>
              <a:rPr spc="-30" dirty="0"/>
              <a:t> </a:t>
            </a:r>
            <a:r>
              <a:rPr spc="140" dirty="0"/>
              <a:t>models</a:t>
            </a:r>
            <a:r>
              <a:rPr spc="-30" dirty="0"/>
              <a:t> </a:t>
            </a:r>
            <a:r>
              <a:rPr spc="135" dirty="0"/>
              <a:t>as</a:t>
            </a:r>
            <a:r>
              <a:rPr spc="-30" dirty="0"/>
              <a:t> </a:t>
            </a:r>
            <a:r>
              <a:rPr spc="110" dirty="0"/>
              <a:t>knowledge</a:t>
            </a:r>
            <a:r>
              <a:rPr spc="-25" dirty="0"/>
              <a:t> </a:t>
            </a:r>
            <a:r>
              <a:rPr spc="95" dirty="0"/>
              <a:t>bases?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7299" y="3977125"/>
            <a:ext cx="4239895" cy="610870"/>
            <a:chOff x="447299" y="3977125"/>
            <a:chExt cx="4239895" cy="610870"/>
          </a:xfrm>
        </p:grpSpPr>
        <p:sp>
          <p:nvSpPr>
            <p:cNvPr id="4" name="object 4"/>
            <p:cNvSpPr/>
            <p:nvPr/>
          </p:nvSpPr>
          <p:spPr>
            <a:xfrm>
              <a:off x="466349" y="3996175"/>
              <a:ext cx="4201795" cy="572770"/>
            </a:xfrm>
            <a:custGeom>
              <a:avLst/>
              <a:gdLst/>
              <a:ahLst/>
              <a:cxnLst/>
              <a:rect l="l" t="t" r="r" b="b"/>
              <a:pathLst>
                <a:path w="4201795" h="572770">
                  <a:moveTo>
                    <a:pt x="41060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106047" y="0"/>
                  </a:lnTo>
                  <a:lnTo>
                    <a:pt x="4159005" y="16037"/>
                  </a:lnTo>
                  <a:lnTo>
                    <a:pt x="4194234" y="58923"/>
                  </a:lnTo>
                  <a:lnTo>
                    <a:pt x="4201499" y="95451"/>
                  </a:lnTo>
                  <a:lnTo>
                    <a:pt x="4201499" y="477247"/>
                  </a:lnTo>
                  <a:lnTo>
                    <a:pt x="4193998" y="514402"/>
                  </a:lnTo>
                  <a:lnTo>
                    <a:pt x="4173542" y="544742"/>
                  </a:lnTo>
                  <a:lnTo>
                    <a:pt x="4143202" y="565198"/>
                  </a:lnTo>
                  <a:lnTo>
                    <a:pt x="4106047" y="5726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6349" y="3996175"/>
              <a:ext cx="4201795" cy="572770"/>
            </a:xfrm>
            <a:custGeom>
              <a:avLst/>
              <a:gdLst/>
              <a:ahLst/>
              <a:cxnLst/>
              <a:rect l="l" t="t" r="r" b="b"/>
              <a:pathLst>
                <a:path w="4201795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106047" y="0"/>
                  </a:lnTo>
                  <a:lnTo>
                    <a:pt x="4159005" y="16037"/>
                  </a:lnTo>
                  <a:lnTo>
                    <a:pt x="4194234" y="58923"/>
                  </a:lnTo>
                  <a:lnTo>
                    <a:pt x="4201499" y="95451"/>
                  </a:lnTo>
                  <a:lnTo>
                    <a:pt x="4201499" y="477247"/>
                  </a:lnTo>
                  <a:lnTo>
                    <a:pt x="4193998" y="514402"/>
                  </a:lnTo>
                  <a:lnTo>
                    <a:pt x="4173542" y="544742"/>
                  </a:lnTo>
                  <a:lnTo>
                    <a:pt x="4143202" y="565198"/>
                  </a:lnTo>
                  <a:lnTo>
                    <a:pt x="41060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3809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9375" y="1159758"/>
            <a:ext cx="4670425" cy="32829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spc="-70" dirty="0">
                <a:latin typeface="Book Antiqua"/>
                <a:cs typeface="Book Antiqua"/>
              </a:rPr>
              <a:t>Why</a:t>
            </a:r>
            <a:r>
              <a:rPr sz="2000" b="1" spc="-45" dirty="0">
                <a:latin typeface="Book Antiqua"/>
                <a:cs typeface="Book Antiqua"/>
              </a:rPr>
              <a:t> </a:t>
            </a:r>
            <a:r>
              <a:rPr sz="2000" b="1" spc="-20" dirty="0">
                <a:latin typeface="Book Antiqua"/>
                <a:cs typeface="Book Antiqua"/>
              </a:rPr>
              <a:t>language</a:t>
            </a:r>
            <a:r>
              <a:rPr sz="2000" b="1" spc="-40" dirty="0">
                <a:latin typeface="Book Antiqua"/>
                <a:cs typeface="Book Antiqua"/>
              </a:rPr>
              <a:t> </a:t>
            </a:r>
            <a:r>
              <a:rPr sz="2000" b="1" spc="-10" dirty="0">
                <a:latin typeface="Book Antiqua"/>
                <a:cs typeface="Book Antiqua"/>
              </a:rPr>
              <a:t>models?</a:t>
            </a:r>
            <a:endParaRPr sz="2000">
              <a:latin typeface="Book Antiqua"/>
              <a:cs typeface="Book Antiqua"/>
            </a:endParaRPr>
          </a:p>
          <a:p>
            <a:pPr marL="469265" indent="-358775">
              <a:lnSpc>
                <a:spcPct val="100000"/>
              </a:lnSpc>
              <a:spcBef>
                <a:spcPts val="37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95" dirty="0">
                <a:latin typeface="Times New Roman"/>
                <a:cs typeface="Times New Roman"/>
              </a:rPr>
              <a:t>Pretrained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huge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corpus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data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Doesnʼt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require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annotations/supervision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70" dirty="0">
                <a:latin typeface="Times New Roman"/>
                <a:cs typeface="Times New Roman"/>
              </a:rPr>
              <a:t>More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ﬂexible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with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natural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queries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65" dirty="0">
                <a:latin typeface="Times New Roman"/>
                <a:cs typeface="Times New Roman"/>
              </a:rPr>
              <a:t>Can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be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oﬀ-</a:t>
            </a:r>
            <a:r>
              <a:rPr sz="1700" spc="55" dirty="0">
                <a:latin typeface="Times New Roman"/>
                <a:cs typeface="Times New Roman"/>
              </a:rPr>
              <a:t>the-</a:t>
            </a:r>
            <a:r>
              <a:rPr sz="1700" spc="60" dirty="0">
                <a:latin typeface="Times New Roman"/>
                <a:cs typeface="Times New Roman"/>
              </a:rPr>
              <a:t>shelf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665480">
              <a:lnSpc>
                <a:spcPct val="114999"/>
              </a:lnSpc>
            </a:pP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ﬁrst,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we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50" dirty="0">
                <a:latin typeface="Times New Roman"/>
                <a:cs typeface="Times New Roman"/>
              </a:rPr>
              <a:t>need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see</a:t>
            </a:r>
            <a:r>
              <a:rPr sz="2000" dirty="0">
                <a:latin typeface="Times New Roman"/>
                <a:cs typeface="Times New Roman"/>
              </a:rPr>
              <a:t> if </a:t>
            </a:r>
            <a:r>
              <a:rPr sz="2000" spc="85" dirty="0">
                <a:latin typeface="Times New Roman"/>
                <a:cs typeface="Times New Roman"/>
              </a:rPr>
              <a:t>language </a:t>
            </a:r>
            <a:r>
              <a:rPr sz="2000" spc="110" dirty="0">
                <a:latin typeface="Times New Roman"/>
                <a:cs typeface="Times New Roman"/>
              </a:rPr>
              <a:t>models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really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do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store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knowledge.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</a:pPr>
            <a:r>
              <a:rPr sz="2100" b="1" dirty="0">
                <a:latin typeface="Cambria"/>
                <a:cs typeface="Cambria"/>
              </a:rPr>
              <a:t>Question:</a:t>
            </a:r>
            <a:r>
              <a:rPr sz="2100" b="1" spc="10" dirty="0">
                <a:latin typeface="Cambria"/>
                <a:cs typeface="Cambria"/>
              </a:rPr>
              <a:t> </a:t>
            </a:r>
            <a:r>
              <a:rPr sz="2100" b="1" spc="-110" dirty="0">
                <a:latin typeface="Book Antiqua"/>
                <a:cs typeface="Book Antiqua"/>
              </a:rPr>
              <a:t>How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dirty="0">
                <a:latin typeface="Book Antiqua"/>
                <a:cs typeface="Book Antiqua"/>
              </a:rPr>
              <a:t>do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spc="-65" dirty="0">
                <a:latin typeface="Book Antiqua"/>
                <a:cs typeface="Book Antiqua"/>
              </a:rPr>
              <a:t>we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dirty="0">
                <a:latin typeface="Book Antiqua"/>
                <a:cs typeface="Book Antiqua"/>
              </a:rPr>
              <a:t>check</a:t>
            </a:r>
            <a:r>
              <a:rPr sz="2100" b="1" spc="-55" dirty="0">
                <a:latin typeface="Book Antiqua"/>
                <a:cs typeface="Book Antiqua"/>
              </a:rPr>
              <a:t> </a:t>
            </a:r>
            <a:r>
              <a:rPr sz="2100" b="1" spc="-10" dirty="0">
                <a:latin typeface="Book Antiqua"/>
                <a:cs typeface="Book Antiqua"/>
              </a:rPr>
              <a:t>this?</a:t>
            </a:r>
            <a:endParaRPr sz="2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375485" y="68529"/>
            <a:ext cx="169672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Image</a:t>
            </a:r>
            <a:r>
              <a:rPr sz="850" i="1" spc="14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40" dirty="0">
                <a:latin typeface="Book Antiqua"/>
                <a:cs typeface="Book Antiqua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www.slyderstavern.com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409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Language</a:t>
            </a:r>
            <a:r>
              <a:rPr spc="-30" dirty="0"/>
              <a:t> </a:t>
            </a:r>
            <a:r>
              <a:rPr spc="140" dirty="0"/>
              <a:t>models</a:t>
            </a:r>
            <a:r>
              <a:rPr spc="-30" dirty="0"/>
              <a:t> </a:t>
            </a:r>
            <a:r>
              <a:rPr spc="135" dirty="0"/>
              <a:t>as</a:t>
            </a:r>
            <a:r>
              <a:rPr spc="-30" dirty="0"/>
              <a:t> </a:t>
            </a:r>
            <a:r>
              <a:rPr spc="110" dirty="0"/>
              <a:t>knowledge</a:t>
            </a:r>
            <a:r>
              <a:rPr spc="-25" dirty="0"/>
              <a:t> </a:t>
            </a:r>
            <a:r>
              <a:rPr spc="95" dirty="0"/>
              <a:t>bases?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75" y="1159758"/>
            <a:ext cx="4670425" cy="25380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spc="-70" dirty="0">
                <a:latin typeface="Book Antiqua"/>
                <a:cs typeface="Book Antiqua"/>
              </a:rPr>
              <a:t>Why</a:t>
            </a:r>
            <a:r>
              <a:rPr sz="2000" b="1" spc="-45" dirty="0">
                <a:latin typeface="Book Antiqua"/>
                <a:cs typeface="Book Antiqua"/>
              </a:rPr>
              <a:t> </a:t>
            </a:r>
            <a:r>
              <a:rPr sz="2000" b="1" spc="-20" dirty="0">
                <a:latin typeface="Book Antiqua"/>
                <a:cs typeface="Book Antiqua"/>
              </a:rPr>
              <a:t>language</a:t>
            </a:r>
            <a:r>
              <a:rPr sz="2000" b="1" spc="-40" dirty="0">
                <a:latin typeface="Book Antiqua"/>
                <a:cs typeface="Book Antiqua"/>
              </a:rPr>
              <a:t> </a:t>
            </a:r>
            <a:r>
              <a:rPr sz="2000" b="1" spc="-10" dirty="0">
                <a:latin typeface="Book Antiqua"/>
                <a:cs typeface="Book Antiqua"/>
              </a:rPr>
              <a:t>models?</a:t>
            </a:r>
            <a:endParaRPr sz="2000">
              <a:latin typeface="Book Antiqua"/>
              <a:cs typeface="Book Antiqua"/>
            </a:endParaRPr>
          </a:p>
          <a:p>
            <a:pPr marL="469265" indent="-358775">
              <a:lnSpc>
                <a:spcPct val="100000"/>
              </a:lnSpc>
              <a:spcBef>
                <a:spcPts val="37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95" dirty="0">
                <a:latin typeface="Times New Roman"/>
                <a:cs typeface="Times New Roman"/>
              </a:rPr>
              <a:t>Pretrained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huge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corpus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data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Doesnʼt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require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annotations/supervision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70" dirty="0">
                <a:latin typeface="Times New Roman"/>
                <a:cs typeface="Times New Roman"/>
              </a:rPr>
              <a:t>More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ﬂexible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with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natural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queries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65" dirty="0">
                <a:latin typeface="Times New Roman"/>
                <a:cs typeface="Times New Roman"/>
              </a:rPr>
              <a:t>Can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be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oﬀ-</a:t>
            </a:r>
            <a:r>
              <a:rPr sz="1700" spc="55" dirty="0">
                <a:latin typeface="Times New Roman"/>
                <a:cs typeface="Times New Roman"/>
              </a:rPr>
              <a:t>the-</a:t>
            </a:r>
            <a:r>
              <a:rPr sz="1700" spc="60" dirty="0">
                <a:latin typeface="Times New Roman"/>
                <a:cs typeface="Times New Roman"/>
              </a:rPr>
              <a:t>shelf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665480">
              <a:lnSpc>
                <a:spcPct val="114999"/>
              </a:lnSpc>
            </a:pP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ﬁrst,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we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50" dirty="0">
                <a:latin typeface="Times New Roman"/>
                <a:cs typeface="Times New Roman"/>
              </a:rPr>
              <a:t>need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see</a:t>
            </a:r>
            <a:r>
              <a:rPr sz="2000" dirty="0">
                <a:latin typeface="Times New Roman"/>
                <a:cs typeface="Times New Roman"/>
              </a:rPr>
              <a:t> if </a:t>
            </a:r>
            <a:r>
              <a:rPr sz="2000" spc="85" dirty="0">
                <a:latin typeface="Times New Roman"/>
                <a:cs typeface="Times New Roman"/>
              </a:rPr>
              <a:t>language </a:t>
            </a:r>
            <a:r>
              <a:rPr sz="2000" spc="110" dirty="0">
                <a:latin typeface="Times New Roman"/>
                <a:cs typeface="Times New Roman"/>
              </a:rPr>
              <a:t>models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really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do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store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knowledge.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7299" y="3977125"/>
            <a:ext cx="4239895" cy="610870"/>
            <a:chOff x="447299" y="3977125"/>
            <a:chExt cx="4239895" cy="610870"/>
          </a:xfrm>
        </p:grpSpPr>
        <p:sp>
          <p:nvSpPr>
            <p:cNvPr id="5" name="object 5"/>
            <p:cNvSpPr/>
            <p:nvPr/>
          </p:nvSpPr>
          <p:spPr>
            <a:xfrm>
              <a:off x="466349" y="3996175"/>
              <a:ext cx="4201795" cy="572770"/>
            </a:xfrm>
            <a:custGeom>
              <a:avLst/>
              <a:gdLst/>
              <a:ahLst/>
              <a:cxnLst/>
              <a:rect l="l" t="t" r="r" b="b"/>
              <a:pathLst>
                <a:path w="4201795" h="572770">
                  <a:moveTo>
                    <a:pt x="41060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106047" y="0"/>
                  </a:lnTo>
                  <a:lnTo>
                    <a:pt x="4159005" y="16037"/>
                  </a:lnTo>
                  <a:lnTo>
                    <a:pt x="4194234" y="58923"/>
                  </a:lnTo>
                  <a:lnTo>
                    <a:pt x="4201499" y="95451"/>
                  </a:lnTo>
                  <a:lnTo>
                    <a:pt x="4201499" y="477247"/>
                  </a:lnTo>
                  <a:lnTo>
                    <a:pt x="4193998" y="514402"/>
                  </a:lnTo>
                  <a:lnTo>
                    <a:pt x="4173542" y="544742"/>
                  </a:lnTo>
                  <a:lnTo>
                    <a:pt x="4143202" y="565198"/>
                  </a:lnTo>
                  <a:lnTo>
                    <a:pt x="4106047" y="5726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6349" y="3996175"/>
              <a:ext cx="4201795" cy="572770"/>
            </a:xfrm>
            <a:custGeom>
              <a:avLst/>
              <a:gdLst/>
              <a:ahLst/>
              <a:cxnLst/>
              <a:rect l="l" t="t" r="r" b="b"/>
              <a:pathLst>
                <a:path w="4201795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106047" y="0"/>
                  </a:lnTo>
                  <a:lnTo>
                    <a:pt x="4159005" y="16037"/>
                  </a:lnTo>
                  <a:lnTo>
                    <a:pt x="4194234" y="58923"/>
                  </a:lnTo>
                  <a:lnTo>
                    <a:pt x="4201499" y="95451"/>
                  </a:lnTo>
                  <a:lnTo>
                    <a:pt x="4201499" y="477247"/>
                  </a:lnTo>
                  <a:lnTo>
                    <a:pt x="4193998" y="514402"/>
                  </a:lnTo>
                  <a:lnTo>
                    <a:pt x="4173542" y="544742"/>
                  </a:lnTo>
                  <a:lnTo>
                    <a:pt x="4143202" y="565198"/>
                  </a:lnTo>
                  <a:lnTo>
                    <a:pt x="41060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3809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6414" y="4097232"/>
            <a:ext cx="39814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Cambria"/>
                <a:cs typeface="Cambria"/>
              </a:rPr>
              <a:t>Question:</a:t>
            </a:r>
            <a:r>
              <a:rPr sz="2100" b="1" spc="10" dirty="0">
                <a:latin typeface="Cambria"/>
                <a:cs typeface="Cambria"/>
              </a:rPr>
              <a:t> </a:t>
            </a:r>
            <a:r>
              <a:rPr sz="2100" b="1" spc="-110" dirty="0">
                <a:latin typeface="Book Antiqua"/>
                <a:cs typeface="Book Antiqua"/>
              </a:rPr>
              <a:t>How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dirty="0">
                <a:latin typeface="Book Antiqua"/>
                <a:cs typeface="Book Antiqua"/>
              </a:rPr>
              <a:t>do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spc="-65" dirty="0">
                <a:latin typeface="Book Antiqua"/>
                <a:cs typeface="Book Antiqua"/>
              </a:rPr>
              <a:t>we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dirty="0">
                <a:latin typeface="Book Antiqua"/>
                <a:cs typeface="Book Antiqua"/>
              </a:rPr>
              <a:t>check</a:t>
            </a:r>
            <a:r>
              <a:rPr sz="2100" b="1" spc="-55" dirty="0">
                <a:latin typeface="Book Antiqua"/>
                <a:cs typeface="Book Antiqua"/>
              </a:rPr>
              <a:t> </a:t>
            </a:r>
            <a:r>
              <a:rPr sz="2100" b="1" spc="-10" dirty="0">
                <a:latin typeface="Book Antiqua"/>
                <a:cs typeface="Book Antiqua"/>
              </a:rPr>
              <a:t>this?</a:t>
            </a:r>
            <a:endParaRPr sz="2100">
              <a:latin typeface="Book Antiqua"/>
              <a:cs typeface="Book Antiqu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00400" y="3977125"/>
            <a:ext cx="2891155" cy="610870"/>
            <a:chOff x="5600400" y="3977125"/>
            <a:chExt cx="2891155" cy="610870"/>
          </a:xfrm>
        </p:grpSpPr>
        <p:sp>
          <p:nvSpPr>
            <p:cNvPr id="9" name="object 9"/>
            <p:cNvSpPr/>
            <p:nvPr/>
          </p:nvSpPr>
          <p:spPr>
            <a:xfrm>
              <a:off x="5619449" y="3996175"/>
              <a:ext cx="2853055" cy="572770"/>
            </a:xfrm>
            <a:custGeom>
              <a:avLst/>
              <a:gdLst/>
              <a:ahLst/>
              <a:cxnLst/>
              <a:rect l="l" t="t" r="r" b="b"/>
              <a:pathLst>
                <a:path w="2853054" h="572770">
                  <a:moveTo>
                    <a:pt x="27575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6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757548" y="0"/>
                  </a:lnTo>
                  <a:lnTo>
                    <a:pt x="2810505" y="16037"/>
                  </a:lnTo>
                  <a:lnTo>
                    <a:pt x="2845734" y="58923"/>
                  </a:lnTo>
                  <a:lnTo>
                    <a:pt x="2852999" y="95451"/>
                  </a:lnTo>
                  <a:lnTo>
                    <a:pt x="2852999" y="477247"/>
                  </a:lnTo>
                  <a:lnTo>
                    <a:pt x="2845498" y="514402"/>
                  </a:lnTo>
                  <a:lnTo>
                    <a:pt x="2825042" y="544742"/>
                  </a:lnTo>
                  <a:lnTo>
                    <a:pt x="2794702" y="565198"/>
                  </a:lnTo>
                  <a:lnTo>
                    <a:pt x="2757548" y="5726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19450" y="3996175"/>
              <a:ext cx="2853055" cy="572770"/>
            </a:xfrm>
            <a:custGeom>
              <a:avLst/>
              <a:gdLst/>
              <a:ahLst/>
              <a:cxnLst/>
              <a:rect l="l" t="t" r="r" b="b"/>
              <a:pathLst>
                <a:path w="2853054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757548" y="0"/>
                  </a:lnTo>
                  <a:lnTo>
                    <a:pt x="2810505" y="16037"/>
                  </a:lnTo>
                  <a:lnTo>
                    <a:pt x="2845734" y="58923"/>
                  </a:lnTo>
                  <a:lnTo>
                    <a:pt x="2852999" y="95451"/>
                  </a:lnTo>
                  <a:lnTo>
                    <a:pt x="2852999" y="477247"/>
                  </a:lnTo>
                  <a:lnTo>
                    <a:pt x="2845498" y="514402"/>
                  </a:lnTo>
                  <a:lnTo>
                    <a:pt x="2825042" y="544742"/>
                  </a:lnTo>
                  <a:lnTo>
                    <a:pt x="2794702" y="565198"/>
                  </a:lnTo>
                  <a:lnTo>
                    <a:pt x="27575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3809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513659" y="4091961"/>
            <a:ext cx="10655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latin typeface="Book Antiqua"/>
                <a:cs typeface="Book Antiqua"/>
              </a:rPr>
              <a:t>Answer:</a:t>
            </a:r>
            <a:endParaRPr sz="2200">
              <a:latin typeface="Book Antiqua"/>
              <a:cs typeface="Book Antiqu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2800" y="1344614"/>
            <a:ext cx="2846289" cy="242379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375485" y="68529"/>
            <a:ext cx="169672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Image</a:t>
            </a:r>
            <a:r>
              <a:rPr sz="850" i="1" spc="14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40" dirty="0">
                <a:latin typeface="Book Antiqua"/>
                <a:cs typeface="Book Antiqua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www.slyderstavern.com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409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Language</a:t>
            </a:r>
            <a:r>
              <a:rPr spc="-30" dirty="0"/>
              <a:t> </a:t>
            </a:r>
            <a:r>
              <a:rPr spc="140" dirty="0"/>
              <a:t>models</a:t>
            </a:r>
            <a:r>
              <a:rPr spc="-30" dirty="0"/>
              <a:t> </a:t>
            </a:r>
            <a:r>
              <a:rPr spc="135" dirty="0"/>
              <a:t>as</a:t>
            </a:r>
            <a:r>
              <a:rPr spc="-30" dirty="0"/>
              <a:t> </a:t>
            </a:r>
            <a:r>
              <a:rPr spc="110" dirty="0"/>
              <a:t>knowledge</a:t>
            </a:r>
            <a:r>
              <a:rPr spc="-25" dirty="0"/>
              <a:t> </a:t>
            </a:r>
            <a:r>
              <a:rPr spc="95" dirty="0"/>
              <a:t>bases?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75" y="1159758"/>
            <a:ext cx="4670425" cy="25380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spc="-70" dirty="0">
                <a:latin typeface="Book Antiqua"/>
                <a:cs typeface="Book Antiqua"/>
              </a:rPr>
              <a:t>Why</a:t>
            </a:r>
            <a:r>
              <a:rPr sz="2000" b="1" spc="-45" dirty="0">
                <a:latin typeface="Book Antiqua"/>
                <a:cs typeface="Book Antiqua"/>
              </a:rPr>
              <a:t> </a:t>
            </a:r>
            <a:r>
              <a:rPr sz="2000" b="1" spc="-20" dirty="0">
                <a:latin typeface="Book Antiqua"/>
                <a:cs typeface="Book Antiqua"/>
              </a:rPr>
              <a:t>language</a:t>
            </a:r>
            <a:r>
              <a:rPr sz="2000" b="1" spc="-40" dirty="0">
                <a:latin typeface="Book Antiqua"/>
                <a:cs typeface="Book Antiqua"/>
              </a:rPr>
              <a:t> </a:t>
            </a:r>
            <a:r>
              <a:rPr sz="2000" b="1" spc="-10" dirty="0">
                <a:latin typeface="Book Antiqua"/>
                <a:cs typeface="Book Antiqua"/>
              </a:rPr>
              <a:t>models?</a:t>
            </a:r>
            <a:endParaRPr sz="2000">
              <a:latin typeface="Book Antiqua"/>
              <a:cs typeface="Book Antiqua"/>
            </a:endParaRPr>
          </a:p>
          <a:p>
            <a:pPr marL="469265" indent="-358775">
              <a:lnSpc>
                <a:spcPct val="100000"/>
              </a:lnSpc>
              <a:spcBef>
                <a:spcPts val="37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95" dirty="0">
                <a:latin typeface="Times New Roman"/>
                <a:cs typeface="Times New Roman"/>
              </a:rPr>
              <a:t>Pretrained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huge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corpus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data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Doesnʼt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require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annotations/supervision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70" dirty="0">
                <a:latin typeface="Times New Roman"/>
                <a:cs typeface="Times New Roman"/>
              </a:rPr>
              <a:t>More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ﬂexible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with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natural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queries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65" dirty="0">
                <a:latin typeface="Times New Roman"/>
                <a:cs typeface="Times New Roman"/>
              </a:rPr>
              <a:t>Can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be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oﬀ-</a:t>
            </a:r>
            <a:r>
              <a:rPr sz="1700" spc="55" dirty="0">
                <a:latin typeface="Times New Roman"/>
                <a:cs typeface="Times New Roman"/>
              </a:rPr>
              <a:t>the-</a:t>
            </a:r>
            <a:r>
              <a:rPr sz="1700" spc="60" dirty="0">
                <a:latin typeface="Times New Roman"/>
                <a:cs typeface="Times New Roman"/>
              </a:rPr>
              <a:t>shelf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665480">
              <a:lnSpc>
                <a:spcPct val="114999"/>
              </a:lnSpc>
            </a:pP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ﬁrst,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we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50" dirty="0">
                <a:latin typeface="Times New Roman"/>
                <a:cs typeface="Times New Roman"/>
              </a:rPr>
              <a:t>need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see</a:t>
            </a:r>
            <a:r>
              <a:rPr sz="2000" dirty="0">
                <a:latin typeface="Times New Roman"/>
                <a:cs typeface="Times New Roman"/>
              </a:rPr>
              <a:t> if </a:t>
            </a:r>
            <a:r>
              <a:rPr sz="2000" spc="85" dirty="0">
                <a:latin typeface="Times New Roman"/>
                <a:cs typeface="Times New Roman"/>
              </a:rPr>
              <a:t>language </a:t>
            </a:r>
            <a:r>
              <a:rPr sz="2000" spc="110" dirty="0">
                <a:latin typeface="Times New Roman"/>
                <a:cs typeface="Times New Roman"/>
              </a:rPr>
              <a:t>models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really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do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store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knowledge.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7299" y="3977125"/>
            <a:ext cx="4239895" cy="610870"/>
            <a:chOff x="447299" y="3977125"/>
            <a:chExt cx="4239895" cy="610870"/>
          </a:xfrm>
        </p:grpSpPr>
        <p:sp>
          <p:nvSpPr>
            <p:cNvPr id="5" name="object 5"/>
            <p:cNvSpPr/>
            <p:nvPr/>
          </p:nvSpPr>
          <p:spPr>
            <a:xfrm>
              <a:off x="466349" y="3996175"/>
              <a:ext cx="4201795" cy="572770"/>
            </a:xfrm>
            <a:custGeom>
              <a:avLst/>
              <a:gdLst/>
              <a:ahLst/>
              <a:cxnLst/>
              <a:rect l="l" t="t" r="r" b="b"/>
              <a:pathLst>
                <a:path w="4201795" h="572770">
                  <a:moveTo>
                    <a:pt x="41060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106047" y="0"/>
                  </a:lnTo>
                  <a:lnTo>
                    <a:pt x="4159005" y="16037"/>
                  </a:lnTo>
                  <a:lnTo>
                    <a:pt x="4194234" y="58923"/>
                  </a:lnTo>
                  <a:lnTo>
                    <a:pt x="4201499" y="95451"/>
                  </a:lnTo>
                  <a:lnTo>
                    <a:pt x="4201499" y="477247"/>
                  </a:lnTo>
                  <a:lnTo>
                    <a:pt x="4193998" y="514402"/>
                  </a:lnTo>
                  <a:lnTo>
                    <a:pt x="4173542" y="544742"/>
                  </a:lnTo>
                  <a:lnTo>
                    <a:pt x="4143202" y="565198"/>
                  </a:lnTo>
                  <a:lnTo>
                    <a:pt x="4106047" y="5726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6349" y="3996175"/>
              <a:ext cx="4201795" cy="572770"/>
            </a:xfrm>
            <a:custGeom>
              <a:avLst/>
              <a:gdLst/>
              <a:ahLst/>
              <a:cxnLst/>
              <a:rect l="l" t="t" r="r" b="b"/>
              <a:pathLst>
                <a:path w="4201795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106047" y="0"/>
                  </a:lnTo>
                  <a:lnTo>
                    <a:pt x="4159005" y="16037"/>
                  </a:lnTo>
                  <a:lnTo>
                    <a:pt x="4194234" y="58923"/>
                  </a:lnTo>
                  <a:lnTo>
                    <a:pt x="4201499" y="95451"/>
                  </a:lnTo>
                  <a:lnTo>
                    <a:pt x="4201499" y="477247"/>
                  </a:lnTo>
                  <a:lnTo>
                    <a:pt x="4193998" y="514402"/>
                  </a:lnTo>
                  <a:lnTo>
                    <a:pt x="4173542" y="544742"/>
                  </a:lnTo>
                  <a:lnTo>
                    <a:pt x="4143202" y="565198"/>
                  </a:lnTo>
                  <a:lnTo>
                    <a:pt x="41060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3809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6414" y="4097232"/>
            <a:ext cx="39814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Cambria"/>
                <a:cs typeface="Cambria"/>
              </a:rPr>
              <a:t>Question:</a:t>
            </a:r>
            <a:r>
              <a:rPr sz="2100" b="1" spc="10" dirty="0">
                <a:latin typeface="Cambria"/>
                <a:cs typeface="Cambria"/>
              </a:rPr>
              <a:t> </a:t>
            </a:r>
            <a:r>
              <a:rPr sz="2100" b="1" spc="-110" dirty="0">
                <a:latin typeface="Book Antiqua"/>
                <a:cs typeface="Book Antiqua"/>
              </a:rPr>
              <a:t>How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dirty="0">
                <a:latin typeface="Book Antiqua"/>
                <a:cs typeface="Book Antiqua"/>
              </a:rPr>
              <a:t>do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spc="-65" dirty="0">
                <a:latin typeface="Book Antiqua"/>
                <a:cs typeface="Book Antiqua"/>
              </a:rPr>
              <a:t>we</a:t>
            </a:r>
            <a:r>
              <a:rPr sz="2100" b="1" spc="-45" dirty="0">
                <a:latin typeface="Book Antiqua"/>
                <a:cs typeface="Book Antiqua"/>
              </a:rPr>
              <a:t> </a:t>
            </a:r>
            <a:r>
              <a:rPr sz="2100" b="1" dirty="0">
                <a:latin typeface="Book Antiqua"/>
                <a:cs typeface="Book Antiqua"/>
              </a:rPr>
              <a:t>check</a:t>
            </a:r>
            <a:r>
              <a:rPr sz="2100" b="1" spc="-55" dirty="0">
                <a:latin typeface="Book Antiqua"/>
                <a:cs typeface="Book Antiqua"/>
              </a:rPr>
              <a:t> </a:t>
            </a:r>
            <a:r>
              <a:rPr sz="2100" b="1" spc="-10" dirty="0">
                <a:latin typeface="Book Antiqua"/>
                <a:cs typeface="Book Antiqua"/>
              </a:rPr>
              <a:t>this?</a:t>
            </a:r>
            <a:endParaRPr sz="2100">
              <a:latin typeface="Book Antiqua"/>
              <a:cs typeface="Book Antiqu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00400" y="3977125"/>
            <a:ext cx="2891155" cy="610870"/>
            <a:chOff x="5600400" y="3977125"/>
            <a:chExt cx="2891155" cy="610870"/>
          </a:xfrm>
        </p:grpSpPr>
        <p:sp>
          <p:nvSpPr>
            <p:cNvPr id="9" name="object 9"/>
            <p:cNvSpPr/>
            <p:nvPr/>
          </p:nvSpPr>
          <p:spPr>
            <a:xfrm>
              <a:off x="5619449" y="3996175"/>
              <a:ext cx="2853055" cy="572770"/>
            </a:xfrm>
            <a:custGeom>
              <a:avLst/>
              <a:gdLst/>
              <a:ahLst/>
              <a:cxnLst/>
              <a:rect l="l" t="t" r="r" b="b"/>
              <a:pathLst>
                <a:path w="2853054" h="572770">
                  <a:moveTo>
                    <a:pt x="27575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6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757548" y="0"/>
                  </a:lnTo>
                  <a:lnTo>
                    <a:pt x="2810505" y="16037"/>
                  </a:lnTo>
                  <a:lnTo>
                    <a:pt x="2845734" y="58923"/>
                  </a:lnTo>
                  <a:lnTo>
                    <a:pt x="2852999" y="95451"/>
                  </a:lnTo>
                  <a:lnTo>
                    <a:pt x="2852999" y="477247"/>
                  </a:lnTo>
                  <a:lnTo>
                    <a:pt x="2845498" y="514402"/>
                  </a:lnTo>
                  <a:lnTo>
                    <a:pt x="2825042" y="544742"/>
                  </a:lnTo>
                  <a:lnTo>
                    <a:pt x="2794702" y="565198"/>
                  </a:lnTo>
                  <a:lnTo>
                    <a:pt x="2757548" y="5726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19450" y="3996175"/>
              <a:ext cx="2853055" cy="572770"/>
            </a:xfrm>
            <a:custGeom>
              <a:avLst/>
              <a:gdLst/>
              <a:ahLst/>
              <a:cxnLst/>
              <a:rect l="l" t="t" r="r" b="b"/>
              <a:pathLst>
                <a:path w="2853054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757548" y="0"/>
                  </a:lnTo>
                  <a:lnTo>
                    <a:pt x="2810505" y="16037"/>
                  </a:lnTo>
                  <a:lnTo>
                    <a:pt x="2845734" y="58923"/>
                  </a:lnTo>
                  <a:lnTo>
                    <a:pt x="2852999" y="95451"/>
                  </a:lnTo>
                  <a:lnTo>
                    <a:pt x="2852999" y="477247"/>
                  </a:lnTo>
                  <a:lnTo>
                    <a:pt x="2845498" y="514402"/>
                  </a:lnTo>
                  <a:lnTo>
                    <a:pt x="2825042" y="544742"/>
                  </a:lnTo>
                  <a:lnTo>
                    <a:pt x="2794702" y="565198"/>
                  </a:lnTo>
                  <a:lnTo>
                    <a:pt x="27575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3809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513659" y="4091961"/>
            <a:ext cx="10655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latin typeface="Book Antiqua"/>
                <a:cs typeface="Book Antiqua"/>
              </a:rPr>
              <a:t>Answer:</a:t>
            </a:r>
            <a:endParaRPr sz="2200">
              <a:latin typeface="Book Antiqua"/>
              <a:cs typeface="Book Antiqu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2734" y="1170124"/>
            <a:ext cx="2035423" cy="26736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581449" y="68529"/>
            <a:ext cx="149034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Image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courtesy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of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Patrick</a:t>
            </a:r>
            <a:r>
              <a:rPr sz="850" i="1" u="sng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Lewis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241" rIns="0" bIns="0" rtlCol="0">
            <a:spAutoFit/>
          </a:bodyPr>
          <a:lstStyle/>
          <a:p>
            <a:pPr marL="322516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LAMA</a:t>
            </a:r>
            <a:r>
              <a:rPr spc="-75" dirty="0"/>
              <a:t> </a:t>
            </a:r>
            <a:r>
              <a:rPr spc="114" dirty="0"/>
              <a:t>Probe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216864"/>
            <a:ext cx="71678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Goal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evaluate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factual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130" dirty="0">
                <a:solidFill>
                  <a:srgbClr val="E69137"/>
                </a:solidFill>
                <a:latin typeface="Book Antiqua"/>
                <a:cs typeface="Book Antiqua"/>
              </a:rPr>
              <a:t>+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commonsense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knowledge</a:t>
            </a:r>
            <a:r>
              <a:rPr sz="1700" b="1" spc="-4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in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language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models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25706" y="4634050"/>
            <a:ext cx="271145" cy="259079"/>
          </a:xfrm>
          <a:custGeom>
            <a:avLst/>
            <a:gdLst/>
            <a:ahLst/>
            <a:cxnLst/>
            <a:rect l="l" t="t" r="r" b="b"/>
            <a:pathLst>
              <a:path w="271145" h="259079">
                <a:moveTo>
                  <a:pt x="270829" y="259079"/>
                </a:moveTo>
                <a:lnTo>
                  <a:pt x="0" y="259079"/>
                </a:lnTo>
                <a:lnTo>
                  <a:pt x="0" y="0"/>
                </a:lnTo>
                <a:lnTo>
                  <a:pt x="270829" y="0"/>
                </a:lnTo>
                <a:lnTo>
                  <a:pt x="270829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2555" y="4634050"/>
            <a:ext cx="193675" cy="259079"/>
          </a:xfrm>
          <a:custGeom>
            <a:avLst/>
            <a:gdLst/>
            <a:ahLst/>
            <a:cxnLst/>
            <a:rect l="l" t="t" r="r" b="b"/>
            <a:pathLst>
              <a:path w="193675" h="259079">
                <a:moveTo>
                  <a:pt x="193357" y="259079"/>
                </a:moveTo>
                <a:lnTo>
                  <a:pt x="0" y="259079"/>
                </a:lnTo>
                <a:lnTo>
                  <a:pt x="0" y="0"/>
                </a:lnTo>
                <a:lnTo>
                  <a:pt x="193357" y="0"/>
                </a:lnTo>
                <a:lnTo>
                  <a:pt x="193357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9235" y="4634050"/>
            <a:ext cx="146050" cy="259079"/>
          </a:xfrm>
          <a:custGeom>
            <a:avLst/>
            <a:gdLst/>
            <a:ahLst/>
            <a:cxnLst/>
            <a:rect l="l" t="t" r="r" b="b"/>
            <a:pathLst>
              <a:path w="146050" h="259079">
                <a:moveTo>
                  <a:pt x="145665" y="259079"/>
                </a:moveTo>
                <a:lnTo>
                  <a:pt x="0" y="259079"/>
                </a:lnTo>
                <a:lnTo>
                  <a:pt x="0" y="0"/>
                </a:lnTo>
                <a:lnTo>
                  <a:pt x="145665" y="0"/>
                </a:lnTo>
                <a:lnTo>
                  <a:pt x="145665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6190" y="328872"/>
            <a:ext cx="530709" cy="6971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0890" y="328884"/>
            <a:ext cx="530709" cy="69711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81449" y="68529"/>
            <a:ext cx="149034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Image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courtesy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of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Patrick</a:t>
            </a:r>
            <a:r>
              <a:rPr sz="850" i="1" u="sng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Lewis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3006" y="4630417"/>
            <a:ext cx="250825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b="1" spc="75" dirty="0">
                <a:solidFill>
                  <a:srgbClr val="595959"/>
                </a:solidFill>
                <a:latin typeface="Cambria"/>
                <a:cs typeface="Cambria"/>
              </a:rPr>
              <a:t>LA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nguage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70" dirty="0">
                <a:solidFill>
                  <a:srgbClr val="595959"/>
                </a:solidFill>
                <a:latin typeface="Cambria"/>
                <a:cs typeface="Cambria"/>
              </a:rPr>
              <a:t>M</a:t>
            </a:r>
            <a:r>
              <a:rPr sz="1700" spc="70" dirty="0">
                <a:solidFill>
                  <a:srgbClr val="595959"/>
                </a:solidFill>
                <a:latin typeface="Times New Roman"/>
                <a:cs typeface="Times New Roman"/>
              </a:rPr>
              <a:t>odel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50" dirty="0">
                <a:solidFill>
                  <a:srgbClr val="595959"/>
                </a:solidFill>
                <a:latin typeface="Cambria"/>
                <a:cs typeface="Cambria"/>
              </a:rPr>
              <a:t>A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nalysis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241" rIns="0" bIns="0" rtlCol="0">
            <a:spAutoFit/>
          </a:bodyPr>
          <a:lstStyle/>
          <a:p>
            <a:pPr marL="322516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LAMA</a:t>
            </a:r>
            <a:r>
              <a:rPr spc="-75" dirty="0"/>
              <a:t> </a:t>
            </a:r>
            <a:r>
              <a:rPr spc="114" dirty="0"/>
              <a:t>Probe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216864"/>
            <a:ext cx="7773034" cy="1178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Goal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evaluate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factual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130" dirty="0">
                <a:solidFill>
                  <a:srgbClr val="E69137"/>
                </a:solidFill>
                <a:latin typeface="Book Antiqua"/>
                <a:cs typeface="Book Antiqua"/>
              </a:rPr>
              <a:t>+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commonsense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knowledge</a:t>
            </a:r>
            <a:r>
              <a:rPr sz="1700" b="1" spc="-4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in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language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models</a:t>
            </a:r>
            <a:endParaRPr sz="17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●"/>
            </a:pPr>
            <a:endParaRPr sz="1900">
              <a:latin typeface="Book Antiqua"/>
              <a:cs typeface="Book Antiqua"/>
            </a:endParaRPr>
          </a:p>
          <a:p>
            <a:pPr marL="371475" marR="5080" indent="-359410">
              <a:lnSpc>
                <a:spcPct val="114999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dirty="0">
                <a:latin typeface="Times New Roman"/>
                <a:cs typeface="Times New Roman"/>
              </a:rPr>
              <a:t>Collect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set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knowledge</a:t>
            </a:r>
            <a:r>
              <a:rPr sz="1700" b="1" spc="1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sources</a:t>
            </a:r>
            <a:r>
              <a:rPr sz="1700" b="1" spc="2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(i.e.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set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facts)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test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see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how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well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modelʼs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captures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these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facts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25706" y="4634050"/>
            <a:ext cx="271145" cy="259079"/>
          </a:xfrm>
          <a:custGeom>
            <a:avLst/>
            <a:gdLst/>
            <a:ahLst/>
            <a:cxnLst/>
            <a:rect l="l" t="t" r="r" b="b"/>
            <a:pathLst>
              <a:path w="271145" h="259079">
                <a:moveTo>
                  <a:pt x="270829" y="259079"/>
                </a:moveTo>
                <a:lnTo>
                  <a:pt x="0" y="259079"/>
                </a:lnTo>
                <a:lnTo>
                  <a:pt x="0" y="0"/>
                </a:lnTo>
                <a:lnTo>
                  <a:pt x="270829" y="0"/>
                </a:lnTo>
                <a:lnTo>
                  <a:pt x="270829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2555" y="4634050"/>
            <a:ext cx="193675" cy="259079"/>
          </a:xfrm>
          <a:custGeom>
            <a:avLst/>
            <a:gdLst/>
            <a:ahLst/>
            <a:cxnLst/>
            <a:rect l="l" t="t" r="r" b="b"/>
            <a:pathLst>
              <a:path w="193675" h="259079">
                <a:moveTo>
                  <a:pt x="193357" y="259079"/>
                </a:moveTo>
                <a:lnTo>
                  <a:pt x="0" y="259079"/>
                </a:lnTo>
                <a:lnTo>
                  <a:pt x="0" y="0"/>
                </a:lnTo>
                <a:lnTo>
                  <a:pt x="193357" y="0"/>
                </a:lnTo>
                <a:lnTo>
                  <a:pt x="193357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9235" y="4634050"/>
            <a:ext cx="146050" cy="259079"/>
          </a:xfrm>
          <a:custGeom>
            <a:avLst/>
            <a:gdLst/>
            <a:ahLst/>
            <a:cxnLst/>
            <a:rect l="l" t="t" r="r" b="b"/>
            <a:pathLst>
              <a:path w="146050" h="259079">
                <a:moveTo>
                  <a:pt x="145665" y="259079"/>
                </a:moveTo>
                <a:lnTo>
                  <a:pt x="0" y="259079"/>
                </a:lnTo>
                <a:lnTo>
                  <a:pt x="0" y="0"/>
                </a:lnTo>
                <a:lnTo>
                  <a:pt x="145665" y="0"/>
                </a:lnTo>
                <a:lnTo>
                  <a:pt x="145665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6190" y="328872"/>
            <a:ext cx="530709" cy="6971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0890" y="328884"/>
            <a:ext cx="530709" cy="69711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81449" y="68529"/>
            <a:ext cx="149034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Image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courtesy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of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Patrick</a:t>
            </a:r>
            <a:r>
              <a:rPr sz="850" i="1" u="sng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Lewis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3006" y="4630417"/>
            <a:ext cx="250825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b="1" spc="75" dirty="0">
                <a:solidFill>
                  <a:srgbClr val="595959"/>
                </a:solidFill>
                <a:latin typeface="Cambria"/>
                <a:cs typeface="Cambria"/>
              </a:rPr>
              <a:t>LA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nguage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70" dirty="0">
                <a:solidFill>
                  <a:srgbClr val="595959"/>
                </a:solidFill>
                <a:latin typeface="Cambria"/>
                <a:cs typeface="Cambria"/>
              </a:rPr>
              <a:t>M</a:t>
            </a:r>
            <a:r>
              <a:rPr sz="1700" spc="70" dirty="0">
                <a:solidFill>
                  <a:srgbClr val="595959"/>
                </a:solidFill>
                <a:latin typeface="Times New Roman"/>
                <a:cs typeface="Times New Roman"/>
              </a:rPr>
              <a:t>odel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50" dirty="0">
                <a:solidFill>
                  <a:srgbClr val="595959"/>
                </a:solidFill>
                <a:latin typeface="Cambria"/>
                <a:cs typeface="Cambria"/>
              </a:rPr>
              <a:t>A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nalysis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241" rIns="0" bIns="0" rtlCol="0">
            <a:spAutoFit/>
          </a:bodyPr>
          <a:lstStyle/>
          <a:p>
            <a:pPr marL="322516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LAMA</a:t>
            </a:r>
            <a:r>
              <a:rPr spc="-75" dirty="0"/>
              <a:t> </a:t>
            </a:r>
            <a:r>
              <a:rPr spc="114" dirty="0"/>
              <a:t>Probe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216864"/>
            <a:ext cx="7773034" cy="1774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Goal: </a:t>
            </a:r>
            <a:r>
              <a:rPr sz="1700" b="1" spc="-10" dirty="0">
                <a:latin typeface="Book Antiqua"/>
                <a:cs typeface="Book Antiqua"/>
              </a:rPr>
              <a:t>evaluate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factual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130" dirty="0">
                <a:solidFill>
                  <a:srgbClr val="E69137"/>
                </a:solidFill>
                <a:latin typeface="Book Antiqua"/>
                <a:cs typeface="Book Antiqua"/>
              </a:rPr>
              <a:t>+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commonsense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knowledge </a:t>
            </a:r>
            <a:r>
              <a:rPr sz="1700" b="1" dirty="0">
                <a:latin typeface="Book Antiqua"/>
                <a:cs typeface="Book Antiqua"/>
              </a:rPr>
              <a:t>in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language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models</a:t>
            </a:r>
            <a:endParaRPr sz="17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●"/>
            </a:pPr>
            <a:endParaRPr sz="1900">
              <a:latin typeface="Book Antiqua"/>
              <a:cs typeface="Book Antiqua"/>
            </a:endParaRPr>
          </a:p>
          <a:p>
            <a:pPr marL="371475" marR="5080" indent="-359410">
              <a:lnSpc>
                <a:spcPct val="114999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dirty="0">
                <a:latin typeface="Times New Roman"/>
                <a:cs typeface="Times New Roman"/>
              </a:rPr>
              <a:t>Collect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set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knowledge</a:t>
            </a:r>
            <a:r>
              <a:rPr sz="1700" b="1" spc="1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sources</a:t>
            </a:r>
            <a:r>
              <a:rPr sz="1700" b="1" spc="2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(i.e.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set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facts)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test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see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how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well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modelʼs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captures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these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facts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●"/>
            </a:pPr>
            <a:endParaRPr sz="23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i="1" dirty="0">
                <a:latin typeface="Book Antiqua"/>
                <a:cs typeface="Book Antiqua"/>
              </a:rPr>
              <a:t>How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55" dirty="0">
                <a:latin typeface="Book Antiqua"/>
                <a:cs typeface="Book Antiqua"/>
              </a:rPr>
              <a:t>do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we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know</a:t>
            </a:r>
            <a:r>
              <a:rPr sz="1700" i="1" spc="45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how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“knowledgeable”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125" dirty="0">
                <a:latin typeface="Book Antiqua"/>
                <a:cs typeface="Book Antiqua"/>
              </a:rPr>
              <a:t>a</a:t>
            </a:r>
            <a:r>
              <a:rPr sz="1700" i="1" spc="45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LM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is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55" dirty="0">
                <a:latin typeface="Book Antiqua"/>
                <a:cs typeface="Book Antiqua"/>
              </a:rPr>
              <a:t>about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125" dirty="0">
                <a:latin typeface="Book Antiqua"/>
                <a:cs typeface="Book Antiqua"/>
              </a:rPr>
              <a:t>a</a:t>
            </a:r>
            <a:r>
              <a:rPr sz="1700" i="1" spc="45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particular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-10" dirty="0">
                <a:latin typeface="Book Antiqua"/>
                <a:cs typeface="Book Antiqua"/>
              </a:rPr>
              <a:t>fact?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25706" y="4634050"/>
            <a:ext cx="271145" cy="259079"/>
          </a:xfrm>
          <a:custGeom>
            <a:avLst/>
            <a:gdLst/>
            <a:ahLst/>
            <a:cxnLst/>
            <a:rect l="l" t="t" r="r" b="b"/>
            <a:pathLst>
              <a:path w="271145" h="259079">
                <a:moveTo>
                  <a:pt x="270829" y="259079"/>
                </a:moveTo>
                <a:lnTo>
                  <a:pt x="0" y="259079"/>
                </a:lnTo>
                <a:lnTo>
                  <a:pt x="0" y="0"/>
                </a:lnTo>
                <a:lnTo>
                  <a:pt x="270829" y="0"/>
                </a:lnTo>
                <a:lnTo>
                  <a:pt x="270829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2555" y="4634050"/>
            <a:ext cx="193675" cy="259079"/>
          </a:xfrm>
          <a:custGeom>
            <a:avLst/>
            <a:gdLst/>
            <a:ahLst/>
            <a:cxnLst/>
            <a:rect l="l" t="t" r="r" b="b"/>
            <a:pathLst>
              <a:path w="193675" h="259079">
                <a:moveTo>
                  <a:pt x="193357" y="259079"/>
                </a:moveTo>
                <a:lnTo>
                  <a:pt x="0" y="259079"/>
                </a:lnTo>
                <a:lnTo>
                  <a:pt x="0" y="0"/>
                </a:lnTo>
                <a:lnTo>
                  <a:pt x="193357" y="0"/>
                </a:lnTo>
                <a:lnTo>
                  <a:pt x="193357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9235" y="4634050"/>
            <a:ext cx="146050" cy="259079"/>
          </a:xfrm>
          <a:custGeom>
            <a:avLst/>
            <a:gdLst/>
            <a:ahLst/>
            <a:cxnLst/>
            <a:rect l="l" t="t" r="r" b="b"/>
            <a:pathLst>
              <a:path w="146050" h="259079">
                <a:moveTo>
                  <a:pt x="145665" y="259079"/>
                </a:moveTo>
                <a:lnTo>
                  <a:pt x="0" y="259079"/>
                </a:lnTo>
                <a:lnTo>
                  <a:pt x="0" y="0"/>
                </a:lnTo>
                <a:lnTo>
                  <a:pt x="145665" y="0"/>
                </a:lnTo>
                <a:lnTo>
                  <a:pt x="145665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6190" y="328872"/>
            <a:ext cx="530709" cy="6971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0890" y="328884"/>
            <a:ext cx="530709" cy="69711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81449" y="68529"/>
            <a:ext cx="149034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Image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courtesy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of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Patrick</a:t>
            </a:r>
            <a:r>
              <a:rPr sz="850" i="1" u="sng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Lewis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3006" y="4630417"/>
            <a:ext cx="250825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b="1" spc="75" dirty="0">
                <a:solidFill>
                  <a:srgbClr val="595959"/>
                </a:solidFill>
                <a:latin typeface="Cambria"/>
                <a:cs typeface="Cambria"/>
              </a:rPr>
              <a:t>LA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nguage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70" dirty="0">
                <a:solidFill>
                  <a:srgbClr val="595959"/>
                </a:solidFill>
                <a:latin typeface="Cambria"/>
                <a:cs typeface="Cambria"/>
              </a:rPr>
              <a:t>M</a:t>
            </a:r>
            <a:r>
              <a:rPr sz="1700" spc="70" dirty="0">
                <a:solidFill>
                  <a:srgbClr val="595959"/>
                </a:solidFill>
                <a:latin typeface="Times New Roman"/>
                <a:cs typeface="Times New Roman"/>
              </a:rPr>
              <a:t>odel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50" dirty="0">
                <a:solidFill>
                  <a:srgbClr val="595959"/>
                </a:solidFill>
                <a:latin typeface="Cambria"/>
                <a:cs typeface="Cambria"/>
              </a:rPr>
              <a:t>A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nalysis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25706" y="4634050"/>
            <a:ext cx="271145" cy="259079"/>
          </a:xfrm>
          <a:custGeom>
            <a:avLst/>
            <a:gdLst/>
            <a:ahLst/>
            <a:cxnLst/>
            <a:rect l="l" t="t" r="r" b="b"/>
            <a:pathLst>
              <a:path w="271145" h="259079">
                <a:moveTo>
                  <a:pt x="270829" y="259079"/>
                </a:moveTo>
                <a:lnTo>
                  <a:pt x="0" y="259079"/>
                </a:lnTo>
                <a:lnTo>
                  <a:pt x="0" y="0"/>
                </a:lnTo>
                <a:lnTo>
                  <a:pt x="270829" y="0"/>
                </a:lnTo>
                <a:lnTo>
                  <a:pt x="270829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42555" y="4634050"/>
            <a:ext cx="193675" cy="259079"/>
          </a:xfrm>
          <a:custGeom>
            <a:avLst/>
            <a:gdLst/>
            <a:ahLst/>
            <a:cxnLst/>
            <a:rect l="l" t="t" r="r" b="b"/>
            <a:pathLst>
              <a:path w="193675" h="259079">
                <a:moveTo>
                  <a:pt x="193357" y="259079"/>
                </a:moveTo>
                <a:lnTo>
                  <a:pt x="0" y="259079"/>
                </a:lnTo>
                <a:lnTo>
                  <a:pt x="0" y="0"/>
                </a:lnTo>
                <a:lnTo>
                  <a:pt x="193357" y="0"/>
                </a:lnTo>
                <a:lnTo>
                  <a:pt x="193357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99235" y="4634050"/>
            <a:ext cx="146050" cy="259079"/>
          </a:xfrm>
          <a:custGeom>
            <a:avLst/>
            <a:gdLst/>
            <a:ahLst/>
            <a:cxnLst/>
            <a:rect l="l" t="t" r="r" b="b"/>
            <a:pathLst>
              <a:path w="146050" h="259079">
                <a:moveTo>
                  <a:pt x="145665" y="259079"/>
                </a:moveTo>
                <a:lnTo>
                  <a:pt x="0" y="259079"/>
                </a:lnTo>
                <a:lnTo>
                  <a:pt x="0" y="0"/>
                </a:lnTo>
                <a:lnTo>
                  <a:pt x="145665" y="0"/>
                </a:lnTo>
                <a:lnTo>
                  <a:pt x="145665" y="2590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8200" y="33886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20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7630" y="1216864"/>
            <a:ext cx="7773034" cy="2910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Goal: </a:t>
            </a:r>
            <a:r>
              <a:rPr sz="1700" b="1" spc="-10" dirty="0">
                <a:latin typeface="Book Antiqua"/>
                <a:cs typeface="Book Antiqua"/>
              </a:rPr>
              <a:t>evaluate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factual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130" dirty="0">
                <a:solidFill>
                  <a:srgbClr val="E69137"/>
                </a:solidFill>
                <a:latin typeface="Book Antiqua"/>
                <a:cs typeface="Book Antiqua"/>
              </a:rPr>
              <a:t>+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commonsense</a:t>
            </a:r>
            <a:r>
              <a:rPr sz="1700" b="1" spc="-2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knowledge </a:t>
            </a:r>
            <a:r>
              <a:rPr sz="1700" b="1" dirty="0">
                <a:latin typeface="Book Antiqua"/>
                <a:cs typeface="Book Antiqua"/>
              </a:rPr>
              <a:t>in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language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models</a:t>
            </a:r>
            <a:endParaRPr sz="17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●"/>
            </a:pPr>
            <a:endParaRPr sz="1900">
              <a:latin typeface="Book Antiqua"/>
              <a:cs typeface="Book Antiqua"/>
            </a:endParaRPr>
          </a:p>
          <a:p>
            <a:pPr marL="371475" marR="5080" indent="-359410">
              <a:lnSpc>
                <a:spcPct val="114999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dirty="0">
                <a:latin typeface="Times New Roman"/>
                <a:cs typeface="Times New Roman"/>
              </a:rPr>
              <a:t>Collect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set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knowledge</a:t>
            </a:r>
            <a:r>
              <a:rPr sz="1700" b="1" spc="1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Book Antiqua"/>
                <a:cs typeface="Book Antiqua"/>
              </a:rPr>
              <a:t>sources</a:t>
            </a:r>
            <a:r>
              <a:rPr sz="1700" b="1" spc="2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(i.e.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set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facts)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test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see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how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well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modelʼs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captures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these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facts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●"/>
            </a:pPr>
            <a:endParaRPr sz="23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i="1" dirty="0">
                <a:latin typeface="Book Antiqua"/>
                <a:cs typeface="Book Antiqua"/>
              </a:rPr>
              <a:t>How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55" dirty="0">
                <a:latin typeface="Book Antiqua"/>
                <a:cs typeface="Book Antiqua"/>
              </a:rPr>
              <a:t>do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we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know</a:t>
            </a:r>
            <a:r>
              <a:rPr sz="1700" i="1" spc="45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how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“knowledgeable”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125" dirty="0">
                <a:latin typeface="Book Antiqua"/>
                <a:cs typeface="Book Antiqua"/>
              </a:rPr>
              <a:t>a</a:t>
            </a:r>
            <a:r>
              <a:rPr sz="1700" i="1" spc="45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LM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is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55" dirty="0">
                <a:latin typeface="Book Antiqua"/>
                <a:cs typeface="Book Antiqua"/>
              </a:rPr>
              <a:t>about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125" dirty="0">
                <a:latin typeface="Book Antiqua"/>
                <a:cs typeface="Book Antiqua"/>
              </a:rPr>
              <a:t>a</a:t>
            </a:r>
            <a:r>
              <a:rPr sz="1700" i="1" spc="45" dirty="0">
                <a:latin typeface="Book Antiqua"/>
                <a:cs typeface="Book Antiqua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particular</a:t>
            </a:r>
            <a:r>
              <a:rPr sz="1700" i="1" spc="40" dirty="0">
                <a:latin typeface="Book Antiqua"/>
                <a:cs typeface="Book Antiqua"/>
              </a:rPr>
              <a:t> </a:t>
            </a:r>
            <a:r>
              <a:rPr sz="1700" i="1" spc="-10" dirty="0">
                <a:latin typeface="Book Antiqua"/>
                <a:cs typeface="Book Antiqua"/>
              </a:rPr>
              <a:t>fact?</a:t>
            </a:r>
            <a:endParaRPr sz="17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2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Book Antiqua"/>
              <a:cs typeface="Book Antiqua"/>
            </a:endParaRPr>
          </a:p>
          <a:p>
            <a:pPr marL="97155"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cloze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statement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queries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model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missing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token,</a:t>
            </a:r>
            <a:endParaRPr sz="1800">
              <a:latin typeface="Times New Roman"/>
              <a:cs typeface="Times New Roman"/>
            </a:endParaRPr>
          </a:p>
          <a:p>
            <a:pPr marL="96520" algn="ctr">
              <a:lnSpc>
                <a:spcPct val="100000"/>
              </a:lnSpc>
              <a:spcBef>
                <a:spcPts val="15"/>
              </a:spcBef>
            </a:pPr>
            <a:r>
              <a:rPr sz="1800" b="1" spc="-35" dirty="0">
                <a:latin typeface="Book Antiqua"/>
                <a:cs typeface="Book Antiqua"/>
              </a:rPr>
              <a:t>knowledgeable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0" dirty="0">
                <a:latin typeface="Book Antiqua"/>
                <a:cs typeface="Book Antiqua"/>
              </a:rPr>
              <a:t>LMs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rank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" dirty="0">
                <a:latin typeface="Book Antiqua"/>
                <a:cs typeface="Book Antiqua"/>
              </a:rPr>
              <a:t>ground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truth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0" dirty="0">
                <a:latin typeface="Book Antiqua"/>
                <a:cs typeface="Book Antiqua"/>
              </a:rPr>
              <a:t>tokens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5" dirty="0">
                <a:latin typeface="Book Antiqua"/>
                <a:cs typeface="Book Antiqua"/>
              </a:rPr>
              <a:t>high</a:t>
            </a:r>
            <a:r>
              <a:rPr sz="1800" b="1" spc="-40" dirty="0">
                <a:latin typeface="Book Antiqua"/>
                <a:cs typeface="Book Antiqua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tokens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lower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241" rIns="0" bIns="0" rtlCol="0">
            <a:spAutoFit/>
          </a:bodyPr>
          <a:lstStyle/>
          <a:p>
            <a:pPr marL="322516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LAMA</a:t>
            </a:r>
            <a:r>
              <a:rPr spc="-75" dirty="0"/>
              <a:t> </a:t>
            </a:r>
            <a:r>
              <a:rPr spc="114" dirty="0"/>
              <a:t>Probe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6190" y="328872"/>
            <a:ext cx="530709" cy="69711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0890" y="328884"/>
            <a:ext cx="530709" cy="69711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581449" y="68529"/>
            <a:ext cx="149034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Image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courtesy</a:t>
            </a:r>
            <a:r>
              <a:rPr sz="850" i="1" spc="114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of</a:t>
            </a:r>
            <a:r>
              <a:rPr sz="850" i="1" spc="11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Patrick</a:t>
            </a:r>
            <a:r>
              <a:rPr sz="850" i="1" u="sng" spc="114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Lewis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13006" y="4630417"/>
            <a:ext cx="250825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1700" b="1" spc="75" dirty="0">
                <a:solidFill>
                  <a:srgbClr val="595959"/>
                </a:solidFill>
                <a:latin typeface="Cambria"/>
                <a:cs typeface="Cambria"/>
              </a:rPr>
              <a:t>LA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nguage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70" dirty="0">
                <a:solidFill>
                  <a:srgbClr val="595959"/>
                </a:solidFill>
                <a:latin typeface="Cambria"/>
                <a:cs typeface="Cambria"/>
              </a:rPr>
              <a:t>M</a:t>
            </a:r>
            <a:r>
              <a:rPr sz="1700" spc="70" dirty="0">
                <a:solidFill>
                  <a:srgbClr val="595959"/>
                </a:solidFill>
                <a:latin typeface="Times New Roman"/>
                <a:cs typeface="Times New Roman"/>
              </a:rPr>
              <a:t>odel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50" dirty="0">
                <a:solidFill>
                  <a:srgbClr val="595959"/>
                </a:solidFill>
                <a:latin typeface="Cambria"/>
                <a:cs typeface="Cambria"/>
              </a:rPr>
              <a:t>A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nalysis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3" name="object 3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748" y="1180605"/>
            <a:ext cx="765746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cloze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statement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queries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model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missing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token,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b="1" spc="-35" dirty="0">
                <a:latin typeface="Book Antiqua"/>
                <a:cs typeface="Book Antiqua"/>
              </a:rPr>
              <a:t>knowledgeable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0" dirty="0">
                <a:latin typeface="Book Antiqua"/>
                <a:cs typeface="Book Antiqua"/>
              </a:rPr>
              <a:t>LMs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rank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" dirty="0">
                <a:latin typeface="Book Antiqua"/>
                <a:cs typeface="Book Antiqua"/>
              </a:rPr>
              <a:t>ground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truth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0" dirty="0">
                <a:latin typeface="Book Antiqua"/>
                <a:cs typeface="Book Antiqua"/>
              </a:rPr>
              <a:t>tokens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5" dirty="0">
                <a:latin typeface="Book Antiqua"/>
                <a:cs typeface="Book Antiqua"/>
              </a:rPr>
              <a:t>high</a:t>
            </a:r>
            <a:r>
              <a:rPr sz="1800" b="1" spc="-40" dirty="0">
                <a:latin typeface="Book Antiqua"/>
                <a:cs typeface="Book Antiqua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tokens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lower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3025" y="4870881"/>
            <a:ext cx="1327150" cy="20066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latin typeface="Book Antiqua"/>
                <a:cs typeface="Book Antiqua"/>
              </a:rPr>
              <a:t>*according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LM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3" name="object 3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Given</a:t>
            </a:r>
            <a:r>
              <a:rPr spc="-5" dirty="0"/>
              <a:t> </a:t>
            </a:r>
            <a:r>
              <a:rPr spc="110" dirty="0"/>
              <a:t>a</a:t>
            </a:r>
            <a:r>
              <a:rPr spc="-5" dirty="0"/>
              <a:t> </a:t>
            </a:r>
            <a:r>
              <a:rPr spc="55" dirty="0"/>
              <a:t>cloze</a:t>
            </a:r>
            <a:r>
              <a:rPr spc="-5" dirty="0"/>
              <a:t> </a:t>
            </a:r>
            <a:r>
              <a:rPr spc="110" dirty="0"/>
              <a:t>statement</a:t>
            </a:r>
            <a:r>
              <a:rPr spc="-5" dirty="0"/>
              <a:t> </a:t>
            </a:r>
            <a:r>
              <a:rPr spc="110" dirty="0"/>
              <a:t>that</a:t>
            </a:r>
            <a:r>
              <a:rPr spc="-5" dirty="0"/>
              <a:t> </a:t>
            </a:r>
            <a:r>
              <a:rPr spc="105" dirty="0"/>
              <a:t>queries</a:t>
            </a:r>
            <a:r>
              <a:rPr spc="-5" dirty="0"/>
              <a:t> </a:t>
            </a:r>
            <a:r>
              <a:rPr spc="120" dirty="0"/>
              <a:t>the</a:t>
            </a:r>
            <a:r>
              <a:rPr spc="-5" dirty="0"/>
              <a:t> </a:t>
            </a:r>
            <a:r>
              <a:rPr spc="105" dirty="0"/>
              <a:t>model</a:t>
            </a:r>
            <a:r>
              <a:rPr spc="-5" dirty="0"/>
              <a:t> </a:t>
            </a:r>
            <a:r>
              <a:rPr spc="80" dirty="0"/>
              <a:t>for</a:t>
            </a:r>
            <a:r>
              <a:rPr dirty="0"/>
              <a:t> </a:t>
            </a:r>
            <a:r>
              <a:rPr spc="110" dirty="0"/>
              <a:t>a</a:t>
            </a:r>
            <a:r>
              <a:rPr spc="-5" dirty="0"/>
              <a:t> </a:t>
            </a:r>
            <a:r>
              <a:rPr spc="95" dirty="0"/>
              <a:t>missing</a:t>
            </a:r>
            <a:r>
              <a:rPr spc="-5" dirty="0"/>
              <a:t> </a:t>
            </a:r>
            <a:r>
              <a:rPr spc="85" dirty="0"/>
              <a:t>token,</a:t>
            </a: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b="1" spc="-35" dirty="0">
                <a:latin typeface="Book Antiqua"/>
                <a:cs typeface="Book Antiqua"/>
              </a:rPr>
              <a:t>knowledgeable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100" dirty="0">
                <a:latin typeface="Book Antiqua"/>
                <a:cs typeface="Book Antiqua"/>
              </a:rPr>
              <a:t>LMs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dirty="0">
                <a:latin typeface="Book Antiqua"/>
                <a:cs typeface="Book Antiqua"/>
              </a:rPr>
              <a:t>rank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10" dirty="0">
                <a:latin typeface="Book Antiqua"/>
                <a:cs typeface="Book Antiqua"/>
              </a:rPr>
              <a:t>ground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dirty="0">
                <a:latin typeface="Book Antiqua"/>
                <a:cs typeface="Book Antiqua"/>
              </a:rPr>
              <a:t>truth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20" dirty="0">
                <a:latin typeface="Book Antiqua"/>
                <a:cs typeface="Book Antiqua"/>
              </a:rPr>
              <a:t>tokens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25" dirty="0">
                <a:latin typeface="Book Antiqua"/>
                <a:cs typeface="Book Antiqua"/>
              </a:rPr>
              <a:t>high</a:t>
            </a:r>
            <a:r>
              <a:rPr b="1" spc="-40" dirty="0">
                <a:latin typeface="Book Antiqua"/>
                <a:cs typeface="Book Antiqua"/>
              </a:rPr>
              <a:t> </a:t>
            </a:r>
            <a:r>
              <a:rPr spc="135" dirty="0"/>
              <a:t>and</a:t>
            </a:r>
            <a:r>
              <a:rPr spc="-30" dirty="0"/>
              <a:t> </a:t>
            </a:r>
            <a:r>
              <a:rPr spc="114" dirty="0"/>
              <a:t>other</a:t>
            </a:r>
            <a:r>
              <a:rPr spc="-30" dirty="0"/>
              <a:t> </a:t>
            </a:r>
            <a:r>
              <a:rPr spc="95" dirty="0"/>
              <a:t>tokens</a:t>
            </a:r>
            <a:r>
              <a:rPr spc="-30" dirty="0"/>
              <a:t> </a:t>
            </a:r>
            <a:r>
              <a:rPr spc="75" dirty="0"/>
              <a:t>lower</a:t>
            </a:r>
          </a:p>
          <a:p>
            <a:pPr marL="635">
              <a:lnSpc>
                <a:spcPct val="100000"/>
              </a:lnSpc>
            </a:pPr>
            <a:endParaRPr sz="2650"/>
          </a:p>
          <a:p>
            <a:pPr marL="200406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1787" y="3301012"/>
            <a:ext cx="1426210" cy="657225"/>
            <a:chOff x="581787" y="3301012"/>
            <a:chExt cx="1426210" cy="657225"/>
          </a:xfrm>
        </p:grpSpPr>
        <p:sp>
          <p:nvSpPr>
            <p:cNvPr id="7" name="object 7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1292697" y="628199"/>
                  </a:move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0" y="104701"/>
                  </a:move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97886" y="340003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47955" marR="5080" indent="-13589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spc="-10" dirty="0">
                <a:latin typeface="Times New Roman"/>
                <a:cs typeface="Times New Roman"/>
              </a:rPr>
              <a:t>Model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62412" y="2223762"/>
            <a:ext cx="1244600" cy="1019175"/>
            <a:chOff x="1262412" y="2223762"/>
            <a:chExt cx="1244600" cy="1019175"/>
          </a:xfrm>
        </p:grpSpPr>
        <p:sp>
          <p:nvSpPr>
            <p:cNvPr id="11" name="object 11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19449" y="900897"/>
                  </a:moveTo>
                  <a:lnTo>
                    <a:pt x="43585" y="900897"/>
                  </a:lnTo>
                  <a:lnTo>
                    <a:pt x="43585" y="406868"/>
                  </a:lnTo>
                  <a:lnTo>
                    <a:pt x="46322" y="359419"/>
                  </a:lnTo>
                  <a:lnTo>
                    <a:pt x="54330" y="313577"/>
                  </a:lnTo>
                  <a:lnTo>
                    <a:pt x="67305" y="269648"/>
                  </a:lnTo>
                  <a:lnTo>
                    <a:pt x="84939" y="227938"/>
                  </a:lnTo>
                  <a:lnTo>
                    <a:pt x="106929" y="188751"/>
                  </a:lnTo>
                  <a:lnTo>
                    <a:pt x="132969" y="152393"/>
                  </a:lnTo>
                  <a:lnTo>
                    <a:pt x="162754" y="119169"/>
                  </a:lnTo>
                  <a:lnTo>
                    <a:pt x="195978" y="89384"/>
                  </a:lnTo>
                  <a:lnTo>
                    <a:pt x="232336" y="63344"/>
                  </a:lnTo>
                  <a:lnTo>
                    <a:pt x="271523" y="41354"/>
                  </a:lnTo>
                  <a:lnTo>
                    <a:pt x="313233" y="23719"/>
                  </a:lnTo>
                  <a:lnTo>
                    <a:pt x="357162" y="10745"/>
                  </a:lnTo>
                  <a:lnTo>
                    <a:pt x="403004" y="2737"/>
                  </a:lnTo>
                  <a:lnTo>
                    <a:pt x="450454" y="0"/>
                  </a:lnTo>
                  <a:lnTo>
                    <a:pt x="1234799" y="0"/>
                  </a:lnTo>
                  <a:lnTo>
                    <a:pt x="1234799" y="75863"/>
                  </a:lnTo>
                  <a:lnTo>
                    <a:pt x="450454" y="75863"/>
                  </a:lnTo>
                  <a:lnTo>
                    <a:pt x="401540" y="79452"/>
                  </a:lnTo>
                  <a:lnTo>
                    <a:pt x="354855" y="89878"/>
                  </a:lnTo>
                  <a:lnTo>
                    <a:pt x="310910" y="106628"/>
                  </a:lnTo>
                  <a:lnTo>
                    <a:pt x="270218" y="129190"/>
                  </a:lnTo>
                  <a:lnTo>
                    <a:pt x="233290" y="157053"/>
                  </a:lnTo>
                  <a:lnTo>
                    <a:pt x="200639" y="189705"/>
                  </a:lnTo>
                  <a:lnTo>
                    <a:pt x="172776" y="226633"/>
                  </a:lnTo>
                  <a:lnTo>
                    <a:pt x="150213" y="267325"/>
                  </a:lnTo>
                  <a:lnTo>
                    <a:pt x="133463" y="311270"/>
                  </a:lnTo>
                  <a:lnTo>
                    <a:pt x="123038" y="357955"/>
                  </a:lnTo>
                  <a:lnTo>
                    <a:pt x="119449" y="406868"/>
                  </a:lnTo>
                  <a:lnTo>
                    <a:pt x="119449" y="900897"/>
                  </a:lnTo>
                  <a:close/>
                </a:path>
                <a:path w="1235075" h="1009650">
                  <a:moveTo>
                    <a:pt x="81517" y="1009499"/>
                  </a:moveTo>
                  <a:lnTo>
                    <a:pt x="0" y="900897"/>
                  </a:lnTo>
                  <a:lnTo>
                    <a:pt x="163034" y="900897"/>
                  </a:lnTo>
                  <a:lnTo>
                    <a:pt x="81517" y="1009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234799" y="0"/>
                  </a:moveTo>
                  <a:lnTo>
                    <a:pt x="450454" y="0"/>
                  </a:lnTo>
                  <a:lnTo>
                    <a:pt x="403004" y="2737"/>
                  </a:lnTo>
                  <a:lnTo>
                    <a:pt x="357162" y="10745"/>
                  </a:lnTo>
                  <a:lnTo>
                    <a:pt x="313233" y="23719"/>
                  </a:lnTo>
                  <a:lnTo>
                    <a:pt x="271523" y="41354"/>
                  </a:lnTo>
                  <a:lnTo>
                    <a:pt x="232336" y="63344"/>
                  </a:lnTo>
                  <a:lnTo>
                    <a:pt x="195978" y="89384"/>
                  </a:lnTo>
                  <a:lnTo>
                    <a:pt x="162754" y="119169"/>
                  </a:lnTo>
                  <a:lnTo>
                    <a:pt x="132969" y="152393"/>
                  </a:lnTo>
                  <a:lnTo>
                    <a:pt x="106929" y="188751"/>
                  </a:lnTo>
                  <a:lnTo>
                    <a:pt x="84939" y="227938"/>
                  </a:lnTo>
                  <a:lnTo>
                    <a:pt x="67305" y="269648"/>
                  </a:lnTo>
                  <a:lnTo>
                    <a:pt x="54330" y="313577"/>
                  </a:lnTo>
                  <a:lnTo>
                    <a:pt x="46322" y="359419"/>
                  </a:lnTo>
                  <a:lnTo>
                    <a:pt x="43585" y="406868"/>
                  </a:lnTo>
                  <a:lnTo>
                    <a:pt x="43585" y="900897"/>
                  </a:lnTo>
                  <a:lnTo>
                    <a:pt x="0" y="900897"/>
                  </a:lnTo>
                  <a:lnTo>
                    <a:pt x="81517" y="1009499"/>
                  </a:lnTo>
                  <a:lnTo>
                    <a:pt x="163034" y="900897"/>
                  </a:lnTo>
                  <a:lnTo>
                    <a:pt x="119449" y="900897"/>
                  </a:lnTo>
                  <a:lnTo>
                    <a:pt x="119449" y="406868"/>
                  </a:lnTo>
                  <a:lnTo>
                    <a:pt x="123038" y="357955"/>
                  </a:lnTo>
                  <a:lnTo>
                    <a:pt x="133463" y="311270"/>
                  </a:lnTo>
                  <a:lnTo>
                    <a:pt x="150213" y="267325"/>
                  </a:lnTo>
                  <a:lnTo>
                    <a:pt x="172776" y="226633"/>
                  </a:lnTo>
                  <a:lnTo>
                    <a:pt x="200639" y="189705"/>
                  </a:lnTo>
                  <a:lnTo>
                    <a:pt x="233290" y="157053"/>
                  </a:lnTo>
                  <a:lnTo>
                    <a:pt x="270218" y="129190"/>
                  </a:lnTo>
                  <a:lnTo>
                    <a:pt x="310910" y="106628"/>
                  </a:lnTo>
                  <a:lnTo>
                    <a:pt x="354855" y="89878"/>
                  </a:lnTo>
                  <a:lnTo>
                    <a:pt x="401540" y="79452"/>
                  </a:lnTo>
                  <a:lnTo>
                    <a:pt x="450454" y="75863"/>
                  </a:lnTo>
                  <a:lnTo>
                    <a:pt x="1234799" y="75863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73025" y="4870881"/>
            <a:ext cx="1327150" cy="20066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latin typeface="Book Antiqua"/>
                <a:cs typeface="Book Antiqua"/>
              </a:rPr>
              <a:t>*according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LM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3225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216054" y="1823399"/>
                </a:moveTo>
                <a:lnTo>
                  <a:pt x="166515" y="1817693"/>
                </a:lnTo>
                <a:lnTo>
                  <a:pt x="121039" y="1801439"/>
                </a:lnTo>
                <a:lnTo>
                  <a:pt x="80923" y="1775935"/>
                </a:lnTo>
                <a:lnTo>
                  <a:pt x="47464" y="1742476"/>
                </a:lnTo>
                <a:lnTo>
                  <a:pt x="21960" y="1702360"/>
                </a:lnTo>
                <a:lnTo>
                  <a:pt x="5706" y="1656885"/>
                </a:lnTo>
                <a:lnTo>
                  <a:pt x="0" y="1607345"/>
                </a:lnTo>
                <a:lnTo>
                  <a:pt x="0" y="216054"/>
                </a:lnTo>
                <a:lnTo>
                  <a:pt x="5706" y="166515"/>
                </a:lnTo>
                <a:lnTo>
                  <a:pt x="21960" y="121039"/>
                </a:lnTo>
                <a:lnTo>
                  <a:pt x="47464" y="80923"/>
                </a:lnTo>
                <a:lnTo>
                  <a:pt x="80923" y="47464"/>
                </a:lnTo>
                <a:lnTo>
                  <a:pt x="121039" y="21960"/>
                </a:lnTo>
                <a:lnTo>
                  <a:pt x="166515" y="5706"/>
                </a:lnTo>
                <a:lnTo>
                  <a:pt x="21605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3470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0" y="0"/>
                </a:moveTo>
                <a:lnTo>
                  <a:pt x="42346" y="4189"/>
                </a:lnTo>
                <a:lnTo>
                  <a:pt x="82680" y="16446"/>
                </a:lnTo>
                <a:lnTo>
                  <a:pt x="119867" y="36299"/>
                </a:lnTo>
                <a:lnTo>
                  <a:pt x="152773" y="63280"/>
                </a:lnTo>
                <a:lnTo>
                  <a:pt x="179754" y="96187"/>
                </a:lnTo>
                <a:lnTo>
                  <a:pt x="199608" y="133373"/>
                </a:lnTo>
                <a:lnTo>
                  <a:pt x="211864" y="173707"/>
                </a:lnTo>
                <a:lnTo>
                  <a:pt x="216054" y="216054"/>
                </a:lnTo>
                <a:lnTo>
                  <a:pt x="216054" y="1607345"/>
                </a:lnTo>
                <a:lnTo>
                  <a:pt x="210348" y="1656885"/>
                </a:lnTo>
                <a:lnTo>
                  <a:pt x="194094" y="1702360"/>
                </a:lnTo>
                <a:lnTo>
                  <a:pt x="168589" y="1742476"/>
                </a:lnTo>
                <a:lnTo>
                  <a:pt x="135130" y="1775935"/>
                </a:lnTo>
                <a:lnTo>
                  <a:pt x="95015" y="1801439"/>
                </a:lnTo>
                <a:lnTo>
                  <a:pt x="49539" y="1817693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44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81787" y="3301012"/>
            <a:ext cx="1426210" cy="657225"/>
            <a:chOff x="581787" y="3301012"/>
            <a:chExt cx="1426210" cy="657225"/>
          </a:xfrm>
        </p:grpSpPr>
        <p:sp>
          <p:nvSpPr>
            <p:cNvPr id="9" name="object 9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1292697" y="628199"/>
                  </a:move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0" y="104701"/>
                  </a:move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97886" y="340003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47955" marR="5080" indent="-13589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spc="-10" dirty="0">
                <a:latin typeface="Times New Roman"/>
                <a:cs typeface="Times New Roman"/>
              </a:rPr>
              <a:t>Model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62412" y="2223762"/>
            <a:ext cx="1244600" cy="1019175"/>
            <a:chOff x="1262412" y="2223762"/>
            <a:chExt cx="1244600" cy="1019175"/>
          </a:xfrm>
        </p:grpSpPr>
        <p:sp>
          <p:nvSpPr>
            <p:cNvPr id="13" name="object 13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19449" y="900897"/>
                  </a:moveTo>
                  <a:lnTo>
                    <a:pt x="43585" y="900897"/>
                  </a:lnTo>
                  <a:lnTo>
                    <a:pt x="43585" y="406868"/>
                  </a:lnTo>
                  <a:lnTo>
                    <a:pt x="46322" y="359419"/>
                  </a:lnTo>
                  <a:lnTo>
                    <a:pt x="54330" y="313577"/>
                  </a:lnTo>
                  <a:lnTo>
                    <a:pt x="67305" y="269648"/>
                  </a:lnTo>
                  <a:lnTo>
                    <a:pt x="84939" y="227938"/>
                  </a:lnTo>
                  <a:lnTo>
                    <a:pt x="106929" y="188751"/>
                  </a:lnTo>
                  <a:lnTo>
                    <a:pt x="132969" y="152393"/>
                  </a:lnTo>
                  <a:lnTo>
                    <a:pt x="162754" y="119169"/>
                  </a:lnTo>
                  <a:lnTo>
                    <a:pt x="195978" y="89384"/>
                  </a:lnTo>
                  <a:lnTo>
                    <a:pt x="232336" y="63344"/>
                  </a:lnTo>
                  <a:lnTo>
                    <a:pt x="271523" y="41354"/>
                  </a:lnTo>
                  <a:lnTo>
                    <a:pt x="313233" y="23719"/>
                  </a:lnTo>
                  <a:lnTo>
                    <a:pt x="357162" y="10745"/>
                  </a:lnTo>
                  <a:lnTo>
                    <a:pt x="403004" y="2737"/>
                  </a:lnTo>
                  <a:lnTo>
                    <a:pt x="450454" y="0"/>
                  </a:lnTo>
                  <a:lnTo>
                    <a:pt x="1234799" y="0"/>
                  </a:lnTo>
                  <a:lnTo>
                    <a:pt x="1234799" y="75863"/>
                  </a:lnTo>
                  <a:lnTo>
                    <a:pt x="450454" y="75863"/>
                  </a:lnTo>
                  <a:lnTo>
                    <a:pt x="401540" y="79452"/>
                  </a:lnTo>
                  <a:lnTo>
                    <a:pt x="354855" y="89878"/>
                  </a:lnTo>
                  <a:lnTo>
                    <a:pt x="310910" y="106628"/>
                  </a:lnTo>
                  <a:lnTo>
                    <a:pt x="270218" y="129190"/>
                  </a:lnTo>
                  <a:lnTo>
                    <a:pt x="233290" y="157053"/>
                  </a:lnTo>
                  <a:lnTo>
                    <a:pt x="200639" y="189705"/>
                  </a:lnTo>
                  <a:lnTo>
                    <a:pt x="172776" y="226633"/>
                  </a:lnTo>
                  <a:lnTo>
                    <a:pt x="150213" y="267325"/>
                  </a:lnTo>
                  <a:lnTo>
                    <a:pt x="133463" y="311270"/>
                  </a:lnTo>
                  <a:lnTo>
                    <a:pt x="123038" y="357955"/>
                  </a:lnTo>
                  <a:lnTo>
                    <a:pt x="119449" y="406868"/>
                  </a:lnTo>
                  <a:lnTo>
                    <a:pt x="119449" y="900897"/>
                  </a:lnTo>
                  <a:close/>
                </a:path>
                <a:path w="1235075" h="1009650">
                  <a:moveTo>
                    <a:pt x="81517" y="1009499"/>
                  </a:moveTo>
                  <a:lnTo>
                    <a:pt x="0" y="900897"/>
                  </a:lnTo>
                  <a:lnTo>
                    <a:pt x="163034" y="900897"/>
                  </a:lnTo>
                  <a:lnTo>
                    <a:pt x="81517" y="1009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234799" y="0"/>
                  </a:moveTo>
                  <a:lnTo>
                    <a:pt x="450454" y="0"/>
                  </a:lnTo>
                  <a:lnTo>
                    <a:pt x="403004" y="2737"/>
                  </a:lnTo>
                  <a:lnTo>
                    <a:pt x="357162" y="10745"/>
                  </a:lnTo>
                  <a:lnTo>
                    <a:pt x="313233" y="23719"/>
                  </a:lnTo>
                  <a:lnTo>
                    <a:pt x="271523" y="41354"/>
                  </a:lnTo>
                  <a:lnTo>
                    <a:pt x="232336" y="63344"/>
                  </a:lnTo>
                  <a:lnTo>
                    <a:pt x="195978" y="89384"/>
                  </a:lnTo>
                  <a:lnTo>
                    <a:pt x="162754" y="119169"/>
                  </a:lnTo>
                  <a:lnTo>
                    <a:pt x="132969" y="152393"/>
                  </a:lnTo>
                  <a:lnTo>
                    <a:pt x="106929" y="188751"/>
                  </a:lnTo>
                  <a:lnTo>
                    <a:pt x="84939" y="227938"/>
                  </a:lnTo>
                  <a:lnTo>
                    <a:pt x="67305" y="269648"/>
                  </a:lnTo>
                  <a:lnTo>
                    <a:pt x="54330" y="313577"/>
                  </a:lnTo>
                  <a:lnTo>
                    <a:pt x="46322" y="359419"/>
                  </a:lnTo>
                  <a:lnTo>
                    <a:pt x="43585" y="406868"/>
                  </a:lnTo>
                  <a:lnTo>
                    <a:pt x="43585" y="900897"/>
                  </a:lnTo>
                  <a:lnTo>
                    <a:pt x="0" y="900897"/>
                  </a:lnTo>
                  <a:lnTo>
                    <a:pt x="81517" y="1009499"/>
                  </a:lnTo>
                  <a:lnTo>
                    <a:pt x="163034" y="900897"/>
                  </a:lnTo>
                  <a:lnTo>
                    <a:pt x="119449" y="900897"/>
                  </a:lnTo>
                  <a:lnTo>
                    <a:pt x="119449" y="406868"/>
                  </a:lnTo>
                  <a:lnTo>
                    <a:pt x="123038" y="357955"/>
                  </a:lnTo>
                  <a:lnTo>
                    <a:pt x="133463" y="311270"/>
                  </a:lnTo>
                  <a:lnTo>
                    <a:pt x="150213" y="267325"/>
                  </a:lnTo>
                  <a:lnTo>
                    <a:pt x="172776" y="226633"/>
                  </a:lnTo>
                  <a:lnTo>
                    <a:pt x="200639" y="189705"/>
                  </a:lnTo>
                  <a:lnTo>
                    <a:pt x="233290" y="157053"/>
                  </a:lnTo>
                  <a:lnTo>
                    <a:pt x="270218" y="129190"/>
                  </a:lnTo>
                  <a:lnTo>
                    <a:pt x="310910" y="106628"/>
                  </a:lnTo>
                  <a:lnTo>
                    <a:pt x="354855" y="89878"/>
                  </a:lnTo>
                  <a:lnTo>
                    <a:pt x="401540" y="79452"/>
                  </a:lnTo>
                  <a:lnTo>
                    <a:pt x="450454" y="75863"/>
                  </a:lnTo>
                  <a:lnTo>
                    <a:pt x="1234799" y="75863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229837" y="3522162"/>
            <a:ext cx="407034" cy="203200"/>
            <a:chOff x="2229837" y="3522162"/>
            <a:chExt cx="407034" cy="203200"/>
          </a:xfrm>
        </p:grpSpPr>
        <p:sp>
          <p:nvSpPr>
            <p:cNvPr id="16" name="object 16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053016" y="2895789"/>
            <a:ext cx="339090" cy="188595"/>
          </a:xfrm>
          <a:custGeom>
            <a:avLst/>
            <a:gdLst/>
            <a:ahLst/>
            <a:cxnLst/>
            <a:rect l="l" t="t" r="r" b="b"/>
            <a:pathLst>
              <a:path w="339089" h="188594">
                <a:moveTo>
                  <a:pt x="338680" y="188213"/>
                </a:moveTo>
                <a:lnTo>
                  <a:pt x="0" y="188213"/>
                </a:lnTo>
                <a:lnTo>
                  <a:pt x="0" y="0"/>
                </a:lnTo>
                <a:lnTo>
                  <a:pt x="338680" y="0"/>
                </a:lnTo>
                <a:lnTo>
                  <a:pt x="338680" y="188213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43748" y="1180605"/>
            <a:ext cx="7657465" cy="191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cloze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statement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queries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model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missing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token,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b="1" spc="-35" dirty="0">
                <a:latin typeface="Book Antiqua"/>
                <a:cs typeface="Book Antiqua"/>
              </a:rPr>
              <a:t>knowledgeable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0" dirty="0">
                <a:latin typeface="Book Antiqua"/>
                <a:cs typeface="Book Antiqua"/>
              </a:rPr>
              <a:t>LMs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rank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" dirty="0">
                <a:latin typeface="Book Antiqua"/>
                <a:cs typeface="Book Antiqua"/>
              </a:rPr>
              <a:t>ground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truth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0" dirty="0">
                <a:latin typeface="Book Antiqua"/>
                <a:cs typeface="Book Antiqua"/>
              </a:rPr>
              <a:t>tokens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5" dirty="0">
                <a:latin typeface="Book Antiqua"/>
                <a:cs typeface="Book Antiqua"/>
              </a:rPr>
              <a:t>high</a:t>
            </a:r>
            <a:r>
              <a:rPr sz="1800" b="1" spc="-40" dirty="0">
                <a:latin typeface="Book Antiqua"/>
                <a:cs typeface="Book Antiqua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tokens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lower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50">
              <a:latin typeface="Times New Roman"/>
              <a:cs typeface="Times New Roman"/>
            </a:endParaRPr>
          </a:p>
          <a:p>
            <a:pPr marL="2003425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Cambria"/>
              <a:cs typeface="Cambria"/>
            </a:endParaRPr>
          </a:p>
          <a:p>
            <a:pPr marL="2359660">
              <a:lnSpc>
                <a:spcPts val="1520"/>
              </a:lnSpc>
            </a:pPr>
            <a:r>
              <a:rPr sz="1300" spc="-20" dirty="0">
                <a:latin typeface="Times New Roman"/>
                <a:cs typeface="Times New Roman"/>
              </a:rPr>
              <a:t>Bob:</a:t>
            </a:r>
            <a:endParaRPr sz="1300">
              <a:latin typeface="Times New Roman"/>
              <a:cs typeface="Times New Roman"/>
            </a:endParaRPr>
          </a:p>
          <a:p>
            <a:pPr marL="2308860">
              <a:lnSpc>
                <a:spcPts val="1520"/>
              </a:lnSpc>
            </a:pPr>
            <a:r>
              <a:rPr sz="1300" b="1" spc="-10" dirty="0">
                <a:latin typeface="Cambria"/>
                <a:cs typeface="Cambria"/>
              </a:rPr>
              <a:t>blue: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98229" y="3056774"/>
            <a:ext cx="455930" cy="13531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134620" algn="just">
              <a:lnSpc>
                <a:spcPts val="1480"/>
              </a:lnSpc>
              <a:spcBef>
                <a:spcPts val="215"/>
              </a:spcBef>
            </a:pPr>
            <a:r>
              <a:rPr sz="1300" spc="50" dirty="0">
                <a:latin typeface="Times New Roman"/>
                <a:cs typeface="Times New Roman"/>
              </a:rPr>
              <a:t>red: </a:t>
            </a:r>
            <a:r>
              <a:rPr sz="1300" spc="40" dirty="0">
                <a:latin typeface="Times New Roman"/>
                <a:cs typeface="Times New Roman"/>
              </a:rPr>
              <a:t>grass: </a:t>
            </a:r>
            <a:r>
              <a:rPr sz="1300" spc="-20" dirty="0">
                <a:latin typeface="Times New Roman"/>
                <a:cs typeface="Times New Roman"/>
              </a:rPr>
              <a:t>grey:</a:t>
            </a:r>
            <a:endParaRPr sz="1300">
              <a:latin typeface="Times New Roman"/>
              <a:cs typeface="Times New Roman"/>
            </a:endParaRPr>
          </a:p>
          <a:p>
            <a:pPr marR="5080" algn="r">
              <a:lnSpc>
                <a:spcPts val="141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5080" algn="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5080" algn="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5080" algn="r">
              <a:lnSpc>
                <a:spcPts val="1520"/>
              </a:lnSpc>
            </a:pPr>
            <a:r>
              <a:rPr sz="1300" spc="60" dirty="0">
                <a:latin typeface="Times New Roman"/>
                <a:cs typeface="Times New Roman"/>
              </a:rPr>
              <a:t>pear: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68724" y="2684474"/>
            <a:ext cx="568325" cy="1775460"/>
            <a:chOff x="2968724" y="2684474"/>
            <a:chExt cx="568325" cy="1775460"/>
          </a:xfrm>
        </p:grpSpPr>
        <p:sp>
          <p:nvSpPr>
            <p:cNvPr id="22" name="object 22"/>
            <p:cNvSpPr/>
            <p:nvPr/>
          </p:nvSpPr>
          <p:spPr>
            <a:xfrm>
              <a:off x="2978249" y="2693999"/>
              <a:ext cx="549275" cy="1756410"/>
            </a:xfrm>
            <a:custGeom>
              <a:avLst/>
              <a:gdLst/>
              <a:ahLst/>
              <a:cxnLst/>
              <a:rect l="l" t="t" r="r" b="b"/>
              <a:pathLst>
                <a:path w="549275" h="1756410">
                  <a:moveTo>
                    <a:pt x="457247" y="1755899"/>
                  </a:moveTo>
                  <a:lnTo>
                    <a:pt x="91451" y="1755899"/>
                  </a:lnTo>
                  <a:lnTo>
                    <a:pt x="55854" y="1748713"/>
                  </a:lnTo>
                  <a:lnTo>
                    <a:pt x="26785" y="1729114"/>
                  </a:lnTo>
                  <a:lnTo>
                    <a:pt x="7186" y="1700045"/>
                  </a:lnTo>
                  <a:lnTo>
                    <a:pt x="0" y="1664447"/>
                  </a:lnTo>
                  <a:lnTo>
                    <a:pt x="0" y="91451"/>
                  </a:lnTo>
                  <a:lnTo>
                    <a:pt x="7186" y="55854"/>
                  </a:lnTo>
                  <a:lnTo>
                    <a:pt x="26785" y="26785"/>
                  </a:lnTo>
                  <a:lnTo>
                    <a:pt x="55854" y="7186"/>
                  </a:lnTo>
                  <a:lnTo>
                    <a:pt x="91451" y="0"/>
                  </a:lnTo>
                  <a:lnTo>
                    <a:pt x="457247" y="0"/>
                  </a:lnTo>
                  <a:lnTo>
                    <a:pt x="507985" y="15365"/>
                  </a:lnTo>
                  <a:lnTo>
                    <a:pt x="541738" y="56454"/>
                  </a:lnTo>
                  <a:lnTo>
                    <a:pt x="548699" y="91451"/>
                  </a:lnTo>
                  <a:lnTo>
                    <a:pt x="548699" y="1664447"/>
                  </a:lnTo>
                  <a:lnTo>
                    <a:pt x="541513" y="1700045"/>
                  </a:lnTo>
                  <a:lnTo>
                    <a:pt x="521914" y="1729114"/>
                  </a:lnTo>
                  <a:lnTo>
                    <a:pt x="492845" y="1748713"/>
                  </a:lnTo>
                  <a:lnTo>
                    <a:pt x="457247" y="17558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78249" y="2693999"/>
              <a:ext cx="549275" cy="1756410"/>
            </a:xfrm>
            <a:custGeom>
              <a:avLst/>
              <a:gdLst/>
              <a:ahLst/>
              <a:cxnLst/>
              <a:rect l="l" t="t" r="r" b="b"/>
              <a:pathLst>
                <a:path w="549275" h="1756410">
                  <a:moveTo>
                    <a:pt x="0" y="91451"/>
                  </a:moveTo>
                  <a:lnTo>
                    <a:pt x="7186" y="55854"/>
                  </a:lnTo>
                  <a:lnTo>
                    <a:pt x="26785" y="26785"/>
                  </a:lnTo>
                  <a:lnTo>
                    <a:pt x="55854" y="7186"/>
                  </a:lnTo>
                  <a:lnTo>
                    <a:pt x="91451" y="0"/>
                  </a:lnTo>
                  <a:lnTo>
                    <a:pt x="457247" y="0"/>
                  </a:lnTo>
                  <a:lnTo>
                    <a:pt x="507985" y="15365"/>
                  </a:lnTo>
                  <a:lnTo>
                    <a:pt x="541738" y="56454"/>
                  </a:lnTo>
                  <a:lnTo>
                    <a:pt x="548699" y="91451"/>
                  </a:lnTo>
                  <a:lnTo>
                    <a:pt x="548699" y="1664447"/>
                  </a:lnTo>
                  <a:lnTo>
                    <a:pt x="541513" y="1700045"/>
                  </a:lnTo>
                  <a:lnTo>
                    <a:pt x="521914" y="1729114"/>
                  </a:lnTo>
                  <a:lnTo>
                    <a:pt x="492845" y="1748713"/>
                  </a:lnTo>
                  <a:lnTo>
                    <a:pt x="457247" y="1755899"/>
                  </a:lnTo>
                  <a:lnTo>
                    <a:pt x="91451" y="1755899"/>
                  </a:lnTo>
                  <a:lnTo>
                    <a:pt x="55854" y="1748713"/>
                  </a:lnTo>
                  <a:lnTo>
                    <a:pt x="26785" y="1729114"/>
                  </a:lnTo>
                  <a:lnTo>
                    <a:pt x="7186" y="1700045"/>
                  </a:lnTo>
                  <a:lnTo>
                    <a:pt x="0" y="1664447"/>
                  </a:lnTo>
                  <a:lnTo>
                    <a:pt x="0" y="91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591479" y="4639940"/>
            <a:ext cx="132397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solidFill>
                  <a:srgbClr val="3C78D8"/>
                </a:solidFill>
                <a:latin typeface="Cambria"/>
                <a:cs typeface="Cambria"/>
              </a:rPr>
              <a:t>candidate</a:t>
            </a:r>
            <a:r>
              <a:rPr sz="1350" b="1" spc="35" dirty="0">
                <a:solidFill>
                  <a:srgbClr val="3C78D8"/>
                </a:solidFill>
                <a:latin typeface="Cambria"/>
                <a:cs typeface="Cambria"/>
              </a:rPr>
              <a:t> </a:t>
            </a:r>
            <a:r>
              <a:rPr sz="1350" b="1" spc="-20" dirty="0">
                <a:solidFill>
                  <a:srgbClr val="3C78D8"/>
                </a:solidFill>
                <a:latin typeface="Cambria"/>
                <a:cs typeface="Cambria"/>
              </a:rPr>
              <a:t>vocab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025" y="4870881"/>
            <a:ext cx="1327150" cy="20066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latin typeface="Book Antiqua"/>
                <a:cs typeface="Book Antiqua"/>
              </a:rPr>
              <a:t>*according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LM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68462" y="2655487"/>
            <a:ext cx="523240" cy="1833245"/>
            <a:chOff x="2868462" y="2655487"/>
            <a:chExt cx="523240" cy="1833245"/>
          </a:xfrm>
        </p:grpSpPr>
        <p:sp>
          <p:nvSpPr>
            <p:cNvPr id="3" name="object 3"/>
            <p:cNvSpPr/>
            <p:nvPr/>
          </p:nvSpPr>
          <p:spPr>
            <a:xfrm>
              <a:off x="2873225" y="2660250"/>
              <a:ext cx="216535" cy="1823720"/>
            </a:xfrm>
            <a:custGeom>
              <a:avLst/>
              <a:gdLst/>
              <a:ahLst/>
              <a:cxnLst/>
              <a:rect l="l" t="t" r="r" b="b"/>
              <a:pathLst>
                <a:path w="216535" h="1823720">
                  <a:moveTo>
                    <a:pt x="216054" y="1823399"/>
                  </a:moveTo>
                  <a:lnTo>
                    <a:pt x="166515" y="1817693"/>
                  </a:lnTo>
                  <a:lnTo>
                    <a:pt x="121039" y="1801439"/>
                  </a:lnTo>
                  <a:lnTo>
                    <a:pt x="80923" y="1775935"/>
                  </a:lnTo>
                  <a:lnTo>
                    <a:pt x="47464" y="1742476"/>
                  </a:lnTo>
                  <a:lnTo>
                    <a:pt x="21960" y="1702360"/>
                  </a:lnTo>
                  <a:lnTo>
                    <a:pt x="5706" y="1656885"/>
                  </a:lnTo>
                  <a:lnTo>
                    <a:pt x="0" y="1607345"/>
                  </a:lnTo>
                  <a:lnTo>
                    <a:pt x="0" y="216054"/>
                  </a:lnTo>
                  <a:lnTo>
                    <a:pt x="5706" y="166515"/>
                  </a:lnTo>
                  <a:lnTo>
                    <a:pt x="21960" y="121039"/>
                  </a:lnTo>
                  <a:lnTo>
                    <a:pt x="47464" y="80923"/>
                  </a:lnTo>
                  <a:lnTo>
                    <a:pt x="80923" y="47464"/>
                  </a:lnTo>
                  <a:lnTo>
                    <a:pt x="121039" y="21960"/>
                  </a:lnTo>
                  <a:lnTo>
                    <a:pt x="166515" y="5706"/>
                  </a:lnTo>
                  <a:lnTo>
                    <a:pt x="21605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53016" y="2895789"/>
              <a:ext cx="339090" cy="188595"/>
            </a:xfrm>
            <a:custGeom>
              <a:avLst/>
              <a:gdLst/>
              <a:ahLst/>
              <a:cxnLst/>
              <a:rect l="l" t="t" r="r" b="b"/>
              <a:pathLst>
                <a:path w="339089" h="188594">
                  <a:moveTo>
                    <a:pt x="338680" y="188213"/>
                  </a:moveTo>
                  <a:lnTo>
                    <a:pt x="0" y="188213"/>
                  </a:lnTo>
                  <a:lnTo>
                    <a:pt x="0" y="0"/>
                  </a:lnTo>
                  <a:lnTo>
                    <a:pt x="338680" y="0"/>
                  </a:lnTo>
                  <a:lnTo>
                    <a:pt x="338680" y="188213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953470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0" y="0"/>
                </a:moveTo>
                <a:lnTo>
                  <a:pt x="42346" y="4189"/>
                </a:lnTo>
                <a:lnTo>
                  <a:pt x="82680" y="16446"/>
                </a:lnTo>
                <a:lnTo>
                  <a:pt x="119867" y="36299"/>
                </a:lnTo>
                <a:lnTo>
                  <a:pt x="152773" y="63280"/>
                </a:lnTo>
                <a:lnTo>
                  <a:pt x="179754" y="96187"/>
                </a:lnTo>
                <a:lnTo>
                  <a:pt x="199608" y="133373"/>
                </a:lnTo>
                <a:lnTo>
                  <a:pt x="211864" y="173707"/>
                </a:lnTo>
                <a:lnTo>
                  <a:pt x="216054" y="216054"/>
                </a:lnTo>
                <a:lnTo>
                  <a:pt x="216054" y="1607345"/>
                </a:lnTo>
                <a:lnTo>
                  <a:pt x="210348" y="1656885"/>
                </a:lnTo>
                <a:lnTo>
                  <a:pt x="194094" y="1702360"/>
                </a:lnTo>
                <a:lnTo>
                  <a:pt x="168589" y="1742476"/>
                </a:lnTo>
                <a:lnTo>
                  <a:pt x="135130" y="1775935"/>
                </a:lnTo>
                <a:lnTo>
                  <a:pt x="95015" y="1801439"/>
                </a:lnTo>
                <a:lnTo>
                  <a:pt x="49539" y="1817693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45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05800" y="4649665"/>
            <a:ext cx="147891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solidFill>
                  <a:srgbClr val="E69137"/>
                </a:solidFill>
                <a:latin typeface="Cambria"/>
                <a:cs typeface="Cambria"/>
              </a:rPr>
              <a:t>probability</a:t>
            </a:r>
            <a:r>
              <a:rPr sz="1350" b="1" spc="8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E69137"/>
                </a:solidFill>
                <a:latin typeface="Cambria"/>
                <a:cs typeface="Cambria"/>
              </a:rPr>
              <a:t>scores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1787" y="3301012"/>
            <a:ext cx="1426210" cy="657225"/>
            <a:chOff x="581787" y="3301012"/>
            <a:chExt cx="1426210" cy="657225"/>
          </a:xfrm>
        </p:grpSpPr>
        <p:sp>
          <p:nvSpPr>
            <p:cNvPr id="12" name="object 12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1292697" y="628199"/>
                  </a:move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0" y="104701"/>
                  </a:move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7886" y="340003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47955" marR="5080" indent="-13589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spc="-10" dirty="0">
                <a:latin typeface="Times New Roman"/>
                <a:cs typeface="Times New Roman"/>
              </a:rPr>
              <a:t>Model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62412" y="2223762"/>
            <a:ext cx="1244600" cy="1019175"/>
            <a:chOff x="1262412" y="2223762"/>
            <a:chExt cx="1244600" cy="1019175"/>
          </a:xfrm>
        </p:grpSpPr>
        <p:sp>
          <p:nvSpPr>
            <p:cNvPr id="16" name="object 16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19449" y="900897"/>
                  </a:moveTo>
                  <a:lnTo>
                    <a:pt x="43585" y="900897"/>
                  </a:lnTo>
                  <a:lnTo>
                    <a:pt x="43585" y="406868"/>
                  </a:lnTo>
                  <a:lnTo>
                    <a:pt x="46322" y="359419"/>
                  </a:lnTo>
                  <a:lnTo>
                    <a:pt x="54330" y="313577"/>
                  </a:lnTo>
                  <a:lnTo>
                    <a:pt x="67305" y="269648"/>
                  </a:lnTo>
                  <a:lnTo>
                    <a:pt x="84939" y="227938"/>
                  </a:lnTo>
                  <a:lnTo>
                    <a:pt x="106929" y="188751"/>
                  </a:lnTo>
                  <a:lnTo>
                    <a:pt x="132969" y="152393"/>
                  </a:lnTo>
                  <a:lnTo>
                    <a:pt x="162754" y="119169"/>
                  </a:lnTo>
                  <a:lnTo>
                    <a:pt x="195978" y="89384"/>
                  </a:lnTo>
                  <a:lnTo>
                    <a:pt x="232336" y="63344"/>
                  </a:lnTo>
                  <a:lnTo>
                    <a:pt x="271523" y="41354"/>
                  </a:lnTo>
                  <a:lnTo>
                    <a:pt x="313233" y="23719"/>
                  </a:lnTo>
                  <a:lnTo>
                    <a:pt x="357162" y="10745"/>
                  </a:lnTo>
                  <a:lnTo>
                    <a:pt x="403004" y="2737"/>
                  </a:lnTo>
                  <a:lnTo>
                    <a:pt x="450454" y="0"/>
                  </a:lnTo>
                  <a:lnTo>
                    <a:pt x="1234799" y="0"/>
                  </a:lnTo>
                  <a:lnTo>
                    <a:pt x="1234799" y="75863"/>
                  </a:lnTo>
                  <a:lnTo>
                    <a:pt x="450454" y="75863"/>
                  </a:lnTo>
                  <a:lnTo>
                    <a:pt x="401540" y="79452"/>
                  </a:lnTo>
                  <a:lnTo>
                    <a:pt x="354855" y="89878"/>
                  </a:lnTo>
                  <a:lnTo>
                    <a:pt x="310910" y="106628"/>
                  </a:lnTo>
                  <a:lnTo>
                    <a:pt x="270218" y="129190"/>
                  </a:lnTo>
                  <a:lnTo>
                    <a:pt x="233290" y="157053"/>
                  </a:lnTo>
                  <a:lnTo>
                    <a:pt x="200639" y="189705"/>
                  </a:lnTo>
                  <a:lnTo>
                    <a:pt x="172776" y="226633"/>
                  </a:lnTo>
                  <a:lnTo>
                    <a:pt x="150213" y="267325"/>
                  </a:lnTo>
                  <a:lnTo>
                    <a:pt x="133463" y="311270"/>
                  </a:lnTo>
                  <a:lnTo>
                    <a:pt x="123038" y="357955"/>
                  </a:lnTo>
                  <a:lnTo>
                    <a:pt x="119449" y="406868"/>
                  </a:lnTo>
                  <a:lnTo>
                    <a:pt x="119449" y="900897"/>
                  </a:lnTo>
                  <a:close/>
                </a:path>
                <a:path w="1235075" h="1009650">
                  <a:moveTo>
                    <a:pt x="81517" y="1009499"/>
                  </a:moveTo>
                  <a:lnTo>
                    <a:pt x="0" y="900897"/>
                  </a:lnTo>
                  <a:lnTo>
                    <a:pt x="163034" y="900897"/>
                  </a:lnTo>
                  <a:lnTo>
                    <a:pt x="81517" y="1009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234799" y="0"/>
                  </a:moveTo>
                  <a:lnTo>
                    <a:pt x="450454" y="0"/>
                  </a:lnTo>
                  <a:lnTo>
                    <a:pt x="403004" y="2737"/>
                  </a:lnTo>
                  <a:lnTo>
                    <a:pt x="357162" y="10745"/>
                  </a:lnTo>
                  <a:lnTo>
                    <a:pt x="313233" y="23719"/>
                  </a:lnTo>
                  <a:lnTo>
                    <a:pt x="271523" y="41354"/>
                  </a:lnTo>
                  <a:lnTo>
                    <a:pt x="232336" y="63344"/>
                  </a:lnTo>
                  <a:lnTo>
                    <a:pt x="195978" y="89384"/>
                  </a:lnTo>
                  <a:lnTo>
                    <a:pt x="162754" y="119169"/>
                  </a:lnTo>
                  <a:lnTo>
                    <a:pt x="132969" y="152393"/>
                  </a:lnTo>
                  <a:lnTo>
                    <a:pt x="106929" y="188751"/>
                  </a:lnTo>
                  <a:lnTo>
                    <a:pt x="84939" y="227938"/>
                  </a:lnTo>
                  <a:lnTo>
                    <a:pt x="67305" y="269648"/>
                  </a:lnTo>
                  <a:lnTo>
                    <a:pt x="54330" y="313577"/>
                  </a:lnTo>
                  <a:lnTo>
                    <a:pt x="46322" y="359419"/>
                  </a:lnTo>
                  <a:lnTo>
                    <a:pt x="43585" y="406868"/>
                  </a:lnTo>
                  <a:lnTo>
                    <a:pt x="43585" y="900897"/>
                  </a:lnTo>
                  <a:lnTo>
                    <a:pt x="0" y="900897"/>
                  </a:lnTo>
                  <a:lnTo>
                    <a:pt x="81517" y="1009499"/>
                  </a:lnTo>
                  <a:lnTo>
                    <a:pt x="163034" y="900897"/>
                  </a:lnTo>
                  <a:lnTo>
                    <a:pt x="119449" y="900897"/>
                  </a:lnTo>
                  <a:lnTo>
                    <a:pt x="119449" y="406868"/>
                  </a:lnTo>
                  <a:lnTo>
                    <a:pt x="123038" y="357955"/>
                  </a:lnTo>
                  <a:lnTo>
                    <a:pt x="133463" y="311270"/>
                  </a:lnTo>
                  <a:lnTo>
                    <a:pt x="150213" y="267325"/>
                  </a:lnTo>
                  <a:lnTo>
                    <a:pt x="172776" y="226633"/>
                  </a:lnTo>
                  <a:lnTo>
                    <a:pt x="200639" y="189705"/>
                  </a:lnTo>
                  <a:lnTo>
                    <a:pt x="233290" y="157053"/>
                  </a:lnTo>
                  <a:lnTo>
                    <a:pt x="270218" y="129190"/>
                  </a:lnTo>
                  <a:lnTo>
                    <a:pt x="310910" y="106628"/>
                  </a:lnTo>
                  <a:lnTo>
                    <a:pt x="354855" y="89878"/>
                  </a:lnTo>
                  <a:lnTo>
                    <a:pt x="401540" y="79452"/>
                  </a:lnTo>
                  <a:lnTo>
                    <a:pt x="450454" y="75863"/>
                  </a:lnTo>
                  <a:lnTo>
                    <a:pt x="1234799" y="75863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43748" y="1180605"/>
            <a:ext cx="7657465" cy="191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cloze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statement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queries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model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missing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token,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b="1" spc="-35" dirty="0">
                <a:latin typeface="Book Antiqua"/>
                <a:cs typeface="Book Antiqua"/>
              </a:rPr>
              <a:t>knowledgeable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0" dirty="0">
                <a:latin typeface="Book Antiqua"/>
                <a:cs typeface="Book Antiqua"/>
              </a:rPr>
              <a:t>LMs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rank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" dirty="0">
                <a:latin typeface="Book Antiqua"/>
                <a:cs typeface="Book Antiqua"/>
              </a:rPr>
              <a:t>ground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truth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0" dirty="0">
                <a:latin typeface="Book Antiqua"/>
                <a:cs typeface="Book Antiqua"/>
              </a:rPr>
              <a:t>tokens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5" dirty="0">
                <a:latin typeface="Book Antiqua"/>
                <a:cs typeface="Book Antiqua"/>
              </a:rPr>
              <a:t>high</a:t>
            </a:r>
            <a:r>
              <a:rPr sz="1800" b="1" spc="-40" dirty="0">
                <a:latin typeface="Book Antiqua"/>
                <a:cs typeface="Book Antiqua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tokens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lower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50">
              <a:latin typeface="Times New Roman"/>
              <a:cs typeface="Times New Roman"/>
            </a:endParaRPr>
          </a:p>
          <a:p>
            <a:pPr marL="2003425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Cambria"/>
              <a:cs typeface="Cambria"/>
            </a:endParaRPr>
          </a:p>
          <a:p>
            <a:pPr marL="2359660">
              <a:lnSpc>
                <a:spcPts val="1520"/>
              </a:lnSpc>
            </a:pPr>
            <a:r>
              <a:rPr sz="1300" dirty="0">
                <a:latin typeface="Times New Roman"/>
                <a:cs typeface="Times New Roman"/>
              </a:rPr>
              <a:t>Bob: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spc="-10" dirty="0">
                <a:latin typeface="Times New Roman"/>
                <a:cs typeface="Times New Roman"/>
              </a:rPr>
              <a:t>0.003%</a:t>
            </a:r>
            <a:endParaRPr sz="1300">
              <a:latin typeface="Times New Roman"/>
              <a:cs typeface="Times New Roman"/>
            </a:endParaRPr>
          </a:p>
          <a:p>
            <a:pPr marL="2308860">
              <a:lnSpc>
                <a:spcPts val="1520"/>
              </a:lnSpc>
            </a:pPr>
            <a:r>
              <a:rPr sz="1300" b="1" dirty="0">
                <a:latin typeface="Cambria"/>
                <a:cs typeface="Cambria"/>
              </a:rPr>
              <a:t>blue:</a:t>
            </a:r>
            <a:r>
              <a:rPr sz="1300" b="1" spc="490" dirty="0">
                <a:latin typeface="Cambria"/>
                <a:cs typeface="Cambria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49%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98229" y="3056774"/>
            <a:ext cx="989965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1520"/>
              </a:lnSpc>
              <a:spcBef>
                <a:spcPts val="100"/>
              </a:spcBef>
            </a:pPr>
            <a:r>
              <a:rPr sz="1300" spc="70" dirty="0">
                <a:latin typeface="Times New Roman"/>
                <a:cs typeface="Times New Roman"/>
              </a:rPr>
              <a:t>red:</a:t>
            </a:r>
            <a:r>
              <a:rPr sz="1300" spc="42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12%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50" dirty="0">
                <a:latin typeface="Times New Roman"/>
                <a:cs typeface="Times New Roman"/>
              </a:rPr>
              <a:t>grass:</a:t>
            </a:r>
            <a:r>
              <a:rPr sz="1300" spc="4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0.01%</a:t>
            </a:r>
            <a:endParaRPr sz="1300">
              <a:latin typeface="Times New Roman"/>
              <a:cs typeface="Times New Roman"/>
            </a:endParaRPr>
          </a:p>
          <a:p>
            <a:pPr marR="146685" algn="ctr">
              <a:lnSpc>
                <a:spcPts val="1480"/>
              </a:lnSpc>
            </a:pPr>
            <a:r>
              <a:rPr sz="1300" dirty="0">
                <a:latin typeface="Times New Roman"/>
                <a:cs typeface="Times New Roman"/>
              </a:rPr>
              <a:t>grey:</a:t>
            </a:r>
            <a:r>
              <a:rPr sz="1300" spc="155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3%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50165" algn="ctr">
              <a:lnSpc>
                <a:spcPts val="1520"/>
              </a:lnSpc>
            </a:pPr>
            <a:r>
              <a:rPr sz="1300" spc="70" dirty="0">
                <a:latin typeface="Times New Roman"/>
                <a:cs typeface="Times New Roman"/>
              </a:rPr>
              <a:t>pear:</a:t>
            </a:r>
            <a:r>
              <a:rPr sz="1300" spc="4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0.09%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229837" y="3522162"/>
            <a:ext cx="407034" cy="203200"/>
            <a:chOff x="2229837" y="3522162"/>
            <a:chExt cx="407034" cy="203200"/>
          </a:xfrm>
        </p:grpSpPr>
        <p:sp>
          <p:nvSpPr>
            <p:cNvPr id="21" name="object 21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472974" y="2684474"/>
            <a:ext cx="613410" cy="1775460"/>
            <a:chOff x="3472974" y="2684474"/>
            <a:chExt cx="613410" cy="1775460"/>
          </a:xfrm>
        </p:grpSpPr>
        <p:sp>
          <p:nvSpPr>
            <p:cNvPr id="24" name="object 24"/>
            <p:cNvSpPr/>
            <p:nvPr/>
          </p:nvSpPr>
          <p:spPr>
            <a:xfrm>
              <a:off x="3482499" y="2693999"/>
              <a:ext cx="594360" cy="1756410"/>
            </a:xfrm>
            <a:custGeom>
              <a:avLst/>
              <a:gdLst/>
              <a:ahLst/>
              <a:cxnLst/>
              <a:rect l="l" t="t" r="r" b="b"/>
              <a:pathLst>
                <a:path w="594360" h="1756410">
                  <a:moveTo>
                    <a:pt x="495247" y="1755899"/>
                  </a:moveTo>
                  <a:lnTo>
                    <a:pt x="99051" y="1755899"/>
                  </a:lnTo>
                  <a:lnTo>
                    <a:pt x="60496" y="1748115"/>
                  </a:lnTo>
                  <a:lnTo>
                    <a:pt x="29011" y="1726888"/>
                  </a:lnTo>
                  <a:lnTo>
                    <a:pt x="7784" y="1695403"/>
                  </a:lnTo>
                  <a:lnTo>
                    <a:pt x="0" y="1656847"/>
                  </a:lnTo>
                  <a:lnTo>
                    <a:pt x="0" y="99051"/>
                  </a:lnTo>
                  <a:lnTo>
                    <a:pt x="7784" y="60496"/>
                  </a:lnTo>
                  <a:lnTo>
                    <a:pt x="29011" y="29011"/>
                  </a:lnTo>
                  <a:lnTo>
                    <a:pt x="60496" y="7783"/>
                  </a:lnTo>
                  <a:lnTo>
                    <a:pt x="99051" y="0"/>
                  </a:lnTo>
                  <a:lnTo>
                    <a:pt x="495247" y="0"/>
                  </a:lnTo>
                  <a:lnTo>
                    <a:pt x="533153" y="7539"/>
                  </a:lnTo>
                  <a:lnTo>
                    <a:pt x="565288" y="29011"/>
                  </a:lnTo>
                  <a:lnTo>
                    <a:pt x="586760" y="61146"/>
                  </a:lnTo>
                  <a:lnTo>
                    <a:pt x="594299" y="99051"/>
                  </a:lnTo>
                  <a:lnTo>
                    <a:pt x="594299" y="1656847"/>
                  </a:lnTo>
                  <a:lnTo>
                    <a:pt x="586515" y="1695403"/>
                  </a:lnTo>
                  <a:lnTo>
                    <a:pt x="565288" y="1726888"/>
                  </a:lnTo>
                  <a:lnTo>
                    <a:pt x="533803" y="1748115"/>
                  </a:lnTo>
                  <a:lnTo>
                    <a:pt x="495247" y="17558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82499" y="2693999"/>
              <a:ext cx="594360" cy="1756410"/>
            </a:xfrm>
            <a:custGeom>
              <a:avLst/>
              <a:gdLst/>
              <a:ahLst/>
              <a:cxnLst/>
              <a:rect l="l" t="t" r="r" b="b"/>
              <a:pathLst>
                <a:path w="594360" h="1756410">
                  <a:moveTo>
                    <a:pt x="0" y="99051"/>
                  </a:moveTo>
                  <a:lnTo>
                    <a:pt x="7784" y="60496"/>
                  </a:lnTo>
                  <a:lnTo>
                    <a:pt x="29011" y="29011"/>
                  </a:lnTo>
                  <a:lnTo>
                    <a:pt x="60496" y="7783"/>
                  </a:lnTo>
                  <a:lnTo>
                    <a:pt x="99051" y="0"/>
                  </a:lnTo>
                  <a:lnTo>
                    <a:pt x="495247" y="0"/>
                  </a:lnTo>
                  <a:lnTo>
                    <a:pt x="533153" y="7539"/>
                  </a:lnTo>
                  <a:lnTo>
                    <a:pt x="565288" y="29011"/>
                  </a:lnTo>
                  <a:lnTo>
                    <a:pt x="586760" y="61146"/>
                  </a:lnTo>
                  <a:lnTo>
                    <a:pt x="594299" y="99051"/>
                  </a:lnTo>
                  <a:lnTo>
                    <a:pt x="594299" y="1656847"/>
                  </a:lnTo>
                  <a:lnTo>
                    <a:pt x="586515" y="1695403"/>
                  </a:lnTo>
                  <a:lnTo>
                    <a:pt x="565288" y="1726888"/>
                  </a:lnTo>
                  <a:lnTo>
                    <a:pt x="533803" y="1748115"/>
                  </a:lnTo>
                  <a:lnTo>
                    <a:pt x="495247" y="1755899"/>
                  </a:lnTo>
                  <a:lnTo>
                    <a:pt x="99051" y="1755899"/>
                  </a:lnTo>
                  <a:lnTo>
                    <a:pt x="60496" y="1748115"/>
                  </a:lnTo>
                  <a:lnTo>
                    <a:pt x="29011" y="1726888"/>
                  </a:lnTo>
                  <a:lnTo>
                    <a:pt x="7784" y="1695403"/>
                  </a:lnTo>
                  <a:lnTo>
                    <a:pt x="0" y="1656847"/>
                  </a:lnTo>
                  <a:lnTo>
                    <a:pt x="0" y="99051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025" y="4870881"/>
            <a:ext cx="1327150" cy="20066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latin typeface="Book Antiqua"/>
                <a:cs typeface="Book Antiqua"/>
              </a:rPr>
              <a:t>*according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LM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3225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216054" y="1823399"/>
                </a:moveTo>
                <a:lnTo>
                  <a:pt x="166515" y="1817693"/>
                </a:lnTo>
                <a:lnTo>
                  <a:pt x="121039" y="1801439"/>
                </a:lnTo>
                <a:lnTo>
                  <a:pt x="80923" y="1775935"/>
                </a:lnTo>
                <a:lnTo>
                  <a:pt x="47464" y="1742476"/>
                </a:lnTo>
                <a:lnTo>
                  <a:pt x="21960" y="1702360"/>
                </a:lnTo>
                <a:lnTo>
                  <a:pt x="5706" y="1656885"/>
                </a:lnTo>
                <a:lnTo>
                  <a:pt x="0" y="1607345"/>
                </a:lnTo>
                <a:lnTo>
                  <a:pt x="0" y="216054"/>
                </a:lnTo>
                <a:lnTo>
                  <a:pt x="5706" y="166515"/>
                </a:lnTo>
                <a:lnTo>
                  <a:pt x="21960" y="121039"/>
                </a:lnTo>
                <a:lnTo>
                  <a:pt x="47464" y="80923"/>
                </a:lnTo>
                <a:lnTo>
                  <a:pt x="80923" y="47464"/>
                </a:lnTo>
                <a:lnTo>
                  <a:pt x="121039" y="21960"/>
                </a:lnTo>
                <a:lnTo>
                  <a:pt x="166515" y="5706"/>
                </a:lnTo>
                <a:lnTo>
                  <a:pt x="21605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3470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0" y="0"/>
                </a:moveTo>
                <a:lnTo>
                  <a:pt x="42346" y="4189"/>
                </a:lnTo>
                <a:lnTo>
                  <a:pt x="82680" y="16446"/>
                </a:lnTo>
                <a:lnTo>
                  <a:pt x="119867" y="36299"/>
                </a:lnTo>
                <a:lnTo>
                  <a:pt x="152773" y="63280"/>
                </a:lnTo>
                <a:lnTo>
                  <a:pt x="179754" y="96187"/>
                </a:lnTo>
                <a:lnTo>
                  <a:pt x="199608" y="133373"/>
                </a:lnTo>
                <a:lnTo>
                  <a:pt x="211864" y="173707"/>
                </a:lnTo>
                <a:lnTo>
                  <a:pt x="216054" y="216054"/>
                </a:lnTo>
                <a:lnTo>
                  <a:pt x="216054" y="1607345"/>
                </a:lnTo>
                <a:lnTo>
                  <a:pt x="210348" y="1656885"/>
                </a:lnTo>
                <a:lnTo>
                  <a:pt x="194094" y="1702360"/>
                </a:lnTo>
                <a:lnTo>
                  <a:pt x="168589" y="1742476"/>
                </a:lnTo>
                <a:lnTo>
                  <a:pt x="135130" y="1775935"/>
                </a:lnTo>
                <a:lnTo>
                  <a:pt x="95015" y="1801439"/>
                </a:lnTo>
                <a:lnTo>
                  <a:pt x="49539" y="1817693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90986" y="2680346"/>
            <a:ext cx="9798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Bob: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spc="-10" dirty="0">
                <a:latin typeface="Times New Roman"/>
                <a:cs typeface="Times New Roman"/>
              </a:rPr>
              <a:t>0.003%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63075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113902" y="1823399"/>
                </a:moveTo>
                <a:lnTo>
                  <a:pt x="69566" y="1814448"/>
                </a:lnTo>
                <a:lnTo>
                  <a:pt x="33361" y="1790038"/>
                </a:lnTo>
                <a:lnTo>
                  <a:pt x="8951" y="1753833"/>
                </a:lnTo>
                <a:lnTo>
                  <a:pt x="0" y="1709497"/>
                </a:lnTo>
                <a:lnTo>
                  <a:pt x="0" y="113902"/>
                </a:lnTo>
                <a:lnTo>
                  <a:pt x="8951" y="69566"/>
                </a:lnTo>
                <a:lnTo>
                  <a:pt x="33361" y="33361"/>
                </a:lnTo>
                <a:lnTo>
                  <a:pt x="69566" y="8950"/>
                </a:lnTo>
                <a:lnTo>
                  <a:pt x="113902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727810" y="2655487"/>
            <a:ext cx="604520" cy="1833245"/>
            <a:chOff x="5727810" y="2655487"/>
            <a:chExt cx="604520" cy="1833245"/>
          </a:xfrm>
        </p:grpSpPr>
        <p:sp>
          <p:nvSpPr>
            <p:cNvPr id="7" name="object 7"/>
            <p:cNvSpPr/>
            <p:nvPr/>
          </p:nvSpPr>
          <p:spPr>
            <a:xfrm>
              <a:off x="5732572" y="2660250"/>
              <a:ext cx="114300" cy="1823720"/>
            </a:xfrm>
            <a:custGeom>
              <a:avLst/>
              <a:gdLst/>
              <a:ahLst/>
              <a:cxnLst/>
              <a:rect l="l" t="t" r="r" b="b"/>
              <a:pathLst>
                <a:path w="114300" h="1823720">
                  <a:moveTo>
                    <a:pt x="0" y="0"/>
                  </a:moveTo>
                  <a:lnTo>
                    <a:pt x="22325" y="2208"/>
                  </a:lnTo>
                  <a:lnTo>
                    <a:pt x="43588" y="8670"/>
                  </a:lnTo>
                  <a:lnTo>
                    <a:pt x="80541" y="33361"/>
                  </a:lnTo>
                  <a:lnTo>
                    <a:pt x="105232" y="70313"/>
                  </a:lnTo>
                  <a:lnTo>
                    <a:pt x="113902" y="113902"/>
                  </a:lnTo>
                  <a:lnTo>
                    <a:pt x="113902" y="1709497"/>
                  </a:lnTo>
                  <a:lnTo>
                    <a:pt x="104951" y="1753833"/>
                  </a:lnTo>
                  <a:lnTo>
                    <a:pt x="80541" y="1790038"/>
                  </a:lnTo>
                  <a:lnTo>
                    <a:pt x="44336" y="1814448"/>
                  </a:lnTo>
                  <a:lnTo>
                    <a:pt x="0" y="18233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78700" y="2766300"/>
              <a:ext cx="549275" cy="99060"/>
            </a:xfrm>
            <a:custGeom>
              <a:avLst/>
              <a:gdLst/>
              <a:ahLst/>
              <a:cxnLst/>
              <a:rect l="l" t="t" r="r" b="b"/>
              <a:pathLst>
                <a:path w="549275" h="99060">
                  <a:moveTo>
                    <a:pt x="49499" y="98999"/>
                  </a:moveTo>
                  <a:lnTo>
                    <a:pt x="0" y="49499"/>
                  </a:lnTo>
                  <a:lnTo>
                    <a:pt x="49499" y="0"/>
                  </a:lnTo>
                  <a:lnTo>
                    <a:pt x="49499" y="24749"/>
                  </a:lnTo>
                  <a:lnTo>
                    <a:pt x="548699" y="24749"/>
                  </a:lnTo>
                  <a:lnTo>
                    <a:pt x="548699" y="74249"/>
                  </a:lnTo>
                  <a:lnTo>
                    <a:pt x="49499" y="74249"/>
                  </a:lnTo>
                  <a:lnTo>
                    <a:pt x="49499" y="98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78700" y="2766300"/>
              <a:ext cx="549275" cy="99060"/>
            </a:xfrm>
            <a:custGeom>
              <a:avLst/>
              <a:gdLst/>
              <a:ahLst/>
              <a:cxnLst/>
              <a:rect l="l" t="t" r="r" b="b"/>
              <a:pathLst>
                <a:path w="549275" h="99060">
                  <a:moveTo>
                    <a:pt x="548699" y="74249"/>
                  </a:moveTo>
                  <a:lnTo>
                    <a:pt x="49499" y="74249"/>
                  </a:lnTo>
                  <a:lnTo>
                    <a:pt x="49499" y="98999"/>
                  </a:lnTo>
                  <a:lnTo>
                    <a:pt x="0" y="49499"/>
                  </a:lnTo>
                  <a:lnTo>
                    <a:pt x="49499" y="0"/>
                  </a:lnTo>
                  <a:lnTo>
                    <a:pt x="49499" y="24749"/>
                  </a:lnTo>
                  <a:lnTo>
                    <a:pt x="548699" y="24749"/>
                  </a:lnTo>
                  <a:lnTo>
                    <a:pt x="548699" y="74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78700" y="4282300"/>
              <a:ext cx="549275" cy="99060"/>
            </a:xfrm>
            <a:custGeom>
              <a:avLst/>
              <a:gdLst/>
              <a:ahLst/>
              <a:cxnLst/>
              <a:rect l="l" t="t" r="r" b="b"/>
              <a:pathLst>
                <a:path w="549275" h="99060">
                  <a:moveTo>
                    <a:pt x="49499" y="98999"/>
                  </a:moveTo>
                  <a:lnTo>
                    <a:pt x="0" y="49499"/>
                  </a:lnTo>
                  <a:lnTo>
                    <a:pt x="49499" y="0"/>
                  </a:lnTo>
                  <a:lnTo>
                    <a:pt x="49499" y="24749"/>
                  </a:lnTo>
                  <a:lnTo>
                    <a:pt x="548699" y="24749"/>
                  </a:lnTo>
                  <a:lnTo>
                    <a:pt x="548699" y="74249"/>
                  </a:lnTo>
                  <a:lnTo>
                    <a:pt x="49499" y="74249"/>
                  </a:lnTo>
                  <a:lnTo>
                    <a:pt x="49499" y="98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78700" y="4282300"/>
              <a:ext cx="549275" cy="99060"/>
            </a:xfrm>
            <a:custGeom>
              <a:avLst/>
              <a:gdLst/>
              <a:ahLst/>
              <a:cxnLst/>
              <a:rect l="l" t="t" r="r" b="b"/>
              <a:pathLst>
                <a:path w="549275" h="99060">
                  <a:moveTo>
                    <a:pt x="548699" y="74249"/>
                  </a:moveTo>
                  <a:lnTo>
                    <a:pt x="49499" y="74249"/>
                  </a:lnTo>
                  <a:lnTo>
                    <a:pt x="49499" y="98999"/>
                  </a:lnTo>
                  <a:lnTo>
                    <a:pt x="0" y="49499"/>
                  </a:lnTo>
                  <a:lnTo>
                    <a:pt x="49499" y="0"/>
                  </a:lnTo>
                  <a:lnTo>
                    <a:pt x="49499" y="24749"/>
                  </a:lnTo>
                  <a:lnTo>
                    <a:pt x="548699" y="24749"/>
                  </a:lnTo>
                  <a:lnTo>
                    <a:pt x="548699" y="74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13" name="object 13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Given</a:t>
            </a:r>
            <a:r>
              <a:rPr spc="-5" dirty="0"/>
              <a:t> </a:t>
            </a:r>
            <a:r>
              <a:rPr spc="110" dirty="0"/>
              <a:t>a</a:t>
            </a:r>
            <a:r>
              <a:rPr spc="-5" dirty="0"/>
              <a:t> </a:t>
            </a:r>
            <a:r>
              <a:rPr spc="55" dirty="0"/>
              <a:t>cloze</a:t>
            </a:r>
            <a:r>
              <a:rPr spc="-5" dirty="0"/>
              <a:t> </a:t>
            </a:r>
            <a:r>
              <a:rPr spc="110" dirty="0"/>
              <a:t>statement</a:t>
            </a:r>
            <a:r>
              <a:rPr spc="-5" dirty="0"/>
              <a:t> </a:t>
            </a:r>
            <a:r>
              <a:rPr spc="110" dirty="0"/>
              <a:t>that</a:t>
            </a:r>
            <a:r>
              <a:rPr spc="-5" dirty="0"/>
              <a:t> </a:t>
            </a:r>
            <a:r>
              <a:rPr spc="105" dirty="0"/>
              <a:t>queries</a:t>
            </a:r>
            <a:r>
              <a:rPr spc="-5" dirty="0"/>
              <a:t> </a:t>
            </a:r>
            <a:r>
              <a:rPr spc="120" dirty="0"/>
              <a:t>the</a:t>
            </a:r>
            <a:r>
              <a:rPr spc="-5" dirty="0"/>
              <a:t> </a:t>
            </a:r>
            <a:r>
              <a:rPr spc="105" dirty="0"/>
              <a:t>model</a:t>
            </a:r>
            <a:r>
              <a:rPr spc="-5" dirty="0"/>
              <a:t> </a:t>
            </a:r>
            <a:r>
              <a:rPr spc="80" dirty="0"/>
              <a:t>for</a:t>
            </a:r>
            <a:r>
              <a:rPr dirty="0"/>
              <a:t> </a:t>
            </a:r>
            <a:r>
              <a:rPr spc="110" dirty="0"/>
              <a:t>a</a:t>
            </a:r>
            <a:r>
              <a:rPr spc="-5" dirty="0"/>
              <a:t> </a:t>
            </a:r>
            <a:r>
              <a:rPr spc="95" dirty="0"/>
              <a:t>missing</a:t>
            </a:r>
            <a:r>
              <a:rPr spc="-5" dirty="0"/>
              <a:t> </a:t>
            </a:r>
            <a:r>
              <a:rPr spc="85" dirty="0"/>
              <a:t>token,</a:t>
            </a: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b="1" spc="-35" dirty="0">
                <a:latin typeface="Book Antiqua"/>
                <a:cs typeface="Book Antiqua"/>
              </a:rPr>
              <a:t>knowledgeable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100" dirty="0">
                <a:latin typeface="Book Antiqua"/>
                <a:cs typeface="Book Antiqua"/>
              </a:rPr>
              <a:t>LMs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dirty="0">
                <a:latin typeface="Book Antiqua"/>
                <a:cs typeface="Book Antiqua"/>
              </a:rPr>
              <a:t>rank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10" dirty="0">
                <a:latin typeface="Book Antiqua"/>
                <a:cs typeface="Book Antiqua"/>
              </a:rPr>
              <a:t>ground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dirty="0">
                <a:latin typeface="Book Antiqua"/>
                <a:cs typeface="Book Antiqua"/>
              </a:rPr>
              <a:t>truth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20" dirty="0">
                <a:latin typeface="Book Antiqua"/>
                <a:cs typeface="Book Antiqua"/>
              </a:rPr>
              <a:t>tokens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25" dirty="0">
                <a:latin typeface="Book Antiqua"/>
                <a:cs typeface="Book Antiqua"/>
              </a:rPr>
              <a:t>high</a:t>
            </a:r>
            <a:r>
              <a:rPr b="1" spc="-40" dirty="0">
                <a:latin typeface="Book Antiqua"/>
                <a:cs typeface="Book Antiqua"/>
              </a:rPr>
              <a:t> </a:t>
            </a:r>
            <a:r>
              <a:rPr spc="135" dirty="0"/>
              <a:t>and</a:t>
            </a:r>
            <a:r>
              <a:rPr spc="-30" dirty="0"/>
              <a:t> </a:t>
            </a:r>
            <a:r>
              <a:rPr spc="114" dirty="0"/>
              <a:t>other</a:t>
            </a:r>
            <a:r>
              <a:rPr spc="-30" dirty="0"/>
              <a:t> </a:t>
            </a:r>
            <a:r>
              <a:rPr spc="95" dirty="0"/>
              <a:t>tokens</a:t>
            </a:r>
            <a:r>
              <a:rPr spc="-30" dirty="0"/>
              <a:t> </a:t>
            </a:r>
            <a:r>
              <a:rPr spc="75" dirty="0"/>
              <a:t>lower</a:t>
            </a:r>
          </a:p>
          <a:p>
            <a:pPr marL="635">
              <a:lnSpc>
                <a:spcPct val="100000"/>
              </a:lnSpc>
            </a:pPr>
            <a:endParaRPr sz="2650"/>
          </a:p>
          <a:p>
            <a:pPr marL="200406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35434" y="2707575"/>
            <a:ext cx="351790" cy="188595"/>
          </a:xfrm>
          <a:prstGeom prst="rect">
            <a:avLst/>
          </a:prstGeom>
          <a:solidFill>
            <a:srgbClr val="B6D7A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5"/>
              </a:lnSpc>
            </a:pPr>
            <a:r>
              <a:rPr sz="1300" b="1" spc="-20" dirty="0">
                <a:latin typeface="Cambria"/>
                <a:cs typeface="Cambria"/>
              </a:rPr>
              <a:t>blue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01690" y="2868560"/>
            <a:ext cx="406400" cy="15411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2545" marR="34925" indent="-635" algn="ctr">
              <a:lnSpc>
                <a:spcPts val="1480"/>
              </a:lnSpc>
              <a:spcBef>
                <a:spcPts val="215"/>
              </a:spcBef>
            </a:pPr>
            <a:r>
              <a:rPr sz="1300" spc="65" dirty="0">
                <a:latin typeface="Times New Roman"/>
                <a:cs typeface="Times New Roman"/>
              </a:rPr>
              <a:t>red </a:t>
            </a:r>
            <a:r>
              <a:rPr sz="1300" spc="-20" dirty="0">
                <a:latin typeface="Times New Roman"/>
                <a:cs typeface="Times New Roman"/>
              </a:rPr>
              <a:t>grey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1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36830" marR="5080" indent="-24765" algn="just">
              <a:lnSpc>
                <a:spcPts val="1480"/>
              </a:lnSpc>
              <a:spcBef>
                <a:spcPts val="75"/>
              </a:spcBef>
            </a:pPr>
            <a:r>
              <a:rPr sz="1300" spc="40" dirty="0">
                <a:latin typeface="Times New Roman"/>
                <a:cs typeface="Times New Roman"/>
              </a:rPr>
              <a:t>grass </a:t>
            </a:r>
            <a:r>
              <a:rPr sz="1300" spc="65" dirty="0">
                <a:latin typeface="Times New Roman"/>
                <a:cs typeface="Times New Roman"/>
              </a:rPr>
              <a:t>pear </a:t>
            </a:r>
            <a:r>
              <a:rPr sz="1300" spc="-25" dirty="0">
                <a:latin typeface="Times New Roman"/>
                <a:cs typeface="Times New Roman"/>
              </a:rPr>
              <a:t>Bob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3664" y="2683332"/>
            <a:ext cx="81534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latin typeface="Book Antiqua"/>
                <a:cs typeface="Book Antiqua"/>
              </a:rPr>
              <a:t>most</a:t>
            </a:r>
            <a:r>
              <a:rPr sz="1150" spc="70" dirty="0">
                <a:latin typeface="Book Antiqua"/>
                <a:cs typeface="Book Antiqua"/>
              </a:rPr>
              <a:t> </a:t>
            </a:r>
            <a:r>
              <a:rPr sz="1150" spc="-10" dirty="0">
                <a:latin typeface="Book Antiqua"/>
                <a:cs typeface="Book Antiqua"/>
              </a:rPr>
              <a:t>likely</a:t>
            </a:r>
            <a:r>
              <a:rPr sz="1150" b="1" spc="-10" dirty="0">
                <a:latin typeface="Cambria"/>
                <a:cs typeface="Cambria"/>
              </a:rPr>
              <a:t>*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23845" y="4218107"/>
            <a:ext cx="79502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latin typeface="Book Antiqua"/>
                <a:cs typeface="Book Antiqua"/>
              </a:rPr>
              <a:t>least</a:t>
            </a:r>
            <a:r>
              <a:rPr sz="1150" spc="85" dirty="0">
                <a:latin typeface="Book Antiqua"/>
                <a:cs typeface="Book Antiqua"/>
              </a:rPr>
              <a:t> </a:t>
            </a:r>
            <a:r>
              <a:rPr sz="1150" spc="-10" dirty="0">
                <a:latin typeface="Book Antiqua"/>
                <a:cs typeface="Book Antiqua"/>
              </a:rPr>
              <a:t>likely</a:t>
            </a:r>
            <a:r>
              <a:rPr sz="1150" b="1" spc="-10" dirty="0">
                <a:latin typeface="Cambria"/>
                <a:cs typeface="Cambria"/>
              </a:rPr>
              <a:t>*</a:t>
            </a:r>
            <a:endParaRPr sz="115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1787" y="3301012"/>
            <a:ext cx="1426210" cy="657225"/>
            <a:chOff x="581787" y="3301012"/>
            <a:chExt cx="1426210" cy="657225"/>
          </a:xfrm>
        </p:grpSpPr>
        <p:sp>
          <p:nvSpPr>
            <p:cNvPr id="21" name="object 21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1292697" y="628199"/>
                  </a:move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0" y="104701"/>
                  </a:move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97886" y="340003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47955" marR="5080" indent="-13589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spc="-10" dirty="0">
                <a:latin typeface="Times New Roman"/>
                <a:cs typeface="Times New Roman"/>
              </a:rPr>
              <a:t>Model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62412" y="2223762"/>
            <a:ext cx="1244600" cy="1019175"/>
            <a:chOff x="1262412" y="2223762"/>
            <a:chExt cx="1244600" cy="1019175"/>
          </a:xfrm>
        </p:grpSpPr>
        <p:sp>
          <p:nvSpPr>
            <p:cNvPr id="25" name="object 25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19449" y="900897"/>
                  </a:moveTo>
                  <a:lnTo>
                    <a:pt x="43585" y="900897"/>
                  </a:lnTo>
                  <a:lnTo>
                    <a:pt x="43585" y="406868"/>
                  </a:lnTo>
                  <a:lnTo>
                    <a:pt x="46322" y="359419"/>
                  </a:lnTo>
                  <a:lnTo>
                    <a:pt x="54330" y="313577"/>
                  </a:lnTo>
                  <a:lnTo>
                    <a:pt x="67305" y="269648"/>
                  </a:lnTo>
                  <a:lnTo>
                    <a:pt x="84939" y="227938"/>
                  </a:lnTo>
                  <a:lnTo>
                    <a:pt x="106929" y="188751"/>
                  </a:lnTo>
                  <a:lnTo>
                    <a:pt x="132969" y="152393"/>
                  </a:lnTo>
                  <a:lnTo>
                    <a:pt x="162754" y="119169"/>
                  </a:lnTo>
                  <a:lnTo>
                    <a:pt x="195978" y="89384"/>
                  </a:lnTo>
                  <a:lnTo>
                    <a:pt x="232336" y="63344"/>
                  </a:lnTo>
                  <a:lnTo>
                    <a:pt x="271523" y="41354"/>
                  </a:lnTo>
                  <a:lnTo>
                    <a:pt x="313233" y="23719"/>
                  </a:lnTo>
                  <a:lnTo>
                    <a:pt x="357162" y="10745"/>
                  </a:lnTo>
                  <a:lnTo>
                    <a:pt x="403004" y="2737"/>
                  </a:lnTo>
                  <a:lnTo>
                    <a:pt x="450454" y="0"/>
                  </a:lnTo>
                  <a:lnTo>
                    <a:pt x="1234799" y="0"/>
                  </a:lnTo>
                  <a:lnTo>
                    <a:pt x="1234799" y="75863"/>
                  </a:lnTo>
                  <a:lnTo>
                    <a:pt x="450454" y="75863"/>
                  </a:lnTo>
                  <a:lnTo>
                    <a:pt x="401540" y="79452"/>
                  </a:lnTo>
                  <a:lnTo>
                    <a:pt x="354855" y="89878"/>
                  </a:lnTo>
                  <a:lnTo>
                    <a:pt x="310910" y="106628"/>
                  </a:lnTo>
                  <a:lnTo>
                    <a:pt x="270218" y="129190"/>
                  </a:lnTo>
                  <a:lnTo>
                    <a:pt x="233290" y="157053"/>
                  </a:lnTo>
                  <a:lnTo>
                    <a:pt x="200639" y="189705"/>
                  </a:lnTo>
                  <a:lnTo>
                    <a:pt x="172776" y="226633"/>
                  </a:lnTo>
                  <a:lnTo>
                    <a:pt x="150213" y="267325"/>
                  </a:lnTo>
                  <a:lnTo>
                    <a:pt x="133463" y="311270"/>
                  </a:lnTo>
                  <a:lnTo>
                    <a:pt x="123038" y="357955"/>
                  </a:lnTo>
                  <a:lnTo>
                    <a:pt x="119449" y="406868"/>
                  </a:lnTo>
                  <a:lnTo>
                    <a:pt x="119449" y="900897"/>
                  </a:lnTo>
                  <a:close/>
                </a:path>
                <a:path w="1235075" h="1009650">
                  <a:moveTo>
                    <a:pt x="81517" y="1009499"/>
                  </a:moveTo>
                  <a:lnTo>
                    <a:pt x="0" y="900897"/>
                  </a:lnTo>
                  <a:lnTo>
                    <a:pt x="163034" y="900897"/>
                  </a:lnTo>
                  <a:lnTo>
                    <a:pt x="81517" y="1009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234799" y="0"/>
                  </a:moveTo>
                  <a:lnTo>
                    <a:pt x="450454" y="0"/>
                  </a:lnTo>
                  <a:lnTo>
                    <a:pt x="403004" y="2737"/>
                  </a:lnTo>
                  <a:lnTo>
                    <a:pt x="357162" y="10745"/>
                  </a:lnTo>
                  <a:lnTo>
                    <a:pt x="313233" y="23719"/>
                  </a:lnTo>
                  <a:lnTo>
                    <a:pt x="271523" y="41354"/>
                  </a:lnTo>
                  <a:lnTo>
                    <a:pt x="232336" y="63344"/>
                  </a:lnTo>
                  <a:lnTo>
                    <a:pt x="195978" y="89384"/>
                  </a:lnTo>
                  <a:lnTo>
                    <a:pt x="162754" y="119169"/>
                  </a:lnTo>
                  <a:lnTo>
                    <a:pt x="132969" y="152393"/>
                  </a:lnTo>
                  <a:lnTo>
                    <a:pt x="106929" y="188751"/>
                  </a:lnTo>
                  <a:lnTo>
                    <a:pt x="84939" y="227938"/>
                  </a:lnTo>
                  <a:lnTo>
                    <a:pt x="67305" y="269648"/>
                  </a:lnTo>
                  <a:lnTo>
                    <a:pt x="54330" y="313577"/>
                  </a:lnTo>
                  <a:lnTo>
                    <a:pt x="46322" y="359419"/>
                  </a:lnTo>
                  <a:lnTo>
                    <a:pt x="43585" y="406868"/>
                  </a:lnTo>
                  <a:lnTo>
                    <a:pt x="43585" y="900897"/>
                  </a:lnTo>
                  <a:lnTo>
                    <a:pt x="0" y="900897"/>
                  </a:lnTo>
                  <a:lnTo>
                    <a:pt x="81517" y="1009499"/>
                  </a:lnTo>
                  <a:lnTo>
                    <a:pt x="163034" y="900897"/>
                  </a:lnTo>
                  <a:lnTo>
                    <a:pt x="119449" y="900897"/>
                  </a:lnTo>
                  <a:lnTo>
                    <a:pt x="119449" y="406868"/>
                  </a:lnTo>
                  <a:lnTo>
                    <a:pt x="123038" y="357955"/>
                  </a:lnTo>
                  <a:lnTo>
                    <a:pt x="133463" y="311270"/>
                  </a:lnTo>
                  <a:lnTo>
                    <a:pt x="150213" y="267325"/>
                  </a:lnTo>
                  <a:lnTo>
                    <a:pt x="172776" y="226633"/>
                  </a:lnTo>
                  <a:lnTo>
                    <a:pt x="200639" y="189705"/>
                  </a:lnTo>
                  <a:lnTo>
                    <a:pt x="233290" y="157053"/>
                  </a:lnTo>
                  <a:lnTo>
                    <a:pt x="270218" y="129190"/>
                  </a:lnTo>
                  <a:lnTo>
                    <a:pt x="310910" y="106628"/>
                  </a:lnTo>
                  <a:lnTo>
                    <a:pt x="354855" y="89878"/>
                  </a:lnTo>
                  <a:lnTo>
                    <a:pt x="401540" y="79452"/>
                  </a:lnTo>
                  <a:lnTo>
                    <a:pt x="450454" y="75863"/>
                  </a:lnTo>
                  <a:lnTo>
                    <a:pt x="1234799" y="75863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229837" y="3522162"/>
            <a:ext cx="407034" cy="203200"/>
            <a:chOff x="2229837" y="3522162"/>
            <a:chExt cx="407034" cy="203200"/>
          </a:xfrm>
        </p:grpSpPr>
        <p:sp>
          <p:nvSpPr>
            <p:cNvPr id="28" name="object 28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3053016" y="2895789"/>
            <a:ext cx="339090" cy="188595"/>
          </a:xfrm>
          <a:custGeom>
            <a:avLst/>
            <a:gdLst/>
            <a:ahLst/>
            <a:cxnLst/>
            <a:rect l="l" t="t" r="r" b="b"/>
            <a:pathLst>
              <a:path w="339089" h="188594">
                <a:moveTo>
                  <a:pt x="338680" y="188213"/>
                </a:moveTo>
                <a:lnTo>
                  <a:pt x="0" y="188213"/>
                </a:lnTo>
                <a:lnTo>
                  <a:pt x="0" y="0"/>
                </a:lnTo>
                <a:lnTo>
                  <a:pt x="338680" y="0"/>
                </a:lnTo>
                <a:lnTo>
                  <a:pt x="338680" y="188213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040316" y="2868560"/>
            <a:ext cx="8153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Cambria"/>
                <a:cs typeface="Cambria"/>
              </a:rPr>
              <a:t>blue:</a:t>
            </a:r>
            <a:r>
              <a:rPr sz="1300" b="1" spc="490" dirty="0">
                <a:latin typeface="Cambria"/>
                <a:cs typeface="Cambria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49%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98229" y="3056774"/>
            <a:ext cx="989965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1520"/>
              </a:lnSpc>
              <a:spcBef>
                <a:spcPts val="100"/>
              </a:spcBef>
            </a:pPr>
            <a:r>
              <a:rPr sz="1300" spc="70" dirty="0">
                <a:latin typeface="Times New Roman"/>
                <a:cs typeface="Times New Roman"/>
              </a:rPr>
              <a:t>red:</a:t>
            </a:r>
            <a:r>
              <a:rPr sz="1300" spc="42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12%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50" dirty="0">
                <a:latin typeface="Times New Roman"/>
                <a:cs typeface="Times New Roman"/>
              </a:rPr>
              <a:t>grass:</a:t>
            </a:r>
            <a:r>
              <a:rPr sz="1300" spc="4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0.01%</a:t>
            </a:r>
            <a:endParaRPr sz="1300">
              <a:latin typeface="Times New Roman"/>
              <a:cs typeface="Times New Roman"/>
            </a:endParaRPr>
          </a:p>
          <a:p>
            <a:pPr marR="146685" algn="ctr">
              <a:lnSpc>
                <a:spcPts val="1480"/>
              </a:lnSpc>
            </a:pPr>
            <a:r>
              <a:rPr sz="1300" dirty="0">
                <a:latin typeface="Times New Roman"/>
                <a:cs typeface="Times New Roman"/>
              </a:rPr>
              <a:t>grey:</a:t>
            </a:r>
            <a:r>
              <a:rPr sz="1300" spc="155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3%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50165" algn="ctr">
              <a:lnSpc>
                <a:spcPts val="1520"/>
              </a:lnSpc>
            </a:pPr>
            <a:r>
              <a:rPr sz="1300" spc="70" dirty="0">
                <a:latin typeface="Times New Roman"/>
                <a:cs typeface="Times New Roman"/>
              </a:rPr>
              <a:t>pear:</a:t>
            </a:r>
            <a:r>
              <a:rPr sz="1300" spc="4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0.09%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462787" y="3522162"/>
            <a:ext cx="407034" cy="203200"/>
            <a:chOff x="4462787" y="3522162"/>
            <a:chExt cx="407034" cy="203200"/>
          </a:xfrm>
        </p:grpSpPr>
        <p:sp>
          <p:nvSpPr>
            <p:cNvPr id="34" name="object 34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705800" y="4663880"/>
            <a:ext cx="1478915" cy="24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dirty="0">
                <a:solidFill>
                  <a:srgbClr val="595959"/>
                </a:solidFill>
                <a:latin typeface="Cambria"/>
                <a:cs typeface="Cambria"/>
              </a:rPr>
              <a:t>probability</a:t>
            </a:r>
            <a:r>
              <a:rPr sz="1350" b="1" spc="8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scores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35556" y="4656630"/>
            <a:ext cx="739140" cy="24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rankings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95783" y="4776451"/>
            <a:ext cx="152400" cy="18478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46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025" y="4870881"/>
            <a:ext cx="1329690" cy="20066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00" b="1" dirty="0">
                <a:latin typeface="Cambria"/>
                <a:cs typeface="Cambria"/>
              </a:rPr>
              <a:t>*</a:t>
            </a:r>
            <a:r>
              <a:rPr sz="1100" dirty="0">
                <a:latin typeface="Book Antiqua"/>
                <a:cs typeface="Book Antiqua"/>
              </a:rPr>
              <a:t>according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 </a:t>
            </a:r>
            <a:r>
              <a:rPr sz="1100" spc="-25" dirty="0">
                <a:latin typeface="Book Antiqua"/>
                <a:cs typeface="Book Antiqua"/>
              </a:rPr>
              <a:t>LM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3225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216054" y="1823399"/>
                </a:moveTo>
                <a:lnTo>
                  <a:pt x="166515" y="1817693"/>
                </a:lnTo>
                <a:lnTo>
                  <a:pt x="121039" y="1801439"/>
                </a:lnTo>
                <a:lnTo>
                  <a:pt x="80923" y="1775935"/>
                </a:lnTo>
                <a:lnTo>
                  <a:pt x="47464" y="1742476"/>
                </a:lnTo>
                <a:lnTo>
                  <a:pt x="21960" y="1702360"/>
                </a:lnTo>
                <a:lnTo>
                  <a:pt x="5706" y="1656885"/>
                </a:lnTo>
                <a:lnTo>
                  <a:pt x="0" y="1607345"/>
                </a:lnTo>
                <a:lnTo>
                  <a:pt x="0" y="216054"/>
                </a:lnTo>
                <a:lnTo>
                  <a:pt x="5706" y="166515"/>
                </a:lnTo>
                <a:lnTo>
                  <a:pt x="21960" y="121039"/>
                </a:lnTo>
                <a:lnTo>
                  <a:pt x="47464" y="80923"/>
                </a:lnTo>
                <a:lnTo>
                  <a:pt x="80923" y="47464"/>
                </a:lnTo>
                <a:lnTo>
                  <a:pt x="121039" y="21960"/>
                </a:lnTo>
                <a:lnTo>
                  <a:pt x="166515" y="5706"/>
                </a:lnTo>
                <a:lnTo>
                  <a:pt x="21605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3470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0" y="0"/>
                </a:moveTo>
                <a:lnTo>
                  <a:pt x="42346" y="4189"/>
                </a:lnTo>
                <a:lnTo>
                  <a:pt x="82680" y="16446"/>
                </a:lnTo>
                <a:lnTo>
                  <a:pt x="119867" y="36299"/>
                </a:lnTo>
                <a:lnTo>
                  <a:pt x="152773" y="63280"/>
                </a:lnTo>
                <a:lnTo>
                  <a:pt x="179754" y="96187"/>
                </a:lnTo>
                <a:lnTo>
                  <a:pt x="199608" y="133373"/>
                </a:lnTo>
                <a:lnTo>
                  <a:pt x="211864" y="173707"/>
                </a:lnTo>
                <a:lnTo>
                  <a:pt x="216054" y="216054"/>
                </a:lnTo>
                <a:lnTo>
                  <a:pt x="216054" y="1607345"/>
                </a:lnTo>
                <a:lnTo>
                  <a:pt x="210348" y="1656885"/>
                </a:lnTo>
                <a:lnTo>
                  <a:pt x="194094" y="1702360"/>
                </a:lnTo>
                <a:lnTo>
                  <a:pt x="168589" y="1742476"/>
                </a:lnTo>
                <a:lnTo>
                  <a:pt x="135130" y="1775935"/>
                </a:lnTo>
                <a:lnTo>
                  <a:pt x="95015" y="1801439"/>
                </a:lnTo>
                <a:lnTo>
                  <a:pt x="49539" y="1817693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90986" y="2680346"/>
            <a:ext cx="9798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Bob: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spc="-10" dirty="0">
                <a:latin typeface="Times New Roman"/>
                <a:cs typeface="Times New Roman"/>
              </a:rPr>
              <a:t>0.003%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63075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113902" y="1823399"/>
                </a:moveTo>
                <a:lnTo>
                  <a:pt x="69566" y="1814448"/>
                </a:lnTo>
                <a:lnTo>
                  <a:pt x="33361" y="1790038"/>
                </a:lnTo>
                <a:lnTo>
                  <a:pt x="8951" y="1753833"/>
                </a:lnTo>
                <a:lnTo>
                  <a:pt x="0" y="1709497"/>
                </a:lnTo>
                <a:lnTo>
                  <a:pt x="0" y="113902"/>
                </a:lnTo>
                <a:lnTo>
                  <a:pt x="8951" y="69566"/>
                </a:lnTo>
                <a:lnTo>
                  <a:pt x="33361" y="33361"/>
                </a:lnTo>
                <a:lnTo>
                  <a:pt x="69566" y="8950"/>
                </a:lnTo>
                <a:lnTo>
                  <a:pt x="113902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2572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0" y="0"/>
                </a:moveTo>
                <a:lnTo>
                  <a:pt x="22325" y="2208"/>
                </a:lnTo>
                <a:lnTo>
                  <a:pt x="43588" y="8670"/>
                </a:lnTo>
                <a:lnTo>
                  <a:pt x="80541" y="33361"/>
                </a:lnTo>
                <a:lnTo>
                  <a:pt x="105232" y="70313"/>
                </a:lnTo>
                <a:lnTo>
                  <a:pt x="113902" y="113902"/>
                </a:lnTo>
                <a:lnTo>
                  <a:pt x="113902" y="1709497"/>
                </a:lnTo>
                <a:lnTo>
                  <a:pt x="104951" y="1753833"/>
                </a:lnTo>
                <a:lnTo>
                  <a:pt x="80541" y="1790038"/>
                </a:lnTo>
                <a:lnTo>
                  <a:pt x="44336" y="1814448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47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43748" y="1180605"/>
            <a:ext cx="765746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cloze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statement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queries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model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missing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token,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b="1" spc="-35" dirty="0">
                <a:latin typeface="Book Antiqua"/>
                <a:cs typeface="Book Antiqua"/>
              </a:rPr>
              <a:t>knowledgeable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0" dirty="0">
                <a:latin typeface="Book Antiqua"/>
                <a:cs typeface="Book Antiqua"/>
              </a:rPr>
              <a:t>LMs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rank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" dirty="0">
                <a:latin typeface="Book Antiqua"/>
                <a:cs typeface="Book Antiqua"/>
              </a:rPr>
              <a:t>ground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truth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0" dirty="0">
                <a:latin typeface="Book Antiqua"/>
                <a:cs typeface="Book Antiqua"/>
              </a:rPr>
              <a:t>tokens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5" dirty="0">
                <a:latin typeface="Book Antiqua"/>
                <a:cs typeface="Book Antiqua"/>
              </a:rPr>
              <a:t>high</a:t>
            </a:r>
            <a:r>
              <a:rPr sz="1800" b="1" spc="-40" dirty="0">
                <a:latin typeface="Book Antiqua"/>
                <a:cs typeface="Book Antiqua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tokens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lower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35070" y="2118698"/>
            <a:ext cx="2849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5434" y="2707575"/>
            <a:ext cx="351790" cy="188595"/>
          </a:xfrm>
          <a:prstGeom prst="rect">
            <a:avLst/>
          </a:prstGeom>
          <a:solidFill>
            <a:srgbClr val="B6D7A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5"/>
              </a:lnSpc>
            </a:pPr>
            <a:r>
              <a:rPr sz="1300" b="1" spc="-20" dirty="0">
                <a:latin typeface="Cambria"/>
                <a:cs typeface="Cambria"/>
              </a:rPr>
              <a:t>blue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1690" y="2868560"/>
            <a:ext cx="406400" cy="15411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2545" marR="34925" indent="-635" algn="ctr">
              <a:lnSpc>
                <a:spcPts val="1480"/>
              </a:lnSpc>
              <a:spcBef>
                <a:spcPts val="215"/>
              </a:spcBef>
            </a:pPr>
            <a:r>
              <a:rPr sz="1300" spc="65" dirty="0">
                <a:latin typeface="Times New Roman"/>
                <a:cs typeface="Times New Roman"/>
              </a:rPr>
              <a:t>red </a:t>
            </a:r>
            <a:r>
              <a:rPr sz="1300" spc="-20" dirty="0">
                <a:latin typeface="Times New Roman"/>
                <a:cs typeface="Times New Roman"/>
              </a:rPr>
              <a:t>grey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1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36830" marR="5080" indent="-24765" algn="just">
              <a:lnSpc>
                <a:spcPts val="1480"/>
              </a:lnSpc>
              <a:spcBef>
                <a:spcPts val="75"/>
              </a:spcBef>
            </a:pPr>
            <a:r>
              <a:rPr sz="1300" spc="40" dirty="0">
                <a:latin typeface="Times New Roman"/>
                <a:cs typeface="Times New Roman"/>
              </a:rPr>
              <a:t>grass </a:t>
            </a:r>
            <a:r>
              <a:rPr sz="1300" spc="65" dirty="0">
                <a:latin typeface="Times New Roman"/>
                <a:cs typeface="Times New Roman"/>
              </a:rPr>
              <a:t>pear </a:t>
            </a:r>
            <a:r>
              <a:rPr sz="1300" spc="-25" dirty="0">
                <a:latin typeface="Times New Roman"/>
                <a:cs typeface="Times New Roman"/>
              </a:rPr>
              <a:t>Bob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5800" y="4649665"/>
            <a:ext cx="147891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solidFill>
                  <a:srgbClr val="595959"/>
                </a:solidFill>
                <a:latin typeface="Cambria"/>
                <a:cs typeface="Cambria"/>
              </a:rPr>
              <a:t>probability</a:t>
            </a:r>
            <a:r>
              <a:rPr sz="1350" b="1" spc="8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scores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787" y="3301012"/>
            <a:ext cx="1426210" cy="657225"/>
            <a:chOff x="581787" y="3301012"/>
            <a:chExt cx="1426210" cy="657225"/>
          </a:xfrm>
        </p:grpSpPr>
        <p:sp>
          <p:nvSpPr>
            <p:cNvPr id="17" name="object 17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1292697" y="628199"/>
                  </a:move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6075" y="3315299"/>
              <a:ext cx="1397635" cy="628650"/>
            </a:xfrm>
            <a:custGeom>
              <a:avLst/>
              <a:gdLst/>
              <a:ahLst/>
              <a:cxnLst/>
              <a:rect l="l" t="t" r="r" b="b"/>
              <a:pathLst>
                <a:path w="1397635" h="628650">
                  <a:moveTo>
                    <a:pt x="0" y="104701"/>
                  </a:moveTo>
                  <a:lnTo>
                    <a:pt x="8228" y="63947"/>
                  </a:lnTo>
                  <a:lnTo>
                    <a:pt x="30666" y="30666"/>
                  </a:lnTo>
                  <a:lnTo>
                    <a:pt x="63947" y="8227"/>
                  </a:lnTo>
                  <a:lnTo>
                    <a:pt x="104702" y="0"/>
                  </a:lnTo>
                  <a:lnTo>
                    <a:pt x="1292697" y="0"/>
                  </a:lnTo>
                  <a:lnTo>
                    <a:pt x="1332765" y="7970"/>
                  </a:lnTo>
                  <a:lnTo>
                    <a:pt x="1366733" y="30666"/>
                  </a:lnTo>
                  <a:lnTo>
                    <a:pt x="1389430" y="64634"/>
                  </a:lnTo>
                  <a:lnTo>
                    <a:pt x="1397399" y="104701"/>
                  </a:lnTo>
                  <a:lnTo>
                    <a:pt x="1397399" y="523497"/>
                  </a:lnTo>
                  <a:lnTo>
                    <a:pt x="1389171" y="564252"/>
                  </a:lnTo>
                  <a:lnTo>
                    <a:pt x="1366733" y="597533"/>
                  </a:lnTo>
                  <a:lnTo>
                    <a:pt x="1333452" y="619972"/>
                  </a:lnTo>
                  <a:lnTo>
                    <a:pt x="1292697" y="628199"/>
                  </a:lnTo>
                  <a:lnTo>
                    <a:pt x="104702" y="628199"/>
                  </a:lnTo>
                  <a:lnTo>
                    <a:pt x="63947" y="619972"/>
                  </a:lnTo>
                  <a:lnTo>
                    <a:pt x="30666" y="597533"/>
                  </a:lnTo>
                  <a:lnTo>
                    <a:pt x="8228" y="564252"/>
                  </a:lnTo>
                  <a:lnTo>
                    <a:pt x="0" y="523497"/>
                  </a:lnTo>
                  <a:lnTo>
                    <a:pt x="0" y="10470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7886" y="340003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47955" marR="5080" indent="-13589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spc="-10" dirty="0">
                <a:latin typeface="Times New Roman"/>
                <a:cs typeface="Times New Roman"/>
              </a:rPr>
              <a:t>Model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62412" y="2223762"/>
            <a:ext cx="1244600" cy="1019175"/>
            <a:chOff x="1262412" y="2223762"/>
            <a:chExt cx="1244600" cy="1019175"/>
          </a:xfrm>
        </p:grpSpPr>
        <p:sp>
          <p:nvSpPr>
            <p:cNvPr id="21" name="object 21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19449" y="900897"/>
                  </a:moveTo>
                  <a:lnTo>
                    <a:pt x="43585" y="900897"/>
                  </a:lnTo>
                  <a:lnTo>
                    <a:pt x="43585" y="406868"/>
                  </a:lnTo>
                  <a:lnTo>
                    <a:pt x="46322" y="359419"/>
                  </a:lnTo>
                  <a:lnTo>
                    <a:pt x="54330" y="313577"/>
                  </a:lnTo>
                  <a:lnTo>
                    <a:pt x="67305" y="269648"/>
                  </a:lnTo>
                  <a:lnTo>
                    <a:pt x="84939" y="227938"/>
                  </a:lnTo>
                  <a:lnTo>
                    <a:pt x="106929" y="188751"/>
                  </a:lnTo>
                  <a:lnTo>
                    <a:pt x="132969" y="152393"/>
                  </a:lnTo>
                  <a:lnTo>
                    <a:pt x="162754" y="119169"/>
                  </a:lnTo>
                  <a:lnTo>
                    <a:pt x="195978" y="89384"/>
                  </a:lnTo>
                  <a:lnTo>
                    <a:pt x="232336" y="63344"/>
                  </a:lnTo>
                  <a:lnTo>
                    <a:pt x="271523" y="41354"/>
                  </a:lnTo>
                  <a:lnTo>
                    <a:pt x="313233" y="23719"/>
                  </a:lnTo>
                  <a:lnTo>
                    <a:pt x="357162" y="10745"/>
                  </a:lnTo>
                  <a:lnTo>
                    <a:pt x="403004" y="2737"/>
                  </a:lnTo>
                  <a:lnTo>
                    <a:pt x="450454" y="0"/>
                  </a:lnTo>
                  <a:lnTo>
                    <a:pt x="1234799" y="0"/>
                  </a:lnTo>
                  <a:lnTo>
                    <a:pt x="1234799" y="75863"/>
                  </a:lnTo>
                  <a:lnTo>
                    <a:pt x="450454" y="75863"/>
                  </a:lnTo>
                  <a:lnTo>
                    <a:pt x="401540" y="79452"/>
                  </a:lnTo>
                  <a:lnTo>
                    <a:pt x="354855" y="89878"/>
                  </a:lnTo>
                  <a:lnTo>
                    <a:pt x="310910" y="106628"/>
                  </a:lnTo>
                  <a:lnTo>
                    <a:pt x="270218" y="129190"/>
                  </a:lnTo>
                  <a:lnTo>
                    <a:pt x="233290" y="157053"/>
                  </a:lnTo>
                  <a:lnTo>
                    <a:pt x="200639" y="189705"/>
                  </a:lnTo>
                  <a:lnTo>
                    <a:pt x="172776" y="226633"/>
                  </a:lnTo>
                  <a:lnTo>
                    <a:pt x="150213" y="267325"/>
                  </a:lnTo>
                  <a:lnTo>
                    <a:pt x="133463" y="311270"/>
                  </a:lnTo>
                  <a:lnTo>
                    <a:pt x="123038" y="357955"/>
                  </a:lnTo>
                  <a:lnTo>
                    <a:pt x="119449" y="406868"/>
                  </a:lnTo>
                  <a:lnTo>
                    <a:pt x="119449" y="900897"/>
                  </a:lnTo>
                  <a:close/>
                </a:path>
                <a:path w="1235075" h="1009650">
                  <a:moveTo>
                    <a:pt x="81517" y="1009499"/>
                  </a:moveTo>
                  <a:lnTo>
                    <a:pt x="0" y="900897"/>
                  </a:lnTo>
                  <a:lnTo>
                    <a:pt x="163034" y="900897"/>
                  </a:lnTo>
                  <a:lnTo>
                    <a:pt x="81517" y="1009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67174" y="2228525"/>
              <a:ext cx="1235075" cy="1009650"/>
            </a:xfrm>
            <a:custGeom>
              <a:avLst/>
              <a:gdLst/>
              <a:ahLst/>
              <a:cxnLst/>
              <a:rect l="l" t="t" r="r" b="b"/>
              <a:pathLst>
                <a:path w="1235075" h="1009650">
                  <a:moveTo>
                    <a:pt x="1234799" y="0"/>
                  </a:moveTo>
                  <a:lnTo>
                    <a:pt x="450454" y="0"/>
                  </a:lnTo>
                  <a:lnTo>
                    <a:pt x="403004" y="2737"/>
                  </a:lnTo>
                  <a:lnTo>
                    <a:pt x="357162" y="10745"/>
                  </a:lnTo>
                  <a:lnTo>
                    <a:pt x="313233" y="23719"/>
                  </a:lnTo>
                  <a:lnTo>
                    <a:pt x="271523" y="41354"/>
                  </a:lnTo>
                  <a:lnTo>
                    <a:pt x="232336" y="63344"/>
                  </a:lnTo>
                  <a:lnTo>
                    <a:pt x="195978" y="89384"/>
                  </a:lnTo>
                  <a:lnTo>
                    <a:pt x="162754" y="119169"/>
                  </a:lnTo>
                  <a:lnTo>
                    <a:pt x="132969" y="152393"/>
                  </a:lnTo>
                  <a:lnTo>
                    <a:pt x="106929" y="188751"/>
                  </a:lnTo>
                  <a:lnTo>
                    <a:pt x="84939" y="227938"/>
                  </a:lnTo>
                  <a:lnTo>
                    <a:pt x="67305" y="269648"/>
                  </a:lnTo>
                  <a:lnTo>
                    <a:pt x="54330" y="313577"/>
                  </a:lnTo>
                  <a:lnTo>
                    <a:pt x="46322" y="359419"/>
                  </a:lnTo>
                  <a:lnTo>
                    <a:pt x="43585" y="406868"/>
                  </a:lnTo>
                  <a:lnTo>
                    <a:pt x="43585" y="900897"/>
                  </a:lnTo>
                  <a:lnTo>
                    <a:pt x="0" y="900897"/>
                  </a:lnTo>
                  <a:lnTo>
                    <a:pt x="81517" y="1009499"/>
                  </a:lnTo>
                  <a:lnTo>
                    <a:pt x="163034" y="900897"/>
                  </a:lnTo>
                  <a:lnTo>
                    <a:pt x="119449" y="900897"/>
                  </a:lnTo>
                  <a:lnTo>
                    <a:pt x="119449" y="406868"/>
                  </a:lnTo>
                  <a:lnTo>
                    <a:pt x="123038" y="357955"/>
                  </a:lnTo>
                  <a:lnTo>
                    <a:pt x="133463" y="311270"/>
                  </a:lnTo>
                  <a:lnTo>
                    <a:pt x="150213" y="267325"/>
                  </a:lnTo>
                  <a:lnTo>
                    <a:pt x="172776" y="226633"/>
                  </a:lnTo>
                  <a:lnTo>
                    <a:pt x="200639" y="189705"/>
                  </a:lnTo>
                  <a:lnTo>
                    <a:pt x="233290" y="157053"/>
                  </a:lnTo>
                  <a:lnTo>
                    <a:pt x="270218" y="129190"/>
                  </a:lnTo>
                  <a:lnTo>
                    <a:pt x="310910" y="106628"/>
                  </a:lnTo>
                  <a:lnTo>
                    <a:pt x="354855" y="89878"/>
                  </a:lnTo>
                  <a:lnTo>
                    <a:pt x="401540" y="79452"/>
                  </a:lnTo>
                  <a:lnTo>
                    <a:pt x="450454" y="75863"/>
                  </a:lnTo>
                  <a:lnTo>
                    <a:pt x="1234799" y="75863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229837" y="3522162"/>
            <a:ext cx="407034" cy="203200"/>
            <a:chOff x="2229837" y="3522162"/>
            <a:chExt cx="407034" cy="203200"/>
          </a:xfrm>
        </p:grpSpPr>
        <p:sp>
          <p:nvSpPr>
            <p:cNvPr id="24" name="object 24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3053016" y="2895789"/>
            <a:ext cx="339090" cy="188595"/>
          </a:xfrm>
          <a:custGeom>
            <a:avLst/>
            <a:gdLst/>
            <a:ahLst/>
            <a:cxnLst/>
            <a:rect l="l" t="t" r="r" b="b"/>
            <a:pathLst>
              <a:path w="339089" h="188594">
                <a:moveTo>
                  <a:pt x="338680" y="188213"/>
                </a:moveTo>
                <a:lnTo>
                  <a:pt x="0" y="188213"/>
                </a:lnTo>
                <a:lnTo>
                  <a:pt x="0" y="0"/>
                </a:lnTo>
                <a:lnTo>
                  <a:pt x="338680" y="0"/>
                </a:lnTo>
                <a:lnTo>
                  <a:pt x="338680" y="188213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40316" y="2868560"/>
            <a:ext cx="8153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Cambria"/>
                <a:cs typeface="Cambria"/>
              </a:rPr>
              <a:t>blue:</a:t>
            </a:r>
            <a:r>
              <a:rPr sz="1300" b="1" spc="490" dirty="0">
                <a:latin typeface="Cambria"/>
                <a:cs typeface="Cambria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49%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98229" y="3056774"/>
            <a:ext cx="989965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1520"/>
              </a:lnSpc>
              <a:spcBef>
                <a:spcPts val="100"/>
              </a:spcBef>
            </a:pPr>
            <a:r>
              <a:rPr sz="1300" spc="70" dirty="0">
                <a:latin typeface="Times New Roman"/>
                <a:cs typeface="Times New Roman"/>
              </a:rPr>
              <a:t>red:</a:t>
            </a:r>
            <a:r>
              <a:rPr sz="1300" spc="42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12%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50" dirty="0">
                <a:latin typeface="Times New Roman"/>
                <a:cs typeface="Times New Roman"/>
              </a:rPr>
              <a:t>grass:</a:t>
            </a:r>
            <a:r>
              <a:rPr sz="1300" spc="4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0.01%</a:t>
            </a:r>
            <a:endParaRPr sz="1300">
              <a:latin typeface="Times New Roman"/>
              <a:cs typeface="Times New Roman"/>
            </a:endParaRPr>
          </a:p>
          <a:p>
            <a:pPr marR="146685" algn="ctr">
              <a:lnSpc>
                <a:spcPts val="1480"/>
              </a:lnSpc>
            </a:pPr>
            <a:r>
              <a:rPr sz="1300" dirty="0">
                <a:latin typeface="Times New Roman"/>
                <a:cs typeface="Times New Roman"/>
              </a:rPr>
              <a:t>grey:</a:t>
            </a:r>
            <a:r>
              <a:rPr sz="1300" spc="155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3%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127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50165" algn="ctr">
              <a:lnSpc>
                <a:spcPts val="1520"/>
              </a:lnSpc>
            </a:pPr>
            <a:r>
              <a:rPr sz="1300" spc="70" dirty="0">
                <a:latin typeface="Times New Roman"/>
                <a:cs typeface="Times New Roman"/>
              </a:rPr>
              <a:t>pear:</a:t>
            </a:r>
            <a:r>
              <a:rPr sz="1300" spc="4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0.09%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62787" y="3522162"/>
            <a:ext cx="407034" cy="203200"/>
            <a:chOff x="4462787" y="3522162"/>
            <a:chExt cx="407034" cy="203200"/>
          </a:xfrm>
        </p:grpSpPr>
        <p:sp>
          <p:nvSpPr>
            <p:cNvPr id="30" name="object 30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35556" y="4642415"/>
            <a:ext cx="73914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rankings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96856" y="2157300"/>
            <a:ext cx="360045" cy="208279"/>
          </a:xfrm>
          <a:custGeom>
            <a:avLst/>
            <a:gdLst/>
            <a:ahLst/>
            <a:cxnLst/>
            <a:rect l="l" t="t" r="r" b="b"/>
            <a:pathLst>
              <a:path w="360045" h="208280">
                <a:moveTo>
                  <a:pt x="359808" y="208025"/>
                </a:moveTo>
                <a:lnTo>
                  <a:pt x="0" y="208025"/>
                </a:lnTo>
                <a:lnTo>
                  <a:pt x="0" y="0"/>
                </a:lnTo>
                <a:lnTo>
                  <a:pt x="359808" y="0"/>
                </a:lnTo>
                <a:lnTo>
                  <a:pt x="359808" y="208025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884156" y="2137666"/>
            <a:ext cx="156210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latin typeface="Cambria"/>
                <a:cs typeface="Cambria"/>
              </a:rPr>
              <a:t>P@k: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precision at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spc="-50" dirty="0">
                <a:latin typeface="Cambria"/>
                <a:cs typeface="Cambria"/>
              </a:rPr>
              <a:t>k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53361" y="2639846"/>
            <a:ext cx="14382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“Does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80" dirty="0">
                <a:latin typeface="Times New Roman"/>
                <a:cs typeface="Times New Roman"/>
              </a:rPr>
              <a:t>ground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80" dirty="0">
                <a:latin typeface="Times New Roman"/>
                <a:cs typeface="Times New Roman"/>
              </a:rPr>
              <a:t>truth </a:t>
            </a:r>
            <a:r>
              <a:rPr sz="1300" dirty="0">
                <a:latin typeface="Times New Roman"/>
                <a:cs typeface="Times New Roman"/>
              </a:rPr>
              <a:t>exist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80" dirty="0">
                <a:latin typeface="Times New Roman"/>
                <a:cs typeface="Times New Roman"/>
              </a:rPr>
              <a:t>in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90" dirty="0">
                <a:latin typeface="Times New Roman"/>
                <a:cs typeface="Times New Roman"/>
              </a:rPr>
              <a:t>the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top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k </a:t>
            </a:r>
            <a:r>
              <a:rPr sz="1300" spc="35" dirty="0">
                <a:latin typeface="Times New Roman"/>
                <a:cs typeface="Times New Roman"/>
              </a:rPr>
              <a:t>ranks?”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48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Given</a:t>
            </a:r>
            <a:r>
              <a:rPr spc="-5" dirty="0"/>
              <a:t> </a:t>
            </a:r>
            <a:r>
              <a:rPr spc="110" dirty="0"/>
              <a:t>a</a:t>
            </a:r>
            <a:r>
              <a:rPr spc="-5" dirty="0"/>
              <a:t> </a:t>
            </a:r>
            <a:r>
              <a:rPr spc="55" dirty="0"/>
              <a:t>cloze</a:t>
            </a:r>
            <a:r>
              <a:rPr spc="-5" dirty="0"/>
              <a:t> </a:t>
            </a:r>
            <a:r>
              <a:rPr spc="110" dirty="0"/>
              <a:t>statement</a:t>
            </a:r>
            <a:r>
              <a:rPr spc="-5" dirty="0"/>
              <a:t> </a:t>
            </a:r>
            <a:r>
              <a:rPr spc="110" dirty="0"/>
              <a:t>that</a:t>
            </a:r>
            <a:r>
              <a:rPr spc="-5" dirty="0"/>
              <a:t> </a:t>
            </a:r>
            <a:r>
              <a:rPr spc="105" dirty="0"/>
              <a:t>queries</a:t>
            </a:r>
            <a:r>
              <a:rPr spc="-5" dirty="0"/>
              <a:t> </a:t>
            </a:r>
            <a:r>
              <a:rPr spc="120" dirty="0"/>
              <a:t>the</a:t>
            </a:r>
            <a:r>
              <a:rPr spc="-5" dirty="0"/>
              <a:t> </a:t>
            </a:r>
            <a:r>
              <a:rPr spc="105" dirty="0"/>
              <a:t>model</a:t>
            </a:r>
            <a:r>
              <a:rPr spc="-5" dirty="0"/>
              <a:t> </a:t>
            </a:r>
            <a:r>
              <a:rPr spc="80" dirty="0"/>
              <a:t>for</a:t>
            </a:r>
            <a:r>
              <a:rPr dirty="0"/>
              <a:t> </a:t>
            </a:r>
            <a:r>
              <a:rPr spc="110" dirty="0"/>
              <a:t>a</a:t>
            </a:r>
            <a:r>
              <a:rPr spc="-5" dirty="0"/>
              <a:t> </a:t>
            </a:r>
            <a:r>
              <a:rPr spc="95" dirty="0"/>
              <a:t>missing</a:t>
            </a:r>
            <a:r>
              <a:rPr spc="-5" dirty="0"/>
              <a:t> </a:t>
            </a:r>
            <a:r>
              <a:rPr spc="85" dirty="0"/>
              <a:t>token,</a:t>
            </a: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b="1" spc="-35" dirty="0">
                <a:latin typeface="Book Antiqua"/>
                <a:cs typeface="Book Antiqua"/>
              </a:rPr>
              <a:t>knowledgeable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100" dirty="0">
                <a:latin typeface="Book Antiqua"/>
                <a:cs typeface="Book Antiqua"/>
              </a:rPr>
              <a:t>LMs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dirty="0">
                <a:latin typeface="Book Antiqua"/>
                <a:cs typeface="Book Antiqua"/>
              </a:rPr>
              <a:t>rank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10" dirty="0">
                <a:latin typeface="Book Antiqua"/>
                <a:cs typeface="Book Antiqua"/>
              </a:rPr>
              <a:t>ground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dirty="0">
                <a:latin typeface="Book Antiqua"/>
                <a:cs typeface="Book Antiqua"/>
              </a:rPr>
              <a:t>truth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20" dirty="0">
                <a:latin typeface="Book Antiqua"/>
                <a:cs typeface="Book Antiqua"/>
              </a:rPr>
              <a:t>tokens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25" dirty="0">
                <a:latin typeface="Book Antiqua"/>
                <a:cs typeface="Book Antiqua"/>
              </a:rPr>
              <a:t>high</a:t>
            </a:r>
            <a:r>
              <a:rPr b="1" spc="-40" dirty="0">
                <a:latin typeface="Book Antiqua"/>
                <a:cs typeface="Book Antiqua"/>
              </a:rPr>
              <a:t> </a:t>
            </a:r>
            <a:r>
              <a:rPr spc="135" dirty="0"/>
              <a:t>and</a:t>
            </a:r>
            <a:r>
              <a:rPr spc="-30" dirty="0"/>
              <a:t> </a:t>
            </a:r>
            <a:r>
              <a:rPr spc="114" dirty="0"/>
              <a:t>other</a:t>
            </a:r>
            <a:r>
              <a:rPr spc="-30" dirty="0"/>
              <a:t> </a:t>
            </a:r>
            <a:r>
              <a:rPr spc="95" dirty="0"/>
              <a:t>tokens</a:t>
            </a:r>
            <a:r>
              <a:rPr spc="-30" dirty="0"/>
              <a:t> </a:t>
            </a:r>
            <a:r>
              <a:rPr spc="75" dirty="0"/>
              <a:t>lower</a:t>
            </a:r>
          </a:p>
          <a:p>
            <a:pPr marL="635">
              <a:lnSpc>
                <a:spcPct val="100000"/>
              </a:lnSpc>
            </a:pPr>
            <a:endParaRPr sz="2650"/>
          </a:p>
          <a:p>
            <a:pPr marL="200406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1787" y="3239512"/>
            <a:ext cx="1426210" cy="780415"/>
            <a:chOff x="581787" y="3239512"/>
            <a:chExt cx="1426210" cy="780415"/>
          </a:xfrm>
        </p:grpSpPr>
        <p:sp>
          <p:nvSpPr>
            <p:cNvPr id="8" name="object 8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1272147" y="751499"/>
                  </a:move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0" y="125252"/>
                  </a:move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close/>
                </a:path>
              </a:pathLst>
            </a:custGeom>
            <a:ln w="2857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7887" y="340018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6195" marR="5080" indent="-2413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#2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62412" y="2223762"/>
            <a:ext cx="1244600" cy="939800"/>
            <a:chOff x="1262412" y="2223762"/>
            <a:chExt cx="1244600" cy="939800"/>
          </a:xfrm>
        </p:grpSpPr>
        <p:sp>
          <p:nvSpPr>
            <p:cNvPr id="12" name="object 12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10042" y="829950"/>
                  </a:moveTo>
                  <a:lnTo>
                    <a:pt x="40152" y="829950"/>
                  </a:lnTo>
                  <a:lnTo>
                    <a:pt x="40152" y="374827"/>
                  </a:lnTo>
                  <a:lnTo>
                    <a:pt x="43073" y="327809"/>
                  </a:lnTo>
                  <a:lnTo>
                    <a:pt x="51600" y="282534"/>
                  </a:lnTo>
                  <a:lnTo>
                    <a:pt x="65382" y="239354"/>
                  </a:lnTo>
                  <a:lnTo>
                    <a:pt x="84069" y="198618"/>
                  </a:lnTo>
                  <a:lnTo>
                    <a:pt x="107309" y="160680"/>
                  </a:lnTo>
                  <a:lnTo>
                    <a:pt x="134750" y="125889"/>
                  </a:lnTo>
                  <a:lnTo>
                    <a:pt x="166042" y="94597"/>
                  </a:lnTo>
                  <a:lnTo>
                    <a:pt x="200833" y="67156"/>
                  </a:lnTo>
                  <a:lnTo>
                    <a:pt x="238771" y="43916"/>
                  </a:lnTo>
                  <a:lnTo>
                    <a:pt x="279507" y="25230"/>
                  </a:lnTo>
                  <a:lnTo>
                    <a:pt x="322687" y="11447"/>
                  </a:lnTo>
                  <a:lnTo>
                    <a:pt x="367962" y="2920"/>
                  </a:lnTo>
                  <a:lnTo>
                    <a:pt x="414979" y="0"/>
                  </a:lnTo>
                  <a:lnTo>
                    <a:pt x="1234799" y="0"/>
                  </a:lnTo>
                  <a:lnTo>
                    <a:pt x="1234799" y="69889"/>
                  </a:lnTo>
                  <a:lnTo>
                    <a:pt x="414979" y="69889"/>
                  </a:lnTo>
                  <a:lnTo>
                    <a:pt x="365517" y="73880"/>
                  </a:lnTo>
                  <a:lnTo>
                    <a:pt x="318596" y="85435"/>
                  </a:lnTo>
                  <a:lnTo>
                    <a:pt x="274843" y="103926"/>
                  </a:lnTo>
                  <a:lnTo>
                    <a:pt x="234887" y="128724"/>
                  </a:lnTo>
                  <a:lnTo>
                    <a:pt x="199356" y="159203"/>
                  </a:lnTo>
                  <a:lnTo>
                    <a:pt x="168877" y="194734"/>
                  </a:lnTo>
                  <a:lnTo>
                    <a:pt x="144078" y="234690"/>
                  </a:lnTo>
                  <a:lnTo>
                    <a:pt x="125588" y="278443"/>
                  </a:lnTo>
                  <a:lnTo>
                    <a:pt x="114033" y="325364"/>
                  </a:lnTo>
                  <a:lnTo>
                    <a:pt x="110042" y="374827"/>
                  </a:lnTo>
                  <a:lnTo>
                    <a:pt x="110042" y="829950"/>
                  </a:lnTo>
                  <a:close/>
                </a:path>
                <a:path w="1235075" h="930275">
                  <a:moveTo>
                    <a:pt x="75097" y="929999"/>
                  </a:moveTo>
                  <a:lnTo>
                    <a:pt x="0" y="829950"/>
                  </a:lnTo>
                  <a:lnTo>
                    <a:pt x="150194" y="829950"/>
                  </a:lnTo>
                  <a:lnTo>
                    <a:pt x="75097" y="929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234799" y="0"/>
                  </a:moveTo>
                  <a:lnTo>
                    <a:pt x="414979" y="0"/>
                  </a:lnTo>
                  <a:lnTo>
                    <a:pt x="367962" y="2920"/>
                  </a:lnTo>
                  <a:lnTo>
                    <a:pt x="322687" y="11447"/>
                  </a:lnTo>
                  <a:lnTo>
                    <a:pt x="279507" y="25230"/>
                  </a:lnTo>
                  <a:lnTo>
                    <a:pt x="238771" y="43916"/>
                  </a:lnTo>
                  <a:lnTo>
                    <a:pt x="200833" y="67156"/>
                  </a:lnTo>
                  <a:lnTo>
                    <a:pt x="166042" y="94597"/>
                  </a:lnTo>
                  <a:lnTo>
                    <a:pt x="134750" y="125889"/>
                  </a:lnTo>
                  <a:lnTo>
                    <a:pt x="107309" y="160680"/>
                  </a:lnTo>
                  <a:lnTo>
                    <a:pt x="84069" y="198618"/>
                  </a:lnTo>
                  <a:lnTo>
                    <a:pt x="65382" y="239354"/>
                  </a:lnTo>
                  <a:lnTo>
                    <a:pt x="51600" y="282534"/>
                  </a:lnTo>
                  <a:lnTo>
                    <a:pt x="43073" y="327809"/>
                  </a:lnTo>
                  <a:lnTo>
                    <a:pt x="40152" y="374827"/>
                  </a:lnTo>
                  <a:lnTo>
                    <a:pt x="40152" y="829950"/>
                  </a:lnTo>
                  <a:lnTo>
                    <a:pt x="0" y="829950"/>
                  </a:lnTo>
                  <a:lnTo>
                    <a:pt x="75097" y="929999"/>
                  </a:lnTo>
                  <a:lnTo>
                    <a:pt x="150194" y="829950"/>
                  </a:lnTo>
                  <a:lnTo>
                    <a:pt x="110042" y="829950"/>
                  </a:lnTo>
                  <a:lnTo>
                    <a:pt x="110042" y="374827"/>
                  </a:lnTo>
                  <a:lnTo>
                    <a:pt x="114033" y="325364"/>
                  </a:lnTo>
                  <a:lnTo>
                    <a:pt x="125588" y="278443"/>
                  </a:lnTo>
                  <a:lnTo>
                    <a:pt x="144078" y="234690"/>
                  </a:lnTo>
                  <a:lnTo>
                    <a:pt x="168877" y="194734"/>
                  </a:lnTo>
                  <a:lnTo>
                    <a:pt x="199356" y="159203"/>
                  </a:lnTo>
                  <a:lnTo>
                    <a:pt x="234887" y="128724"/>
                  </a:lnTo>
                  <a:lnTo>
                    <a:pt x="274843" y="103926"/>
                  </a:lnTo>
                  <a:lnTo>
                    <a:pt x="318596" y="85435"/>
                  </a:lnTo>
                  <a:lnTo>
                    <a:pt x="365517" y="73880"/>
                  </a:lnTo>
                  <a:lnTo>
                    <a:pt x="414979" y="69889"/>
                  </a:lnTo>
                  <a:lnTo>
                    <a:pt x="1234799" y="69889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3225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216054" y="1823399"/>
                </a:moveTo>
                <a:lnTo>
                  <a:pt x="166515" y="1817693"/>
                </a:lnTo>
                <a:lnTo>
                  <a:pt x="121039" y="1801439"/>
                </a:lnTo>
                <a:lnTo>
                  <a:pt x="80923" y="1775935"/>
                </a:lnTo>
                <a:lnTo>
                  <a:pt x="47464" y="1742476"/>
                </a:lnTo>
                <a:lnTo>
                  <a:pt x="21960" y="1702360"/>
                </a:lnTo>
                <a:lnTo>
                  <a:pt x="5706" y="1656885"/>
                </a:lnTo>
                <a:lnTo>
                  <a:pt x="0" y="1607345"/>
                </a:lnTo>
                <a:lnTo>
                  <a:pt x="0" y="216054"/>
                </a:lnTo>
                <a:lnTo>
                  <a:pt x="5706" y="166515"/>
                </a:lnTo>
                <a:lnTo>
                  <a:pt x="21960" y="121039"/>
                </a:lnTo>
                <a:lnTo>
                  <a:pt x="47464" y="80923"/>
                </a:lnTo>
                <a:lnTo>
                  <a:pt x="80923" y="47464"/>
                </a:lnTo>
                <a:lnTo>
                  <a:pt x="121039" y="21960"/>
                </a:lnTo>
                <a:lnTo>
                  <a:pt x="166515" y="5706"/>
                </a:lnTo>
                <a:lnTo>
                  <a:pt x="21605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3470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0" y="0"/>
                </a:moveTo>
                <a:lnTo>
                  <a:pt x="42346" y="4189"/>
                </a:lnTo>
                <a:lnTo>
                  <a:pt x="82680" y="16446"/>
                </a:lnTo>
                <a:lnTo>
                  <a:pt x="119867" y="36299"/>
                </a:lnTo>
                <a:lnTo>
                  <a:pt x="152773" y="63280"/>
                </a:lnTo>
                <a:lnTo>
                  <a:pt x="179754" y="96187"/>
                </a:lnTo>
                <a:lnTo>
                  <a:pt x="199608" y="133373"/>
                </a:lnTo>
                <a:lnTo>
                  <a:pt x="211864" y="173707"/>
                </a:lnTo>
                <a:lnTo>
                  <a:pt x="216054" y="216054"/>
                </a:lnTo>
                <a:lnTo>
                  <a:pt x="216054" y="1607345"/>
                </a:lnTo>
                <a:lnTo>
                  <a:pt x="210348" y="1656885"/>
                </a:lnTo>
                <a:lnTo>
                  <a:pt x="194094" y="1702360"/>
                </a:lnTo>
                <a:lnTo>
                  <a:pt x="168589" y="1742476"/>
                </a:lnTo>
                <a:lnTo>
                  <a:pt x="135130" y="1775935"/>
                </a:lnTo>
                <a:lnTo>
                  <a:pt x="95015" y="1801439"/>
                </a:lnTo>
                <a:lnTo>
                  <a:pt x="49539" y="1817693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90986" y="2680346"/>
            <a:ext cx="8128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Bob: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spc="-20" dirty="0">
                <a:latin typeface="Times New Roman"/>
                <a:cs typeface="Times New Roman"/>
              </a:rPr>
              <a:t>0.1%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63075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113902" y="1823399"/>
                </a:moveTo>
                <a:lnTo>
                  <a:pt x="69566" y="1814448"/>
                </a:lnTo>
                <a:lnTo>
                  <a:pt x="33361" y="1790038"/>
                </a:lnTo>
                <a:lnTo>
                  <a:pt x="8951" y="1753833"/>
                </a:lnTo>
                <a:lnTo>
                  <a:pt x="0" y="1709497"/>
                </a:lnTo>
                <a:lnTo>
                  <a:pt x="0" y="113902"/>
                </a:lnTo>
                <a:lnTo>
                  <a:pt x="8951" y="69566"/>
                </a:lnTo>
                <a:lnTo>
                  <a:pt x="33361" y="33361"/>
                </a:lnTo>
                <a:lnTo>
                  <a:pt x="69566" y="8950"/>
                </a:lnTo>
                <a:lnTo>
                  <a:pt x="113902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2572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0" y="0"/>
                </a:moveTo>
                <a:lnTo>
                  <a:pt x="22325" y="2208"/>
                </a:lnTo>
                <a:lnTo>
                  <a:pt x="43588" y="8670"/>
                </a:lnTo>
                <a:lnTo>
                  <a:pt x="80541" y="33361"/>
                </a:lnTo>
                <a:lnTo>
                  <a:pt x="105232" y="70313"/>
                </a:lnTo>
                <a:lnTo>
                  <a:pt x="113902" y="113902"/>
                </a:lnTo>
                <a:lnTo>
                  <a:pt x="113902" y="1709497"/>
                </a:lnTo>
                <a:lnTo>
                  <a:pt x="104951" y="1753833"/>
                </a:lnTo>
                <a:lnTo>
                  <a:pt x="80541" y="1790038"/>
                </a:lnTo>
                <a:lnTo>
                  <a:pt x="44336" y="1814448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49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Given</a:t>
            </a:r>
            <a:r>
              <a:rPr spc="-5" dirty="0"/>
              <a:t> </a:t>
            </a:r>
            <a:r>
              <a:rPr spc="110" dirty="0"/>
              <a:t>a</a:t>
            </a:r>
            <a:r>
              <a:rPr spc="-5" dirty="0"/>
              <a:t> </a:t>
            </a:r>
            <a:r>
              <a:rPr spc="55" dirty="0"/>
              <a:t>cloze</a:t>
            </a:r>
            <a:r>
              <a:rPr spc="-5" dirty="0"/>
              <a:t> </a:t>
            </a:r>
            <a:r>
              <a:rPr spc="110" dirty="0"/>
              <a:t>statement</a:t>
            </a:r>
            <a:r>
              <a:rPr spc="-5" dirty="0"/>
              <a:t> </a:t>
            </a:r>
            <a:r>
              <a:rPr spc="110" dirty="0"/>
              <a:t>that</a:t>
            </a:r>
            <a:r>
              <a:rPr spc="-5" dirty="0"/>
              <a:t> </a:t>
            </a:r>
            <a:r>
              <a:rPr spc="105" dirty="0"/>
              <a:t>queries</a:t>
            </a:r>
            <a:r>
              <a:rPr spc="-5" dirty="0"/>
              <a:t> </a:t>
            </a:r>
            <a:r>
              <a:rPr spc="120" dirty="0"/>
              <a:t>the</a:t>
            </a:r>
            <a:r>
              <a:rPr spc="-5" dirty="0"/>
              <a:t> </a:t>
            </a:r>
            <a:r>
              <a:rPr spc="105" dirty="0"/>
              <a:t>model</a:t>
            </a:r>
            <a:r>
              <a:rPr spc="-5" dirty="0"/>
              <a:t> </a:t>
            </a:r>
            <a:r>
              <a:rPr spc="80" dirty="0"/>
              <a:t>for</a:t>
            </a:r>
            <a:r>
              <a:rPr dirty="0"/>
              <a:t> </a:t>
            </a:r>
            <a:r>
              <a:rPr spc="110" dirty="0"/>
              <a:t>a</a:t>
            </a:r>
            <a:r>
              <a:rPr spc="-5" dirty="0"/>
              <a:t> </a:t>
            </a:r>
            <a:r>
              <a:rPr spc="95" dirty="0"/>
              <a:t>missing</a:t>
            </a:r>
            <a:r>
              <a:rPr spc="-5" dirty="0"/>
              <a:t> </a:t>
            </a:r>
            <a:r>
              <a:rPr spc="85" dirty="0"/>
              <a:t>token,</a:t>
            </a: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b="1" spc="-35" dirty="0">
                <a:latin typeface="Book Antiqua"/>
                <a:cs typeface="Book Antiqua"/>
              </a:rPr>
              <a:t>knowledgeable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100" dirty="0">
                <a:latin typeface="Book Antiqua"/>
                <a:cs typeface="Book Antiqua"/>
              </a:rPr>
              <a:t>LMs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dirty="0">
                <a:latin typeface="Book Antiqua"/>
                <a:cs typeface="Book Antiqua"/>
              </a:rPr>
              <a:t>rank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10" dirty="0">
                <a:latin typeface="Book Antiqua"/>
                <a:cs typeface="Book Antiqua"/>
              </a:rPr>
              <a:t>ground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dirty="0">
                <a:latin typeface="Book Antiqua"/>
                <a:cs typeface="Book Antiqua"/>
              </a:rPr>
              <a:t>truth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20" dirty="0">
                <a:latin typeface="Book Antiqua"/>
                <a:cs typeface="Book Antiqua"/>
              </a:rPr>
              <a:t>tokens</a:t>
            </a:r>
            <a:r>
              <a:rPr b="1" spc="-45" dirty="0">
                <a:latin typeface="Book Antiqua"/>
                <a:cs typeface="Book Antiqua"/>
              </a:rPr>
              <a:t> </a:t>
            </a:r>
            <a:r>
              <a:rPr b="1" spc="-25" dirty="0">
                <a:latin typeface="Book Antiqua"/>
                <a:cs typeface="Book Antiqua"/>
              </a:rPr>
              <a:t>high</a:t>
            </a:r>
            <a:r>
              <a:rPr b="1" spc="-40" dirty="0">
                <a:latin typeface="Book Antiqua"/>
                <a:cs typeface="Book Antiqua"/>
              </a:rPr>
              <a:t> </a:t>
            </a:r>
            <a:r>
              <a:rPr spc="135" dirty="0"/>
              <a:t>and</a:t>
            </a:r>
            <a:r>
              <a:rPr spc="-30" dirty="0"/>
              <a:t> </a:t>
            </a:r>
            <a:r>
              <a:rPr spc="114" dirty="0"/>
              <a:t>other</a:t>
            </a:r>
            <a:r>
              <a:rPr spc="-30" dirty="0"/>
              <a:t> </a:t>
            </a:r>
            <a:r>
              <a:rPr spc="95" dirty="0"/>
              <a:t>tokens</a:t>
            </a:r>
            <a:r>
              <a:rPr spc="-30" dirty="0"/>
              <a:t> </a:t>
            </a:r>
            <a:r>
              <a:rPr spc="75" dirty="0"/>
              <a:t>lower</a:t>
            </a:r>
          </a:p>
          <a:p>
            <a:pPr marL="635">
              <a:lnSpc>
                <a:spcPct val="100000"/>
              </a:lnSpc>
            </a:pPr>
            <a:endParaRPr sz="2650"/>
          </a:p>
          <a:p>
            <a:pPr marL="200406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1729" y="2680346"/>
            <a:ext cx="346710" cy="4121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9530" marR="5080" indent="-37465">
              <a:lnSpc>
                <a:spcPts val="1480"/>
              </a:lnSpc>
              <a:spcBef>
                <a:spcPts val="215"/>
              </a:spcBef>
            </a:pPr>
            <a:r>
              <a:rPr sz="1300" spc="-20" dirty="0">
                <a:latin typeface="Times New Roman"/>
                <a:cs typeface="Times New Roman"/>
              </a:rPr>
              <a:t>grey </a:t>
            </a:r>
            <a:r>
              <a:rPr sz="1300" spc="65" dirty="0">
                <a:latin typeface="Times New Roman"/>
                <a:cs typeface="Times New Roman"/>
              </a:rPr>
              <a:t>red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5434" y="3084003"/>
            <a:ext cx="351790" cy="188595"/>
          </a:xfrm>
          <a:prstGeom prst="rect">
            <a:avLst/>
          </a:prstGeom>
          <a:solidFill>
            <a:srgbClr val="B6D7A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5"/>
              </a:lnSpc>
            </a:pPr>
            <a:r>
              <a:rPr sz="1300" b="1" spc="-20" dirty="0">
                <a:latin typeface="Cambria"/>
                <a:cs typeface="Cambria"/>
              </a:rPr>
              <a:t>blue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1690" y="3244988"/>
            <a:ext cx="40640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20"/>
              </a:lnSpc>
              <a:spcBef>
                <a:spcPts val="100"/>
              </a:spcBef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12700" marR="5080" indent="46355" algn="just">
              <a:lnSpc>
                <a:spcPts val="1480"/>
              </a:lnSpc>
              <a:spcBef>
                <a:spcPts val="75"/>
              </a:spcBef>
            </a:pPr>
            <a:r>
              <a:rPr sz="1300" spc="-25" dirty="0">
                <a:latin typeface="Times New Roman"/>
                <a:cs typeface="Times New Roman"/>
              </a:rPr>
              <a:t>Bob </a:t>
            </a:r>
            <a:r>
              <a:rPr sz="1300" spc="40" dirty="0">
                <a:latin typeface="Times New Roman"/>
                <a:cs typeface="Times New Roman"/>
              </a:rPr>
              <a:t>grass </a:t>
            </a:r>
            <a:r>
              <a:rPr sz="1300" spc="65" dirty="0">
                <a:latin typeface="Times New Roman"/>
                <a:cs typeface="Times New Roman"/>
              </a:rPr>
              <a:t>pear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5800" y="4649665"/>
            <a:ext cx="147891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solidFill>
                  <a:srgbClr val="595959"/>
                </a:solidFill>
                <a:latin typeface="Cambria"/>
                <a:cs typeface="Cambria"/>
              </a:rPr>
              <a:t>probability</a:t>
            </a:r>
            <a:r>
              <a:rPr sz="1350" b="1" spc="8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scores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787" y="3239512"/>
            <a:ext cx="1426210" cy="780415"/>
            <a:chOff x="581787" y="3239512"/>
            <a:chExt cx="1426210" cy="780415"/>
          </a:xfrm>
        </p:grpSpPr>
        <p:sp>
          <p:nvSpPr>
            <p:cNvPr id="17" name="object 17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1272147" y="751499"/>
                  </a:move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0" y="125252"/>
                  </a:move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close/>
                </a:path>
              </a:pathLst>
            </a:custGeom>
            <a:ln w="2857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7887" y="340018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6195" marR="5080" indent="-2413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#2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62412" y="2223762"/>
            <a:ext cx="1244600" cy="939800"/>
            <a:chOff x="1262412" y="2223762"/>
            <a:chExt cx="1244600" cy="939800"/>
          </a:xfrm>
        </p:grpSpPr>
        <p:sp>
          <p:nvSpPr>
            <p:cNvPr id="21" name="object 21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10042" y="829950"/>
                  </a:moveTo>
                  <a:lnTo>
                    <a:pt x="40152" y="829950"/>
                  </a:lnTo>
                  <a:lnTo>
                    <a:pt x="40152" y="374827"/>
                  </a:lnTo>
                  <a:lnTo>
                    <a:pt x="43073" y="327809"/>
                  </a:lnTo>
                  <a:lnTo>
                    <a:pt x="51600" y="282534"/>
                  </a:lnTo>
                  <a:lnTo>
                    <a:pt x="65382" y="239354"/>
                  </a:lnTo>
                  <a:lnTo>
                    <a:pt x="84069" y="198618"/>
                  </a:lnTo>
                  <a:lnTo>
                    <a:pt x="107309" y="160680"/>
                  </a:lnTo>
                  <a:lnTo>
                    <a:pt x="134750" y="125889"/>
                  </a:lnTo>
                  <a:lnTo>
                    <a:pt x="166042" y="94597"/>
                  </a:lnTo>
                  <a:lnTo>
                    <a:pt x="200833" y="67156"/>
                  </a:lnTo>
                  <a:lnTo>
                    <a:pt x="238771" y="43916"/>
                  </a:lnTo>
                  <a:lnTo>
                    <a:pt x="279507" y="25230"/>
                  </a:lnTo>
                  <a:lnTo>
                    <a:pt x="322687" y="11447"/>
                  </a:lnTo>
                  <a:lnTo>
                    <a:pt x="367962" y="2920"/>
                  </a:lnTo>
                  <a:lnTo>
                    <a:pt x="414979" y="0"/>
                  </a:lnTo>
                  <a:lnTo>
                    <a:pt x="1234799" y="0"/>
                  </a:lnTo>
                  <a:lnTo>
                    <a:pt x="1234799" y="69889"/>
                  </a:lnTo>
                  <a:lnTo>
                    <a:pt x="414979" y="69889"/>
                  </a:lnTo>
                  <a:lnTo>
                    <a:pt x="365517" y="73880"/>
                  </a:lnTo>
                  <a:lnTo>
                    <a:pt x="318596" y="85435"/>
                  </a:lnTo>
                  <a:lnTo>
                    <a:pt x="274843" y="103926"/>
                  </a:lnTo>
                  <a:lnTo>
                    <a:pt x="234887" y="128724"/>
                  </a:lnTo>
                  <a:lnTo>
                    <a:pt x="199356" y="159203"/>
                  </a:lnTo>
                  <a:lnTo>
                    <a:pt x="168877" y="194734"/>
                  </a:lnTo>
                  <a:lnTo>
                    <a:pt x="144078" y="234690"/>
                  </a:lnTo>
                  <a:lnTo>
                    <a:pt x="125588" y="278443"/>
                  </a:lnTo>
                  <a:lnTo>
                    <a:pt x="114033" y="325364"/>
                  </a:lnTo>
                  <a:lnTo>
                    <a:pt x="110042" y="374827"/>
                  </a:lnTo>
                  <a:lnTo>
                    <a:pt x="110042" y="829950"/>
                  </a:lnTo>
                  <a:close/>
                </a:path>
                <a:path w="1235075" h="930275">
                  <a:moveTo>
                    <a:pt x="75097" y="929999"/>
                  </a:moveTo>
                  <a:lnTo>
                    <a:pt x="0" y="829950"/>
                  </a:lnTo>
                  <a:lnTo>
                    <a:pt x="150194" y="829950"/>
                  </a:lnTo>
                  <a:lnTo>
                    <a:pt x="75097" y="929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234799" y="0"/>
                  </a:moveTo>
                  <a:lnTo>
                    <a:pt x="414979" y="0"/>
                  </a:lnTo>
                  <a:lnTo>
                    <a:pt x="367962" y="2920"/>
                  </a:lnTo>
                  <a:lnTo>
                    <a:pt x="322687" y="11447"/>
                  </a:lnTo>
                  <a:lnTo>
                    <a:pt x="279507" y="25230"/>
                  </a:lnTo>
                  <a:lnTo>
                    <a:pt x="238771" y="43916"/>
                  </a:lnTo>
                  <a:lnTo>
                    <a:pt x="200833" y="67156"/>
                  </a:lnTo>
                  <a:lnTo>
                    <a:pt x="166042" y="94597"/>
                  </a:lnTo>
                  <a:lnTo>
                    <a:pt x="134750" y="125889"/>
                  </a:lnTo>
                  <a:lnTo>
                    <a:pt x="107309" y="160680"/>
                  </a:lnTo>
                  <a:lnTo>
                    <a:pt x="84069" y="198618"/>
                  </a:lnTo>
                  <a:lnTo>
                    <a:pt x="65382" y="239354"/>
                  </a:lnTo>
                  <a:lnTo>
                    <a:pt x="51600" y="282534"/>
                  </a:lnTo>
                  <a:lnTo>
                    <a:pt x="43073" y="327809"/>
                  </a:lnTo>
                  <a:lnTo>
                    <a:pt x="40152" y="374827"/>
                  </a:lnTo>
                  <a:lnTo>
                    <a:pt x="40152" y="829950"/>
                  </a:lnTo>
                  <a:lnTo>
                    <a:pt x="0" y="829950"/>
                  </a:lnTo>
                  <a:lnTo>
                    <a:pt x="75097" y="929999"/>
                  </a:lnTo>
                  <a:lnTo>
                    <a:pt x="150194" y="829950"/>
                  </a:lnTo>
                  <a:lnTo>
                    <a:pt x="110042" y="829950"/>
                  </a:lnTo>
                  <a:lnTo>
                    <a:pt x="110042" y="374827"/>
                  </a:lnTo>
                  <a:lnTo>
                    <a:pt x="114033" y="325364"/>
                  </a:lnTo>
                  <a:lnTo>
                    <a:pt x="125588" y="278443"/>
                  </a:lnTo>
                  <a:lnTo>
                    <a:pt x="144078" y="234690"/>
                  </a:lnTo>
                  <a:lnTo>
                    <a:pt x="168877" y="194734"/>
                  </a:lnTo>
                  <a:lnTo>
                    <a:pt x="199356" y="159203"/>
                  </a:lnTo>
                  <a:lnTo>
                    <a:pt x="234887" y="128724"/>
                  </a:lnTo>
                  <a:lnTo>
                    <a:pt x="274843" y="103926"/>
                  </a:lnTo>
                  <a:lnTo>
                    <a:pt x="318596" y="85435"/>
                  </a:lnTo>
                  <a:lnTo>
                    <a:pt x="365517" y="73880"/>
                  </a:lnTo>
                  <a:lnTo>
                    <a:pt x="414979" y="69889"/>
                  </a:lnTo>
                  <a:lnTo>
                    <a:pt x="1234799" y="69889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229837" y="3522162"/>
            <a:ext cx="407034" cy="203200"/>
            <a:chOff x="2229837" y="3522162"/>
            <a:chExt cx="407034" cy="203200"/>
          </a:xfrm>
        </p:grpSpPr>
        <p:sp>
          <p:nvSpPr>
            <p:cNvPr id="24" name="object 24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3053016" y="2895789"/>
            <a:ext cx="339090" cy="188595"/>
          </a:xfrm>
          <a:custGeom>
            <a:avLst/>
            <a:gdLst/>
            <a:ahLst/>
            <a:cxnLst/>
            <a:rect l="l" t="t" r="r" b="b"/>
            <a:pathLst>
              <a:path w="339089" h="188594">
                <a:moveTo>
                  <a:pt x="338680" y="188213"/>
                </a:moveTo>
                <a:lnTo>
                  <a:pt x="0" y="188213"/>
                </a:lnTo>
                <a:lnTo>
                  <a:pt x="0" y="0"/>
                </a:lnTo>
                <a:lnTo>
                  <a:pt x="338680" y="0"/>
                </a:lnTo>
                <a:lnTo>
                  <a:pt x="338680" y="188213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40316" y="2868560"/>
            <a:ext cx="81406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Cambria"/>
                <a:cs typeface="Cambria"/>
              </a:rPr>
              <a:t>blue:</a:t>
            </a:r>
            <a:r>
              <a:rPr sz="1300" b="1" spc="475" dirty="0">
                <a:latin typeface="Cambria"/>
                <a:cs typeface="Cambria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15%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98229" y="3056774"/>
            <a:ext cx="1070610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1755" algn="ctr">
              <a:lnSpc>
                <a:spcPts val="1520"/>
              </a:lnSpc>
              <a:spcBef>
                <a:spcPts val="100"/>
              </a:spcBef>
            </a:pPr>
            <a:r>
              <a:rPr sz="1300" spc="70" dirty="0">
                <a:latin typeface="Times New Roman"/>
                <a:cs typeface="Times New Roman"/>
              </a:rPr>
              <a:t>red:</a:t>
            </a:r>
            <a:r>
              <a:rPr sz="1300" spc="409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18%</a:t>
            </a:r>
            <a:endParaRPr sz="1300">
              <a:latin typeface="Times New Roman"/>
              <a:cs typeface="Times New Roman"/>
            </a:endParaRPr>
          </a:p>
          <a:p>
            <a:pPr marR="74930" algn="ctr">
              <a:lnSpc>
                <a:spcPts val="1480"/>
              </a:lnSpc>
            </a:pPr>
            <a:r>
              <a:rPr sz="1300" spc="50" dirty="0">
                <a:latin typeface="Times New Roman"/>
                <a:cs typeface="Times New Roman"/>
              </a:rPr>
              <a:t>grass:</a:t>
            </a:r>
            <a:r>
              <a:rPr sz="1300" spc="4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0.04%</a:t>
            </a:r>
            <a:endParaRPr sz="1300">
              <a:latin typeface="Times New Roman"/>
              <a:cs typeface="Times New Roman"/>
            </a:endParaRPr>
          </a:p>
          <a:p>
            <a:pPr marR="146685" algn="ctr">
              <a:lnSpc>
                <a:spcPts val="1480"/>
              </a:lnSpc>
            </a:pPr>
            <a:r>
              <a:rPr sz="1300" dirty="0">
                <a:latin typeface="Times New Roman"/>
                <a:cs typeface="Times New Roman"/>
              </a:rPr>
              <a:t>grey:</a:t>
            </a:r>
            <a:r>
              <a:rPr sz="1300" spc="145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30%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50165" algn="ctr">
              <a:lnSpc>
                <a:spcPts val="1520"/>
              </a:lnSpc>
            </a:pPr>
            <a:r>
              <a:rPr sz="1300" spc="70" dirty="0">
                <a:latin typeface="Times New Roman"/>
                <a:cs typeface="Times New Roman"/>
              </a:rPr>
              <a:t>pear: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0.003%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62787" y="3522162"/>
            <a:ext cx="407034" cy="203200"/>
            <a:chOff x="4462787" y="3522162"/>
            <a:chExt cx="407034" cy="203200"/>
          </a:xfrm>
        </p:grpSpPr>
        <p:sp>
          <p:nvSpPr>
            <p:cNvPr id="30" name="object 30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35556" y="4642415"/>
            <a:ext cx="73914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rankings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3225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216054" y="1823399"/>
                </a:moveTo>
                <a:lnTo>
                  <a:pt x="166515" y="1817693"/>
                </a:lnTo>
                <a:lnTo>
                  <a:pt x="121039" y="1801439"/>
                </a:lnTo>
                <a:lnTo>
                  <a:pt x="80923" y="1775935"/>
                </a:lnTo>
                <a:lnTo>
                  <a:pt x="47464" y="1742476"/>
                </a:lnTo>
                <a:lnTo>
                  <a:pt x="21960" y="1702360"/>
                </a:lnTo>
                <a:lnTo>
                  <a:pt x="5706" y="1656885"/>
                </a:lnTo>
                <a:lnTo>
                  <a:pt x="0" y="1607345"/>
                </a:lnTo>
                <a:lnTo>
                  <a:pt x="0" y="216054"/>
                </a:lnTo>
                <a:lnTo>
                  <a:pt x="5706" y="166515"/>
                </a:lnTo>
                <a:lnTo>
                  <a:pt x="21960" y="121039"/>
                </a:lnTo>
                <a:lnTo>
                  <a:pt x="47464" y="80923"/>
                </a:lnTo>
                <a:lnTo>
                  <a:pt x="80923" y="47464"/>
                </a:lnTo>
                <a:lnTo>
                  <a:pt x="121039" y="21960"/>
                </a:lnTo>
                <a:lnTo>
                  <a:pt x="166515" y="5706"/>
                </a:lnTo>
                <a:lnTo>
                  <a:pt x="21605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3470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0" y="0"/>
                </a:moveTo>
                <a:lnTo>
                  <a:pt x="42346" y="4189"/>
                </a:lnTo>
                <a:lnTo>
                  <a:pt x="82680" y="16446"/>
                </a:lnTo>
                <a:lnTo>
                  <a:pt x="119867" y="36299"/>
                </a:lnTo>
                <a:lnTo>
                  <a:pt x="152773" y="63280"/>
                </a:lnTo>
                <a:lnTo>
                  <a:pt x="179754" y="96187"/>
                </a:lnTo>
                <a:lnTo>
                  <a:pt x="199608" y="133373"/>
                </a:lnTo>
                <a:lnTo>
                  <a:pt x="211864" y="173707"/>
                </a:lnTo>
                <a:lnTo>
                  <a:pt x="216054" y="216054"/>
                </a:lnTo>
                <a:lnTo>
                  <a:pt x="216054" y="1607345"/>
                </a:lnTo>
                <a:lnTo>
                  <a:pt x="210348" y="1656885"/>
                </a:lnTo>
                <a:lnTo>
                  <a:pt x="194094" y="1702360"/>
                </a:lnTo>
                <a:lnTo>
                  <a:pt x="168589" y="1742476"/>
                </a:lnTo>
                <a:lnTo>
                  <a:pt x="135130" y="1775935"/>
                </a:lnTo>
                <a:lnTo>
                  <a:pt x="95015" y="1801439"/>
                </a:lnTo>
                <a:lnTo>
                  <a:pt x="49539" y="1817693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90986" y="2680346"/>
            <a:ext cx="8128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Bob: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spc="-20" dirty="0">
                <a:latin typeface="Times New Roman"/>
                <a:cs typeface="Times New Roman"/>
              </a:rPr>
              <a:t>0.1%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63075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113902" y="1823399"/>
                </a:moveTo>
                <a:lnTo>
                  <a:pt x="69566" y="1814448"/>
                </a:lnTo>
                <a:lnTo>
                  <a:pt x="33361" y="1790038"/>
                </a:lnTo>
                <a:lnTo>
                  <a:pt x="8951" y="1753833"/>
                </a:lnTo>
                <a:lnTo>
                  <a:pt x="0" y="1709497"/>
                </a:lnTo>
                <a:lnTo>
                  <a:pt x="0" y="113902"/>
                </a:lnTo>
                <a:lnTo>
                  <a:pt x="8951" y="69566"/>
                </a:lnTo>
                <a:lnTo>
                  <a:pt x="33361" y="33361"/>
                </a:lnTo>
                <a:lnTo>
                  <a:pt x="69566" y="8950"/>
                </a:lnTo>
                <a:lnTo>
                  <a:pt x="113902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2572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0" y="0"/>
                </a:moveTo>
                <a:lnTo>
                  <a:pt x="22325" y="2208"/>
                </a:lnTo>
                <a:lnTo>
                  <a:pt x="43588" y="8670"/>
                </a:lnTo>
                <a:lnTo>
                  <a:pt x="80541" y="33361"/>
                </a:lnTo>
                <a:lnTo>
                  <a:pt x="105232" y="70313"/>
                </a:lnTo>
                <a:lnTo>
                  <a:pt x="113902" y="113902"/>
                </a:lnTo>
                <a:lnTo>
                  <a:pt x="113902" y="1709497"/>
                </a:lnTo>
                <a:lnTo>
                  <a:pt x="104951" y="1753833"/>
                </a:lnTo>
                <a:lnTo>
                  <a:pt x="80541" y="1790038"/>
                </a:lnTo>
                <a:lnTo>
                  <a:pt x="44336" y="1814448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50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43748" y="1180605"/>
            <a:ext cx="765746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cloze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statement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queries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model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missing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token,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b="1" spc="-35" dirty="0">
                <a:latin typeface="Book Antiqua"/>
                <a:cs typeface="Book Antiqua"/>
              </a:rPr>
              <a:t>knowledgeable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0" dirty="0">
                <a:latin typeface="Book Antiqua"/>
                <a:cs typeface="Book Antiqua"/>
              </a:rPr>
              <a:t>LMs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rank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" dirty="0">
                <a:latin typeface="Book Antiqua"/>
                <a:cs typeface="Book Antiqua"/>
              </a:rPr>
              <a:t>ground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truth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0" dirty="0">
                <a:latin typeface="Book Antiqua"/>
                <a:cs typeface="Book Antiqua"/>
              </a:rPr>
              <a:t>tokens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5" dirty="0">
                <a:latin typeface="Book Antiqua"/>
                <a:cs typeface="Book Antiqua"/>
              </a:rPr>
              <a:t>high</a:t>
            </a:r>
            <a:r>
              <a:rPr sz="1800" b="1" spc="-40" dirty="0">
                <a:latin typeface="Book Antiqua"/>
                <a:cs typeface="Book Antiqua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tokens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lower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35070" y="2118698"/>
            <a:ext cx="2849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1729" y="2680346"/>
            <a:ext cx="346710" cy="4121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9530" marR="5080" indent="-37465">
              <a:lnSpc>
                <a:spcPts val="1480"/>
              </a:lnSpc>
              <a:spcBef>
                <a:spcPts val="215"/>
              </a:spcBef>
            </a:pPr>
            <a:r>
              <a:rPr sz="1300" spc="-20" dirty="0">
                <a:latin typeface="Times New Roman"/>
                <a:cs typeface="Times New Roman"/>
              </a:rPr>
              <a:t>grey </a:t>
            </a:r>
            <a:r>
              <a:rPr sz="1300" spc="65" dirty="0">
                <a:latin typeface="Times New Roman"/>
                <a:cs typeface="Times New Roman"/>
              </a:rPr>
              <a:t>red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5434" y="3084003"/>
            <a:ext cx="351790" cy="188595"/>
          </a:xfrm>
          <a:prstGeom prst="rect">
            <a:avLst/>
          </a:prstGeom>
          <a:solidFill>
            <a:srgbClr val="B6D7A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5"/>
              </a:lnSpc>
            </a:pPr>
            <a:r>
              <a:rPr sz="1300" b="1" spc="-20" dirty="0">
                <a:latin typeface="Cambria"/>
                <a:cs typeface="Cambria"/>
              </a:rPr>
              <a:t>blue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01690" y="3244988"/>
            <a:ext cx="40640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20"/>
              </a:lnSpc>
              <a:spcBef>
                <a:spcPts val="100"/>
              </a:spcBef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12700" marR="5080" indent="46355" algn="just">
              <a:lnSpc>
                <a:spcPts val="1480"/>
              </a:lnSpc>
              <a:spcBef>
                <a:spcPts val="75"/>
              </a:spcBef>
            </a:pPr>
            <a:r>
              <a:rPr sz="1300" spc="-25" dirty="0">
                <a:latin typeface="Times New Roman"/>
                <a:cs typeface="Times New Roman"/>
              </a:rPr>
              <a:t>Bob </a:t>
            </a:r>
            <a:r>
              <a:rPr sz="1300" spc="40" dirty="0">
                <a:latin typeface="Times New Roman"/>
                <a:cs typeface="Times New Roman"/>
              </a:rPr>
              <a:t>grass </a:t>
            </a:r>
            <a:r>
              <a:rPr sz="1300" spc="65" dirty="0">
                <a:latin typeface="Times New Roman"/>
                <a:cs typeface="Times New Roman"/>
              </a:rPr>
              <a:t>pear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5800" y="4649665"/>
            <a:ext cx="147891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solidFill>
                  <a:srgbClr val="595959"/>
                </a:solidFill>
                <a:latin typeface="Cambria"/>
                <a:cs typeface="Cambria"/>
              </a:rPr>
              <a:t>probability</a:t>
            </a:r>
            <a:r>
              <a:rPr sz="1350" b="1" spc="8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scores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1787" y="3239512"/>
            <a:ext cx="1426210" cy="780415"/>
            <a:chOff x="581787" y="3239512"/>
            <a:chExt cx="1426210" cy="780415"/>
          </a:xfrm>
        </p:grpSpPr>
        <p:sp>
          <p:nvSpPr>
            <p:cNvPr id="18" name="object 18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1272147" y="751499"/>
                  </a:move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0" y="125252"/>
                  </a:move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close/>
                </a:path>
              </a:pathLst>
            </a:custGeom>
            <a:ln w="2857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7887" y="340018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6195" marR="5080" indent="-2413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#2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62412" y="2223762"/>
            <a:ext cx="1244600" cy="939800"/>
            <a:chOff x="1262412" y="2223762"/>
            <a:chExt cx="1244600" cy="939800"/>
          </a:xfrm>
        </p:grpSpPr>
        <p:sp>
          <p:nvSpPr>
            <p:cNvPr id="22" name="object 22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10042" y="829950"/>
                  </a:moveTo>
                  <a:lnTo>
                    <a:pt x="40152" y="829950"/>
                  </a:lnTo>
                  <a:lnTo>
                    <a:pt x="40152" y="374827"/>
                  </a:lnTo>
                  <a:lnTo>
                    <a:pt x="43073" y="327809"/>
                  </a:lnTo>
                  <a:lnTo>
                    <a:pt x="51600" y="282534"/>
                  </a:lnTo>
                  <a:lnTo>
                    <a:pt x="65382" y="239354"/>
                  </a:lnTo>
                  <a:lnTo>
                    <a:pt x="84069" y="198618"/>
                  </a:lnTo>
                  <a:lnTo>
                    <a:pt x="107309" y="160680"/>
                  </a:lnTo>
                  <a:lnTo>
                    <a:pt x="134750" y="125889"/>
                  </a:lnTo>
                  <a:lnTo>
                    <a:pt x="166042" y="94597"/>
                  </a:lnTo>
                  <a:lnTo>
                    <a:pt x="200833" y="67156"/>
                  </a:lnTo>
                  <a:lnTo>
                    <a:pt x="238771" y="43916"/>
                  </a:lnTo>
                  <a:lnTo>
                    <a:pt x="279507" y="25230"/>
                  </a:lnTo>
                  <a:lnTo>
                    <a:pt x="322687" y="11447"/>
                  </a:lnTo>
                  <a:lnTo>
                    <a:pt x="367962" y="2920"/>
                  </a:lnTo>
                  <a:lnTo>
                    <a:pt x="414979" y="0"/>
                  </a:lnTo>
                  <a:lnTo>
                    <a:pt x="1234799" y="0"/>
                  </a:lnTo>
                  <a:lnTo>
                    <a:pt x="1234799" y="69889"/>
                  </a:lnTo>
                  <a:lnTo>
                    <a:pt x="414979" y="69889"/>
                  </a:lnTo>
                  <a:lnTo>
                    <a:pt x="365517" y="73880"/>
                  </a:lnTo>
                  <a:lnTo>
                    <a:pt x="318596" y="85435"/>
                  </a:lnTo>
                  <a:lnTo>
                    <a:pt x="274843" y="103926"/>
                  </a:lnTo>
                  <a:lnTo>
                    <a:pt x="234887" y="128724"/>
                  </a:lnTo>
                  <a:lnTo>
                    <a:pt x="199356" y="159203"/>
                  </a:lnTo>
                  <a:lnTo>
                    <a:pt x="168877" y="194734"/>
                  </a:lnTo>
                  <a:lnTo>
                    <a:pt x="144078" y="234690"/>
                  </a:lnTo>
                  <a:lnTo>
                    <a:pt x="125588" y="278443"/>
                  </a:lnTo>
                  <a:lnTo>
                    <a:pt x="114033" y="325364"/>
                  </a:lnTo>
                  <a:lnTo>
                    <a:pt x="110042" y="374827"/>
                  </a:lnTo>
                  <a:lnTo>
                    <a:pt x="110042" y="829950"/>
                  </a:lnTo>
                  <a:close/>
                </a:path>
                <a:path w="1235075" h="930275">
                  <a:moveTo>
                    <a:pt x="75097" y="929999"/>
                  </a:moveTo>
                  <a:lnTo>
                    <a:pt x="0" y="829950"/>
                  </a:lnTo>
                  <a:lnTo>
                    <a:pt x="150194" y="829950"/>
                  </a:lnTo>
                  <a:lnTo>
                    <a:pt x="75097" y="929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234799" y="0"/>
                  </a:moveTo>
                  <a:lnTo>
                    <a:pt x="414979" y="0"/>
                  </a:lnTo>
                  <a:lnTo>
                    <a:pt x="367962" y="2920"/>
                  </a:lnTo>
                  <a:lnTo>
                    <a:pt x="322687" y="11447"/>
                  </a:lnTo>
                  <a:lnTo>
                    <a:pt x="279507" y="25230"/>
                  </a:lnTo>
                  <a:lnTo>
                    <a:pt x="238771" y="43916"/>
                  </a:lnTo>
                  <a:lnTo>
                    <a:pt x="200833" y="67156"/>
                  </a:lnTo>
                  <a:lnTo>
                    <a:pt x="166042" y="94597"/>
                  </a:lnTo>
                  <a:lnTo>
                    <a:pt x="134750" y="125889"/>
                  </a:lnTo>
                  <a:lnTo>
                    <a:pt x="107309" y="160680"/>
                  </a:lnTo>
                  <a:lnTo>
                    <a:pt x="84069" y="198618"/>
                  </a:lnTo>
                  <a:lnTo>
                    <a:pt x="65382" y="239354"/>
                  </a:lnTo>
                  <a:lnTo>
                    <a:pt x="51600" y="282534"/>
                  </a:lnTo>
                  <a:lnTo>
                    <a:pt x="43073" y="327809"/>
                  </a:lnTo>
                  <a:lnTo>
                    <a:pt x="40152" y="374827"/>
                  </a:lnTo>
                  <a:lnTo>
                    <a:pt x="40152" y="829950"/>
                  </a:lnTo>
                  <a:lnTo>
                    <a:pt x="0" y="829950"/>
                  </a:lnTo>
                  <a:lnTo>
                    <a:pt x="75097" y="929999"/>
                  </a:lnTo>
                  <a:lnTo>
                    <a:pt x="150194" y="829950"/>
                  </a:lnTo>
                  <a:lnTo>
                    <a:pt x="110042" y="829950"/>
                  </a:lnTo>
                  <a:lnTo>
                    <a:pt x="110042" y="374827"/>
                  </a:lnTo>
                  <a:lnTo>
                    <a:pt x="114033" y="325364"/>
                  </a:lnTo>
                  <a:lnTo>
                    <a:pt x="125588" y="278443"/>
                  </a:lnTo>
                  <a:lnTo>
                    <a:pt x="144078" y="234690"/>
                  </a:lnTo>
                  <a:lnTo>
                    <a:pt x="168877" y="194734"/>
                  </a:lnTo>
                  <a:lnTo>
                    <a:pt x="199356" y="159203"/>
                  </a:lnTo>
                  <a:lnTo>
                    <a:pt x="234887" y="128724"/>
                  </a:lnTo>
                  <a:lnTo>
                    <a:pt x="274843" y="103926"/>
                  </a:lnTo>
                  <a:lnTo>
                    <a:pt x="318596" y="85435"/>
                  </a:lnTo>
                  <a:lnTo>
                    <a:pt x="365517" y="73880"/>
                  </a:lnTo>
                  <a:lnTo>
                    <a:pt x="414979" y="69889"/>
                  </a:lnTo>
                  <a:lnTo>
                    <a:pt x="1234799" y="69889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229837" y="3522162"/>
            <a:ext cx="407034" cy="203200"/>
            <a:chOff x="2229837" y="3522162"/>
            <a:chExt cx="407034" cy="203200"/>
          </a:xfrm>
        </p:grpSpPr>
        <p:sp>
          <p:nvSpPr>
            <p:cNvPr id="25" name="object 25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3053016" y="2895789"/>
            <a:ext cx="339090" cy="188595"/>
          </a:xfrm>
          <a:custGeom>
            <a:avLst/>
            <a:gdLst/>
            <a:ahLst/>
            <a:cxnLst/>
            <a:rect l="l" t="t" r="r" b="b"/>
            <a:pathLst>
              <a:path w="339089" h="188594">
                <a:moveTo>
                  <a:pt x="338680" y="188213"/>
                </a:moveTo>
                <a:lnTo>
                  <a:pt x="0" y="188213"/>
                </a:lnTo>
                <a:lnTo>
                  <a:pt x="0" y="0"/>
                </a:lnTo>
                <a:lnTo>
                  <a:pt x="338680" y="0"/>
                </a:lnTo>
                <a:lnTo>
                  <a:pt x="338680" y="188213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040316" y="2868560"/>
            <a:ext cx="81406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Cambria"/>
                <a:cs typeface="Cambria"/>
              </a:rPr>
              <a:t>blue:</a:t>
            </a:r>
            <a:r>
              <a:rPr sz="1300" b="1" spc="475" dirty="0">
                <a:latin typeface="Cambria"/>
                <a:cs typeface="Cambria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15%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98229" y="3056774"/>
            <a:ext cx="1070610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1755" algn="ctr">
              <a:lnSpc>
                <a:spcPts val="1520"/>
              </a:lnSpc>
              <a:spcBef>
                <a:spcPts val="100"/>
              </a:spcBef>
            </a:pPr>
            <a:r>
              <a:rPr sz="1300" spc="70" dirty="0">
                <a:latin typeface="Times New Roman"/>
                <a:cs typeface="Times New Roman"/>
              </a:rPr>
              <a:t>red:</a:t>
            </a:r>
            <a:r>
              <a:rPr sz="1300" spc="409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18%</a:t>
            </a:r>
            <a:endParaRPr sz="1300">
              <a:latin typeface="Times New Roman"/>
              <a:cs typeface="Times New Roman"/>
            </a:endParaRPr>
          </a:p>
          <a:p>
            <a:pPr marR="74930" algn="ctr">
              <a:lnSpc>
                <a:spcPts val="1480"/>
              </a:lnSpc>
            </a:pPr>
            <a:r>
              <a:rPr sz="1300" spc="50" dirty="0">
                <a:latin typeface="Times New Roman"/>
                <a:cs typeface="Times New Roman"/>
              </a:rPr>
              <a:t>grass:</a:t>
            </a:r>
            <a:r>
              <a:rPr sz="1300" spc="4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0.04%</a:t>
            </a:r>
            <a:endParaRPr sz="1300">
              <a:latin typeface="Times New Roman"/>
              <a:cs typeface="Times New Roman"/>
            </a:endParaRPr>
          </a:p>
          <a:p>
            <a:pPr marR="146685" algn="ctr">
              <a:lnSpc>
                <a:spcPts val="1480"/>
              </a:lnSpc>
            </a:pPr>
            <a:r>
              <a:rPr sz="1300" dirty="0">
                <a:latin typeface="Times New Roman"/>
                <a:cs typeface="Times New Roman"/>
              </a:rPr>
              <a:t>grey:</a:t>
            </a:r>
            <a:r>
              <a:rPr sz="1300" spc="145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30%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50165" algn="ctr">
              <a:lnSpc>
                <a:spcPts val="1520"/>
              </a:lnSpc>
            </a:pPr>
            <a:r>
              <a:rPr sz="1300" spc="70" dirty="0">
                <a:latin typeface="Times New Roman"/>
                <a:cs typeface="Times New Roman"/>
              </a:rPr>
              <a:t>pear: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0.003%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62787" y="3522162"/>
            <a:ext cx="407034" cy="203200"/>
            <a:chOff x="4462787" y="3522162"/>
            <a:chExt cx="407034" cy="203200"/>
          </a:xfrm>
        </p:grpSpPr>
        <p:sp>
          <p:nvSpPr>
            <p:cNvPr id="31" name="object 31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135556" y="4642415"/>
            <a:ext cx="73914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rankings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92783" y="2137666"/>
            <a:ext cx="195961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20" dirty="0">
                <a:latin typeface="Cambria"/>
                <a:cs typeface="Cambria"/>
              </a:rPr>
              <a:t>P@</a:t>
            </a:r>
            <a:r>
              <a:rPr sz="1350" b="1" spc="-2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r>
              <a:rPr sz="1350" b="1" spc="-20" dirty="0">
                <a:latin typeface="Cambria"/>
                <a:cs typeface="Cambria"/>
              </a:rPr>
              <a:t>: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precision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at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E69137"/>
                </a:solidFill>
                <a:latin typeface="Cambria"/>
                <a:cs typeface="Cambria"/>
              </a:rPr>
              <a:t>rank</a:t>
            </a:r>
            <a:r>
              <a:rPr sz="1350" b="1" spc="-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350" b="1" spc="-5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3225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216054" y="1823399"/>
                </a:moveTo>
                <a:lnTo>
                  <a:pt x="166515" y="1817693"/>
                </a:lnTo>
                <a:lnTo>
                  <a:pt x="121039" y="1801439"/>
                </a:lnTo>
                <a:lnTo>
                  <a:pt x="80923" y="1775935"/>
                </a:lnTo>
                <a:lnTo>
                  <a:pt x="47464" y="1742476"/>
                </a:lnTo>
                <a:lnTo>
                  <a:pt x="21960" y="1702360"/>
                </a:lnTo>
                <a:lnTo>
                  <a:pt x="5706" y="1656885"/>
                </a:lnTo>
                <a:lnTo>
                  <a:pt x="0" y="1607345"/>
                </a:lnTo>
                <a:lnTo>
                  <a:pt x="0" y="216054"/>
                </a:lnTo>
                <a:lnTo>
                  <a:pt x="5706" y="166515"/>
                </a:lnTo>
                <a:lnTo>
                  <a:pt x="21960" y="121039"/>
                </a:lnTo>
                <a:lnTo>
                  <a:pt x="47464" y="80923"/>
                </a:lnTo>
                <a:lnTo>
                  <a:pt x="80923" y="47464"/>
                </a:lnTo>
                <a:lnTo>
                  <a:pt x="121039" y="21960"/>
                </a:lnTo>
                <a:lnTo>
                  <a:pt x="166515" y="5706"/>
                </a:lnTo>
                <a:lnTo>
                  <a:pt x="21605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3470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0" y="0"/>
                </a:moveTo>
                <a:lnTo>
                  <a:pt x="42346" y="4189"/>
                </a:lnTo>
                <a:lnTo>
                  <a:pt x="82680" y="16446"/>
                </a:lnTo>
                <a:lnTo>
                  <a:pt x="119867" y="36299"/>
                </a:lnTo>
                <a:lnTo>
                  <a:pt x="152773" y="63280"/>
                </a:lnTo>
                <a:lnTo>
                  <a:pt x="179754" y="96187"/>
                </a:lnTo>
                <a:lnTo>
                  <a:pt x="199608" y="133373"/>
                </a:lnTo>
                <a:lnTo>
                  <a:pt x="211864" y="173707"/>
                </a:lnTo>
                <a:lnTo>
                  <a:pt x="216054" y="216054"/>
                </a:lnTo>
                <a:lnTo>
                  <a:pt x="216054" y="1607345"/>
                </a:lnTo>
                <a:lnTo>
                  <a:pt x="210348" y="1656885"/>
                </a:lnTo>
                <a:lnTo>
                  <a:pt x="194094" y="1702360"/>
                </a:lnTo>
                <a:lnTo>
                  <a:pt x="168589" y="1742476"/>
                </a:lnTo>
                <a:lnTo>
                  <a:pt x="135130" y="1775935"/>
                </a:lnTo>
                <a:lnTo>
                  <a:pt x="95015" y="1801439"/>
                </a:lnTo>
                <a:lnTo>
                  <a:pt x="49539" y="1817693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90986" y="2680346"/>
            <a:ext cx="8128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Bob: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spc="-20" dirty="0">
                <a:latin typeface="Times New Roman"/>
                <a:cs typeface="Times New Roman"/>
              </a:rPr>
              <a:t>0.1%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63075" y="2660250"/>
            <a:ext cx="683895" cy="1823720"/>
          </a:xfrm>
          <a:custGeom>
            <a:avLst/>
            <a:gdLst/>
            <a:ahLst/>
            <a:cxnLst/>
            <a:rect l="l" t="t" r="r" b="b"/>
            <a:pathLst>
              <a:path w="683895" h="1823720">
                <a:moveTo>
                  <a:pt x="113902" y="1823399"/>
                </a:moveTo>
                <a:lnTo>
                  <a:pt x="69566" y="1814448"/>
                </a:lnTo>
                <a:lnTo>
                  <a:pt x="33361" y="1790038"/>
                </a:lnTo>
                <a:lnTo>
                  <a:pt x="8951" y="1753833"/>
                </a:lnTo>
                <a:lnTo>
                  <a:pt x="0" y="1709497"/>
                </a:lnTo>
                <a:lnTo>
                  <a:pt x="0" y="113902"/>
                </a:lnTo>
                <a:lnTo>
                  <a:pt x="8951" y="69566"/>
                </a:lnTo>
                <a:lnTo>
                  <a:pt x="33361" y="33361"/>
                </a:lnTo>
                <a:lnTo>
                  <a:pt x="69566" y="8950"/>
                </a:lnTo>
                <a:lnTo>
                  <a:pt x="113902" y="0"/>
                </a:lnTo>
              </a:path>
              <a:path w="683895" h="1823720">
                <a:moveTo>
                  <a:pt x="569497" y="0"/>
                </a:moveTo>
                <a:lnTo>
                  <a:pt x="591822" y="2208"/>
                </a:lnTo>
                <a:lnTo>
                  <a:pt x="613086" y="8670"/>
                </a:lnTo>
                <a:lnTo>
                  <a:pt x="650038" y="33361"/>
                </a:lnTo>
                <a:lnTo>
                  <a:pt x="674729" y="70313"/>
                </a:lnTo>
                <a:lnTo>
                  <a:pt x="683399" y="113902"/>
                </a:lnTo>
                <a:lnTo>
                  <a:pt x="683399" y="1709497"/>
                </a:lnTo>
                <a:lnTo>
                  <a:pt x="674448" y="1753833"/>
                </a:lnTo>
                <a:lnTo>
                  <a:pt x="650038" y="1790038"/>
                </a:lnTo>
                <a:lnTo>
                  <a:pt x="613833" y="1814448"/>
                </a:lnTo>
                <a:lnTo>
                  <a:pt x="569497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51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3748" y="1180605"/>
            <a:ext cx="765746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cloze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statement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queries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model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missing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token,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b="1" spc="-35" dirty="0">
                <a:latin typeface="Book Antiqua"/>
                <a:cs typeface="Book Antiqua"/>
              </a:rPr>
              <a:t>knowledgeable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0" dirty="0">
                <a:latin typeface="Book Antiqua"/>
                <a:cs typeface="Book Antiqua"/>
              </a:rPr>
              <a:t>LMs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rank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" dirty="0">
                <a:latin typeface="Book Antiqua"/>
                <a:cs typeface="Book Antiqua"/>
              </a:rPr>
              <a:t>ground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truth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0" dirty="0">
                <a:latin typeface="Book Antiqua"/>
                <a:cs typeface="Book Antiqua"/>
              </a:rPr>
              <a:t>tokens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5" dirty="0">
                <a:latin typeface="Book Antiqua"/>
                <a:cs typeface="Book Antiqua"/>
              </a:rPr>
              <a:t>high</a:t>
            </a:r>
            <a:r>
              <a:rPr sz="1800" b="1" spc="-40" dirty="0">
                <a:latin typeface="Book Antiqua"/>
                <a:cs typeface="Book Antiqua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tokens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lower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35070" y="2118698"/>
            <a:ext cx="2849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1729" y="2680346"/>
            <a:ext cx="346710" cy="4121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9530" marR="5080" indent="-37465">
              <a:lnSpc>
                <a:spcPts val="1480"/>
              </a:lnSpc>
              <a:spcBef>
                <a:spcPts val="215"/>
              </a:spcBef>
            </a:pPr>
            <a:r>
              <a:rPr sz="1300" spc="-20" dirty="0">
                <a:latin typeface="Times New Roman"/>
                <a:cs typeface="Times New Roman"/>
              </a:rPr>
              <a:t>grey </a:t>
            </a:r>
            <a:r>
              <a:rPr sz="1300" spc="65" dirty="0">
                <a:latin typeface="Times New Roman"/>
                <a:cs typeface="Times New Roman"/>
              </a:rPr>
              <a:t>red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5434" y="3084003"/>
            <a:ext cx="351790" cy="188595"/>
          </a:xfrm>
          <a:prstGeom prst="rect">
            <a:avLst/>
          </a:prstGeom>
          <a:solidFill>
            <a:srgbClr val="B6D7A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5"/>
              </a:lnSpc>
            </a:pPr>
            <a:r>
              <a:rPr sz="1300" b="1" spc="-20" dirty="0">
                <a:latin typeface="Cambria"/>
                <a:cs typeface="Cambria"/>
              </a:rPr>
              <a:t>blue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1690" y="3244988"/>
            <a:ext cx="40640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20"/>
              </a:lnSpc>
              <a:spcBef>
                <a:spcPts val="100"/>
              </a:spcBef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12700" marR="5080" indent="46355" algn="just">
              <a:lnSpc>
                <a:spcPts val="1480"/>
              </a:lnSpc>
              <a:spcBef>
                <a:spcPts val="75"/>
              </a:spcBef>
            </a:pPr>
            <a:r>
              <a:rPr sz="1300" spc="-25" dirty="0">
                <a:latin typeface="Times New Roman"/>
                <a:cs typeface="Times New Roman"/>
              </a:rPr>
              <a:t>Bob </a:t>
            </a:r>
            <a:r>
              <a:rPr sz="1300" spc="40" dirty="0">
                <a:latin typeface="Times New Roman"/>
                <a:cs typeface="Times New Roman"/>
              </a:rPr>
              <a:t>grass </a:t>
            </a:r>
            <a:r>
              <a:rPr sz="1300" spc="65" dirty="0">
                <a:latin typeface="Times New Roman"/>
                <a:cs typeface="Times New Roman"/>
              </a:rPr>
              <a:t>pear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5800" y="4649665"/>
            <a:ext cx="147891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solidFill>
                  <a:srgbClr val="595959"/>
                </a:solidFill>
                <a:latin typeface="Cambria"/>
                <a:cs typeface="Cambria"/>
              </a:rPr>
              <a:t>probability</a:t>
            </a:r>
            <a:r>
              <a:rPr sz="1350" b="1" spc="8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scores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787" y="3239512"/>
            <a:ext cx="1426210" cy="780415"/>
            <a:chOff x="581787" y="3239512"/>
            <a:chExt cx="1426210" cy="780415"/>
          </a:xfrm>
        </p:grpSpPr>
        <p:sp>
          <p:nvSpPr>
            <p:cNvPr id="17" name="object 17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1272147" y="751499"/>
                  </a:move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0" y="125252"/>
                  </a:move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close/>
                </a:path>
              </a:pathLst>
            </a:custGeom>
            <a:ln w="2857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7887" y="340018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6195" marR="5080" indent="-2413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#2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62412" y="2223762"/>
            <a:ext cx="1244600" cy="939800"/>
            <a:chOff x="1262412" y="2223762"/>
            <a:chExt cx="1244600" cy="939800"/>
          </a:xfrm>
        </p:grpSpPr>
        <p:sp>
          <p:nvSpPr>
            <p:cNvPr id="21" name="object 21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10042" y="829950"/>
                  </a:moveTo>
                  <a:lnTo>
                    <a:pt x="40152" y="829950"/>
                  </a:lnTo>
                  <a:lnTo>
                    <a:pt x="40152" y="374827"/>
                  </a:lnTo>
                  <a:lnTo>
                    <a:pt x="43073" y="327809"/>
                  </a:lnTo>
                  <a:lnTo>
                    <a:pt x="51600" y="282534"/>
                  </a:lnTo>
                  <a:lnTo>
                    <a:pt x="65382" y="239354"/>
                  </a:lnTo>
                  <a:lnTo>
                    <a:pt x="84069" y="198618"/>
                  </a:lnTo>
                  <a:lnTo>
                    <a:pt x="107309" y="160680"/>
                  </a:lnTo>
                  <a:lnTo>
                    <a:pt x="134750" y="125889"/>
                  </a:lnTo>
                  <a:lnTo>
                    <a:pt x="166042" y="94597"/>
                  </a:lnTo>
                  <a:lnTo>
                    <a:pt x="200833" y="67156"/>
                  </a:lnTo>
                  <a:lnTo>
                    <a:pt x="238771" y="43916"/>
                  </a:lnTo>
                  <a:lnTo>
                    <a:pt x="279507" y="25230"/>
                  </a:lnTo>
                  <a:lnTo>
                    <a:pt x="322687" y="11447"/>
                  </a:lnTo>
                  <a:lnTo>
                    <a:pt x="367962" y="2920"/>
                  </a:lnTo>
                  <a:lnTo>
                    <a:pt x="414979" y="0"/>
                  </a:lnTo>
                  <a:lnTo>
                    <a:pt x="1234799" y="0"/>
                  </a:lnTo>
                  <a:lnTo>
                    <a:pt x="1234799" y="69889"/>
                  </a:lnTo>
                  <a:lnTo>
                    <a:pt x="414979" y="69889"/>
                  </a:lnTo>
                  <a:lnTo>
                    <a:pt x="365517" y="73880"/>
                  </a:lnTo>
                  <a:lnTo>
                    <a:pt x="318596" y="85435"/>
                  </a:lnTo>
                  <a:lnTo>
                    <a:pt x="274843" y="103926"/>
                  </a:lnTo>
                  <a:lnTo>
                    <a:pt x="234887" y="128724"/>
                  </a:lnTo>
                  <a:lnTo>
                    <a:pt x="199356" y="159203"/>
                  </a:lnTo>
                  <a:lnTo>
                    <a:pt x="168877" y="194734"/>
                  </a:lnTo>
                  <a:lnTo>
                    <a:pt x="144078" y="234690"/>
                  </a:lnTo>
                  <a:lnTo>
                    <a:pt x="125588" y="278443"/>
                  </a:lnTo>
                  <a:lnTo>
                    <a:pt x="114033" y="325364"/>
                  </a:lnTo>
                  <a:lnTo>
                    <a:pt x="110042" y="374827"/>
                  </a:lnTo>
                  <a:lnTo>
                    <a:pt x="110042" y="829950"/>
                  </a:lnTo>
                  <a:close/>
                </a:path>
                <a:path w="1235075" h="930275">
                  <a:moveTo>
                    <a:pt x="75097" y="929999"/>
                  </a:moveTo>
                  <a:lnTo>
                    <a:pt x="0" y="829950"/>
                  </a:lnTo>
                  <a:lnTo>
                    <a:pt x="150194" y="829950"/>
                  </a:lnTo>
                  <a:lnTo>
                    <a:pt x="75097" y="929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234799" y="0"/>
                  </a:moveTo>
                  <a:lnTo>
                    <a:pt x="414979" y="0"/>
                  </a:lnTo>
                  <a:lnTo>
                    <a:pt x="367962" y="2920"/>
                  </a:lnTo>
                  <a:lnTo>
                    <a:pt x="322687" y="11447"/>
                  </a:lnTo>
                  <a:lnTo>
                    <a:pt x="279507" y="25230"/>
                  </a:lnTo>
                  <a:lnTo>
                    <a:pt x="238771" y="43916"/>
                  </a:lnTo>
                  <a:lnTo>
                    <a:pt x="200833" y="67156"/>
                  </a:lnTo>
                  <a:lnTo>
                    <a:pt x="166042" y="94597"/>
                  </a:lnTo>
                  <a:lnTo>
                    <a:pt x="134750" y="125889"/>
                  </a:lnTo>
                  <a:lnTo>
                    <a:pt x="107309" y="160680"/>
                  </a:lnTo>
                  <a:lnTo>
                    <a:pt x="84069" y="198618"/>
                  </a:lnTo>
                  <a:lnTo>
                    <a:pt x="65382" y="239354"/>
                  </a:lnTo>
                  <a:lnTo>
                    <a:pt x="51600" y="282534"/>
                  </a:lnTo>
                  <a:lnTo>
                    <a:pt x="43073" y="327809"/>
                  </a:lnTo>
                  <a:lnTo>
                    <a:pt x="40152" y="374827"/>
                  </a:lnTo>
                  <a:lnTo>
                    <a:pt x="40152" y="829950"/>
                  </a:lnTo>
                  <a:lnTo>
                    <a:pt x="0" y="829950"/>
                  </a:lnTo>
                  <a:lnTo>
                    <a:pt x="75097" y="929999"/>
                  </a:lnTo>
                  <a:lnTo>
                    <a:pt x="150194" y="829950"/>
                  </a:lnTo>
                  <a:lnTo>
                    <a:pt x="110042" y="829950"/>
                  </a:lnTo>
                  <a:lnTo>
                    <a:pt x="110042" y="374827"/>
                  </a:lnTo>
                  <a:lnTo>
                    <a:pt x="114033" y="325364"/>
                  </a:lnTo>
                  <a:lnTo>
                    <a:pt x="125588" y="278443"/>
                  </a:lnTo>
                  <a:lnTo>
                    <a:pt x="144078" y="234690"/>
                  </a:lnTo>
                  <a:lnTo>
                    <a:pt x="168877" y="194734"/>
                  </a:lnTo>
                  <a:lnTo>
                    <a:pt x="199356" y="159203"/>
                  </a:lnTo>
                  <a:lnTo>
                    <a:pt x="234887" y="128724"/>
                  </a:lnTo>
                  <a:lnTo>
                    <a:pt x="274843" y="103926"/>
                  </a:lnTo>
                  <a:lnTo>
                    <a:pt x="318596" y="85435"/>
                  </a:lnTo>
                  <a:lnTo>
                    <a:pt x="365517" y="73880"/>
                  </a:lnTo>
                  <a:lnTo>
                    <a:pt x="414979" y="69889"/>
                  </a:lnTo>
                  <a:lnTo>
                    <a:pt x="1234799" y="69889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229837" y="3522162"/>
            <a:ext cx="407034" cy="203200"/>
            <a:chOff x="2229837" y="3522162"/>
            <a:chExt cx="407034" cy="203200"/>
          </a:xfrm>
        </p:grpSpPr>
        <p:sp>
          <p:nvSpPr>
            <p:cNvPr id="24" name="object 24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3053016" y="2895789"/>
            <a:ext cx="339090" cy="188595"/>
          </a:xfrm>
          <a:custGeom>
            <a:avLst/>
            <a:gdLst/>
            <a:ahLst/>
            <a:cxnLst/>
            <a:rect l="l" t="t" r="r" b="b"/>
            <a:pathLst>
              <a:path w="339089" h="188594">
                <a:moveTo>
                  <a:pt x="338680" y="188213"/>
                </a:moveTo>
                <a:lnTo>
                  <a:pt x="0" y="188213"/>
                </a:lnTo>
                <a:lnTo>
                  <a:pt x="0" y="0"/>
                </a:lnTo>
                <a:lnTo>
                  <a:pt x="338680" y="0"/>
                </a:lnTo>
                <a:lnTo>
                  <a:pt x="338680" y="188213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40316" y="2868560"/>
            <a:ext cx="81406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Cambria"/>
                <a:cs typeface="Cambria"/>
              </a:rPr>
              <a:t>blue:</a:t>
            </a:r>
            <a:r>
              <a:rPr sz="1300" b="1" spc="475" dirty="0">
                <a:latin typeface="Cambria"/>
                <a:cs typeface="Cambria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15%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98229" y="3056774"/>
            <a:ext cx="1070610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1755" algn="ctr">
              <a:lnSpc>
                <a:spcPts val="1520"/>
              </a:lnSpc>
              <a:spcBef>
                <a:spcPts val="100"/>
              </a:spcBef>
            </a:pPr>
            <a:r>
              <a:rPr sz="1300" spc="70" dirty="0">
                <a:latin typeface="Times New Roman"/>
                <a:cs typeface="Times New Roman"/>
              </a:rPr>
              <a:t>red:</a:t>
            </a:r>
            <a:r>
              <a:rPr sz="1300" spc="409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18%</a:t>
            </a:r>
            <a:endParaRPr sz="1300">
              <a:latin typeface="Times New Roman"/>
              <a:cs typeface="Times New Roman"/>
            </a:endParaRPr>
          </a:p>
          <a:p>
            <a:pPr marR="74930" algn="ctr">
              <a:lnSpc>
                <a:spcPts val="1480"/>
              </a:lnSpc>
            </a:pPr>
            <a:r>
              <a:rPr sz="1300" spc="50" dirty="0">
                <a:latin typeface="Times New Roman"/>
                <a:cs typeface="Times New Roman"/>
              </a:rPr>
              <a:t>grass:</a:t>
            </a:r>
            <a:r>
              <a:rPr sz="1300" spc="4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0.04%</a:t>
            </a:r>
            <a:endParaRPr sz="1300">
              <a:latin typeface="Times New Roman"/>
              <a:cs typeface="Times New Roman"/>
            </a:endParaRPr>
          </a:p>
          <a:p>
            <a:pPr marR="146685" algn="ctr">
              <a:lnSpc>
                <a:spcPts val="1480"/>
              </a:lnSpc>
            </a:pPr>
            <a:r>
              <a:rPr sz="1300" dirty="0">
                <a:latin typeface="Times New Roman"/>
                <a:cs typeface="Times New Roman"/>
              </a:rPr>
              <a:t>grey:</a:t>
            </a:r>
            <a:r>
              <a:rPr sz="1300" spc="145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30%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50165" algn="ctr">
              <a:lnSpc>
                <a:spcPts val="1520"/>
              </a:lnSpc>
            </a:pPr>
            <a:r>
              <a:rPr sz="1300" spc="70" dirty="0">
                <a:latin typeface="Times New Roman"/>
                <a:cs typeface="Times New Roman"/>
              </a:rPr>
              <a:t>pear: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0.003%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62787" y="3522162"/>
            <a:ext cx="407034" cy="203200"/>
            <a:chOff x="4462787" y="3522162"/>
            <a:chExt cx="407034" cy="203200"/>
          </a:xfrm>
        </p:grpSpPr>
        <p:sp>
          <p:nvSpPr>
            <p:cNvPr id="30" name="object 30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35556" y="4642415"/>
            <a:ext cx="73914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rankings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92783" y="2137666"/>
            <a:ext cx="195961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20" dirty="0">
                <a:latin typeface="Cambria"/>
                <a:cs typeface="Cambria"/>
              </a:rPr>
              <a:t>P@</a:t>
            </a:r>
            <a:r>
              <a:rPr sz="1350" b="1" spc="-2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r>
              <a:rPr sz="1350" b="1" spc="-20" dirty="0">
                <a:latin typeface="Cambria"/>
                <a:cs typeface="Cambria"/>
              </a:rPr>
              <a:t>: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precision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at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E69137"/>
                </a:solidFill>
                <a:latin typeface="Cambria"/>
                <a:cs typeface="Cambria"/>
              </a:rPr>
              <a:t>rank</a:t>
            </a:r>
            <a:r>
              <a:rPr sz="1350" b="1" spc="-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350" b="1" spc="-5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216137" y="2716762"/>
            <a:ext cx="1386205" cy="222250"/>
            <a:chOff x="5216137" y="2716762"/>
            <a:chExt cx="1386205" cy="222250"/>
          </a:xfrm>
        </p:grpSpPr>
        <p:sp>
          <p:nvSpPr>
            <p:cNvPr id="35" name="object 35"/>
            <p:cNvSpPr/>
            <p:nvPr/>
          </p:nvSpPr>
          <p:spPr>
            <a:xfrm>
              <a:off x="5230424" y="2731049"/>
              <a:ext cx="549275" cy="193675"/>
            </a:xfrm>
            <a:custGeom>
              <a:avLst/>
              <a:gdLst/>
              <a:ahLst/>
              <a:cxnLst/>
              <a:rect l="l" t="t" r="r" b="b"/>
              <a:pathLst>
                <a:path w="549275" h="193675">
                  <a:moveTo>
                    <a:pt x="516499" y="193199"/>
                  </a:moveTo>
                  <a:lnTo>
                    <a:pt x="32200" y="193199"/>
                  </a:lnTo>
                  <a:lnTo>
                    <a:pt x="19666" y="190669"/>
                  </a:lnTo>
                  <a:lnTo>
                    <a:pt x="9431" y="183768"/>
                  </a:lnTo>
                  <a:lnTo>
                    <a:pt x="2530" y="173533"/>
                  </a:lnTo>
                  <a:lnTo>
                    <a:pt x="0" y="160999"/>
                  </a:lnTo>
                  <a:lnTo>
                    <a:pt x="0" y="32200"/>
                  </a:lnTo>
                  <a:lnTo>
                    <a:pt x="2530" y="19666"/>
                  </a:lnTo>
                  <a:lnTo>
                    <a:pt x="9431" y="9431"/>
                  </a:lnTo>
                  <a:lnTo>
                    <a:pt x="19666" y="2530"/>
                  </a:lnTo>
                  <a:lnTo>
                    <a:pt x="32200" y="0"/>
                  </a:lnTo>
                  <a:lnTo>
                    <a:pt x="525039" y="0"/>
                  </a:lnTo>
                  <a:lnTo>
                    <a:pt x="533229" y="3392"/>
                  </a:lnTo>
                  <a:lnTo>
                    <a:pt x="545307" y="15470"/>
                  </a:lnTo>
                  <a:lnTo>
                    <a:pt x="548699" y="23660"/>
                  </a:lnTo>
                  <a:lnTo>
                    <a:pt x="548699" y="160999"/>
                  </a:lnTo>
                  <a:lnTo>
                    <a:pt x="546169" y="173533"/>
                  </a:lnTo>
                  <a:lnTo>
                    <a:pt x="539268" y="183768"/>
                  </a:lnTo>
                  <a:lnTo>
                    <a:pt x="529033" y="190669"/>
                  </a:lnTo>
                  <a:lnTo>
                    <a:pt x="516499" y="1931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30424" y="2731049"/>
              <a:ext cx="549275" cy="193675"/>
            </a:xfrm>
            <a:custGeom>
              <a:avLst/>
              <a:gdLst/>
              <a:ahLst/>
              <a:cxnLst/>
              <a:rect l="l" t="t" r="r" b="b"/>
              <a:pathLst>
                <a:path w="549275" h="193675">
                  <a:moveTo>
                    <a:pt x="0" y="32200"/>
                  </a:moveTo>
                  <a:lnTo>
                    <a:pt x="2530" y="19666"/>
                  </a:lnTo>
                  <a:lnTo>
                    <a:pt x="9431" y="9431"/>
                  </a:lnTo>
                  <a:lnTo>
                    <a:pt x="19666" y="2530"/>
                  </a:lnTo>
                  <a:lnTo>
                    <a:pt x="32200" y="0"/>
                  </a:lnTo>
                  <a:lnTo>
                    <a:pt x="516499" y="0"/>
                  </a:lnTo>
                  <a:lnTo>
                    <a:pt x="525039" y="0"/>
                  </a:lnTo>
                  <a:lnTo>
                    <a:pt x="533229" y="3392"/>
                  </a:lnTo>
                  <a:lnTo>
                    <a:pt x="539268" y="9431"/>
                  </a:lnTo>
                  <a:lnTo>
                    <a:pt x="545307" y="15470"/>
                  </a:lnTo>
                  <a:lnTo>
                    <a:pt x="548699" y="23660"/>
                  </a:lnTo>
                  <a:lnTo>
                    <a:pt x="548699" y="32200"/>
                  </a:lnTo>
                  <a:lnTo>
                    <a:pt x="548699" y="160999"/>
                  </a:lnTo>
                  <a:lnTo>
                    <a:pt x="546169" y="173533"/>
                  </a:lnTo>
                  <a:lnTo>
                    <a:pt x="539268" y="183768"/>
                  </a:lnTo>
                  <a:lnTo>
                    <a:pt x="529033" y="190669"/>
                  </a:lnTo>
                  <a:lnTo>
                    <a:pt x="516499" y="193199"/>
                  </a:lnTo>
                  <a:lnTo>
                    <a:pt x="32200" y="193199"/>
                  </a:lnTo>
                  <a:lnTo>
                    <a:pt x="19666" y="190669"/>
                  </a:lnTo>
                  <a:lnTo>
                    <a:pt x="9431" y="183768"/>
                  </a:lnTo>
                  <a:lnTo>
                    <a:pt x="2530" y="173533"/>
                  </a:lnTo>
                  <a:lnTo>
                    <a:pt x="0" y="160999"/>
                  </a:lnTo>
                  <a:lnTo>
                    <a:pt x="0" y="32200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46599" y="2777999"/>
              <a:ext cx="751205" cy="99695"/>
            </a:xfrm>
            <a:custGeom>
              <a:avLst/>
              <a:gdLst/>
              <a:ahLst/>
              <a:cxnLst/>
              <a:rect l="l" t="t" r="r" b="b"/>
              <a:pathLst>
                <a:path w="751204" h="99694">
                  <a:moveTo>
                    <a:pt x="49649" y="99299"/>
                  </a:moveTo>
                  <a:lnTo>
                    <a:pt x="0" y="49649"/>
                  </a:lnTo>
                  <a:lnTo>
                    <a:pt x="49649" y="0"/>
                  </a:lnTo>
                  <a:lnTo>
                    <a:pt x="49649" y="24824"/>
                  </a:lnTo>
                  <a:lnTo>
                    <a:pt x="750899" y="24824"/>
                  </a:lnTo>
                  <a:lnTo>
                    <a:pt x="750899" y="74474"/>
                  </a:lnTo>
                  <a:lnTo>
                    <a:pt x="49649" y="74474"/>
                  </a:lnTo>
                  <a:lnTo>
                    <a:pt x="49649" y="992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46599" y="2777999"/>
              <a:ext cx="751205" cy="99695"/>
            </a:xfrm>
            <a:custGeom>
              <a:avLst/>
              <a:gdLst/>
              <a:ahLst/>
              <a:cxnLst/>
              <a:rect l="l" t="t" r="r" b="b"/>
              <a:pathLst>
                <a:path w="751204" h="99694">
                  <a:moveTo>
                    <a:pt x="750899" y="74474"/>
                  </a:moveTo>
                  <a:lnTo>
                    <a:pt x="49649" y="74474"/>
                  </a:lnTo>
                  <a:lnTo>
                    <a:pt x="49649" y="99299"/>
                  </a:lnTo>
                  <a:lnTo>
                    <a:pt x="0" y="49649"/>
                  </a:lnTo>
                  <a:lnTo>
                    <a:pt x="49649" y="0"/>
                  </a:lnTo>
                  <a:lnTo>
                    <a:pt x="49649" y="24824"/>
                  </a:lnTo>
                  <a:lnTo>
                    <a:pt x="750899" y="24824"/>
                  </a:lnTo>
                  <a:lnTo>
                    <a:pt x="750899" y="74474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006882" y="2639846"/>
            <a:ext cx="12674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No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80" dirty="0">
                <a:latin typeface="Times New Roman"/>
                <a:cs typeface="Times New Roman"/>
              </a:rPr>
              <a:t>ground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75" dirty="0">
                <a:latin typeface="Times New Roman"/>
                <a:cs typeface="Times New Roman"/>
              </a:rPr>
              <a:t>truth.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300" b="1" spc="-45" dirty="0">
                <a:latin typeface="Cambria"/>
                <a:cs typeface="Cambria"/>
              </a:rPr>
              <a:t>P@1</a:t>
            </a:r>
            <a:r>
              <a:rPr sz="1300" b="1" spc="-25" dirty="0">
                <a:latin typeface="Cambria"/>
                <a:cs typeface="Cambria"/>
              </a:rPr>
              <a:t> </a:t>
            </a:r>
            <a:r>
              <a:rPr sz="1300" b="1" spc="-70" dirty="0">
                <a:latin typeface="Cambria"/>
                <a:cs typeface="Cambria"/>
              </a:rPr>
              <a:t>=</a:t>
            </a:r>
            <a:r>
              <a:rPr sz="1300" b="1" spc="-10" dirty="0">
                <a:latin typeface="Cambria"/>
                <a:cs typeface="Cambria"/>
              </a:rPr>
              <a:t> </a:t>
            </a:r>
            <a:r>
              <a:rPr sz="1300" b="1" spc="-50" dirty="0">
                <a:latin typeface="Cambria"/>
                <a:cs typeface="Cambria"/>
              </a:rPr>
              <a:t>0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3225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216054" y="1823399"/>
                </a:moveTo>
                <a:lnTo>
                  <a:pt x="166515" y="1817693"/>
                </a:lnTo>
                <a:lnTo>
                  <a:pt x="121039" y="1801439"/>
                </a:lnTo>
                <a:lnTo>
                  <a:pt x="80923" y="1775935"/>
                </a:lnTo>
                <a:lnTo>
                  <a:pt x="47464" y="1742476"/>
                </a:lnTo>
                <a:lnTo>
                  <a:pt x="21960" y="1702360"/>
                </a:lnTo>
                <a:lnTo>
                  <a:pt x="5706" y="1656885"/>
                </a:lnTo>
                <a:lnTo>
                  <a:pt x="0" y="1607345"/>
                </a:lnTo>
                <a:lnTo>
                  <a:pt x="0" y="216054"/>
                </a:lnTo>
                <a:lnTo>
                  <a:pt x="5706" y="166515"/>
                </a:lnTo>
                <a:lnTo>
                  <a:pt x="21960" y="121039"/>
                </a:lnTo>
                <a:lnTo>
                  <a:pt x="47464" y="80923"/>
                </a:lnTo>
                <a:lnTo>
                  <a:pt x="80923" y="47464"/>
                </a:lnTo>
                <a:lnTo>
                  <a:pt x="121039" y="21960"/>
                </a:lnTo>
                <a:lnTo>
                  <a:pt x="166515" y="5706"/>
                </a:lnTo>
                <a:lnTo>
                  <a:pt x="21605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3470" y="2660250"/>
            <a:ext cx="216535" cy="1823720"/>
          </a:xfrm>
          <a:custGeom>
            <a:avLst/>
            <a:gdLst/>
            <a:ahLst/>
            <a:cxnLst/>
            <a:rect l="l" t="t" r="r" b="b"/>
            <a:pathLst>
              <a:path w="216535" h="1823720">
                <a:moveTo>
                  <a:pt x="0" y="0"/>
                </a:moveTo>
                <a:lnTo>
                  <a:pt x="42346" y="4189"/>
                </a:lnTo>
                <a:lnTo>
                  <a:pt x="82680" y="16446"/>
                </a:lnTo>
                <a:lnTo>
                  <a:pt x="119867" y="36299"/>
                </a:lnTo>
                <a:lnTo>
                  <a:pt x="152773" y="63280"/>
                </a:lnTo>
                <a:lnTo>
                  <a:pt x="179754" y="96187"/>
                </a:lnTo>
                <a:lnTo>
                  <a:pt x="199608" y="133373"/>
                </a:lnTo>
                <a:lnTo>
                  <a:pt x="211864" y="173707"/>
                </a:lnTo>
                <a:lnTo>
                  <a:pt x="216054" y="216054"/>
                </a:lnTo>
                <a:lnTo>
                  <a:pt x="216054" y="1607345"/>
                </a:lnTo>
                <a:lnTo>
                  <a:pt x="210348" y="1656885"/>
                </a:lnTo>
                <a:lnTo>
                  <a:pt x="194094" y="1702360"/>
                </a:lnTo>
                <a:lnTo>
                  <a:pt x="168589" y="1742476"/>
                </a:lnTo>
                <a:lnTo>
                  <a:pt x="135130" y="1775935"/>
                </a:lnTo>
                <a:lnTo>
                  <a:pt x="95015" y="1801439"/>
                </a:lnTo>
                <a:lnTo>
                  <a:pt x="49539" y="1817693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63075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113902" y="1823399"/>
                </a:moveTo>
                <a:lnTo>
                  <a:pt x="69566" y="1814448"/>
                </a:lnTo>
                <a:lnTo>
                  <a:pt x="33361" y="1790038"/>
                </a:lnTo>
                <a:lnTo>
                  <a:pt x="8951" y="1753833"/>
                </a:lnTo>
                <a:lnTo>
                  <a:pt x="0" y="1709497"/>
                </a:lnTo>
                <a:lnTo>
                  <a:pt x="0" y="113902"/>
                </a:lnTo>
                <a:lnTo>
                  <a:pt x="8951" y="69566"/>
                </a:lnTo>
                <a:lnTo>
                  <a:pt x="33361" y="33361"/>
                </a:lnTo>
                <a:lnTo>
                  <a:pt x="69566" y="8950"/>
                </a:lnTo>
                <a:lnTo>
                  <a:pt x="113902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2572" y="2660250"/>
            <a:ext cx="114300" cy="1823720"/>
          </a:xfrm>
          <a:custGeom>
            <a:avLst/>
            <a:gdLst/>
            <a:ahLst/>
            <a:cxnLst/>
            <a:rect l="l" t="t" r="r" b="b"/>
            <a:pathLst>
              <a:path w="114300" h="1823720">
                <a:moveTo>
                  <a:pt x="0" y="0"/>
                </a:moveTo>
                <a:lnTo>
                  <a:pt x="22325" y="2208"/>
                </a:lnTo>
                <a:lnTo>
                  <a:pt x="43588" y="8670"/>
                </a:lnTo>
                <a:lnTo>
                  <a:pt x="80541" y="33361"/>
                </a:lnTo>
                <a:lnTo>
                  <a:pt x="105232" y="70313"/>
                </a:lnTo>
                <a:lnTo>
                  <a:pt x="113902" y="113902"/>
                </a:lnTo>
                <a:lnTo>
                  <a:pt x="113902" y="1709497"/>
                </a:lnTo>
                <a:lnTo>
                  <a:pt x="104951" y="1753833"/>
                </a:lnTo>
                <a:lnTo>
                  <a:pt x="80541" y="1790038"/>
                </a:lnTo>
                <a:lnTo>
                  <a:pt x="44336" y="1814448"/>
                </a:lnTo>
                <a:lnTo>
                  <a:pt x="0" y="1823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24604" y="505350"/>
            <a:ext cx="3896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Evaluation</a:t>
            </a:r>
            <a:r>
              <a:rPr spc="-45" dirty="0"/>
              <a:t> </a:t>
            </a:r>
            <a:r>
              <a:rPr spc="80" dirty="0"/>
              <a:t>of</a:t>
            </a:r>
            <a:r>
              <a:rPr spc="-45" dirty="0"/>
              <a:t> </a:t>
            </a:r>
            <a:r>
              <a:rPr dirty="0"/>
              <a:t>LM</a:t>
            </a:r>
            <a:r>
              <a:rPr spc="-45" dirty="0"/>
              <a:t> </a:t>
            </a:r>
            <a:r>
              <a:rPr spc="70" dirty="0"/>
              <a:t>via</a:t>
            </a:r>
            <a:r>
              <a:rPr spc="-45" dirty="0"/>
              <a:t> </a:t>
            </a:r>
            <a:r>
              <a:rPr spc="-40" dirty="0"/>
              <a:t>LAMA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52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200" y="1017724"/>
            <a:ext cx="8608060" cy="922019"/>
          </a:xfrm>
          <a:custGeom>
            <a:avLst/>
            <a:gdLst/>
            <a:ahLst/>
            <a:cxnLst/>
            <a:rect l="l" t="t" r="r" b="b"/>
            <a:pathLst>
              <a:path w="8608060" h="922019">
                <a:moveTo>
                  <a:pt x="0" y="153652"/>
                </a:moveTo>
                <a:lnTo>
                  <a:pt x="7833" y="105086"/>
                </a:lnTo>
                <a:lnTo>
                  <a:pt x="29646" y="62907"/>
                </a:lnTo>
                <a:lnTo>
                  <a:pt x="62907" y="29646"/>
                </a:lnTo>
                <a:lnTo>
                  <a:pt x="105086" y="7833"/>
                </a:lnTo>
                <a:lnTo>
                  <a:pt x="153653" y="0"/>
                </a:lnTo>
                <a:lnTo>
                  <a:pt x="8453946" y="0"/>
                </a:lnTo>
                <a:lnTo>
                  <a:pt x="8512747" y="11696"/>
                </a:lnTo>
                <a:lnTo>
                  <a:pt x="8562595" y="45003"/>
                </a:lnTo>
                <a:lnTo>
                  <a:pt x="8595903" y="94852"/>
                </a:lnTo>
                <a:lnTo>
                  <a:pt x="8607599" y="153652"/>
                </a:lnTo>
                <a:lnTo>
                  <a:pt x="8607599" y="768246"/>
                </a:lnTo>
                <a:lnTo>
                  <a:pt x="8599766" y="816813"/>
                </a:lnTo>
                <a:lnTo>
                  <a:pt x="8577953" y="858992"/>
                </a:lnTo>
                <a:lnTo>
                  <a:pt x="8544692" y="892253"/>
                </a:lnTo>
                <a:lnTo>
                  <a:pt x="8502513" y="914066"/>
                </a:lnTo>
                <a:lnTo>
                  <a:pt x="8453946" y="921899"/>
                </a:lnTo>
                <a:lnTo>
                  <a:pt x="153653" y="921899"/>
                </a:lnTo>
                <a:lnTo>
                  <a:pt x="105086" y="914066"/>
                </a:lnTo>
                <a:lnTo>
                  <a:pt x="62907" y="892253"/>
                </a:lnTo>
                <a:lnTo>
                  <a:pt x="29646" y="858992"/>
                </a:lnTo>
                <a:lnTo>
                  <a:pt x="7833" y="816813"/>
                </a:lnTo>
                <a:lnTo>
                  <a:pt x="0" y="768246"/>
                </a:lnTo>
                <a:lnTo>
                  <a:pt x="0" y="153652"/>
                </a:lnTo>
                <a:close/>
              </a:path>
            </a:pathLst>
          </a:custGeom>
          <a:ln w="28574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3748" y="1180605"/>
            <a:ext cx="765746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cloze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statement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queries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model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missing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token,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b="1" spc="-35" dirty="0">
                <a:latin typeface="Book Antiqua"/>
                <a:cs typeface="Book Antiqua"/>
              </a:rPr>
              <a:t>knowledgeable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0" dirty="0">
                <a:latin typeface="Book Antiqua"/>
                <a:cs typeface="Book Antiqua"/>
              </a:rPr>
              <a:t>LMs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rank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10" dirty="0">
                <a:latin typeface="Book Antiqua"/>
                <a:cs typeface="Book Antiqua"/>
              </a:rPr>
              <a:t>ground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dirty="0">
                <a:latin typeface="Book Antiqua"/>
                <a:cs typeface="Book Antiqua"/>
              </a:rPr>
              <a:t>truth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0" dirty="0">
                <a:latin typeface="Book Antiqua"/>
                <a:cs typeface="Book Antiqua"/>
              </a:rPr>
              <a:t>tokens</a:t>
            </a:r>
            <a:r>
              <a:rPr sz="1800" b="1" spc="-45" dirty="0">
                <a:latin typeface="Book Antiqua"/>
                <a:cs typeface="Book Antiqua"/>
              </a:rPr>
              <a:t> </a:t>
            </a:r>
            <a:r>
              <a:rPr sz="1800" b="1" spc="-25" dirty="0">
                <a:latin typeface="Book Antiqua"/>
                <a:cs typeface="Book Antiqua"/>
              </a:rPr>
              <a:t>high</a:t>
            </a:r>
            <a:r>
              <a:rPr sz="1800" b="1" spc="-40" dirty="0">
                <a:latin typeface="Book Antiqua"/>
                <a:cs typeface="Book Antiqua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tokens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lower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86308" y="2157306"/>
            <a:ext cx="666115" cy="205740"/>
          </a:xfrm>
          <a:custGeom>
            <a:avLst/>
            <a:gdLst/>
            <a:ahLst/>
            <a:cxnLst/>
            <a:rect l="l" t="t" r="r" b="b"/>
            <a:pathLst>
              <a:path w="666114" h="205739">
                <a:moveTo>
                  <a:pt x="665606" y="205739"/>
                </a:moveTo>
                <a:lnTo>
                  <a:pt x="0" y="205739"/>
                </a:lnTo>
                <a:lnTo>
                  <a:pt x="0" y="0"/>
                </a:lnTo>
                <a:lnTo>
                  <a:pt x="665606" y="0"/>
                </a:lnTo>
                <a:lnTo>
                  <a:pt x="665606" y="20573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35070" y="2118698"/>
            <a:ext cx="2849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Cambria"/>
                <a:cs typeface="Cambria"/>
              </a:rPr>
              <a:t>“The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color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of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the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sky</a:t>
            </a:r>
            <a:r>
              <a:rPr sz="1500" b="1" spc="15" dirty="0">
                <a:latin typeface="Cambria"/>
                <a:cs typeface="Cambria"/>
              </a:rPr>
              <a:t> </a:t>
            </a:r>
            <a:r>
              <a:rPr sz="1500" b="1" dirty="0">
                <a:latin typeface="Cambria"/>
                <a:cs typeface="Cambria"/>
              </a:rPr>
              <a:t>is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[MASK].”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1729" y="2680346"/>
            <a:ext cx="346710" cy="4121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9530" marR="5080" indent="-37465">
              <a:lnSpc>
                <a:spcPts val="1480"/>
              </a:lnSpc>
              <a:spcBef>
                <a:spcPts val="215"/>
              </a:spcBef>
            </a:pPr>
            <a:r>
              <a:rPr sz="1300" spc="-20" dirty="0">
                <a:latin typeface="Times New Roman"/>
                <a:cs typeface="Times New Roman"/>
              </a:rPr>
              <a:t>grey </a:t>
            </a:r>
            <a:r>
              <a:rPr sz="1300" spc="65" dirty="0">
                <a:latin typeface="Times New Roman"/>
                <a:cs typeface="Times New Roman"/>
              </a:rPr>
              <a:t>red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5434" y="3084003"/>
            <a:ext cx="351790" cy="188595"/>
          </a:xfrm>
          <a:prstGeom prst="rect">
            <a:avLst/>
          </a:prstGeom>
          <a:solidFill>
            <a:srgbClr val="B6D7A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5"/>
              </a:lnSpc>
            </a:pPr>
            <a:r>
              <a:rPr sz="1300" b="1" spc="-20" dirty="0">
                <a:latin typeface="Cambria"/>
                <a:cs typeface="Cambria"/>
              </a:rPr>
              <a:t>blue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1690" y="3244988"/>
            <a:ext cx="40640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20"/>
              </a:lnSpc>
              <a:spcBef>
                <a:spcPts val="100"/>
              </a:spcBef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12700" marR="5080" indent="46355" algn="just">
              <a:lnSpc>
                <a:spcPts val="1480"/>
              </a:lnSpc>
              <a:spcBef>
                <a:spcPts val="75"/>
              </a:spcBef>
            </a:pPr>
            <a:r>
              <a:rPr sz="1300" spc="-25" dirty="0">
                <a:latin typeface="Times New Roman"/>
                <a:cs typeface="Times New Roman"/>
              </a:rPr>
              <a:t>Bob </a:t>
            </a:r>
            <a:r>
              <a:rPr sz="1300" spc="40" dirty="0">
                <a:latin typeface="Times New Roman"/>
                <a:cs typeface="Times New Roman"/>
              </a:rPr>
              <a:t>grass </a:t>
            </a:r>
            <a:r>
              <a:rPr sz="1300" spc="65" dirty="0">
                <a:latin typeface="Times New Roman"/>
                <a:cs typeface="Times New Roman"/>
              </a:rPr>
              <a:t>pear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5800" y="4649665"/>
            <a:ext cx="147891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solidFill>
                  <a:srgbClr val="595959"/>
                </a:solidFill>
                <a:latin typeface="Cambria"/>
                <a:cs typeface="Cambria"/>
              </a:rPr>
              <a:t>probability</a:t>
            </a:r>
            <a:r>
              <a:rPr sz="1350" b="1" spc="8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scores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787" y="3239512"/>
            <a:ext cx="1426210" cy="780415"/>
            <a:chOff x="581787" y="3239512"/>
            <a:chExt cx="1426210" cy="780415"/>
          </a:xfrm>
        </p:grpSpPr>
        <p:sp>
          <p:nvSpPr>
            <p:cNvPr id="17" name="object 17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1272147" y="751499"/>
                  </a:move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6075" y="3253800"/>
              <a:ext cx="1397635" cy="751840"/>
            </a:xfrm>
            <a:custGeom>
              <a:avLst/>
              <a:gdLst/>
              <a:ahLst/>
              <a:cxnLst/>
              <a:rect l="l" t="t" r="r" b="b"/>
              <a:pathLst>
                <a:path w="1397635" h="751839">
                  <a:moveTo>
                    <a:pt x="0" y="125252"/>
                  </a:move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1272147" y="0"/>
                  </a:lnTo>
                  <a:lnTo>
                    <a:pt x="1320079" y="9534"/>
                  </a:lnTo>
                  <a:lnTo>
                    <a:pt x="1360714" y="36685"/>
                  </a:lnTo>
                  <a:lnTo>
                    <a:pt x="1387865" y="77320"/>
                  </a:lnTo>
                  <a:lnTo>
                    <a:pt x="1397399" y="125252"/>
                  </a:lnTo>
                  <a:lnTo>
                    <a:pt x="1397399" y="626247"/>
                  </a:lnTo>
                  <a:lnTo>
                    <a:pt x="1387557" y="675001"/>
                  </a:lnTo>
                  <a:lnTo>
                    <a:pt x="1360714" y="714814"/>
                  </a:lnTo>
                  <a:lnTo>
                    <a:pt x="1320901" y="741657"/>
                  </a:lnTo>
                  <a:lnTo>
                    <a:pt x="1272147" y="751499"/>
                  </a:ln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close/>
                </a:path>
              </a:pathLst>
            </a:custGeom>
            <a:ln w="2857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7887" y="3400188"/>
            <a:ext cx="795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6195" marR="5080" indent="-24130">
              <a:lnSpc>
                <a:spcPts val="1650"/>
              </a:lnSpc>
              <a:spcBef>
                <a:spcPts val="180"/>
              </a:spcBef>
            </a:pPr>
            <a:r>
              <a:rPr sz="1400" spc="50" dirty="0">
                <a:latin typeface="Times New Roman"/>
                <a:cs typeface="Times New Roman"/>
              </a:rPr>
              <a:t>Language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#2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62412" y="2223762"/>
            <a:ext cx="1244600" cy="939800"/>
            <a:chOff x="1262412" y="2223762"/>
            <a:chExt cx="1244600" cy="939800"/>
          </a:xfrm>
        </p:grpSpPr>
        <p:sp>
          <p:nvSpPr>
            <p:cNvPr id="21" name="object 21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10042" y="829950"/>
                  </a:moveTo>
                  <a:lnTo>
                    <a:pt x="40152" y="829950"/>
                  </a:lnTo>
                  <a:lnTo>
                    <a:pt x="40152" y="374827"/>
                  </a:lnTo>
                  <a:lnTo>
                    <a:pt x="43073" y="327809"/>
                  </a:lnTo>
                  <a:lnTo>
                    <a:pt x="51600" y="282534"/>
                  </a:lnTo>
                  <a:lnTo>
                    <a:pt x="65382" y="239354"/>
                  </a:lnTo>
                  <a:lnTo>
                    <a:pt x="84069" y="198618"/>
                  </a:lnTo>
                  <a:lnTo>
                    <a:pt x="107309" y="160680"/>
                  </a:lnTo>
                  <a:lnTo>
                    <a:pt x="134750" y="125889"/>
                  </a:lnTo>
                  <a:lnTo>
                    <a:pt x="166042" y="94597"/>
                  </a:lnTo>
                  <a:lnTo>
                    <a:pt x="200833" y="67156"/>
                  </a:lnTo>
                  <a:lnTo>
                    <a:pt x="238771" y="43916"/>
                  </a:lnTo>
                  <a:lnTo>
                    <a:pt x="279507" y="25230"/>
                  </a:lnTo>
                  <a:lnTo>
                    <a:pt x="322687" y="11447"/>
                  </a:lnTo>
                  <a:lnTo>
                    <a:pt x="367962" y="2920"/>
                  </a:lnTo>
                  <a:lnTo>
                    <a:pt x="414979" y="0"/>
                  </a:lnTo>
                  <a:lnTo>
                    <a:pt x="1234799" y="0"/>
                  </a:lnTo>
                  <a:lnTo>
                    <a:pt x="1234799" y="69889"/>
                  </a:lnTo>
                  <a:lnTo>
                    <a:pt x="414979" y="69889"/>
                  </a:lnTo>
                  <a:lnTo>
                    <a:pt x="365517" y="73880"/>
                  </a:lnTo>
                  <a:lnTo>
                    <a:pt x="318596" y="85435"/>
                  </a:lnTo>
                  <a:lnTo>
                    <a:pt x="274843" y="103926"/>
                  </a:lnTo>
                  <a:lnTo>
                    <a:pt x="234887" y="128724"/>
                  </a:lnTo>
                  <a:lnTo>
                    <a:pt x="199356" y="159203"/>
                  </a:lnTo>
                  <a:lnTo>
                    <a:pt x="168877" y="194734"/>
                  </a:lnTo>
                  <a:lnTo>
                    <a:pt x="144078" y="234690"/>
                  </a:lnTo>
                  <a:lnTo>
                    <a:pt x="125588" y="278443"/>
                  </a:lnTo>
                  <a:lnTo>
                    <a:pt x="114033" y="325364"/>
                  </a:lnTo>
                  <a:lnTo>
                    <a:pt x="110042" y="374827"/>
                  </a:lnTo>
                  <a:lnTo>
                    <a:pt x="110042" y="829950"/>
                  </a:lnTo>
                  <a:close/>
                </a:path>
                <a:path w="1235075" h="930275">
                  <a:moveTo>
                    <a:pt x="75097" y="929999"/>
                  </a:moveTo>
                  <a:lnTo>
                    <a:pt x="0" y="829950"/>
                  </a:lnTo>
                  <a:lnTo>
                    <a:pt x="150194" y="829950"/>
                  </a:lnTo>
                  <a:lnTo>
                    <a:pt x="75097" y="929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67174" y="2228525"/>
              <a:ext cx="1235075" cy="930275"/>
            </a:xfrm>
            <a:custGeom>
              <a:avLst/>
              <a:gdLst/>
              <a:ahLst/>
              <a:cxnLst/>
              <a:rect l="l" t="t" r="r" b="b"/>
              <a:pathLst>
                <a:path w="1235075" h="930275">
                  <a:moveTo>
                    <a:pt x="1234799" y="0"/>
                  </a:moveTo>
                  <a:lnTo>
                    <a:pt x="414979" y="0"/>
                  </a:lnTo>
                  <a:lnTo>
                    <a:pt x="367962" y="2920"/>
                  </a:lnTo>
                  <a:lnTo>
                    <a:pt x="322687" y="11447"/>
                  </a:lnTo>
                  <a:lnTo>
                    <a:pt x="279507" y="25230"/>
                  </a:lnTo>
                  <a:lnTo>
                    <a:pt x="238771" y="43916"/>
                  </a:lnTo>
                  <a:lnTo>
                    <a:pt x="200833" y="67156"/>
                  </a:lnTo>
                  <a:lnTo>
                    <a:pt x="166042" y="94597"/>
                  </a:lnTo>
                  <a:lnTo>
                    <a:pt x="134750" y="125889"/>
                  </a:lnTo>
                  <a:lnTo>
                    <a:pt x="107309" y="160680"/>
                  </a:lnTo>
                  <a:lnTo>
                    <a:pt x="84069" y="198618"/>
                  </a:lnTo>
                  <a:lnTo>
                    <a:pt x="65382" y="239354"/>
                  </a:lnTo>
                  <a:lnTo>
                    <a:pt x="51600" y="282534"/>
                  </a:lnTo>
                  <a:lnTo>
                    <a:pt x="43073" y="327809"/>
                  </a:lnTo>
                  <a:lnTo>
                    <a:pt x="40152" y="374827"/>
                  </a:lnTo>
                  <a:lnTo>
                    <a:pt x="40152" y="829950"/>
                  </a:lnTo>
                  <a:lnTo>
                    <a:pt x="0" y="829950"/>
                  </a:lnTo>
                  <a:lnTo>
                    <a:pt x="75097" y="929999"/>
                  </a:lnTo>
                  <a:lnTo>
                    <a:pt x="150194" y="829950"/>
                  </a:lnTo>
                  <a:lnTo>
                    <a:pt x="110042" y="829950"/>
                  </a:lnTo>
                  <a:lnTo>
                    <a:pt x="110042" y="374827"/>
                  </a:lnTo>
                  <a:lnTo>
                    <a:pt x="114033" y="325364"/>
                  </a:lnTo>
                  <a:lnTo>
                    <a:pt x="125588" y="278443"/>
                  </a:lnTo>
                  <a:lnTo>
                    <a:pt x="144078" y="234690"/>
                  </a:lnTo>
                  <a:lnTo>
                    <a:pt x="168877" y="194734"/>
                  </a:lnTo>
                  <a:lnTo>
                    <a:pt x="199356" y="159203"/>
                  </a:lnTo>
                  <a:lnTo>
                    <a:pt x="234887" y="128724"/>
                  </a:lnTo>
                  <a:lnTo>
                    <a:pt x="274843" y="103926"/>
                  </a:lnTo>
                  <a:lnTo>
                    <a:pt x="318596" y="85435"/>
                  </a:lnTo>
                  <a:lnTo>
                    <a:pt x="365517" y="73880"/>
                  </a:lnTo>
                  <a:lnTo>
                    <a:pt x="414979" y="69889"/>
                  </a:lnTo>
                  <a:lnTo>
                    <a:pt x="1234799" y="69889"/>
                  </a:lnTo>
                  <a:lnTo>
                    <a:pt x="1234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229837" y="3522162"/>
            <a:ext cx="407034" cy="203200"/>
            <a:chOff x="2229837" y="3522162"/>
            <a:chExt cx="407034" cy="203200"/>
          </a:xfrm>
        </p:grpSpPr>
        <p:sp>
          <p:nvSpPr>
            <p:cNvPr id="24" name="object 24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3460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3053016" y="2895789"/>
            <a:ext cx="339090" cy="188595"/>
          </a:xfrm>
          <a:custGeom>
            <a:avLst/>
            <a:gdLst/>
            <a:ahLst/>
            <a:cxnLst/>
            <a:rect l="l" t="t" r="r" b="b"/>
            <a:pathLst>
              <a:path w="339089" h="188594">
                <a:moveTo>
                  <a:pt x="338680" y="188213"/>
                </a:moveTo>
                <a:lnTo>
                  <a:pt x="0" y="188213"/>
                </a:lnTo>
                <a:lnTo>
                  <a:pt x="0" y="0"/>
                </a:lnTo>
                <a:lnTo>
                  <a:pt x="338680" y="0"/>
                </a:lnTo>
                <a:lnTo>
                  <a:pt x="338680" y="188213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90986" y="2680346"/>
            <a:ext cx="8128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Bob: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spc="-20" dirty="0">
                <a:latin typeface="Times New Roman"/>
                <a:cs typeface="Times New Roman"/>
              </a:rPr>
              <a:t>0.1%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40316" y="2868560"/>
            <a:ext cx="81406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Cambria"/>
                <a:cs typeface="Cambria"/>
              </a:rPr>
              <a:t>blue:</a:t>
            </a:r>
            <a:r>
              <a:rPr sz="1300" b="1" spc="475" dirty="0">
                <a:latin typeface="Cambria"/>
                <a:cs typeface="Cambria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15%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98229" y="3056774"/>
            <a:ext cx="1070610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1755" algn="ctr">
              <a:lnSpc>
                <a:spcPts val="1520"/>
              </a:lnSpc>
              <a:spcBef>
                <a:spcPts val="100"/>
              </a:spcBef>
            </a:pPr>
            <a:r>
              <a:rPr sz="1300" spc="70" dirty="0">
                <a:latin typeface="Times New Roman"/>
                <a:cs typeface="Times New Roman"/>
              </a:rPr>
              <a:t>red:</a:t>
            </a:r>
            <a:r>
              <a:rPr sz="1300" spc="409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18%</a:t>
            </a:r>
            <a:endParaRPr sz="1300">
              <a:latin typeface="Times New Roman"/>
              <a:cs typeface="Times New Roman"/>
            </a:endParaRPr>
          </a:p>
          <a:p>
            <a:pPr marR="74930" algn="ctr">
              <a:lnSpc>
                <a:spcPts val="1480"/>
              </a:lnSpc>
            </a:pPr>
            <a:r>
              <a:rPr sz="1300" spc="50" dirty="0">
                <a:latin typeface="Times New Roman"/>
                <a:cs typeface="Times New Roman"/>
              </a:rPr>
              <a:t>grass:</a:t>
            </a:r>
            <a:r>
              <a:rPr sz="1300" spc="4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0.04%</a:t>
            </a:r>
            <a:endParaRPr sz="1300">
              <a:latin typeface="Times New Roman"/>
              <a:cs typeface="Times New Roman"/>
            </a:endParaRPr>
          </a:p>
          <a:p>
            <a:pPr marR="146685" algn="ctr">
              <a:lnSpc>
                <a:spcPts val="1480"/>
              </a:lnSpc>
            </a:pPr>
            <a:r>
              <a:rPr sz="1300" dirty="0">
                <a:latin typeface="Times New Roman"/>
                <a:cs typeface="Times New Roman"/>
              </a:rPr>
              <a:t>grey:</a:t>
            </a:r>
            <a:r>
              <a:rPr sz="1300" spc="145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30%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ts val="1480"/>
              </a:lnSpc>
            </a:pPr>
            <a:r>
              <a:rPr sz="1300" spc="65" dirty="0">
                <a:latin typeface="Times New Roman"/>
                <a:cs typeface="Times New Roman"/>
              </a:rPr>
              <a:t>.</a:t>
            </a:r>
            <a:r>
              <a:rPr sz="1300" spc="4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50165" algn="ctr">
              <a:lnSpc>
                <a:spcPts val="1520"/>
              </a:lnSpc>
            </a:pPr>
            <a:r>
              <a:rPr sz="1300" spc="70" dirty="0">
                <a:latin typeface="Times New Roman"/>
                <a:cs typeface="Times New Roman"/>
              </a:rPr>
              <a:t>pear:</a:t>
            </a:r>
            <a:r>
              <a:rPr sz="1300" spc="4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0.003%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62787" y="3522162"/>
            <a:ext cx="407034" cy="203200"/>
            <a:chOff x="4462787" y="3522162"/>
            <a:chExt cx="407034" cy="203200"/>
          </a:xfrm>
        </p:grpSpPr>
        <p:sp>
          <p:nvSpPr>
            <p:cNvPr id="31" name="object 31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300899" y="193199"/>
                  </a:move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67550" y="3526925"/>
              <a:ext cx="397510" cy="193675"/>
            </a:xfrm>
            <a:custGeom>
              <a:avLst/>
              <a:gdLst/>
              <a:ahLst/>
              <a:cxnLst/>
              <a:rect l="l" t="t" r="r" b="b"/>
              <a:pathLst>
                <a:path w="397510" h="193675">
                  <a:moveTo>
                    <a:pt x="0" y="48299"/>
                  </a:moveTo>
                  <a:lnTo>
                    <a:pt x="300899" y="48299"/>
                  </a:lnTo>
                  <a:lnTo>
                    <a:pt x="300899" y="0"/>
                  </a:lnTo>
                  <a:lnTo>
                    <a:pt x="397499" y="96599"/>
                  </a:lnTo>
                  <a:lnTo>
                    <a:pt x="300899" y="193199"/>
                  </a:lnTo>
                  <a:lnTo>
                    <a:pt x="300899" y="144899"/>
                  </a:lnTo>
                  <a:lnTo>
                    <a:pt x="0" y="144899"/>
                  </a:lnTo>
                  <a:lnTo>
                    <a:pt x="0" y="482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135556" y="4642415"/>
            <a:ext cx="73914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10" dirty="0">
                <a:solidFill>
                  <a:srgbClr val="595959"/>
                </a:solidFill>
                <a:latin typeface="Cambria"/>
                <a:cs typeface="Cambria"/>
              </a:rPr>
              <a:t>rankings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92783" y="2137666"/>
            <a:ext cx="195961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20" dirty="0">
                <a:latin typeface="Cambria"/>
                <a:cs typeface="Cambria"/>
              </a:rPr>
              <a:t>P@</a:t>
            </a:r>
            <a:r>
              <a:rPr sz="1350" b="1" spc="-20" dirty="0">
                <a:solidFill>
                  <a:srgbClr val="E69137"/>
                </a:solidFill>
                <a:latin typeface="Cambria"/>
                <a:cs typeface="Cambria"/>
              </a:rPr>
              <a:t>3</a:t>
            </a:r>
            <a:r>
              <a:rPr sz="1350" b="1" spc="-20" dirty="0">
                <a:latin typeface="Cambria"/>
                <a:cs typeface="Cambria"/>
              </a:rPr>
              <a:t>: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precision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at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E69137"/>
                </a:solidFill>
                <a:latin typeface="Cambria"/>
                <a:cs typeface="Cambria"/>
              </a:rPr>
              <a:t>rank</a:t>
            </a:r>
            <a:r>
              <a:rPr sz="1350" b="1" spc="-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350" b="1" spc="-50" dirty="0">
                <a:solidFill>
                  <a:srgbClr val="E69137"/>
                </a:solidFill>
                <a:latin typeface="Cambria"/>
                <a:cs typeface="Cambria"/>
              </a:rPr>
              <a:t>3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216137" y="2716762"/>
            <a:ext cx="1386205" cy="601345"/>
            <a:chOff x="5216137" y="2716762"/>
            <a:chExt cx="1386205" cy="601345"/>
          </a:xfrm>
        </p:grpSpPr>
        <p:sp>
          <p:nvSpPr>
            <p:cNvPr id="36" name="object 36"/>
            <p:cNvSpPr/>
            <p:nvPr/>
          </p:nvSpPr>
          <p:spPr>
            <a:xfrm>
              <a:off x="5230424" y="2731049"/>
              <a:ext cx="549275" cy="572770"/>
            </a:xfrm>
            <a:custGeom>
              <a:avLst/>
              <a:gdLst/>
              <a:ahLst/>
              <a:cxnLst/>
              <a:rect l="l" t="t" r="r" b="b"/>
              <a:pathLst>
                <a:path w="549275" h="572770">
                  <a:moveTo>
                    <a:pt x="457247" y="572699"/>
                  </a:moveTo>
                  <a:lnTo>
                    <a:pt x="91451" y="572699"/>
                  </a:lnTo>
                  <a:lnTo>
                    <a:pt x="55854" y="565513"/>
                  </a:lnTo>
                  <a:lnTo>
                    <a:pt x="26785" y="545914"/>
                  </a:lnTo>
                  <a:lnTo>
                    <a:pt x="7186" y="516845"/>
                  </a:lnTo>
                  <a:lnTo>
                    <a:pt x="0" y="481248"/>
                  </a:lnTo>
                  <a:lnTo>
                    <a:pt x="0" y="91451"/>
                  </a:lnTo>
                  <a:lnTo>
                    <a:pt x="7186" y="55854"/>
                  </a:lnTo>
                  <a:lnTo>
                    <a:pt x="26785" y="26785"/>
                  </a:lnTo>
                  <a:lnTo>
                    <a:pt x="55854" y="7186"/>
                  </a:lnTo>
                  <a:lnTo>
                    <a:pt x="91451" y="0"/>
                  </a:lnTo>
                  <a:lnTo>
                    <a:pt x="457247" y="0"/>
                  </a:lnTo>
                  <a:lnTo>
                    <a:pt x="507985" y="15365"/>
                  </a:lnTo>
                  <a:lnTo>
                    <a:pt x="541738" y="56454"/>
                  </a:lnTo>
                  <a:lnTo>
                    <a:pt x="548699" y="91451"/>
                  </a:lnTo>
                  <a:lnTo>
                    <a:pt x="548699" y="481248"/>
                  </a:lnTo>
                  <a:lnTo>
                    <a:pt x="541513" y="516845"/>
                  </a:lnTo>
                  <a:lnTo>
                    <a:pt x="521914" y="545914"/>
                  </a:lnTo>
                  <a:lnTo>
                    <a:pt x="492845" y="565513"/>
                  </a:lnTo>
                  <a:lnTo>
                    <a:pt x="457247" y="5726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30424" y="2731049"/>
              <a:ext cx="549275" cy="572770"/>
            </a:xfrm>
            <a:custGeom>
              <a:avLst/>
              <a:gdLst/>
              <a:ahLst/>
              <a:cxnLst/>
              <a:rect l="l" t="t" r="r" b="b"/>
              <a:pathLst>
                <a:path w="549275" h="572770">
                  <a:moveTo>
                    <a:pt x="0" y="91451"/>
                  </a:moveTo>
                  <a:lnTo>
                    <a:pt x="7186" y="55854"/>
                  </a:lnTo>
                  <a:lnTo>
                    <a:pt x="26785" y="26785"/>
                  </a:lnTo>
                  <a:lnTo>
                    <a:pt x="55854" y="7186"/>
                  </a:lnTo>
                  <a:lnTo>
                    <a:pt x="91451" y="0"/>
                  </a:lnTo>
                  <a:lnTo>
                    <a:pt x="457247" y="0"/>
                  </a:lnTo>
                  <a:lnTo>
                    <a:pt x="507985" y="15365"/>
                  </a:lnTo>
                  <a:lnTo>
                    <a:pt x="541738" y="56454"/>
                  </a:lnTo>
                  <a:lnTo>
                    <a:pt x="548699" y="91451"/>
                  </a:lnTo>
                  <a:lnTo>
                    <a:pt x="548699" y="481248"/>
                  </a:lnTo>
                  <a:lnTo>
                    <a:pt x="541513" y="516845"/>
                  </a:lnTo>
                  <a:lnTo>
                    <a:pt x="521914" y="545914"/>
                  </a:lnTo>
                  <a:lnTo>
                    <a:pt x="492845" y="565513"/>
                  </a:lnTo>
                  <a:lnTo>
                    <a:pt x="457247" y="572699"/>
                  </a:lnTo>
                  <a:lnTo>
                    <a:pt x="91451" y="572699"/>
                  </a:lnTo>
                  <a:lnTo>
                    <a:pt x="55854" y="565513"/>
                  </a:lnTo>
                  <a:lnTo>
                    <a:pt x="26785" y="545914"/>
                  </a:lnTo>
                  <a:lnTo>
                    <a:pt x="7186" y="516845"/>
                  </a:lnTo>
                  <a:lnTo>
                    <a:pt x="0" y="481248"/>
                  </a:lnTo>
                  <a:lnTo>
                    <a:pt x="0" y="9145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46599" y="2777999"/>
              <a:ext cx="751205" cy="99695"/>
            </a:xfrm>
            <a:custGeom>
              <a:avLst/>
              <a:gdLst/>
              <a:ahLst/>
              <a:cxnLst/>
              <a:rect l="l" t="t" r="r" b="b"/>
              <a:pathLst>
                <a:path w="751204" h="99694">
                  <a:moveTo>
                    <a:pt x="49649" y="99299"/>
                  </a:moveTo>
                  <a:lnTo>
                    <a:pt x="0" y="49649"/>
                  </a:lnTo>
                  <a:lnTo>
                    <a:pt x="49649" y="0"/>
                  </a:lnTo>
                  <a:lnTo>
                    <a:pt x="49649" y="24824"/>
                  </a:lnTo>
                  <a:lnTo>
                    <a:pt x="750899" y="24824"/>
                  </a:lnTo>
                  <a:lnTo>
                    <a:pt x="750899" y="74474"/>
                  </a:lnTo>
                  <a:lnTo>
                    <a:pt x="49649" y="74474"/>
                  </a:lnTo>
                  <a:lnTo>
                    <a:pt x="49649" y="992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46599" y="2777999"/>
              <a:ext cx="751205" cy="99695"/>
            </a:xfrm>
            <a:custGeom>
              <a:avLst/>
              <a:gdLst/>
              <a:ahLst/>
              <a:cxnLst/>
              <a:rect l="l" t="t" r="r" b="b"/>
              <a:pathLst>
                <a:path w="751204" h="99694">
                  <a:moveTo>
                    <a:pt x="750899" y="74474"/>
                  </a:moveTo>
                  <a:lnTo>
                    <a:pt x="49649" y="74474"/>
                  </a:lnTo>
                  <a:lnTo>
                    <a:pt x="49649" y="99299"/>
                  </a:lnTo>
                  <a:lnTo>
                    <a:pt x="0" y="49649"/>
                  </a:lnTo>
                  <a:lnTo>
                    <a:pt x="49649" y="0"/>
                  </a:lnTo>
                  <a:lnTo>
                    <a:pt x="49649" y="24824"/>
                  </a:lnTo>
                  <a:lnTo>
                    <a:pt x="750899" y="24824"/>
                  </a:lnTo>
                  <a:lnTo>
                    <a:pt x="750899" y="74474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927841" y="2685671"/>
            <a:ext cx="17081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spc="60" dirty="0">
                <a:latin typeface="Times New Roman"/>
                <a:cs typeface="Times New Roman"/>
              </a:rPr>
              <a:t>Contains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80" dirty="0">
                <a:latin typeface="Times New Roman"/>
                <a:cs typeface="Times New Roman"/>
              </a:rPr>
              <a:t>ground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truth!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300" b="1" spc="-45" dirty="0">
                <a:latin typeface="Cambria"/>
                <a:cs typeface="Cambria"/>
              </a:rPr>
              <a:t>P@3</a:t>
            </a:r>
            <a:r>
              <a:rPr sz="1300" b="1" spc="-25" dirty="0">
                <a:latin typeface="Cambria"/>
                <a:cs typeface="Cambria"/>
              </a:rPr>
              <a:t> </a:t>
            </a:r>
            <a:r>
              <a:rPr sz="1300" b="1" spc="-70" dirty="0">
                <a:latin typeface="Cambria"/>
                <a:cs typeface="Cambria"/>
              </a:rPr>
              <a:t>=</a:t>
            </a:r>
            <a:r>
              <a:rPr sz="1300" b="1" spc="-10" dirty="0">
                <a:latin typeface="Cambria"/>
                <a:cs typeface="Cambria"/>
              </a:rPr>
              <a:t> </a:t>
            </a:r>
            <a:r>
              <a:rPr sz="1300" b="1" spc="-50" dirty="0">
                <a:latin typeface="Cambria"/>
                <a:cs typeface="Cambria"/>
              </a:rPr>
              <a:t>1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53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54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1224" y="1739487"/>
            <a:ext cx="1842135" cy="1382395"/>
            <a:chOff x="651224" y="1739487"/>
            <a:chExt cx="1842135" cy="1382395"/>
          </a:xfrm>
        </p:grpSpPr>
        <p:sp>
          <p:nvSpPr>
            <p:cNvPr id="5" name="object 5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51224" y="3266631"/>
            <a:ext cx="1842135" cy="1382395"/>
            <a:chOff x="651224" y="3266631"/>
            <a:chExt cx="1842135" cy="1382395"/>
          </a:xfrm>
        </p:grpSpPr>
        <p:sp>
          <p:nvSpPr>
            <p:cNvPr id="14" name="object 14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Fact</a:t>
            </a:r>
            <a:r>
              <a:rPr sz="11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Fact</a:t>
            </a:r>
            <a:r>
              <a:rPr sz="11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Fact</a:t>
            </a:r>
            <a:r>
              <a:rPr sz="11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8068" y="3444334"/>
            <a:ext cx="468630" cy="117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Fact</a:t>
            </a:r>
            <a:r>
              <a:rPr sz="11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Fact</a:t>
            </a:r>
            <a:r>
              <a:rPr sz="11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Fact</a:t>
            </a:r>
            <a:r>
              <a:rPr sz="11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marR="6985" algn="ctr">
              <a:lnSpc>
                <a:spcPct val="100000"/>
              </a:lnSpc>
              <a:spcBef>
                <a:spcPts val="13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9424" y="4711744"/>
            <a:ext cx="1620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68005" y="1217372"/>
            <a:ext cx="32512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4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1:</a:t>
            </a:r>
            <a:r>
              <a:rPr sz="1600" b="1" spc="-40" dirty="0">
                <a:latin typeface="Book Antiqua"/>
                <a:cs typeface="Book Antiqua"/>
              </a:rPr>
              <a:t> </a:t>
            </a:r>
            <a:r>
              <a:rPr sz="1600" b="1" spc="-35" dirty="0">
                <a:latin typeface="Book Antiqua"/>
                <a:cs typeface="Book Antiqua"/>
              </a:rPr>
              <a:t>Compile</a:t>
            </a:r>
            <a:r>
              <a:rPr sz="1600" b="1" spc="-40" dirty="0">
                <a:latin typeface="Book Antiqua"/>
                <a:cs typeface="Book Antiqua"/>
              </a:rPr>
              <a:t> knowledge</a:t>
            </a:r>
            <a:r>
              <a:rPr sz="1600" b="1" spc="-3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sources</a:t>
            </a:r>
            <a:endParaRPr sz="16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94499" y="3978604"/>
            <a:ext cx="2183765" cy="382270"/>
            <a:chOff x="2994499" y="3978604"/>
            <a:chExt cx="2183765" cy="382270"/>
          </a:xfrm>
        </p:grpSpPr>
        <p:sp>
          <p:nvSpPr>
            <p:cNvPr id="3" name="object 3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0" y="60500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001112" y="1811437"/>
            <a:ext cx="2174240" cy="372745"/>
            <a:chOff x="3001112" y="1811437"/>
            <a:chExt cx="2174240" cy="372745"/>
          </a:xfrm>
        </p:grpSpPr>
        <p:sp>
          <p:nvSpPr>
            <p:cNvPr id="6" name="object 6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0" y="60501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55987" y="1744249"/>
            <a:ext cx="2227580" cy="1372870"/>
            <a:chOff x="655987" y="1744249"/>
            <a:chExt cx="2227580" cy="1372870"/>
          </a:xfrm>
        </p:grpSpPr>
        <p:sp>
          <p:nvSpPr>
            <p:cNvPr id="10" name="object 10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55987" y="3271394"/>
            <a:ext cx="1832610" cy="1372870"/>
            <a:chOff x="655987" y="3271394"/>
            <a:chExt cx="1832610" cy="1372870"/>
          </a:xfrm>
        </p:grpSpPr>
        <p:sp>
          <p:nvSpPr>
            <p:cNvPr id="21" name="object 21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38068" y="3444334"/>
            <a:ext cx="468630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57586" y="1863326"/>
            <a:ext cx="18618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5" dirty="0">
                <a:latin typeface="Times New Roman"/>
                <a:cs typeface="Times New Roman"/>
              </a:rPr>
              <a:t>(subject,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relation,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object)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29312" y="4067773"/>
            <a:ext cx="754380" cy="145415"/>
            <a:chOff x="2129312" y="4067773"/>
            <a:chExt cx="754380" cy="145415"/>
          </a:xfrm>
        </p:grpSpPr>
        <p:sp>
          <p:nvSpPr>
            <p:cNvPr id="33" name="object 33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498910" y="4038701"/>
            <a:ext cx="11760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50" dirty="0">
                <a:latin typeface="Times New Roman"/>
                <a:cs typeface="Times New Roman"/>
              </a:rPr>
              <a:t>(question,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40" dirty="0">
                <a:latin typeface="Times New Roman"/>
                <a:cs typeface="Times New Roman"/>
              </a:rPr>
              <a:t>answer)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37659" y="4250771"/>
            <a:ext cx="54610" cy="3784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750" b="1" spc="5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9424" y="4726323"/>
            <a:ext cx="162052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96372" y="4726648"/>
            <a:ext cx="44958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36" name="object 36"/>
          <p:cNvSpPr txBox="1"/>
          <p:nvPr/>
        </p:nvSpPr>
        <p:spPr>
          <a:xfrm>
            <a:off x="1999683" y="1217372"/>
            <a:ext cx="5588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2: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Formulate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facts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into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triplets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question-</a:t>
            </a:r>
            <a:r>
              <a:rPr sz="1600" b="1" dirty="0">
                <a:latin typeface="Book Antiqua"/>
                <a:cs typeface="Book Antiqua"/>
              </a:rPr>
              <a:t>answer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pairs</a:t>
            </a:r>
            <a:endParaRPr sz="16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94499" y="3978604"/>
            <a:ext cx="2183765" cy="382270"/>
            <a:chOff x="2994499" y="3978604"/>
            <a:chExt cx="2183765" cy="382270"/>
          </a:xfrm>
        </p:grpSpPr>
        <p:sp>
          <p:nvSpPr>
            <p:cNvPr id="3" name="object 3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0" y="60500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001112" y="1811437"/>
            <a:ext cx="2174240" cy="372745"/>
            <a:chOff x="3001112" y="1811437"/>
            <a:chExt cx="2174240" cy="372745"/>
          </a:xfrm>
        </p:grpSpPr>
        <p:sp>
          <p:nvSpPr>
            <p:cNvPr id="6" name="object 6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0" y="60501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55987" y="1744249"/>
            <a:ext cx="2227580" cy="1372870"/>
            <a:chOff x="655987" y="1744249"/>
            <a:chExt cx="2227580" cy="1372870"/>
          </a:xfrm>
        </p:grpSpPr>
        <p:sp>
          <p:nvSpPr>
            <p:cNvPr id="10" name="object 10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55987" y="3271394"/>
            <a:ext cx="1832610" cy="1372870"/>
            <a:chOff x="655987" y="3271394"/>
            <a:chExt cx="1832610" cy="1372870"/>
          </a:xfrm>
        </p:grpSpPr>
        <p:sp>
          <p:nvSpPr>
            <p:cNvPr id="21" name="object 21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38068" y="3444334"/>
            <a:ext cx="468630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34984" y="1865010"/>
            <a:ext cx="19069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(Mozart,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BORN-</a:t>
            </a:r>
            <a:r>
              <a:rPr sz="1200" dirty="0">
                <a:latin typeface="Courier New"/>
                <a:cs typeface="Courier New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Austria)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29312" y="4067773"/>
            <a:ext cx="754380" cy="145415"/>
            <a:chOff x="2129312" y="4067773"/>
            <a:chExt cx="754380" cy="145415"/>
          </a:xfrm>
        </p:grpSpPr>
        <p:sp>
          <p:nvSpPr>
            <p:cNvPr id="33" name="object 33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011913" y="4038701"/>
            <a:ext cx="21507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(Who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wrote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Times New Roman"/>
                <a:cs typeface="Times New Roman"/>
              </a:rPr>
              <a:t>Hamlet,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35" dirty="0">
                <a:latin typeface="Times New Roman"/>
                <a:cs typeface="Times New Roman"/>
              </a:rPr>
              <a:t>Shakespeare)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37659" y="4250771"/>
            <a:ext cx="54610" cy="3784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750" b="1" spc="5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9424" y="4726323"/>
            <a:ext cx="162052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96372" y="4726648"/>
            <a:ext cx="44958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36" name="object 36"/>
          <p:cNvSpPr txBox="1"/>
          <p:nvPr/>
        </p:nvSpPr>
        <p:spPr>
          <a:xfrm>
            <a:off x="1999683" y="1217372"/>
            <a:ext cx="5588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2: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Formulate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facts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into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triplets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question-</a:t>
            </a:r>
            <a:r>
              <a:rPr sz="1600" b="1" dirty="0">
                <a:latin typeface="Book Antiqua"/>
                <a:cs typeface="Book Antiqua"/>
              </a:rPr>
              <a:t>answer</a:t>
            </a:r>
            <a:r>
              <a:rPr sz="1600" b="1" spc="-2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pairs</a:t>
            </a:r>
            <a:endParaRPr sz="16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99262" y="3983366"/>
            <a:ext cx="2174240" cy="372745"/>
            <a:chOff x="2999262" y="3983366"/>
            <a:chExt cx="2174240" cy="372745"/>
          </a:xfrm>
        </p:grpSpPr>
        <p:sp>
          <p:nvSpPr>
            <p:cNvPr id="3" name="object 3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0" y="60500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001112" y="1811437"/>
            <a:ext cx="2174240" cy="372745"/>
            <a:chOff x="3001112" y="1811437"/>
            <a:chExt cx="2174240" cy="372745"/>
          </a:xfrm>
        </p:grpSpPr>
        <p:sp>
          <p:nvSpPr>
            <p:cNvPr id="6" name="object 6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0" y="60501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55987" y="1744249"/>
            <a:ext cx="2227580" cy="1372870"/>
            <a:chOff x="655987" y="1744249"/>
            <a:chExt cx="2227580" cy="1372870"/>
          </a:xfrm>
        </p:grpSpPr>
        <p:sp>
          <p:nvSpPr>
            <p:cNvPr id="10" name="object 10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55987" y="3271394"/>
            <a:ext cx="1832610" cy="1372870"/>
            <a:chOff x="655987" y="3271394"/>
            <a:chExt cx="1832610" cy="1372870"/>
          </a:xfrm>
        </p:grpSpPr>
        <p:sp>
          <p:nvSpPr>
            <p:cNvPr id="21" name="object 21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38068" y="3444334"/>
            <a:ext cx="461645" cy="500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80137" y="4058376"/>
            <a:ext cx="2003425" cy="209550"/>
            <a:chOff x="880137" y="4058376"/>
            <a:chExt cx="2003425" cy="209550"/>
          </a:xfrm>
        </p:grpSpPr>
        <p:sp>
          <p:nvSpPr>
            <p:cNvPr id="30" name="object 30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155736" y="1863376"/>
            <a:ext cx="18618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5" dirty="0">
                <a:latin typeface="Times New Roman"/>
                <a:cs typeface="Times New Roman"/>
              </a:rPr>
              <a:t>(subject,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relation,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object)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01110" y="2758282"/>
            <a:ext cx="2193925" cy="654685"/>
            <a:chOff x="3001110" y="2758282"/>
            <a:chExt cx="2193925" cy="654685"/>
          </a:xfrm>
        </p:grpSpPr>
        <p:sp>
          <p:nvSpPr>
            <p:cNvPr id="36" name="object 36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2076847" y="644699"/>
                  </a:move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0" y="107452"/>
                  </a:move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211718" y="2966078"/>
            <a:ext cx="1773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Cloze</a:t>
            </a:r>
            <a:r>
              <a:rPr sz="1300" b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Statement</a:t>
            </a:r>
            <a:r>
              <a:rPr sz="1300" b="1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mbria"/>
                <a:cs typeface="Cambria"/>
              </a:rPr>
              <a:t>Maker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98910" y="4053581"/>
            <a:ext cx="1176020" cy="20066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00" spc="50" dirty="0">
                <a:latin typeface="Times New Roman"/>
                <a:cs typeface="Times New Roman"/>
              </a:rPr>
              <a:t>(question,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40" dirty="0">
                <a:latin typeface="Times New Roman"/>
                <a:cs typeface="Times New Roman"/>
              </a:rPr>
              <a:t>answer)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45393" y="4070481"/>
            <a:ext cx="461645" cy="5588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marR="14604" algn="ctr">
              <a:lnSpc>
                <a:spcPct val="100000"/>
              </a:lnSpc>
              <a:spcBef>
                <a:spcPts val="13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14604"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14604"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9424" y="4726323"/>
            <a:ext cx="162052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96372" y="4726648"/>
            <a:ext cx="44958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39" name="object 39"/>
          <p:cNvSpPr txBox="1"/>
          <p:nvPr/>
        </p:nvSpPr>
        <p:spPr>
          <a:xfrm>
            <a:off x="1821824" y="1217372"/>
            <a:ext cx="5943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3: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Create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cloze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statements,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either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manually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0" dirty="0">
                <a:latin typeface="Book Antiqua"/>
                <a:cs typeface="Book Antiqua"/>
              </a:rPr>
              <a:t> via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templates</a:t>
            </a:r>
            <a:endParaRPr sz="16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1112" y="1811437"/>
            <a:ext cx="2174240" cy="372745"/>
            <a:chOff x="3001112" y="1811437"/>
            <a:chExt cx="2174240" cy="372745"/>
          </a:xfrm>
        </p:grpSpPr>
        <p:sp>
          <p:nvSpPr>
            <p:cNvPr id="3" name="object 3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0" y="60501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55987" y="1744249"/>
            <a:ext cx="2227580" cy="1372870"/>
            <a:chOff x="655987" y="1744249"/>
            <a:chExt cx="2227580" cy="1372870"/>
          </a:xfrm>
        </p:grpSpPr>
        <p:sp>
          <p:nvSpPr>
            <p:cNvPr id="7" name="object 7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55987" y="3271394"/>
            <a:ext cx="1832610" cy="1372870"/>
            <a:chOff x="655987" y="3271394"/>
            <a:chExt cx="1832610" cy="1372870"/>
          </a:xfrm>
        </p:grpSpPr>
        <p:sp>
          <p:nvSpPr>
            <p:cNvPr id="18" name="object 18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8068" y="3444334"/>
            <a:ext cx="4616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72812" y="3751030"/>
            <a:ext cx="1398905" cy="516890"/>
            <a:chOff x="872812" y="3751030"/>
            <a:chExt cx="1398905" cy="516890"/>
          </a:xfrm>
        </p:grpSpPr>
        <p:sp>
          <p:nvSpPr>
            <p:cNvPr id="25" name="object 25"/>
            <p:cNvSpPr/>
            <p:nvPr/>
          </p:nvSpPr>
          <p:spPr>
            <a:xfrm>
              <a:off x="877575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7575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84900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4900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144884" y="1865048"/>
            <a:ext cx="19069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(Mozart,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BORN-</a:t>
            </a:r>
            <a:r>
              <a:rPr sz="1200" dirty="0">
                <a:latin typeface="Courier New"/>
                <a:cs typeface="Courier New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Austria</a:t>
            </a:r>
            <a:r>
              <a:rPr sz="1200" spc="-1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01110" y="2758282"/>
            <a:ext cx="2193925" cy="654685"/>
            <a:chOff x="3001110" y="2758282"/>
            <a:chExt cx="2193925" cy="654685"/>
          </a:xfrm>
        </p:grpSpPr>
        <p:sp>
          <p:nvSpPr>
            <p:cNvPr id="31" name="object 31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2076847" y="644699"/>
                  </a:move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0" y="107452"/>
                  </a:move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211718" y="2866065"/>
            <a:ext cx="177355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71170" marR="5080" indent="-45910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Cloze</a:t>
            </a:r>
            <a:r>
              <a:rPr sz="1300" b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Statement</a:t>
            </a:r>
            <a:r>
              <a:rPr sz="1300" b="1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mbria"/>
                <a:cs typeface="Cambria"/>
              </a:rPr>
              <a:t>Maker (Template)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09362" y="2142212"/>
            <a:ext cx="154305" cy="540385"/>
            <a:chOff x="4009362" y="2142212"/>
            <a:chExt cx="154305" cy="540385"/>
          </a:xfrm>
        </p:grpSpPr>
        <p:sp>
          <p:nvSpPr>
            <p:cNvPr id="35" name="object 35"/>
            <p:cNvSpPr/>
            <p:nvPr/>
          </p:nvSpPr>
          <p:spPr>
            <a:xfrm>
              <a:off x="4014125" y="2146974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72149" y="530699"/>
                  </a:moveTo>
                  <a:lnTo>
                    <a:pt x="0" y="458549"/>
                  </a:lnTo>
                  <a:lnTo>
                    <a:pt x="36074" y="458549"/>
                  </a:lnTo>
                  <a:lnTo>
                    <a:pt x="36074" y="0"/>
                  </a:lnTo>
                  <a:lnTo>
                    <a:pt x="108224" y="0"/>
                  </a:lnTo>
                  <a:lnTo>
                    <a:pt x="108224" y="458549"/>
                  </a:lnTo>
                  <a:lnTo>
                    <a:pt x="144299" y="458549"/>
                  </a:lnTo>
                  <a:lnTo>
                    <a:pt x="72149" y="530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14125" y="2146974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108224" y="0"/>
                  </a:moveTo>
                  <a:lnTo>
                    <a:pt x="108224" y="458549"/>
                  </a:lnTo>
                  <a:lnTo>
                    <a:pt x="144299" y="458549"/>
                  </a:lnTo>
                  <a:lnTo>
                    <a:pt x="72149" y="530699"/>
                  </a:lnTo>
                  <a:lnTo>
                    <a:pt x="0" y="458549"/>
                  </a:lnTo>
                  <a:lnTo>
                    <a:pt x="36074" y="458549"/>
                  </a:lnTo>
                  <a:lnTo>
                    <a:pt x="36074" y="0"/>
                  </a:lnTo>
                  <a:lnTo>
                    <a:pt x="108224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821824" y="1217372"/>
            <a:ext cx="5943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3: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Create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cloze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statements,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either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manually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0" dirty="0">
                <a:latin typeface="Book Antiqua"/>
                <a:cs typeface="Book Antiqua"/>
              </a:rPr>
              <a:t> via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templates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38068" y="3763135"/>
            <a:ext cx="468630" cy="866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marR="6985" algn="ctr">
              <a:lnSpc>
                <a:spcPct val="100000"/>
              </a:lnSpc>
              <a:spcBef>
                <a:spcPts val="13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78069" y="4685173"/>
            <a:ext cx="142367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dirty="0">
                <a:solidFill>
                  <a:srgbClr val="595959"/>
                </a:solidFill>
                <a:latin typeface="Cambria"/>
                <a:cs typeface="Cambria"/>
              </a:rPr>
              <a:t>Cloze</a:t>
            </a:r>
            <a:r>
              <a:rPr sz="1400" b="1" spc="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Statements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9424" y="4726323"/>
            <a:ext cx="162052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96372" y="4726648"/>
            <a:ext cx="44958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34124" y="2820049"/>
            <a:ext cx="2812415" cy="530860"/>
          </a:xfrm>
          <a:custGeom>
            <a:avLst/>
            <a:gdLst/>
            <a:ahLst/>
            <a:cxnLst/>
            <a:rect l="l" t="t" r="r" b="b"/>
            <a:pathLst>
              <a:path w="2812415" h="530860">
                <a:moveTo>
                  <a:pt x="0" y="88451"/>
                </a:moveTo>
                <a:lnTo>
                  <a:pt x="6950" y="54022"/>
                </a:lnTo>
                <a:lnTo>
                  <a:pt x="25906" y="25906"/>
                </a:lnTo>
                <a:lnTo>
                  <a:pt x="54022" y="6950"/>
                </a:lnTo>
                <a:lnTo>
                  <a:pt x="88451" y="0"/>
                </a:lnTo>
                <a:lnTo>
                  <a:pt x="2723748" y="0"/>
                </a:lnTo>
                <a:lnTo>
                  <a:pt x="2772821" y="14860"/>
                </a:lnTo>
                <a:lnTo>
                  <a:pt x="2805467" y="54602"/>
                </a:lnTo>
                <a:lnTo>
                  <a:pt x="2812199" y="88451"/>
                </a:lnTo>
                <a:lnTo>
                  <a:pt x="2812199" y="442248"/>
                </a:lnTo>
                <a:lnTo>
                  <a:pt x="2805248" y="476677"/>
                </a:lnTo>
                <a:lnTo>
                  <a:pt x="2786292" y="504793"/>
                </a:lnTo>
                <a:lnTo>
                  <a:pt x="2758177" y="523749"/>
                </a:lnTo>
                <a:lnTo>
                  <a:pt x="2723748" y="530699"/>
                </a:lnTo>
                <a:lnTo>
                  <a:pt x="88451" y="530699"/>
                </a:lnTo>
                <a:lnTo>
                  <a:pt x="54022" y="523749"/>
                </a:lnTo>
                <a:lnTo>
                  <a:pt x="25906" y="504793"/>
                </a:lnTo>
                <a:lnTo>
                  <a:pt x="6950" y="476677"/>
                </a:lnTo>
                <a:lnTo>
                  <a:pt x="0" y="442248"/>
                </a:lnTo>
                <a:lnTo>
                  <a:pt x="0" y="88451"/>
                </a:lnTo>
                <a:close/>
              </a:path>
              <a:path w="2812415" h="530860">
                <a:moveTo>
                  <a:pt x="0" y="88451"/>
                </a:moveTo>
                <a:lnTo>
                  <a:pt x="6950" y="54022"/>
                </a:lnTo>
                <a:lnTo>
                  <a:pt x="25906" y="25906"/>
                </a:lnTo>
                <a:lnTo>
                  <a:pt x="54022" y="6950"/>
                </a:lnTo>
                <a:lnTo>
                  <a:pt x="88451" y="0"/>
                </a:lnTo>
                <a:lnTo>
                  <a:pt x="2723748" y="0"/>
                </a:lnTo>
                <a:lnTo>
                  <a:pt x="2772821" y="14860"/>
                </a:lnTo>
                <a:lnTo>
                  <a:pt x="2805467" y="54602"/>
                </a:lnTo>
                <a:lnTo>
                  <a:pt x="2812199" y="88451"/>
                </a:lnTo>
                <a:lnTo>
                  <a:pt x="2812199" y="442248"/>
                </a:lnTo>
                <a:lnTo>
                  <a:pt x="2805248" y="476677"/>
                </a:lnTo>
                <a:lnTo>
                  <a:pt x="2786292" y="504793"/>
                </a:lnTo>
                <a:lnTo>
                  <a:pt x="2758177" y="523749"/>
                </a:lnTo>
                <a:lnTo>
                  <a:pt x="2723748" y="530699"/>
                </a:lnTo>
                <a:lnTo>
                  <a:pt x="88451" y="530699"/>
                </a:lnTo>
                <a:lnTo>
                  <a:pt x="54022" y="523749"/>
                </a:lnTo>
                <a:lnTo>
                  <a:pt x="25906" y="504793"/>
                </a:lnTo>
                <a:lnTo>
                  <a:pt x="6950" y="476677"/>
                </a:lnTo>
                <a:lnTo>
                  <a:pt x="0" y="442248"/>
                </a:lnTo>
                <a:lnTo>
                  <a:pt x="0" y="88451"/>
                </a:lnTo>
                <a:close/>
              </a:path>
            </a:pathLst>
          </a:custGeom>
          <a:ln w="19049">
            <a:solidFill>
              <a:srgbClr val="3C7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01112" y="1811437"/>
            <a:ext cx="2174240" cy="372745"/>
            <a:chOff x="3001112" y="1811437"/>
            <a:chExt cx="2174240" cy="372745"/>
          </a:xfrm>
        </p:grpSpPr>
        <p:sp>
          <p:nvSpPr>
            <p:cNvPr id="4" name="object 4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0" y="60501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55987" y="1744249"/>
            <a:ext cx="2227580" cy="1372870"/>
            <a:chOff x="655987" y="1744249"/>
            <a:chExt cx="2227580" cy="1372870"/>
          </a:xfrm>
        </p:grpSpPr>
        <p:sp>
          <p:nvSpPr>
            <p:cNvPr id="8" name="object 8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55987" y="3271394"/>
            <a:ext cx="1832610" cy="1372870"/>
            <a:chOff x="655987" y="3271394"/>
            <a:chExt cx="1832610" cy="1372870"/>
          </a:xfrm>
        </p:grpSpPr>
        <p:sp>
          <p:nvSpPr>
            <p:cNvPr id="19" name="object 19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38068" y="3444334"/>
            <a:ext cx="4616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72812" y="3751030"/>
            <a:ext cx="1398905" cy="516890"/>
            <a:chOff x="872812" y="3751030"/>
            <a:chExt cx="1398905" cy="516890"/>
          </a:xfrm>
        </p:grpSpPr>
        <p:sp>
          <p:nvSpPr>
            <p:cNvPr id="26" name="object 26"/>
            <p:cNvSpPr/>
            <p:nvPr/>
          </p:nvSpPr>
          <p:spPr>
            <a:xfrm>
              <a:off x="877575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7575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4900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4900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137249" y="1865048"/>
            <a:ext cx="19221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b="1" dirty="0">
                <a:solidFill>
                  <a:srgbClr val="674EA7"/>
                </a:solidFill>
                <a:latin typeface="Cambria"/>
                <a:cs typeface="Cambria"/>
              </a:rPr>
              <a:t>Mozart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C78D8"/>
                </a:solidFill>
                <a:latin typeface="Courier New"/>
                <a:cs typeface="Courier New"/>
              </a:rPr>
              <a:t>BORN-</a:t>
            </a:r>
            <a:r>
              <a:rPr sz="1200" b="1" dirty="0">
                <a:solidFill>
                  <a:srgbClr val="3C78D8"/>
                </a:solidFill>
                <a:latin typeface="Courier New"/>
                <a:cs typeface="Courier New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Austria</a:t>
            </a:r>
            <a:r>
              <a:rPr sz="1200" spc="-1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01110" y="2758282"/>
            <a:ext cx="2193925" cy="654685"/>
            <a:chOff x="3001110" y="2758282"/>
            <a:chExt cx="2193925" cy="654685"/>
          </a:xfrm>
        </p:grpSpPr>
        <p:sp>
          <p:nvSpPr>
            <p:cNvPr id="32" name="object 32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2076847" y="644699"/>
                  </a:move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0" y="107452"/>
                  </a:move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211718" y="2866065"/>
            <a:ext cx="177355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71170" marR="5080" indent="-45910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Cloze</a:t>
            </a:r>
            <a:r>
              <a:rPr sz="1300" b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Statement</a:t>
            </a:r>
            <a:r>
              <a:rPr sz="1300" b="1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mbria"/>
                <a:cs typeface="Cambria"/>
              </a:rPr>
              <a:t>Maker (Template)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743299" y="1850400"/>
            <a:ext cx="702310" cy="832485"/>
            <a:chOff x="3743299" y="1850400"/>
            <a:chExt cx="702310" cy="832485"/>
          </a:xfrm>
        </p:grpSpPr>
        <p:sp>
          <p:nvSpPr>
            <p:cNvPr id="36" name="object 36"/>
            <p:cNvSpPr/>
            <p:nvPr/>
          </p:nvSpPr>
          <p:spPr>
            <a:xfrm>
              <a:off x="4014124" y="2146975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72149" y="530699"/>
                  </a:moveTo>
                  <a:lnTo>
                    <a:pt x="0" y="458549"/>
                  </a:lnTo>
                  <a:lnTo>
                    <a:pt x="36074" y="458549"/>
                  </a:lnTo>
                  <a:lnTo>
                    <a:pt x="36074" y="0"/>
                  </a:lnTo>
                  <a:lnTo>
                    <a:pt x="108224" y="0"/>
                  </a:lnTo>
                  <a:lnTo>
                    <a:pt x="108224" y="458549"/>
                  </a:lnTo>
                  <a:lnTo>
                    <a:pt x="144299" y="458549"/>
                  </a:lnTo>
                  <a:lnTo>
                    <a:pt x="72149" y="5306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14124" y="2146975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108224" y="0"/>
                  </a:moveTo>
                  <a:lnTo>
                    <a:pt x="108224" y="458549"/>
                  </a:lnTo>
                  <a:lnTo>
                    <a:pt x="144299" y="458549"/>
                  </a:lnTo>
                  <a:lnTo>
                    <a:pt x="72149" y="530699"/>
                  </a:lnTo>
                  <a:lnTo>
                    <a:pt x="0" y="458549"/>
                  </a:lnTo>
                  <a:lnTo>
                    <a:pt x="36074" y="458549"/>
                  </a:lnTo>
                  <a:lnTo>
                    <a:pt x="36074" y="0"/>
                  </a:lnTo>
                  <a:lnTo>
                    <a:pt x="108224" y="0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52824" y="1859925"/>
              <a:ext cx="683260" cy="250190"/>
            </a:xfrm>
            <a:custGeom>
              <a:avLst/>
              <a:gdLst/>
              <a:ahLst/>
              <a:cxnLst/>
              <a:rect l="l" t="t" r="r" b="b"/>
              <a:pathLst>
                <a:path w="683260" h="250189">
                  <a:moveTo>
                    <a:pt x="0" y="41650"/>
                  </a:move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641449" y="0"/>
                  </a:lnTo>
                  <a:lnTo>
                    <a:pt x="676102" y="18542"/>
                  </a:lnTo>
                  <a:lnTo>
                    <a:pt x="683099" y="41650"/>
                  </a:lnTo>
                  <a:lnTo>
                    <a:pt x="683099" y="208249"/>
                  </a:lnTo>
                  <a:lnTo>
                    <a:pt x="679826" y="224461"/>
                  </a:lnTo>
                  <a:lnTo>
                    <a:pt x="670900" y="237700"/>
                  </a:lnTo>
                  <a:lnTo>
                    <a:pt x="657661" y="246626"/>
                  </a:lnTo>
                  <a:lnTo>
                    <a:pt x="641449" y="249899"/>
                  </a:ln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821824" y="1217372"/>
            <a:ext cx="5943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3: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Create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cloze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statements,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either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manually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0" dirty="0">
                <a:latin typeface="Book Antiqua"/>
                <a:cs typeface="Book Antiqua"/>
              </a:rPr>
              <a:t> via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templates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017236" y="2989377"/>
            <a:ext cx="621030" cy="192405"/>
          </a:xfrm>
          <a:custGeom>
            <a:avLst/>
            <a:gdLst/>
            <a:ahLst/>
            <a:cxnLst/>
            <a:rect l="l" t="t" r="r" b="b"/>
            <a:pathLst>
              <a:path w="621029" h="192405">
                <a:moveTo>
                  <a:pt x="620885" y="192023"/>
                </a:moveTo>
                <a:lnTo>
                  <a:pt x="0" y="192023"/>
                </a:lnTo>
                <a:lnTo>
                  <a:pt x="0" y="0"/>
                </a:lnTo>
                <a:lnTo>
                  <a:pt x="620885" y="0"/>
                </a:lnTo>
                <a:lnTo>
                  <a:pt x="620885" y="192023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953218" y="2952496"/>
            <a:ext cx="27743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“[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674EA7"/>
                </a:solidFill>
                <a:latin typeface="Courier New"/>
                <a:cs typeface="Courier New"/>
              </a:rPr>
              <a:t>SUBJECT</a:t>
            </a:r>
            <a:r>
              <a:rPr sz="1400" b="1" spc="-545" dirty="0">
                <a:solidFill>
                  <a:srgbClr val="674EA7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ambria"/>
                <a:cs typeface="Cambria"/>
              </a:rPr>
              <a:t>]</a:t>
            </a:r>
            <a:r>
              <a:rPr sz="1400" b="1" spc="-10" dirty="0"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Cambria"/>
                <a:cs typeface="Cambria"/>
              </a:rPr>
              <a:t>was </a:t>
            </a:r>
            <a:r>
              <a:rPr sz="1400" b="1" dirty="0">
                <a:solidFill>
                  <a:srgbClr val="3C78D8"/>
                </a:solidFill>
                <a:latin typeface="Cambria"/>
                <a:cs typeface="Cambria"/>
              </a:rPr>
              <a:t>born</a:t>
            </a:r>
            <a:r>
              <a:rPr sz="1400" b="1" spc="-10" dirty="0">
                <a:solidFill>
                  <a:srgbClr val="3C78D8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3C78D8"/>
                </a:solidFill>
                <a:latin typeface="Cambria"/>
                <a:cs typeface="Cambria"/>
              </a:rPr>
              <a:t>in</a:t>
            </a:r>
            <a:r>
              <a:rPr sz="1400" b="1" spc="-15" dirty="0">
                <a:solidFill>
                  <a:srgbClr val="3C78D8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[MASK]”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120812" y="3011087"/>
            <a:ext cx="754380" cy="145415"/>
            <a:chOff x="5120812" y="3011087"/>
            <a:chExt cx="754380" cy="145415"/>
          </a:xfrm>
        </p:grpSpPr>
        <p:sp>
          <p:nvSpPr>
            <p:cNvPr id="43" name="object 43"/>
            <p:cNvSpPr/>
            <p:nvPr/>
          </p:nvSpPr>
          <p:spPr>
            <a:xfrm>
              <a:off x="5125575" y="3015850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4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125575" y="3015850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4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316451" y="3386688"/>
            <a:ext cx="2148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manually</a:t>
            </a:r>
            <a:r>
              <a:rPr sz="14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dirty="0">
                <a:solidFill>
                  <a:srgbClr val="3C78D8"/>
                </a:solidFill>
                <a:latin typeface="Book Antiqua"/>
                <a:cs typeface="Book Antiqua"/>
              </a:rPr>
              <a:t>crafted</a:t>
            </a:r>
            <a:r>
              <a:rPr sz="14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template</a:t>
            </a:r>
            <a:endParaRPr sz="14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400" spc="60" dirty="0">
                <a:solidFill>
                  <a:srgbClr val="3C78D8"/>
                </a:solidFill>
                <a:latin typeface="Times New Roman"/>
                <a:cs typeface="Times New Roman"/>
              </a:rPr>
              <a:t>for</a:t>
            </a:r>
            <a:r>
              <a:rPr sz="1400" spc="-25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3C78D8"/>
                </a:solidFill>
                <a:latin typeface="Times New Roman"/>
                <a:cs typeface="Times New Roman"/>
              </a:rPr>
              <a:t>“</a:t>
            </a:r>
            <a:r>
              <a:rPr sz="1400" spc="-20" dirty="0">
                <a:solidFill>
                  <a:srgbClr val="3C78D8"/>
                </a:solidFill>
                <a:latin typeface="Courier New"/>
                <a:cs typeface="Courier New"/>
              </a:rPr>
              <a:t>BORN-</a:t>
            </a:r>
            <a:r>
              <a:rPr sz="1400" dirty="0">
                <a:solidFill>
                  <a:srgbClr val="3C78D8"/>
                </a:solidFill>
                <a:latin typeface="Courier New"/>
                <a:cs typeface="Courier New"/>
              </a:rPr>
              <a:t>IN</a:t>
            </a:r>
            <a:r>
              <a:rPr sz="1400" dirty="0">
                <a:solidFill>
                  <a:srgbClr val="3C78D8"/>
                </a:solidFill>
                <a:latin typeface="Times New Roman"/>
                <a:cs typeface="Times New Roman"/>
              </a:rPr>
              <a:t>”</a:t>
            </a:r>
            <a:r>
              <a:rPr sz="1400" spc="-2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3C78D8"/>
                </a:solidFill>
                <a:latin typeface="Times New Roman"/>
                <a:cs typeface="Times New Roman"/>
              </a:rPr>
              <a:t>relation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38068" y="3763135"/>
            <a:ext cx="468630" cy="866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marR="6985" algn="ctr">
              <a:lnSpc>
                <a:spcPct val="100000"/>
              </a:lnSpc>
              <a:spcBef>
                <a:spcPts val="13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78069" y="4685173"/>
            <a:ext cx="142367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dirty="0">
                <a:solidFill>
                  <a:srgbClr val="595959"/>
                </a:solidFill>
                <a:latin typeface="Cambria"/>
                <a:cs typeface="Cambria"/>
              </a:rPr>
              <a:t>Cloze</a:t>
            </a:r>
            <a:r>
              <a:rPr sz="1400" b="1" spc="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Statements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9424" y="4726323"/>
            <a:ext cx="162052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96372" y="4726648"/>
            <a:ext cx="44958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34124" y="2820049"/>
            <a:ext cx="2812415" cy="530860"/>
          </a:xfrm>
          <a:custGeom>
            <a:avLst/>
            <a:gdLst/>
            <a:ahLst/>
            <a:cxnLst/>
            <a:rect l="l" t="t" r="r" b="b"/>
            <a:pathLst>
              <a:path w="2812415" h="530860">
                <a:moveTo>
                  <a:pt x="0" y="88451"/>
                </a:moveTo>
                <a:lnTo>
                  <a:pt x="6950" y="54022"/>
                </a:lnTo>
                <a:lnTo>
                  <a:pt x="25906" y="25906"/>
                </a:lnTo>
                <a:lnTo>
                  <a:pt x="54022" y="6950"/>
                </a:lnTo>
                <a:lnTo>
                  <a:pt x="88451" y="0"/>
                </a:lnTo>
                <a:lnTo>
                  <a:pt x="2723748" y="0"/>
                </a:lnTo>
                <a:lnTo>
                  <a:pt x="2772821" y="14860"/>
                </a:lnTo>
                <a:lnTo>
                  <a:pt x="2805467" y="54602"/>
                </a:lnTo>
                <a:lnTo>
                  <a:pt x="2812199" y="88451"/>
                </a:lnTo>
                <a:lnTo>
                  <a:pt x="2812199" y="442248"/>
                </a:lnTo>
                <a:lnTo>
                  <a:pt x="2805248" y="476677"/>
                </a:lnTo>
                <a:lnTo>
                  <a:pt x="2786292" y="504793"/>
                </a:lnTo>
                <a:lnTo>
                  <a:pt x="2758177" y="523749"/>
                </a:lnTo>
                <a:lnTo>
                  <a:pt x="2723748" y="530699"/>
                </a:lnTo>
                <a:lnTo>
                  <a:pt x="88451" y="530699"/>
                </a:lnTo>
                <a:lnTo>
                  <a:pt x="54022" y="523749"/>
                </a:lnTo>
                <a:lnTo>
                  <a:pt x="25906" y="504793"/>
                </a:lnTo>
                <a:lnTo>
                  <a:pt x="6950" y="476677"/>
                </a:lnTo>
                <a:lnTo>
                  <a:pt x="0" y="442248"/>
                </a:lnTo>
                <a:lnTo>
                  <a:pt x="0" y="88451"/>
                </a:lnTo>
                <a:close/>
              </a:path>
              <a:path w="2812415" h="530860">
                <a:moveTo>
                  <a:pt x="0" y="88451"/>
                </a:moveTo>
                <a:lnTo>
                  <a:pt x="6950" y="54022"/>
                </a:lnTo>
                <a:lnTo>
                  <a:pt x="25906" y="25906"/>
                </a:lnTo>
                <a:lnTo>
                  <a:pt x="54022" y="6950"/>
                </a:lnTo>
                <a:lnTo>
                  <a:pt x="88451" y="0"/>
                </a:lnTo>
                <a:lnTo>
                  <a:pt x="2723748" y="0"/>
                </a:lnTo>
                <a:lnTo>
                  <a:pt x="2772821" y="14860"/>
                </a:lnTo>
                <a:lnTo>
                  <a:pt x="2805467" y="54602"/>
                </a:lnTo>
                <a:lnTo>
                  <a:pt x="2812199" y="88451"/>
                </a:lnTo>
                <a:lnTo>
                  <a:pt x="2812199" y="442248"/>
                </a:lnTo>
                <a:lnTo>
                  <a:pt x="2805248" y="476677"/>
                </a:lnTo>
                <a:lnTo>
                  <a:pt x="2786292" y="504793"/>
                </a:lnTo>
                <a:lnTo>
                  <a:pt x="2758177" y="523749"/>
                </a:lnTo>
                <a:lnTo>
                  <a:pt x="2723748" y="530699"/>
                </a:lnTo>
                <a:lnTo>
                  <a:pt x="88451" y="530699"/>
                </a:lnTo>
                <a:lnTo>
                  <a:pt x="54022" y="523749"/>
                </a:lnTo>
                <a:lnTo>
                  <a:pt x="25906" y="504793"/>
                </a:lnTo>
                <a:lnTo>
                  <a:pt x="6950" y="476677"/>
                </a:lnTo>
                <a:lnTo>
                  <a:pt x="0" y="442248"/>
                </a:lnTo>
                <a:lnTo>
                  <a:pt x="0" y="88451"/>
                </a:lnTo>
                <a:close/>
              </a:path>
            </a:pathLst>
          </a:custGeom>
          <a:ln w="19049">
            <a:solidFill>
              <a:srgbClr val="3C7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01112" y="1811437"/>
            <a:ext cx="2174240" cy="372745"/>
            <a:chOff x="3001112" y="1811437"/>
            <a:chExt cx="2174240" cy="372745"/>
          </a:xfrm>
        </p:grpSpPr>
        <p:sp>
          <p:nvSpPr>
            <p:cNvPr id="4" name="object 4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0" y="60501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60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5987" y="1744249"/>
            <a:ext cx="2227580" cy="1372870"/>
            <a:chOff x="655987" y="1744249"/>
            <a:chExt cx="2227580" cy="1372870"/>
          </a:xfrm>
        </p:grpSpPr>
        <p:sp>
          <p:nvSpPr>
            <p:cNvPr id="9" name="object 9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55987" y="3271394"/>
            <a:ext cx="1832610" cy="1372870"/>
            <a:chOff x="655987" y="3271394"/>
            <a:chExt cx="1832610" cy="1372870"/>
          </a:xfrm>
        </p:grpSpPr>
        <p:sp>
          <p:nvSpPr>
            <p:cNvPr id="20" name="object 20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38068" y="3444334"/>
            <a:ext cx="468630" cy="117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marR="6985" algn="ctr">
              <a:lnSpc>
                <a:spcPct val="100000"/>
              </a:lnSpc>
              <a:spcBef>
                <a:spcPts val="13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37249" y="1865048"/>
            <a:ext cx="19221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b="1" dirty="0">
                <a:solidFill>
                  <a:srgbClr val="674EA7"/>
                </a:solidFill>
                <a:latin typeface="Cambria"/>
                <a:cs typeface="Cambria"/>
              </a:rPr>
              <a:t>Mozart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C78D8"/>
                </a:solidFill>
                <a:latin typeface="Courier New"/>
                <a:cs typeface="Courier New"/>
              </a:rPr>
              <a:t>BORN-</a:t>
            </a:r>
            <a:r>
              <a:rPr sz="1200" b="1" dirty="0">
                <a:solidFill>
                  <a:srgbClr val="3C78D8"/>
                </a:solidFill>
                <a:latin typeface="Courier New"/>
                <a:cs typeface="Courier New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Austria</a:t>
            </a:r>
            <a:r>
              <a:rPr sz="1200" spc="-1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9424" y="4711744"/>
            <a:ext cx="1620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78069" y="4670594"/>
            <a:ext cx="14236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95959"/>
                </a:solidFill>
                <a:latin typeface="Cambria"/>
                <a:cs typeface="Cambria"/>
              </a:rPr>
              <a:t>Cloze</a:t>
            </a:r>
            <a:r>
              <a:rPr sz="1400" b="1" spc="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Statements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001110" y="2758282"/>
            <a:ext cx="2193925" cy="654685"/>
            <a:chOff x="3001110" y="2758282"/>
            <a:chExt cx="2193925" cy="654685"/>
          </a:xfrm>
        </p:grpSpPr>
        <p:sp>
          <p:nvSpPr>
            <p:cNvPr id="34" name="object 34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2076847" y="644699"/>
                  </a:move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0" y="107452"/>
                  </a:move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211718" y="2866065"/>
            <a:ext cx="177355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71170" marR="5080" indent="-45910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Cloze</a:t>
            </a:r>
            <a:r>
              <a:rPr sz="1300" b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Statement</a:t>
            </a:r>
            <a:r>
              <a:rPr sz="1300" b="1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mbria"/>
                <a:cs typeface="Cambria"/>
              </a:rPr>
              <a:t>Maker (Template)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743299" y="1850400"/>
            <a:ext cx="702310" cy="832485"/>
            <a:chOff x="3743299" y="1850400"/>
            <a:chExt cx="702310" cy="832485"/>
          </a:xfrm>
        </p:grpSpPr>
        <p:sp>
          <p:nvSpPr>
            <p:cNvPr id="38" name="object 38"/>
            <p:cNvSpPr/>
            <p:nvPr/>
          </p:nvSpPr>
          <p:spPr>
            <a:xfrm>
              <a:off x="4014124" y="2146975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72149" y="530699"/>
                  </a:moveTo>
                  <a:lnTo>
                    <a:pt x="0" y="458549"/>
                  </a:lnTo>
                  <a:lnTo>
                    <a:pt x="36074" y="458549"/>
                  </a:lnTo>
                  <a:lnTo>
                    <a:pt x="36074" y="0"/>
                  </a:lnTo>
                  <a:lnTo>
                    <a:pt x="108224" y="0"/>
                  </a:lnTo>
                  <a:lnTo>
                    <a:pt x="108224" y="458549"/>
                  </a:lnTo>
                  <a:lnTo>
                    <a:pt x="144299" y="458549"/>
                  </a:lnTo>
                  <a:lnTo>
                    <a:pt x="72149" y="5306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14124" y="2146975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108224" y="0"/>
                  </a:moveTo>
                  <a:lnTo>
                    <a:pt x="108224" y="458549"/>
                  </a:lnTo>
                  <a:lnTo>
                    <a:pt x="144299" y="458549"/>
                  </a:lnTo>
                  <a:lnTo>
                    <a:pt x="72149" y="530699"/>
                  </a:lnTo>
                  <a:lnTo>
                    <a:pt x="0" y="458549"/>
                  </a:lnTo>
                  <a:lnTo>
                    <a:pt x="36074" y="458549"/>
                  </a:lnTo>
                  <a:lnTo>
                    <a:pt x="36074" y="0"/>
                  </a:lnTo>
                  <a:lnTo>
                    <a:pt x="108224" y="0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752824" y="1859925"/>
              <a:ext cx="683260" cy="250190"/>
            </a:xfrm>
            <a:custGeom>
              <a:avLst/>
              <a:gdLst/>
              <a:ahLst/>
              <a:cxnLst/>
              <a:rect l="l" t="t" r="r" b="b"/>
              <a:pathLst>
                <a:path w="683260" h="250189">
                  <a:moveTo>
                    <a:pt x="0" y="41650"/>
                  </a:move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641449" y="0"/>
                  </a:lnTo>
                  <a:lnTo>
                    <a:pt x="676102" y="18542"/>
                  </a:lnTo>
                  <a:lnTo>
                    <a:pt x="683099" y="41650"/>
                  </a:lnTo>
                  <a:lnTo>
                    <a:pt x="683099" y="208249"/>
                  </a:lnTo>
                  <a:lnTo>
                    <a:pt x="679826" y="224461"/>
                  </a:lnTo>
                  <a:lnTo>
                    <a:pt x="670900" y="237700"/>
                  </a:lnTo>
                  <a:lnTo>
                    <a:pt x="657661" y="246626"/>
                  </a:lnTo>
                  <a:lnTo>
                    <a:pt x="641449" y="249899"/>
                  </a:ln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821824" y="1217372"/>
            <a:ext cx="5943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3: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Create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cloze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statements,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either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manually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0" dirty="0">
                <a:latin typeface="Book Antiqua"/>
                <a:cs typeface="Book Antiqua"/>
              </a:rPr>
              <a:t> via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templates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017236" y="2989377"/>
            <a:ext cx="621030" cy="192405"/>
          </a:xfrm>
          <a:custGeom>
            <a:avLst/>
            <a:gdLst/>
            <a:ahLst/>
            <a:cxnLst/>
            <a:rect l="l" t="t" r="r" b="b"/>
            <a:pathLst>
              <a:path w="621029" h="192405">
                <a:moveTo>
                  <a:pt x="620885" y="192023"/>
                </a:moveTo>
                <a:lnTo>
                  <a:pt x="0" y="192023"/>
                </a:lnTo>
                <a:lnTo>
                  <a:pt x="0" y="0"/>
                </a:lnTo>
                <a:lnTo>
                  <a:pt x="620885" y="0"/>
                </a:lnTo>
                <a:lnTo>
                  <a:pt x="620885" y="192023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953218" y="2952496"/>
            <a:ext cx="27743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“[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674EA7"/>
                </a:solidFill>
                <a:latin typeface="Courier New"/>
                <a:cs typeface="Courier New"/>
              </a:rPr>
              <a:t>SUBJECT</a:t>
            </a:r>
            <a:r>
              <a:rPr sz="1400" b="1" spc="-545" dirty="0">
                <a:solidFill>
                  <a:srgbClr val="674EA7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ambria"/>
                <a:cs typeface="Cambria"/>
              </a:rPr>
              <a:t>]</a:t>
            </a:r>
            <a:r>
              <a:rPr sz="1400" b="1" spc="-10" dirty="0"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Cambria"/>
                <a:cs typeface="Cambria"/>
              </a:rPr>
              <a:t>was </a:t>
            </a:r>
            <a:r>
              <a:rPr sz="1400" b="1" dirty="0">
                <a:solidFill>
                  <a:srgbClr val="3C78D8"/>
                </a:solidFill>
                <a:latin typeface="Cambria"/>
                <a:cs typeface="Cambria"/>
              </a:rPr>
              <a:t>born</a:t>
            </a:r>
            <a:r>
              <a:rPr sz="1400" b="1" spc="-10" dirty="0">
                <a:solidFill>
                  <a:srgbClr val="3C78D8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3C78D8"/>
                </a:solidFill>
                <a:latin typeface="Cambria"/>
                <a:cs typeface="Cambria"/>
              </a:rPr>
              <a:t>in</a:t>
            </a:r>
            <a:r>
              <a:rPr sz="1400" b="1" spc="-15" dirty="0">
                <a:solidFill>
                  <a:srgbClr val="3C78D8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[MASK]”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164525" y="1607516"/>
            <a:ext cx="3760470" cy="1610995"/>
            <a:chOff x="3164525" y="1607516"/>
            <a:chExt cx="3760470" cy="1610995"/>
          </a:xfrm>
        </p:grpSpPr>
        <p:sp>
          <p:nvSpPr>
            <p:cNvPr id="45" name="object 45"/>
            <p:cNvSpPr/>
            <p:nvPr/>
          </p:nvSpPr>
          <p:spPr>
            <a:xfrm>
              <a:off x="3174050" y="1859924"/>
              <a:ext cx="549275" cy="250190"/>
            </a:xfrm>
            <a:custGeom>
              <a:avLst/>
              <a:gdLst/>
              <a:ahLst/>
              <a:cxnLst/>
              <a:rect l="l" t="t" r="r" b="b"/>
              <a:pathLst>
                <a:path w="549275" h="250189">
                  <a:moveTo>
                    <a:pt x="0" y="41650"/>
                  </a:move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507049" y="0"/>
                  </a:lnTo>
                  <a:lnTo>
                    <a:pt x="541702" y="18542"/>
                  </a:lnTo>
                  <a:lnTo>
                    <a:pt x="548699" y="41650"/>
                  </a:lnTo>
                  <a:lnTo>
                    <a:pt x="548699" y="208249"/>
                  </a:lnTo>
                  <a:lnTo>
                    <a:pt x="545426" y="224461"/>
                  </a:lnTo>
                  <a:lnTo>
                    <a:pt x="536500" y="237700"/>
                  </a:lnTo>
                  <a:lnTo>
                    <a:pt x="523261" y="246626"/>
                  </a:lnTo>
                  <a:lnTo>
                    <a:pt x="507049" y="249899"/>
                  </a:ln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close/>
                </a:path>
              </a:pathLst>
            </a:custGeom>
            <a:ln w="19049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125575" y="3015850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4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25575" y="3015850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4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48400" y="1621804"/>
              <a:ext cx="3071495" cy="1239520"/>
            </a:xfrm>
            <a:custGeom>
              <a:avLst/>
              <a:gdLst/>
              <a:ahLst/>
              <a:cxnLst/>
              <a:rect l="l" t="t" r="r" b="b"/>
              <a:pathLst>
                <a:path w="3071495" h="1239520">
                  <a:moveTo>
                    <a:pt x="0" y="238120"/>
                  </a:moveTo>
                  <a:lnTo>
                    <a:pt x="0" y="0"/>
                  </a:lnTo>
                  <a:lnTo>
                    <a:pt x="3071399" y="0"/>
                  </a:lnTo>
                  <a:lnTo>
                    <a:pt x="3071399" y="1239091"/>
                  </a:lnTo>
                </a:path>
              </a:pathLst>
            </a:custGeom>
            <a:ln w="2857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24475" y="2958700"/>
              <a:ext cx="791210" cy="250190"/>
            </a:xfrm>
            <a:custGeom>
              <a:avLst/>
              <a:gdLst/>
              <a:ahLst/>
              <a:cxnLst/>
              <a:rect l="l" t="t" r="r" b="b"/>
              <a:pathLst>
                <a:path w="791209" h="250189">
                  <a:moveTo>
                    <a:pt x="749149" y="249899"/>
                  </a:move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749149" y="0"/>
                  </a:lnTo>
                  <a:lnTo>
                    <a:pt x="783802" y="18542"/>
                  </a:lnTo>
                  <a:lnTo>
                    <a:pt x="790799" y="41650"/>
                  </a:lnTo>
                  <a:lnTo>
                    <a:pt x="790799" y="208249"/>
                  </a:lnTo>
                  <a:lnTo>
                    <a:pt x="787526" y="224461"/>
                  </a:lnTo>
                  <a:lnTo>
                    <a:pt x="778600" y="237700"/>
                  </a:lnTo>
                  <a:lnTo>
                    <a:pt x="765361" y="246626"/>
                  </a:lnTo>
                  <a:lnTo>
                    <a:pt x="749149" y="249899"/>
                  </a:lnTo>
                  <a:close/>
                </a:path>
              </a:pathLst>
            </a:custGeom>
            <a:solidFill>
              <a:srgbClr val="674EA7">
                <a:alpha val="261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124475" y="2958700"/>
              <a:ext cx="791210" cy="250190"/>
            </a:xfrm>
            <a:custGeom>
              <a:avLst/>
              <a:gdLst/>
              <a:ahLst/>
              <a:cxnLst/>
              <a:rect l="l" t="t" r="r" b="b"/>
              <a:pathLst>
                <a:path w="791209" h="250189">
                  <a:moveTo>
                    <a:pt x="0" y="41650"/>
                  </a:move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749149" y="0"/>
                  </a:lnTo>
                  <a:lnTo>
                    <a:pt x="783802" y="18542"/>
                  </a:lnTo>
                  <a:lnTo>
                    <a:pt x="790799" y="41650"/>
                  </a:lnTo>
                  <a:lnTo>
                    <a:pt x="790799" y="208249"/>
                  </a:lnTo>
                  <a:lnTo>
                    <a:pt x="787526" y="224461"/>
                  </a:lnTo>
                  <a:lnTo>
                    <a:pt x="778600" y="237700"/>
                  </a:lnTo>
                  <a:lnTo>
                    <a:pt x="765361" y="246626"/>
                  </a:lnTo>
                  <a:lnTo>
                    <a:pt x="749149" y="249899"/>
                  </a:ln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close/>
                </a:path>
              </a:pathLst>
            </a:custGeom>
            <a:ln w="19049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3377" y="2814473"/>
              <a:ext cx="92844" cy="116865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3896372" y="4712069"/>
            <a:ext cx="4495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16451" y="3386688"/>
            <a:ext cx="2148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manually</a:t>
            </a:r>
            <a:r>
              <a:rPr sz="14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dirty="0">
                <a:solidFill>
                  <a:srgbClr val="3C78D8"/>
                </a:solidFill>
                <a:latin typeface="Book Antiqua"/>
                <a:cs typeface="Book Antiqua"/>
              </a:rPr>
              <a:t>crafted</a:t>
            </a:r>
            <a:r>
              <a:rPr sz="14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template</a:t>
            </a:r>
            <a:endParaRPr sz="14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400" spc="60" dirty="0">
                <a:solidFill>
                  <a:srgbClr val="3C78D8"/>
                </a:solidFill>
                <a:latin typeface="Times New Roman"/>
                <a:cs typeface="Times New Roman"/>
              </a:rPr>
              <a:t>for</a:t>
            </a:r>
            <a:r>
              <a:rPr sz="1400" spc="-25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3C78D8"/>
                </a:solidFill>
                <a:latin typeface="Times New Roman"/>
                <a:cs typeface="Times New Roman"/>
              </a:rPr>
              <a:t>“</a:t>
            </a:r>
            <a:r>
              <a:rPr sz="1400" spc="-20" dirty="0">
                <a:solidFill>
                  <a:srgbClr val="3C78D8"/>
                </a:solidFill>
                <a:latin typeface="Courier New"/>
                <a:cs typeface="Courier New"/>
              </a:rPr>
              <a:t>BORN-</a:t>
            </a:r>
            <a:r>
              <a:rPr sz="1400" dirty="0">
                <a:solidFill>
                  <a:srgbClr val="3C78D8"/>
                </a:solidFill>
                <a:latin typeface="Courier New"/>
                <a:cs typeface="Courier New"/>
              </a:rPr>
              <a:t>IN</a:t>
            </a:r>
            <a:r>
              <a:rPr sz="1400" dirty="0">
                <a:solidFill>
                  <a:srgbClr val="3C78D8"/>
                </a:solidFill>
                <a:latin typeface="Times New Roman"/>
                <a:cs typeface="Times New Roman"/>
              </a:rPr>
              <a:t>”</a:t>
            </a:r>
            <a:r>
              <a:rPr sz="1400" spc="-2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3C78D8"/>
                </a:solidFill>
                <a:latin typeface="Times New Roman"/>
                <a:cs typeface="Times New Roman"/>
              </a:rPr>
              <a:t>relation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3601" y="2989377"/>
            <a:ext cx="621030" cy="192405"/>
          </a:xfrm>
          <a:custGeom>
            <a:avLst/>
            <a:gdLst/>
            <a:ahLst/>
            <a:cxnLst/>
            <a:rect l="l" t="t" r="r" b="b"/>
            <a:pathLst>
              <a:path w="621029" h="192405">
                <a:moveTo>
                  <a:pt x="620885" y="192023"/>
                </a:moveTo>
                <a:lnTo>
                  <a:pt x="0" y="192023"/>
                </a:lnTo>
                <a:lnTo>
                  <a:pt x="0" y="0"/>
                </a:lnTo>
                <a:lnTo>
                  <a:pt x="620885" y="0"/>
                </a:lnTo>
                <a:lnTo>
                  <a:pt x="620885" y="192023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16852" y="2952496"/>
            <a:ext cx="24472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“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Mozart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was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born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in</a:t>
            </a:r>
            <a:r>
              <a:rPr sz="1400" b="1" spc="-10" dirty="0">
                <a:latin typeface="Cambria"/>
                <a:cs typeface="Cambria"/>
              </a:rPr>
              <a:t> [MASK]”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01112" y="1811437"/>
            <a:ext cx="5755005" cy="1549400"/>
            <a:chOff x="3001112" y="1811437"/>
            <a:chExt cx="5755005" cy="1549400"/>
          </a:xfrm>
        </p:grpSpPr>
        <p:sp>
          <p:nvSpPr>
            <p:cNvPr id="5" name="object 5"/>
            <p:cNvSpPr/>
            <p:nvPr/>
          </p:nvSpPr>
          <p:spPr>
            <a:xfrm>
              <a:off x="5934124" y="2820049"/>
              <a:ext cx="2812415" cy="530860"/>
            </a:xfrm>
            <a:custGeom>
              <a:avLst/>
              <a:gdLst/>
              <a:ahLst/>
              <a:cxnLst/>
              <a:rect l="l" t="t" r="r" b="b"/>
              <a:pathLst>
                <a:path w="2812415" h="530860">
                  <a:moveTo>
                    <a:pt x="0" y="88451"/>
                  </a:moveTo>
                  <a:lnTo>
                    <a:pt x="6950" y="54022"/>
                  </a:lnTo>
                  <a:lnTo>
                    <a:pt x="25906" y="25906"/>
                  </a:lnTo>
                  <a:lnTo>
                    <a:pt x="54022" y="6950"/>
                  </a:lnTo>
                  <a:lnTo>
                    <a:pt x="88451" y="0"/>
                  </a:lnTo>
                  <a:lnTo>
                    <a:pt x="2723748" y="0"/>
                  </a:lnTo>
                  <a:lnTo>
                    <a:pt x="2772821" y="14860"/>
                  </a:lnTo>
                  <a:lnTo>
                    <a:pt x="2805467" y="54602"/>
                  </a:lnTo>
                  <a:lnTo>
                    <a:pt x="2812199" y="88451"/>
                  </a:lnTo>
                  <a:lnTo>
                    <a:pt x="2812199" y="442248"/>
                  </a:lnTo>
                  <a:lnTo>
                    <a:pt x="2805248" y="476677"/>
                  </a:lnTo>
                  <a:lnTo>
                    <a:pt x="2786292" y="504793"/>
                  </a:lnTo>
                  <a:lnTo>
                    <a:pt x="2758177" y="523749"/>
                  </a:lnTo>
                  <a:lnTo>
                    <a:pt x="2723748" y="530699"/>
                  </a:lnTo>
                  <a:lnTo>
                    <a:pt x="88451" y="530699"/>
                  </a:lnTo>
                  <a:lnTo>
                    <a:pt x="54022" y="523749"/>
                  </a:lnTo>
                  <a:lnTo>
                    <a:pt x="25906" y="504793"/>
                  </a:lnTo>
                  <a:lnTo>
                    <a:pt x="6950" y="476677"/>
                  </a:lnTo>
                  <a:lnTo>
                    <a:pt x="0" y="442248"/>
                  </a:lnTo>
                  <a:lnTo>
                    <a:pt x="0" y="88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20424" y="2958700"/>
              <a:ext cx="618490" cy="250190"/>
            </a:xfrm>
            <a:custGeom>
              <a:avLst/>
              <a:gdLst/>
              <a:ahLst/>
              <a:cxnLst/>
              <a:rect l="l" t="t" r="r" b="b"/>
              <a:pathLst>
                <a:path w="618490" h="250189">
                  <a:moveTo>
                    <a:pt x="576649" y="249899"/>
                  </a:move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576649" y="0"/>
                  </a:lnTo>
                  <a:lnTo>
                    <a:pt x="611302" y="18542"/>
                  </a:lnTo>
                  <a:lnTo>
                    <a:pt x="618299" y="41650"/>
                  </a:lnTo>
                  <a:lnTo>
                    <a:pt x="618299" y="208249"/>
                  </a:lnTo>
                  <a:lnTo>
                    <a:pt x="615026" y="224461"/>
                  </a:lnTo>
                  <a:lnTo>
                    <a:pt x="606100" y="237700"/>
                  </a:lnTo>
                  <a:lnTo>
                    <a:pt x="592861" y="246626"/>
                  </a:lnTo>
                  <a:lnTo>
                    <a:pt x="576649" y="249899"/>
                  </a:lnTo>
                  <a:close/>
                </a:path>
              </a:pathLst>
            </a:custGeom>
            <a:solidFill>
              <a:srgbClr val="674EA7">
                <a:alpha val="261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20424" y="2958700"/>
              <a:ext cx="618490" cy="250190"/>
            </a:xfrm>
            <a:custGeom>
              <a:avLst/>
              <a:gdLst/>
              <a:ahLst/>
              <a:cxnLst/>
              <a:rect l="l" t="t" r="r" b="b"/>
              <a:pathLst>
                <a:path w="618490" h="250189">
                  <a:moveTo>
                    <a:pt x="0" y="41650"/>
                  </a:move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576649" y="0"/>
                  </a:lnTo>
                  <a:lnTo>
                    <a:pt x="611302" y="18542"/>
                  </a:lnTo>
                  <a:lnTo>
                    <a:pt x="618299" y="41650"/>
                  </a:lnTo>
                  <a:lnTo>
                    <a:pt x="618299" y="208249"/>
                  </a:lnTo>
                  <a:lnTo>
                    <a:pt x="615026" y="224461"/>
                  </a:lnTo>
                  <a:lnTo>
                    <a:pt x="606100" y="237700"/>
                  </a:lnTo>
                  <a:lnTo>
                    <a:pt x="592861" y="246626"/>
                  </a:lnTo>
                  <a:lnTo>
                    <a:pt x="576649" y="249899"/>
                  </a:ln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close/>
                </a:path>
              </a:pathLst>
            </a:custGeom>
            <a:ln w="19049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05875" y="181619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19">
                  <a:moveTo>
                    <a:pt x="0" y="60501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1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1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655987" y="1744249"/>
            <a:ext cx="2227580" cy="1372870"/>
            <a:chOff x="655987" y="1744249"/>
            <a:chExt cx="2227580" cy="1372870"/>
          </a:xfrm>
        </p:grpSpPr>
        <p:sp>
          <p:nvSpPr>
            <p:cNvPr id="12" name="object 12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34074" y="1900312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55987" y="3271394"/>
            <a:ext cx="1832610" cy="1372870"/>
            <a:chOff x="655987" y="3271394"/>
            <a:chExt cx="1832610" cy="1372870"/>
          </a:xfrm>
        </p:grpSpPr>
        <p:sp>
          <p:nvSpPr>
            <p:cNvPr id="23" name="object 23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38068" y="3444334"/>
            <a:ext cx="468630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37249" y="1865048"/>
            <a:ext cx="19221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b="1" dirty="0">
                <a:solidFill>
                  <a:srgbClr val="674EA7"/>
                </a:solidFill>
                <a:latin typeface="Cambria"/>
                <a:cs typeface="Cambria"/>
              </a:rPr>
              <a:t>Mozart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C78D8"/>
                </a:solidFill>
                <a:latin typeface="Courier New"/>
                <a:cs typeface="Courier New"/>
              </a:rPr>
              <a:t>BORN-</a:t>
            </a:r>
            <a:r>
              <a:rPr sz="1200" b="1" dirty="0">
                <a:solidFill>
                  <a:srgbClr val="3C78D8"/>
                </a:solidFill>
                <a:latin typeface="Courier New"/>
                <a:cs typeface="Courier New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Austria</a:t>
            </a:r>
            <a:r>
              <a:rPr sz="1200" spc="-1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001110" y="2758282"/>
            <a:ext cx="2193925" cy="654685"/>
            <a:chOff x="3001110" y="2758282"/>
            <a:chExt cx="2193925" cy="654685"/>
          </a:xfrm>
        </p:grpSpPr>
        <p:sp>
          <p:nvSpPr>
            <p:cNvPr id="35" name="object 35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2076847" y="644699"/>
                  </a:move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0" y="107452"/>
                  </a:move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11718" y="2866065"/>
            <a:ext cx="177355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71170" marR="5080" indent="-45910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Cloze</a:t>
            </a:r>
            <a:r>
              <a:rPr sz="1300" b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Statement</a:t>
            </a:r>
            <a:r>
              <a:rPr sz="1300" b="1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mbria"/>
                <a:cs typeface="Cambria"/>
              </a:rPr>
              <a:t>Maker (Template)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164525" y="1607516"/>
            <a:ext cx="3411854" cy="1548765"/>
            <a:chOff x="3164525" y="1607516"/>
            <a:chExt cx="3411854" cy="1548765"/>
          </a:xfrm>
        </p:grpSpPr>
        <p:sp>
          <p:nvSpPr>
            <p:cNvPr id="39" name="object 39"/>
            <p:cNvSpPr/>
            <p:nvPr/>
          </p:nvSpPr>
          <p:spPr>
            <a:xfrm>
              <a:off x="4014125" y="2146975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72149" y="530699"/>
                  </a:moveTo>
                  <a:lnTo>
                    <a:pt x="0" y="458549"/>
                  </a:lnTo>
                  <a:lnTo>
                    <a:pt x="36074" y="458549"/>
                  </a:lnTo>
                  <a:lnTo>
                    <a:pt x="36074" y="0"/>
                  </a:lnTo>
                  <a:lnTo>
                    <a:pt x="108224" y="0"/>
                  </a:lnTo>
                  <a:lnTo>
                    <a:pt x="108224" y="458549"/>
                  </a:lnTo>
                  <a:lnTo>
                    <a:pt x="144299" y="458549"/>
                  </a:lnTo>
                  <a:lnTo>
                    <a:pt x="72149" y="5306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14125" y="2146975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108224" y="0"/>
                  </a:moveTo>
                  <a:lnTo>
                    <a:pt x="108224" y="458549"/>
                  </a:lnTo>
                  <a:lnTo>
                    <a:pt x="144299" y="458549"/>
                  </a:lnTo>
                  <a:lnTo>
                    <a:pt x="72149" y="530699"/>
                  </a:lnTo>
                  <a:lnTo>
                    <a:pt x="0" y="458549"/>
                  </a:lnTo>
                  <a:lnTo>
                    <a:pt x="36074" y="458549"/>
                  </a:lnTo>
                  <a:lnTo>
                    <a:pt x="36074" y="0"/>
                  </a:lnTo>
                  <a:lnTo>
                    <a:pt x="108224" y="0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752825" y="1859924"/>
              <a:ext cx="683260" cy="250190"/>
            </a:xfrm>
            <a:custGeom>
              <a:avLst/>
              <a:gdLst/>
              <a:ahLst/>
              <a:cxnLst/>
              <a:rect l="l" t="t" r="r" b="b"/>
              <a:pathLst>
                <a:path w="683260" h="250189">
                  <a:moveTo>
                    <a:pt x="0" y="41650"/>
                  </a:move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641449" y="0"/>
                  </a:lnTo>
                  <a:lnTo>
                    <a:pt x="676102" y="18542"/>
                  </a:lnTo>
                  <a:lnTo>
                    <a:pt x="683099" y="41650"/>
                  </a:lnTo>
                  <a:lnTo>
                    <a:pt x="683099" y="208249"/>
                  </a:lnTo>
                  <a:lnTo>
                    <a:pt x="679826" y="224461"/>
                  </a:lnTo>
                  <a:lnTo>
                    <a:pt x="670900" y="237700"/>
                  </a:lnTo>
                  <a:lnTo>
                    <a:pt x="657661" y="246626"/>
                  </a:lnTo>
                  <a:lnTo>
                    <a:pt x="641449" y="249899"/>
                  </a:ln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74050" y="1859924"/>
              <a:ext cx="549275" cy="250190"/>
            </a:xfrm>
            <a:custGeom>
              <a:avLst/>
              <a:gdLst/>
              <a:ahLst/>
              <a:cxnLst/>
              <a:rect l="l" t="t" r="r" b="b"/>
              <a:pathLst>
                <a:path w="549275" h="250189">
                  <a:moveTo>
                    <a:pt x="0" y="41650"/>
                  </a:moveTo>
                  <a:lnTo>
                    <a:pt x="3273" y="25438"/>
                  </a:lnTo>
                  <a:lnTo>
                    <a:pt x="12199" y="12199"/>
                  </a:lnTo>
                  <a:lnTo>
                    <a:pt x="25438" y="3273"/>
                  </a:lnTo>
                  <a:lnTo>
                    <a:pt x="41650" y="0"/>
                  </a:lnTo>
                  <a:lnTo>
                    <a:pt x="507049" y="0"/>
                  </a:lnTo>
                  <a:lnTo>
                    <a:pt x="541702" y="18542"/>
                  </a:lnTo>
                  <a:lnTo>
                    <a:pt x="548699" y="41650"/>
                  </a:lnTo>
                  <a:lnTo>
                    <a:pt x="548699" y="208249"/>
                  </a:lnTo>
                  <a:lnTo>
                    <a:pt x="545426" y="224461"/>
                  </a:lnTo>
                  <a:lnTo>
                    <a:pt x="536500" y="237700"/>
                  </a:lnTo>
                  <a:lnTo>
                    <a:pt x="523261" y="246626"/>
                  </a:lnTo>
                  <a:lnTo>
                    <a:pt x="507049" y="249899"/>
                  </a:lnTo>
                  <a:lnTo>
                    <a:pt x="41650" y="249899"/>
                  </a:lnTo>
                  <a:lnTo>
                    <a:pt x="25438" y="246626"/>
                  </a:lnTo>
                  <a:lnTo>
                    <a:pt x="12199" y="237700"/>
                  </a:lnTo>
                  <a:lnTo>
                    <a:pt x="3273" y="224461"/>
                  </a:lnTo>
                  <a:lnTo>
                    <a:pt x="0" y="208249"/>
                  </a:lnTo>
                  <a:lnTo>
                    <a:pt x="0" y="41650"/>
                  </a:lnTo>
                  <a:close/>
                </a:path>
              </a:pathLst>
            </a:custGeom>
            <a:ln w="19049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25575" y="3015850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4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125575" y="3015850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4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48400" y="1621804"/>
              <a:ext cx="3081655" cy="1239520"/>
            </a:xfrm>
            <a:custGeom>
              <a:avLst/>
              <a:gdLst/>
              <a:ahLst/>
              <a:cxnLst/>
              <a:rect l="l" t="t" r="r" b="b"/>
              <a:pathLst>
                <a:path w="3081654" h="1239520">
                  <a:moveTo>
                    <a:pt x="0" y="238120"/>
                  </a:moveTo>
                  <a:lnTo>
                    <a:pt x="0" y="0"/>
                  </a:lnTo>
                  <a:lnTo>
                    <a:pt x="3081299" y="0"/>
                  </a:lnTo>
                  <a:lnTo>
                    <a:pt x="3081299" y="1239091"/>
                  </a:lnTo>
                </a:path>
              </a:pathLst>
            </a:custGeom>
            <a:ln w="2857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3277" y="2814473"/>
              <a:ext cx="92844" cy="116865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821824" y="1217372"/>
            <a:ext cx="5943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3: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Create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cloze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statements,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either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manually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0" dirty="0">
                <a:latin typeface="Book Antiqua"/>
                <a:cs typeface="Book Antiqua"/>
              </a:rPr>
              <a:t> via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templates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37659" y="4250771"/>
            <a:ext cx="54610" cy="3784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78069" y="4685173"/>
            <a:ext cx="142367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dirty="0">
                <a:solidFill>
                  <a:srgbClr val="595959"/>
                </a:solidFill>
                <a:latin typeface="Cambria"/>
                <a:cs typeface="Cambria"/>
              </a:rPr>
              <a:t>Cloze</a:t>
            </a:r>
            <a:r>
              <a:rPr sz="1400" b="1" spc="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Statements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9424" y="4726323"/>
            <a:ext cx="162052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96372" y="4726648"/>
            <a:ext cx="44958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48" name="object 48"/>
          <p:cNvSpPr txBox="1"/>
          <p:nvPr/>
        </p:nvSpPr>
        <p:spPr>
          <a:xfrm>
            <a:off x="6316451" y="3386688"/>
            <a:ext cx="2148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manually</a:t>
            </a:r>
            <a:r>
              <a:rPr sz="14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dirty="0">
                <a:solidFill>
                  <a:srgbClr val="3C78D8"/>
                </a:solidFill>
                <a:latin typeface="Book Antiqua"/>
                <a:cs typeface="Book Antiqua"/>
              </a:rPr>
              <a:t>crafted</a:t>
            </a:r>
            <a:r>
              <a:rPr sz="14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template</a:t>
            </a:r>
            <a:endParaRPr sz="14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400" spc="60" dirty="0">
                <a:solidFill>
                  <a:srgbClr val="3C78D8"/>
                </a:solidFill>
                <a:latin typeface="Times New Roman"/>
                <a:cs typeface="Times New Roman"/>
              </a:rPr>
              <a:t>for</a:t>
            </a:r>
            <a:r>
              <a:rPr sz="1400" spc="-25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3C78D8"/>
                </a:solidFill>
                <a:latin typeface="Times New Roman"/>
                <a:cs typeface="Times New Roman"/>
              </a:rPr>
              <a:t>“</a:t>
            </a:r>
            <a:r>
              <a:rPr sz="1400" spc="-20" dirty="0">
                <a:solidFill>
                  <a:srgbClr val="3C78D8"/>
                </a:solidFill>
                <a:latin typeface="Courier New"/>
                <a:cs typeface="Courier New"/>
              </a:rPr>
              <a:t>BORN-</a:t>
            </a:r>
            <a:r>
              <a:rPr sz="1400" dirty="0">
                <a:solidFill>
                  <a:srgbClr val="3C78D8"/>
                </a:solidFill>
                <a:latin typeface="Courier New"/>
                <a:cs typeface="Courier New"/>
              </a:rPr>
              <a:t>IN</a:t>
            </a:r>
            <a:r>
              <a:rPr sz="1400" dirty="0">
                <a:solidFill>
                  <a:srgbClr val="3C78D8"/>
                </a:solidFill>
                <a:latin typeface="Times New Roman"/>
                <a:cs typeface="Times New Roman"/>
              </a:rPr>
              <a:t>”</a:t>
            </a:r>
            <a:r>
              <a:rPr sz="1400" spc="-2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3C78D8"/>
                </a:solidFill>
                <a:latin typeface="Times New Roman"/>
                <a:cs typeface="Times New Roman"/>
              </a:rPr>
              <a:t>relation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99262" y="3983366"/>
            <a:ext cx="2174240" cy="372745"/>
            <a:chOff x="2999262" y="3983366"/>
            <a:chExt cx="2174240" cy="372745"/>
          </a:xfrm>
        </p:grpSpPr>
        <p:sp>
          <p:nvSpPr>
            <p:cNvPr id="3" name="object 3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0" y="60500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55987" y="1744249"/>
            <a:ext cx="1832610" cy="1372870"/>
            <a:chOff x="655987" y="1744249"/>
            <a:chExt cx="1832610" cy="1372870"/>
          </a:xfrm>
        </p:grpSpPr>
        <p:sp>
          <p:nvSpPr>
            <p:cNvPr id="7" name="object 7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55987" y="3271394"/>
            <a:ext cx="1832610" cy="1372870"/>
            <a:chOff x="655987" y="3271394"/>
            <a:chExt cx="1832610" cy="1372870"/>
          </a:xfrm>
        </p:grpSpPr>
        <p:sp>
          <p:nvSpPr>
            <p:cNvPr id="16" name="object 16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38068" y="3444334"/>
            <a:ext cx="468630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129312" y="4067773"/>
            <a:ext cx="754380" cy="145415"/>
            <a:chOff x="2129312" y="4067773"/>
            <a:chExt cx="754380" cy="145415"/>
          </a:xfrm>
        </p:grpSpPr>
        <p:sp>
          <p:nvSpPr>
            <p:cNvPr id="27" name="object 27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45041" y="4042125"/>
            <a:ext cx="21520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(Who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wrote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Times New Roman"/>
                <a:cs typeface="Times New Roman"/>
              </a:rPr>
              <a:t>Hamlet,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Shakespeare</a:t>
            </a:r>
            <a:r>
              <a:rPr sz="1100" spc="3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01110" y="2758282"/>
            <a:ext cx="2193925" cy="654685"/>
            <a:chOff x="3001110" y="2758282"/>
            <a:chExt cx="2193925" cy="654685"/>
          </a:xfrm>
        </p:grpSpPr>
        <p:sp>
          <p:nvSpPr>
            <p:cNvPr id="31" name="object 31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2076847" y="644699"/>
                  </a:move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0" y="107452"/>
                  </a:move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474558" y="2866065"/>
            <a:ext cx="124777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74320" marR="5080" indent="-26225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Cloze</a:t>
            </a:r>
            <a:r>
              <a:rPr sz="1300" b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mbria"/>
                <a:cs typeface="Cambria"/>
              </a:rPr>
              <a:t>Statement (Manual)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11212" y="3494237"/>
            <a:ext cx="154305" cy="540385"/>
            <a:chOff x="4011212" y="3494237"/>
            <a:chExt cx="154305" cy="540385"/>
          </a:xfrm>
        </p:grpSpPr>
        <p:sp>
          <p:nvSpPr>
            <p:cNvPr id="35" name="object 35"/>
            <p:cNvSpPr/>
            <p:nvPr/>
          </p:nvSpPr>
          <p:spPr>
            <a:xfrm>
              <a:off x="4015975" y="3498999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108224" y="530699"/>
                  </a:moveTo>
                  <a:lnTo>
                    <a:pt x="36074" y="530699"/>
                  </a:ln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530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15975" y="3498999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36074" y="530699"/>
                  </a:move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530699"/>
                  </a:lnTo>
                  <a:lnTo>
                    <a:pt x="36074" y="5306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821824" y="1217372"/>
            <a:ext cx="5943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3: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Create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cloze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statements,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either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manually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0" dirty="0">
                <a:latin typeface="Book Antiqua"/>
                <a:cs typeface="Book Antiqua"/>
              </a:rPr>
              <a:t> via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templates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37659" y="4250771"/>
            <a:ext cx="54610" cy="3784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78069" y="4685173"/>
            <a:ext cx="142367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dirty="0">
                <a:solidFill>
                  <a:srgbClr val="595959"/>
                </a:solidFill>
                <a:latin typeface="Cambria"/>
                <a:cs typeface="Cambria"/>
              </a:rPr>
              <a:t>Cloze</a:t>
            </a:r>
            <a:r>
              <a:rPr sz="1400" b="1" spc="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Statements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9424" y="4726323"/>
            <a:ext cx="162052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96372" y="4726648"/>
            <a:ext cx="44958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99262" y="3983366"/>
            <a:ext cx="2174240" cy="372745"/>
            <a:chOff x="2999262" y="3983366"/>
            <a:chExt cx="2174240" cy="372745"/>
          </a:xfrm>
        </p:grpSpPr>
        <p:sp>
          <p:nvSpPr>
            <p:cNvPr id="3" name="object 3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0" y="60500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63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5987" y="1744249"/>
            <a:ext cx="1832610" cy="1372870"/>
            <a:chOff x="655987" y="1744249"/>
            <a:chExt cx="1832610" cy="1372870"/>
          </a:xfrm>
        </p:grpSpPr>
        <p:sp>
          <p:nvSpPr>
            <p:cNvPr id="8" name="object 8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55987" y="3271394"/>
            <a:ext cx="2227580" cy="1372870"/>
            <a:chOff x="655987" y="3271394"/>
            <a:chExt cx="2227580" cy="1372870"/>
          </a:xfrm>
        </p:grpSpPr>
        <p:sp>
          <p:nvSpPr>
            <p:cNvPr id="17" name="object 17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38068" y="3444334"/>
            <a:ext cx="468630" cy="117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marR="6985" algn="ctr">
              <a:lnSpc>
                <a:spcPct val="100000"/>
              </a:lnSpc>
              <a:spcBef>
                <a:spcPts val="13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45041" y="4042125"/>
            <a:ext cx="21520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(Who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wrote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Times New Roman"/>
                <a:cs typeface="Times New Roman"/>
              </a:rPr>
              <a:t>Hamlet,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Shakespeare</a:t>
            </a:r>
            <a:r>
              <a:rPr sz="1100" spc="3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9424" y="4711744"/>
            <a:ext cx="1620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96372" y="4712069"/>
            <a:ext cx="4495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78069" y="4670594"/>
            <a:ext cx="14236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95959"/>
                </a:solidFill>
                <a:latin typeface="Cambria"/>
                <a:cs typeface="Cambria"/>
              </a:rPr>
              <a:t>Cloze</a:t>
            </a:r>
            <a:r>
              <a:rPr sz="1400" b="1" spc="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Statements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001110" y="2758282"/>
            <a:ext cx="2193925" cy="654685"/>
            <a:chOff x="3001110" y="2758282"/>
            <a:chExt cx="2193925" cy="654685"/>
          </a:xfrm>
        </p:grpSpPr>
        <p:sp>
          <p:nvSpPr>
            <p:cNvPr id="34" name="object 34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2076847" y="644699"/>
                  </a:move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0" y="107452"/>
                  </a:move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474558" y="2866065"/>
            <a:ext cx="124777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74320" marR="5080" indent="-26225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Cloze</a:t>
            </a:r>
            <a:r>
              <a:rPr sz="1300" b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mbria"/>
                <a:cs typeface="Cambria"/>
              </a:rPr>
              <a:t>Statement (Manual)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011212" y="3494237"/>
            <a:ext cx="154305" cy="540385"/>
            <a:chOff x="4011212" y="3494237"/>
            <a:chExt cx="154305" cy="540385"/>
          </a:xfrm>
        </p:grpSpPr>
        <p:sp>
          <p:nvSpPr>
            <p:cNvPr id="38" name="object 38"/>
            <p:cNvSpPr/>
            <p:nvPr/>
          </p:nvSpPr>
          <p:spPr>
            <a:xfrm>
              <a:off x="4015975" y="3498999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108224" y="530699"/>
                  </a:moveTo>
                  <a:lnTo>
                    <a:pt x="36074" y="530699"/>
                  </a:ln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530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15975" y="3498999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36074" y="530699"/>
                  </a:move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530699"/>
                  </a:lnTo>
                  <a:lnTo>
                    <a:pt x="36074" y="5306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821824" y="1217372"/>
            <a:ext cx="5943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3: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Create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cloze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statements,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either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manually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0" dirty="0">
                <a:latin typeface="Book Antiqua"/>
                <a:cs typeface="Book Antiqua"/>
              </a:rPr>
              <a:t> via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templates</a:t>
            </a:r>
            <a:endParaRPr sz="1600">
              <a:latin typeface="Book Antiqua"/>
              <a:cs typeface="Book Antiqu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2384" y="1763407"/>
            <a:ext cx="689726" cy="689600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4009362" y="2544755"/>
            <a:ext cx="154305" cy="262890"/>
            <a:chOff x="4009362" y="2544755"/>
            <a:chExt cx="154305" cy="262890"/>
          </a:xfrm>
        </p:grpSpPr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4125" y="2549518"/>
              <a:ext cx="144299" cy="25319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014125" y="2549518"/>
              <a:ext cx="144780" cy="253365"/>
            </a:xfrm>
            <a:custGeom>
              <a:avLst/>
              <a:gdLst/>
              <a:ahLst/>
              <a:cxnLst/>
              <a:rect l="l" t="t" r="r" b="b"/>
              <a:pathLst>
                <a:path w="144779" h="253364">
                  <a:moveTo>
                    <a:pt x="36074" y="253199"/>
                  </a:move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253199"/>
                  </a:lnTo>
                  <a:lnTo>
                    <a:pt x="36074" y="253199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99262" y="3983366"/>
            <a:ext cx="2174240" cy="372745"/>
            <a:chOff x="2999262" y="3983366"/>
            <a:chExt cx="2174240" cy="372745"/>
          </a:xfrm>
        </p:grpSpPr>
        <p:sp>
          <p:nvSpPr>
            <p:cNvPr id="3" name="object 3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2103998" y="362999"/>
                  </a:move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04024" y="3988129"/>
              <a:ext cx="2164715" cy="363220"/>
            </a:xfrm>
            <a:custGeom>
              <a:avLst/>
              <a:gdLst/>
              <a:ahLst/>
              <a:cxnLst/>
              <a:rect l="l" t="t" r="r" b="b"/>
              <a:pathLst>
                <a:path w="2164715" h="363220">
                  <a:moveTo>
                    <a:pt x="0" y="60500"/>
                  </a:moveTo>
                  <a:lnTo>
                    <a:pt x="4754" y="36951"/>
                  </a:lnTo>
                  <a:lnTo>
                    <a:pt x="17720" y="17720"/>
                  </a:lnTo>
                  <a:lnTo>
                    <a:pt x="36951" y="4754"/>
                  </a:lnTo>
                  <a:lnTo>
                    <a:pt x="60501" y="0"/>
                  </a:lnTo>
                  <a:lnTo>
                    <a:pt x="2103998" y="0"/>
                  </a:lnTo>
                  <a:lnTo>
                    <a:pt x="2146779" y="17720"/>
                  </a:lnTo>
                  <a:lnTo>
                    <a:pt x="2164499" y="60500"/>
                  </a:lnTo>
                  <a:lnTo>
                    <a:pt x="2164499" y="302498"/>
                  </a:lnTo>
                  <a:lnTo>
                    <a:pt x="2159745" y="326048"/>
                  </a:lnTo>
                  <a:lnTo>
                    <a:pt x="2146779" y="345279"/>
                  </a:lnTo>
                  <a:lnTo>
                    <a:pt x="2127548" y="358245"/>
                  </a:lnTo>
                  <a:lnTo>
                    <a:pt x="2103998" y="362999"/>
                  </a:lnTo>
                  <a:lnTo>
                    <a:pt x="60501" y="362999"/>
                  </a:lnTo>
                  <a:lnTo>
                    <a:pt x="36951" y="358245"/>
                  </a:lnTo>
                  <a:lnTo>
                    <a:pt x="17720" y="345279"/>
                  </a:lnTo>
                  <a:lnTo>
                    <a:pt x="4754" y="326048"/>
                  </a:lnTo>
                  <a:lnTo>
                    <a:pt x="0" y="302498"/>
                  </a:lnTo>
                  <a:lnTo>
                    <a:pt x="0" y="605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Architecture</a:t>
            </a:r>
            <a:r>
              <a:rPr spc="-40" dirty="0"/>
              <a:t> </a:t>
            </a:r>
            <a:r>
              <a:rPr spc="80" dirty="0"/>
              <a:t>of</a:t>
            </a:r>
            <a:r>
              <a:rPr spc="-40" dirty="0"/>
              <a:t> </a:t>
            </a:r>
            <a:r>
              <a:rPr spc="170" dirty="0"/>
              <a:t>the</a:t>
            </a:r>
            <a:r>
              <a:rPr spc="-40" dirty="0"/>
              <a:t> </a:t>
            </a:r>
            <a:r>
              <a:rPr spc="-80" dirty="0"/>
              <a:t>LAMA</a:t>
            </a:r>
            <a:r>
              <a:rPr spc="-35" dirty="0"/>
              <a:t> </a:t>
            </a:r>
            <a:r>
              <a:rPr spc="145" dirty="0"/>
              <a:t>probe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95783" y="4766036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64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5987" y="1744249"/>
            <a:ext cx="1832610" cy="1372870"/>
            <a:chOff x="655987" y="1744249"/>
            <a:chExt cx="1832610" cy="1372870"/>
          </a:xfrm>
        </p:grpSpPr>
        <p:sp>
          <p:nvSpPr>
            <p:cNvPr id="8" name="object 8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0749" y="1749012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4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7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7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3924" y="1863183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3924" y="2170529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1249" y="2477875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55987" y="3271394"/>
            <a:ext cx="2227580" cy="1372870"/>
            <a:chOff x="655987" y="3271394"/>
            <a:chExt cx="2227580" cy="1372870"/>
          </a:xfrm>
        </p:grpSpPr>
        <p:sp>
          <p:nvSpPr>
            <p:cNvPr id="17" name="object 17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1595645" y="1362899"/>
                  </a:move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1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8" y="66532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0749" y="3276156"/>
              <a:ext cx="1823085" cy="1363345"/>
            </a:xfrm>
            <a:custGeom>
              <a:avLst/>
              <a:gdLst/>
              <a:ahLst/>
              <a:cxnLst/>
              <a:rect l="l" t="t" r="r" b="b"/>
              <a:pathLst>
                <a:path w="1823085" h="1363345">
                  <a:moveTo>
                    <a:pt x="0" y="227154"/>
                  </a:moveTo>
                  <a:lnTo>
                    <a:pt x="4614" y="181375"/>
                  </a:lnTo>
                  <a:lnTo>
                    <a:pt x="17850" y="138735"/>
                  </a:lnTo>
                  <a:lnTo>
                    <a:pt x="38794" y="100150"/>
                  </a:lnTo>
                  <a:lnTo>
                    <a:pt x="66532" y="66532"/>
                  </a:lnTo>
                  <a:lnTo>
                    <a:pt x="100150" y="38794"/>
                  </a:lnTo>
                  <a:lnTo>
                    <a:pt x="138735" y="17850"/>
                  </a:lnTo>
                  <a:lnTo>
                    <a:pt x="181375" y="4614"/>
                  </a:lnTo>
                  <a:lnTo>
                    <a:pt x="227154" y="0"/>
                  </a:lnTo>
                  <a:lnTo>
                    <a:pt x="1595645" y="0"/>
                  </a:lnTo>
                  <a:lnTo>
                    <a:pt x="1640168" y="4405"/>
                  </a:lnTo>
                  <a:lnTo>
                    <a:pt x="1682573" y="17291"/>
                  </a:lnTo>
                  <a:lnTo>
                    <a:pt x="1721670" y="38164"/>
                  </a:lnTo>
                  <a:lnTo>
                    <a:pt x="1756267" y="66531"/>
                  </a:lnTo>
                  <a:lnTo>
                    <a:pt x="1784635" y="101129"/>
                  </a:lnTo>
                  <a:lnTo>
                    <a:pt x="1805508" y="140226"/>
                  </a:lnTo>
                  <a:lnTo>
                    <a:pt x="1818394" y="182631"/>
                  </a:lnTo>
                  <a:lnTo>
                    <a:pt x="1822799" y="227154"/>
                  </a:lnTo>
                  <a:lnTo>
                    <a:pt x="1822799" y="1135745"/>
                  </a:lnTo>
                  <a:lnTo>
                    <a:pt x="1818185" y="1181525"/>
                  </a:lnTo>
                  <a:lnTo>
                    <a:pt x="1804949" y="1224164"/>
                  </a:lnTo>
                  <a:lnTo>
                    <a:pt x="1784005" y="1262749"/>
                  </a:lnTo>
                  <a:lnTo>
                    <a:pt x="1756267" y="1296368"/>
                  </a:lnTo>
                  <a:lnTo>
                    <a:pt x="1722649" y="1324105"/>
                  </a:lnTo>
                  <a:lnTo>
                    <a:pt x="1684064" y="1345049"/>
                  </a:lnTo>
                  <a:lnTo>
                    <a:pt x="1641425" y="1358285"/>
                  </a:lnTo>
                  <a:lnTo>
                    <a:pt x="1595645" y="1362899"/>
                  </a:lnTo>
                  <a:lnTo>
                    <a:pt x="227154" y="1362899"/>
                  </a:lnTo>
                  <a:lnTo>
                    <a:pt x="181375" y="1358285"/>
                  </a:lnTo>
                  <a:lnTo>
                    <a:pt x="138735" y="1345049"/>
                  </a:lnTo>
                  <a:lnTo>
                    <a:pt x="100150" y="1324105"/>
                  </a:lnTo>
                  <a:lnTo>
                    <a:pt x="66532" y="1296368"/>
                  </a:lnTo>
                  <a:lnTo>
                    <a:pt x="38794" y="1262749"/>
                  </a:lnTo>
                  <a:lnTo>
                    <a:pt x="17850" y="1224164"/>
                  </a:lnTo>
                  <a:lnTo>
                    <a:pt x="4614" y="1181525"/>
                  </a:lnTo>
                  <a:lnTo>
                    <a:pt x="0" y="1135745"/>
                  </a:lnTo>
                  <a:lnTo>
                    <a:pt x="0" y="22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7574" y="3448447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7574" y="3755792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1348499" y="199799"/>
                  </a:move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4899" y="4063138"/>
              <a:ext cx="1382395" cy="200025"/>
            </a:xfrm>
            <a:custGeom>
              <a:avLst/>
              <a:gdLst/>
              <a:ahLst/>
              <a:cxnLst/>
              <a:rect l="l" t="t" r="r" b="b"/>
              <a:pathLst>
                <a:path w="1382395" h="200025">
                  <a:moveTo>
                    <a:pt x="0" y="33300"/>
                  </a:moveTo>
                  <a:lnTo>
                    <a:pt x="2616" y="20338"/>
                  </a:lnTo>
                  <a:lnTo>
                    <a:pt x="9753" y="9753"/>
                  </a:lnTo>
                  <a:lnTo>
                    <a:pt x="20338" y="2616"/>
                  </a:lnTo>
                  <a:lnTo>
                    <a:pt x="33300" y="0"/>
                  </a:lnTo>
                  <a:lnTo>
                    <a:pt x="1348499" y="0"/>
                  </a:lnTo>
                  <a:lnTo>
                    <a:pt x="1381154" y="26773"/>
                  </a:lnTo>
                  <a:lnTo>
                    <a:pt x="1381799" y="33300"/>
                  </a:lnTo>
                  <a:lnTo>
                    <a:pt x="1381799" y="166499"/>
                  </a:lnTo>
                  <a:lnTo>
                    <a:pt x="1379183" y="179461"/>
                  </a:lnTo>
                  <a:lnTo>
                    <a:pt x="1372046" y="190046"/>
                  </a:lnTo>
                  <a:lnTo>
                    <a:pt x="1361461" y="197183"/>
                  </a:lnTo>
                  <a:lnTo>
                    <a:pt x="1348499" y="199799"/>
                  </a:lnTo>
                  <a:lnTo>
                    <a:pt x="33300" y="199799"/>
                  </a:lnTo>
                  <a:lnTo>
                    <a:pt x="20338" y="197183"/>
                  </a:lnTo>
                  <a:lnTo>
                    <a:pt x="9753" y="190046"/>
                  </a:lnTo>
                  <a:lnTo>
                    <a:pt x="2616" y="179461"/>
                  </a:lnTo>
                  <a:lnTo>
                    <a:pt x="0" y="166499"/>
                  </a:lnTo>
                  <a:lnTo>
                    <a:pt x="0" y="333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676499" y="135599"/>
                  </a:move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34074" y="4072535"/>
              <a:ext cx="744855" cy="135890"/>
            </a:xfrm>
            <a:custGeom>
              <a:avLst/>
              <a:gdLst/>
              <a:ahLst/>
              <a:cxnLst/>
              <a:rect l="l" t="t" r="r" b="b"/>
              <a:pathLst>
                <a:path w="744855" h="135889">
                  <a:moveTo>
                    <a:pt x="0" y="33899"/>
                  </a:moveTo>
                  <a:lnTo>
                    <a:pt x="676499" y="33899"/>
                  </a:lnTo>
                  <a:lnTo>
                    <a:pt x="676499" y="0"/>
                  </a:lnTo>
                  <a:lnTo>
                    <a:pt x="744299" y="67799"/>
                  </a:lnTo>
                  <a:lnTo>
                    <a:pt x="676499" y="135599"/>
                  </a:lnTo>
                  <a:lnTo>
                    <a:pt x="676499" y="101699"/>
                  </a:lnTo>
                  <a:lnTo>
                    <a:pt x="0" y="101699"/>
                  </a:lnTo>
                  <a:lnTo>
                    <a:pt x="0" y="338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34418" y="1859070"/>
            <a:ext cx="46863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38068" y="3444334"/>
            <a:ext cx="468630" cy="117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#2</a:t>
            </a:r>
            <a:endParaRPr sz="11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Times New Roman"/>
                <a:cs typeface="Times New Roman"/>
              </a:rPr>
              <a:t>Fact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#3</a:t>
            </a:r>
            <a:endParaRPr sz="1100">
              <a:latin typeface="Times New Roman"/>
              <a:cs typeface="Times New Roman"/>
            </a:endParaRPr>
          </a:p>
          <a:p>
            <a:pPr marR="6985" algn="ctr">
              <a:lnSpc>
                <a:spcPct val="100000"/>
              </a:lnSpc>
              <a:spcBef>
                <a:spcPts val="13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5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  <a:p>
            <a:pPr marR="6985" algn="ctr">
              <a:lnSpc>
                <a:spcPct val="100000"/>
              </a:lnSpc>
              <a:spcBef>
                <a:spcPts val="10"/>
              </a:spcBef>
            </a:pPr>
            <a:r>
              <a:rPr sz="750" b="1" spc="50" dirty="0">
                <a:latin typeface="Cambria"/>
                <a:cs typeface="Cambria"/>
              </a:rPr>
              <a:t>.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46438" y="4042125"/>
            <a:ext cx="21507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(Who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wrote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Times New Roman"/>
                <a:cs typeface="Times New Roman"/>
              </a:rPr>
              <a:t>Hamlet,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35" dirty="0">
                <a:latin typeface="Times New Roman"/>
                <a:cs typeface="Times New Roman"/>
              </a:rPr>
              <a:t>Shakespeare)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9424" y="4711744"/>
            <a:ext cx="1620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Knowledge</a:t>
            </a:r>
            <a:r>
              <a:rPr sz="1400" b="1" spc="1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Sources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96372" y="4712069"/>
            <a:ext cx="4495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Facts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78069" y="4670594"/>
            <a:ext cx="14236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95959"/>
                </a:solidFill>
                <a:latin typeface="Cambria"/>
                <a:cs typeface="Cambria"/>
              </a:rPr>
              <a:t>Cloze</a:t>
            </a:r>
            <a:r>
              <a:rPr sz="1400" b="1" spc="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Cambria"/>
                <a:cs typeface="Cambria"/>
              </a:rPr>
              <a:t>Statements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77377" y="2986181"/>
            <a:ext cx="621030" cy="192405"/>
          </a:xfrm>
          <a:custGeom>
            <a:avLst/>
            <a:gdLst/>
            <a:ahLst/>
            <a:cxnLst/>
            <a:rect l="l" t="t" r="r" b="b"/>
            <a:pathLst>
              <a:path w="621029" h="192405">
                <a:moveTo>
                  <a:pt x="620885" y="192023"/>
                </a:moveTo>
                <a:lnTo>
                  <a:pt x="0" y="192023"/>
                </a:lnTo>
                <a:lnTo>
                  <a:pt x="0" y="0"/>
                </a:lnTo>
                <a:lnTo>
                  <a:pt x="620885" y="0"/>
                </a:lnTo>
                <a:lnTo>
                  <a:pt x="620885" y="192023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957546" y="2949300"/>
            <a:ext cx="27654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“The</a:t>
            </a:r>
            <a:r>
              <a:rPr sz="1400" b="1" spc="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writer</a:t>
            </a:r>
            <a:r>
              <a:rPr sz="1400" b="1" spc="1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of</a:t>
            </a:r>
            <a:r>
              <a:rPr sz="1400" b="1" spc="1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Hamlet</a:t>
            </a:r>
            <a:r>
              <a:rPr sz="1400" b="1" spc="1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is </a:t>
            </a:r>
            <a:r>
              <a:rPr sz="1400" b="1" spc="-10" dirty="0">
                <a:latin typeface="Cambria"/>
                <a:cs typeface="Cambria"/>
              </a:rPr>
              <a:t>[MASK].”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01110" y="2758282"/>
            <a:ext cx="2193925" cy="654685"/>
            <a:chOff x="3001110" y="2758282"/>
            <a:chExt cx="2193925" cy="654685"/>
          </a:xfrm>
        </p:grpSpPr>
        <p:sp>
          <p:nvSpPr>
            <p:cNvPr id="36" name="object 36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2076847" y="644699"/>
                  </a:move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05873" y="2763044"/>
              <a:ext cx="2184400" cy="645160"/>
            </a:xfrm>
            <a:custGeom>
              <a:avLst/>
              <a:gdLst/>
              <a:ahLst/>
              <a:cxnLst/>
              <a:rect l="l" t="t" r="r" b="b"/>
              <a:pathLst>
                <a:path w="2184400" h="645160">
                  <a:moveTo>
                    <a:pt x="0" y="107452"/>
                  </a:moveTo>
                  <a:lnTo>
                    <a:pt x="8444" y="65626"/>
                  </a:lnTo>
                  <a:lnTo>
                    <a:pt x="31472" y="31472"/>
                  </a:lnTo>
                  <a:lnTo>
                    <a:pt x="65626" y="8444"/>
                  </a:lnTo>
                  <a:lnTo>
                    <a:pt x="107452" y="0"/>
                  </a:lnTo>
                  <a:lnTo>
                    <a:pt x="2076847" y="0"/>
                  </a:lnTo>
                  <a:lnTo>
                    <a:pt x="2117967" y="8179"/>
                  </a:lnTo>
                  <a:lnTo>
                    <a:pt x="2152827" y="31472"/>
                  </a:lnTo>
                  <a:lnTo>
                    <a:pt x="2176120" y="66332"/>
                  </a:lnTo>
                  <a:lnTo>
                    <a:pt x="2184300" y="107452"/>
                  </a:lnTo>
                  <a:lnTo>
                    <a:pt x="2184300" y="537247"/>
                  </a:lnTo>
                  <a:lnTo>
                    <a:pt x="2175856" y="579073"/>
                  </a:lnTo>
                  <a:lnTo>
                    <a:pt x="2152828" y="613228"/>
                  </a:lnTo>
                  <a:lnTo>
                    <a:pt x="2118673" y="636255"/>
                  </a:lnTo>
                  <a:lnTo>
                    <a:pt x="2076847" y="644699"/>
                  </a:lnTo>
                  <a:lnTo>
                    <a:pt x="107452" y="644699"/>
                  </a:lnTo>
                  <a:lnTo>
                    <a:pt x="65626" y="636255"/>
                  </a:lnTo>
                  <a:lnTo>
                    <a:pt x="31472" y="613228"/>
                  </a:lnTo>
                  <a:lnTo>
                    <a:pt x="8444" y="579073"/>
                  </a:lnTo>
                  <a:lnTo>
                    <a:pt x="0" y="537247"/>
                  </a:lnTo>
                  <a:lnTo>
                    <a:pt x="0" y="1074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474558" y="2866065"/>
            <a:ext cx="124777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74320" marR="5080" indent="-26225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FFFFFF"/>
                </a:solidFill>
                <a:latin typeface="Cambria"/>
                <a:cs typeface="Cambria"/>
              </a:rPr>
              <a:t>Cloze</a:t>
            </a:r>
            <a:r>
              <a:rPr sz="1300" b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mbria"/>
                <a:cs typeface="Cambria"/>
              </a:rPr>
              <a:t>Statement (Manual)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011212" y="3494237"/>
            <a:ext cx="154305" cy="540385"/>
            <a:chOff x="4011212" y="3494237"/>
            <a:chExt cx="154305" cy="540385"/>
          </a:xfrm>
        </p:grpSpPr>
        <p:sp>
          <p:nvSpPr>
            <p:cNvPr id="40" name="object 40"/>
            <p:cNvSpPr/>
            <p:nvPr/>
          </p:nvSpPr>
          <p:spPr>
            <a:xfrm>
              <a:off x="4015975" y="3498999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108224" y="530699"/>
                  </a:moveTo>
                  <a:lnTo>
                    <a:pt x="36074" y="530699"/>
                  </a:ln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5306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15975" y="3498999"/>
              <a:ext cx="144780" cy="530860"/>
            </a:xfrm>
            <a:custGeom>
              <a:avLst/>
              <a:gdLst/>
              <a:ahLst/>
              <a:cxnLst/>
              <a:rect l="l" t="t" r="r" b="b"/>
              <a:pathLst>
                <a:path w="144779" h="530860">
                  <a:moveTo>
                    <a:pt x="36074" y="530699"/>
                  </a:move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530699"/>
                  </a:lnTo>
                  <a:lnTo>
                    <a:pt x="36074" y="5306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821824" y="1217372"/>
            <a:ext cx="5943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latin typeface="Book Antiqua"/>
                <a:cs typeface="Book Antiqua"/>
              </a:rPr>
              <a:t>Step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spc="50" dirty="0">
                <a:latin typeface="Book Antiqua"/>
                <a:cs typeface="Book Antiqua"/>
              </a:rPr>
              <a:t>3: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Create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cloze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statements,</a:t>
            </a:r>
            <a:r>
              <a:rPr sz="1600" b="1" spc="-20" dirty="0">
                <a:latin typeface="Book Antiqua"/>
                <a:cs typeface="Book Antiqua"/>
              </a:rPr>
              <a:t> </a:t>
            </a:r>
            <a:r>
              <a:rPr sz="1600" b="1" dirty="0">
                <a:latin typeface="Book Antiqua"/>
                <a:cs typeface="Book Antiqua"/>
              </a:rPr>
              <a:t>either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20" dirty="0">
                <a:latin typeface="Book Antiqua"/>
                <a:cs typeface="Book Antiqua"/>
              </a:rPr>
              <a:t>manually </a:t>
            </a:r>
            <a:r>
              <a:rPr sz="1600" b="1" dirty="0">
                <a:latin typeface="Book Antiqua"/>
                <a:cs typeface="Book Antiqua"/>
              </a:rPr>
              <a:t>or</a:t>
            </a:r>
            <a:r>
              <a:rPr sz="1600" b="1" spc="-20" dirty="0">
                <a:latin typeface="Book Antiqua"/>
                <a:cs typeface="Book Antiqua"/>
              </a:rPr>
              <a:t> via</a:t>
            </a:r>
            <a:r>
              <a:rPr sz="1600" b="1" spc="-15" dirty="0">
                <a:latin typeface="Book Antiqua"/>
                <a:cs typeface="Book Antiqua"/>
              </a:rPr>
              <a:t> </a:t>
            </a:r>
            <a:r>
              <a:rPr sz="1600" b="1" spc="-10" dirty="0">
                <a:latin typeface="Book Antiqua"/>
                <a:cs typeface="Book Antiqua"/>
              </a:rPr>
              <a:t>templates</a:t>
            </a:r>
            <a:endParaRPr sz="1600">
              <a:latin typeface="Book Antiqua"/>
              <a:cs typeface="Book Antiqu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2384" y="1763407"/>
            <a:ext cx="689726" cy="689600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4009362" y="2107712"/>
            <a:ext cx="3529329" cy="790575"/>
            <a:chOff x="4009362" y="2107712"/>
            <a:chExt cx="3529329" cy="790575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4125" y="2549518"/>
              <a:ext cx="144299" cy="25319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014125" y="2549518"/>
              <a:ext cx="144780" cy="253365"/>
            </a:xfrm>
            <a:custGeom>
              <a:avLst/>
              <a:gdLst/>
              <a:ahLst/>
              <a:cxnLst/>
              <a:rect l="l" t="t" r="r" b="b"/>
              <a:pathLst>
                <a:path w="144779" h="253364">
                  <a:moveTo>
                    <a:pt x="36074" y="253199"/>
                  </a:move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253199"/>
                  </a:lnTo>
                  <a:lnTo>
                    <a:pt x="36074" y="253199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72000" y="2112474"/>
              <a:ext cx="2961640" cy="781050"/>
            </a:xfrm>
            <a:custGeom>
              <a:avLst/>
              <a:gdLst/>
              <a:ahLst/>
              <a:cxnLst/>
              <a:rect l="l" t="t" r="r" b="b"/>
              <a:pathLst>
                <a:path w="2961640" h="781050">
                  <a:moveTo>
                    <a:pt x="2861777" y="780899"/>
                  </a:moveTo>
                  <a:lnTo>
                    <a:pt x="2761955" y="685552"/>
                  </a:lnTo>
                  <a:lnTo>
                    <a:pt x="2834500" y="685552"/>
                  </a:lnTo>
                  <a:lnTo>
                    <a:pt x="2834500" y="54553"/>
                  </a:lnTo>
                  <a:lnTo>
                    <a:pt x="0" y="54553"/>
                  </a:lnTo>
                  <a:lnTo>
                    <a:pt x="0" y="0"/>
                  </a:lnTo>
                  <a:lnTo>
                    <a:pt x="2889054" y="0"/>
                  </a:lnTo>
                  <a:lnTo>
                    <a:pt x="2889054" y="685552"/>
                  </a:lnTo>
                  <a:lnTo>
                    <a:pt x="2961599" y="685552"/>
                  </a:lnTo>
                  <a:lnTo>
                    <a:pt x="2861777" y="7808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572000" y="2112474"/>
              <a:ext cx="2961640" cy="781050"/>
            </a:xfrm>
            <a:custGeom>
              <a:avLst/>
              <a:gdLst/>
              <a:ahLst/>
              <a:cxnLst/>
              <a:rect l="l" t="t" r="r" b="b"/>
              <a:pathLst>
                <a:path w="2961640" h="781050">
                  <a:moveTo>
                    <a:pt x="0" y="54553"/>
                  </a:moveTo>
                  <a:lnTo>
                    <a:pt x="2834500" y="54553"/>
                  </a:lnTo>
                  <a:lnTo>
                    <a:pt x="2834500" y="685552"/>
                  </a:lnTo>
                  <a:lnTo>
                    <a:pt x="2761955" y="685552"/>
                  </a:lnTo>
                  <a:lnTo>
                    <a:pt x="2861777" y="780899"/>
                  </a:lnTo>
                  <a:lnTo>
                    <a:pt x="2961599" y="685552"/>
                  </a:lnTo>
                  <a:lnTo>
                    <a:pt x="2889054" y="685552"/>
                  </a:lnTo>
                  <a:lnTo>
                    <a:pt x="2889054" y="0"/>
                  </a:lnTo>
                  <a:lnTo>
                    <a:pt x="0" y="0"/>
                  </a:lnTo>
                  <a:lnTo>
                    <a:pt x="0" y="54553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169260" y="3379938"/>
            <a:ext cx="23094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3C78D8"/>
                </a:solidFill>
                <a:latin typeface="Book Antiqua"/>
                <a:cs typeface="Book Antiqua"/>
              </a:rPr>
              <a:t>human-</a:t>
            </a:r>
            <a:r>
              <a:rPr sz="1400" b="1" dirty="0">
                <a:solidFill>
                  <a:srgbClr val="3C78D8"/>
                </a:solidFill>
                <a:latin typeface="Book Antiqua"/>
                <a:cs typeface="Book Antiqua"/>
              </a:rPr>
              <a:t>generated</a:t>
            </a:r>
            <a:r>
              <a:rPr sz="1400" b="1" spc="60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statement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934124" y="2820049"/>
            <a:ext cx="2812415" cy="530860"/>
          </a:xfrm>
          <a:custGeom>
            <a:avLst/>
            <a:gdLst/>
            <a:ahLst/>
            <a:cxnLst/>
            <a:rect l="l" t="t" r="r" b="b"/>
            <a:pathLst>
              <a:path w="2812415" h="530860">
                <a:moveTo>
                  <a:pt x="0" y="88451"/>
                </a:moveTo>
                <a:lnTo>
                  <a:pt x="6950" y="54022"/>
                </a:lnTo>
                <a:lnTo>
                  <a:pt x="25906" y="25906"/>
                </a:lnTo>
                <a:lnTo>
                  <a:pt x="54022" y="6950"/>
                </a:lnTo>
                <a:lnTo>
                  <a:pt x="88451" y="0"/>
                </a:lnTo>
                <a:lnTo>
                  <a:pt x="2723748" y="0"/>
                </a:lnTo>
                <a:lnTo>
                  <a:pt x="2772821" y="14860"/>
                </a:lnTo>
                <a:lnTo>
                  <a:pt x="2805467" y="54602"/>
                </a:lnTo>
                <a:lnTo>
                  <a:pt x="2812199" y="88451"/>
                </a:lnTo>
                <a:lnTo>
                  <a:pt x="2812199" y="442248"/>
                </a:lnTo>
                <a:lnTo>
                  <a:pt x="2805248" y="476677"/>
                </a:lnTo>
                <a:lnTo>
                  <a:pt x="2786292" y="504793"/>
                </a:lnTo>
                <a:lnTo>
                  <a:pt x="2758177" y="523749"/>
                </a:lnTo>
                <a:lnTo>
                  <a:pt x="2723748" y="530699"/>
                </a:lnTo>
                <a:lnTo>
                  <a:pt x="88451" y="530699"/>
                </a:lnTo>
                <a:lnTo>
                  <a:pt x="54022" y="523749"/>
                </a:lnTo>
                <a:lnTo>
                  <a:pt x="25906" y="504793"/>
                </a:lnTo>
                <a:lnTo>
                  <a:pt x="6950" y="476677"/>
                </a:lnTo>
                <a:lnTo>
                  <a:pt x="0" y="442248"/>
                </a:lnTo>
                <a:lnTo>
                  <a:pt x="0" y="88451"/>
                </a:lnTo>
                <a:close/>
              </a:path>
            </a:pathLst>
          </a:custGeom>
          <a:ln w="19049">
            <a:solidFill>
              <a:srgbClr val="3C7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53185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10" dirty="0"/>
              <a:t> </a:t>
            </a:r>
            <a:r>
              <a:rPr spc="85" dirty="0"/>
              <a:t>Knowledge</a:t>
            </a:r>
            <a:r>
              <a:rPr spc="10" dirty="0"/>
              <a:t> </a:t>
            </a:r>
            <a:r>
              <a:rPr spc="95" dirty="0"/>
              <a:t>Sources:</a:t>
            </a:r>
            <a:r>
              <a:rPr spc="-10" dirty="0"/>
              <a:t> </a:t>
            </a:r>
            <a:r>
              <a:rPr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Google-</a:t>
            </a:r>
            <a:r>
              <a:rPr b="1"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8301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5" dirty="0">
                <a:latin typeface="Times New Roman"/>
                <a:cs typeface="Times New Roman"/>
              </a:rPr>
              <a:t>Manually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extracted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facts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Wikipedia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95" dirty="0">
                <a:latin typeface="Book Antiqua"/>
                <a:cs typeface="Book Antiqua"/>
              </a:rPr>
              <a:t>Only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consider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3</a:t>
            </a:r>
            <a:r>
              <a:rPr sz="1700" b="1" spc="-30" dirty="0">
                <a:latin typeface="Book Antiqua"/>
                <a:cs typeface="Book Antiqua"/>
              </a:rPr>
              <a:t> kinds </a:t>
            </a:r>
            <a:r>
              <a:rPr sz="1700" b="1" spc="-10" dirty="0">
                <a:latin typeface="Book Antiqua"/>
                <a:cs typeface="Book Antiqua"/>
              </a:rPr>
              <a:t>of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relations:</a:t>
            </a:r>
            <a:r>
              <a:rPr sz="1700" b="1" spc="-50" dirty="0">
                <a:latin typeface="Book Antiqua"/>
                <a:cs typeface="Book Antiqua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place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birth,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date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birth,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place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death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53185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10" dirty="0"/>
              <a:t> </a:t>
            </a:r>
            <a:r>
              <a:rPr spc="85" dirty="0"/>
              <a:t>Knowledge</a:t>
            </a:r>
            <a:r>
              <a:rPr spc="10" dirty="0"/>
              <a:t> </a:t>
            </a:r>
            <a:r>
              <a:rPr spc="95" dirty="0"/>
              <a:t>Sources:</a:t>
            </a:r>
            <a:r>
              <a:rPr spc="-10" dirty="0"/>
              <a:t> </a:t>
            </a:r>
            <a:r>
              <a:rPr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Google-</a:t>
            </a:r>
            <a:r>
              <a:rPr b="1"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8301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5" dirty="0">
                <a:latin typeface="Times New Roman"/>
                <a:cs typeface="Times New Roman"/>
              </a:rPr>
              <a:t>Manually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extracted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facts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Wikipedia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95" dirty="0">
                <a:latin typeface="Book Antiqua"/>
                <a:cs typeface="Book Antiqua"/>
              </a:rPr>
              <a:t>Only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consider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3</a:t>
            </a:r>
            <a:r>
              <a:rPr sz="1700" b="1" spc="-30" dirty="0">
                <a:latin typeface="Book Antiqua"/>
                <a:cs typeface="Book Antiqua"/>
              </a:rPr>
              <a:t> kinds </a:t>
            </a:r>
            <a:r>
              <a:rPr sz="1700" b="1" spc="-10" dirty="0">
                <a:latin typeface="Book Antiqua"/>
                <a:cs typeface="Book Antiqua"/>
              </a:rPr>
              <a:t>of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relations:</a:t>
            </a:r>
            <a:r>
              <a:rPr sz="1700" b="1" spc="-50" dirty="0">
                <a:latin typeface="Book Antiqua"/>
                <a:cs typeface="Book Antiqua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place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birth,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date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birth,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place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death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333" y="2439339"/>
            <a:ext cx="1286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40" dirty="0">
                <a:solidFill>
                  <a:srgbClr val="3C78D8"/>
                </a:solidFill>
                <a:latin typeface="Book Antiqua"/>
                <a:cs typeface="Book Antiqua"/>
              </a:rPr>
              <a:t>Original</a:t>
            </a:r>
            <a:r>
              <a:rPr sz="1700" b="1" spc="-6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20" dirty="0">
                <a:solidFill>
                  <a:srgbClr val="3C78D8"/>
                </a:solidFill>
                <a:latin typeface="Book Antiqua"/>
                <a:cs typeface="Book Antiqua"/>
              </a:rPr>
              <a:t>Fact</a:t>
            </a:r>
            <a:endParaRPr sz="1700">
              <a:latin typeface="Book Antiqua"/>
              <a:cs typeface="Book Antiqu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90874" y="2275875"/>
            <a:ext cx="3479165" cy="591820"/>
            <a:chOff x="2890874" y="2275875"/>
            <a:chExt cx="3479165" cy="591820"/>
          </a:xfrm>
        </p:grpSpPr>
        <p:sp>
          <p:nvSpPr>
            <p:cNvPr id="6" name="object 6"/>
            <p:cNvSpPr/>
            <p:nvPr/>
          </p:nvSpPr>
          <p:spPr>
            <a:xfrm>
              <a:off x="2900399" y="2285400"/>
              <a:ext cx="3460115" cy="572770"/>
            </a:xfrm>
            <a:custGeom>
              <a:avLst/>
              <a:gdLst/>
              <a:ahLst/>
              <a:cxnLst/>
              <a:rect l="l" t="t" r="r" b="b"/>
              <a:pathLst>
                <a:path w="3460115" h="572769">
                  <a:moveTo>
                    <a:pt x="33644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364447" y="0"/>
                  </a:lnTo>
                  <a:lnTo>
                    <a:pt x="3417405" y="16037"/>
                  </a:lnTo>
                  <a:lnTo>
                    <a:pt x="3452634" y="58924"/>
                  </a:lnTo>
                  <a:lnTo>
                    <a:pt x="3459899" y="95451"/>
                  </a:lnTo>
                  <a:lnTo>
                    <a:pt x="3459899" y="477247"/>
                  </a:lnTo>
                  <a:lnTo>
                    <a:pt x="3452398" y="514402"/>
                  </a:lnTo>
                  <a:lnTo>
                    <a:pt x="3431942" y="544742"/>
                  </a:lnTo>
                  <a:lnTo>
                    <a:pt x="3401602" y="565198"/>
                  </a:lnTo>
                  <a:lnTo>
                    <a:pt x="3364447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00399" y="2285400"/>
              <a:ext cx="3460115" cy="572770"/>
            </a:xfrm>
            <a:custGeom>
              <a:avLst/>
              <a:gdLst/>
              <a:ahLst/>
              <a:cxnLst/>
              <a:rect l="l" t="t" r="r" b="b"/>
              <a:pathLst>
                <a:path w="346011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364447" y="0"/>
                  </a:lnTo>
                  <a:lnTo>
                    <a:pt x="3417405" y="16037"/>
                  </a:lnTo>
                  <a:lnTo>
                    <a:pt x="3452634" y="58924"/>
                  </a:lnTo>
                  <a:lnTo>
                    <a:pt x="3459899" y="95451"/>
                  </a:lnTo>
                  <a:lnTo>
                    <a:pt x="3459899" y="477247"/>
                  </a:lnTo>
                  <a:lnTo>
                    <a:pt x="3452398" y="514402"/>
                  </a:lnTo>
                  <a:lnTo>
                    <a:pt x="3431942" y="544742"/>
                  </a:lnTo>
                  <a:lnTo>
                    <a:pt x="3401602" y="565198"/>
                  </a:lnTo>
                  <a:lnTo>
                    <a:pt x="33644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88405" y="2437130"/>
            <a:ext cx="30848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Times New Roman"/>
                <a:cs typeface="Times New Roman"/>
              </a:rPr>
              <a:t>(T.S.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Eliot,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birth-</a:t>
            </a:r>
            <a:r>
              <a:rPr sz="1500" dirty="0">
                <a:latin typeface="Courier New"/>
                <a:cs typeface="Courier New"/>
              </a:rPr>
              <a:t>place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St.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Louis)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53185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10" dirty="0"/>
              <a:t> </a:t>
            </a:r>
            <a:r>
              <a:rPr spc="85" dirty="0"/>
              <a:t>Knowledge</a:t>
            </a:r>
            <a:r>
              <a:rPr spc="10" dirty="0"/>
              <a:t> </a:t>
            </a:r>
            <a:r>
              <a:rPr spc="95" dirty="0"/>
              <a:t>Sources:</a:t>
            </a:r>
            <a:r>
              <a:rPr spc="-10" dirty="0"/>
              <a:t> </a:t>
            </a:r>
            <a:r>
              <a:rPr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Google-</a:t>
            </a:r>
            <a:r>
              <a:rPr b="1"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8301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5" dirty="0">
                <a:latin typeface="Times New Roman"/>
                <a:cs typeface="Times New Roman"/>
              </a:rPr>
              <a:t>Manually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extracted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facts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Wikipedia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95" dirty="0">
                <a:latin typeface="Book Antiqua"/>
                <a:cs typeface="Book Antiqua"/>
              </a:rPr>
              <a:t>Only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consider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3</a:t>
            </a:r>
            <a:r>
              <a:rPr sz="1700" b="1" spc="-30" dirty="0">
                <a:latin typeface="Book Antiqua"/>
                <a:cs typeface="Book Antiqua"/>
              </a:rPr>
              <a:t> kinds </a:t>
            </a:r>
            <a:r>
              <a:rPr sz="1700" b="1" spc="-10" dirty="0">
                <a:latin typeface="Book Antiqua"/>
                <a:cs typeface="Book Antiqua"/>
              </a:rPr>
              <a:t>of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relations:</a:t>
            </a:r>
            <a:r>
              <a:rPr sz="1700" b="1" spc="-50" dirty="0">
                <a:latin typeface="Book Antiqua"/>
                <a:cs typeface="Book Antiqua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place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birth,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date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birth,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place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death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0553" y="3235255"/>
            <a:ext cx="24364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0" dirty="0">
                <a:latin typeface="Times New Roman"/>
                <a:cs typeface="Times New Roman"/>
              </a:rPr>
              <a:t>“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T.S.</a:t>
            </a:r>
            <a:r>
              <a:rPr sz="1900" dirty="0">
                <a:latin typeface="Times New Roman"/>
                <a:cs typeface="Times New Roman"/>
              </a:rPr>
              <a:t> Eliot </a:t>
            </a:r>
            <a:r>
              <a:rPr sz="1900" spc="75" dirty="0">
                <a:latin typeface="Times New Roman"/>
                <a:cs typeface="Times New Roman"/>
              </a:rPr>
              <a:t>was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145" dirty="0">
                <a:latin typeface="Times New Roman"/>
                <a:cs typeface="Times New Roman"/>
              </a:rPr>
              <a:t>born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in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5599" y="3235255"/>
            <a:ext cx="1257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”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9333" y="2439339"/>
            <a:ext cx="1286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40" dirty="0">
                <a:solidFill>
                  <a:srgbClr val="3C78D8"/>
                </a:solidFill>
                <a:latin typeface="Book Antiqua"/>
                <a:cs typeface="Book Antiqua"/>
              </a:rPr>
              <a:t>Original</a:t>
            </a:r>
            <a:r>
              <a:rPr sz="1700" b="1" spc="-6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20" dirty="0">
                <a:solidFill>
                  <a:srgbClr val="3C78D8"/>
                </a:solidFill>
                <a:latin typeface="Book Antiqua"/>
                <a:cs typeface="Book Antiqua"/>
              </a:rPr>
              <a:t>Fact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0637" y="3251511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E69137"/>
                </a:solidFill>
                <a:latin typeface="Book Antiqua"/>
                <a:cs typeface="Book Antiqua"/>
              </a:rPr>
              <a:t>Question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479" y="3992624"/>
            <a:ext cx="7664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E69137"/>
                </a:solidFill>
                <a:latin typeface="Book Antiqua"/>
                <a:cs typeface="Book Antiqua"/>
              </a:rPr>
              <a:t>Answer</a:t>
            </a:r>
            <a:endParaRPr sz="1700">
              <a:latin typeface="Book Antiqua"/>
              <a:cs typeface="Book Antiqu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85462" y="3230387"/>
            <a:ext cx="996315" cy="344170"/>
            <a:chOff x="5285462" y="3230387"/>
            <a:chExt cx="996315" cy="344170"/>
          </a:xfrm>
        </p:grpSpPr>
        <p:sp>
          <p:nvSpPr>
            <p:cNvPr id="10" name="object 10"/>
            <p:cNvSpPr/>
            <p:nvPr/>
          </p:nvSpPr>
          <p:spPr>
            <a:xfrm>
              <a:off x="5290225" y="3235150"/>
              <a:ext cx="986790" cy="334645"/>
            </a:xfrm>
            <a:custGeom>
              <a:avLst/>
              <a:gdLst/>
              <a:ahLst/>
              <a:cxnLst/>
              <a:rect l="l" t="t" r="r" b="b"/>
              <a:pathLst>
                <a:path w="986789" h="334645">
                  <a:moveTo>
                    <a:pt x="930648" y="334499"/>
                  </a:moveTo>
                  <a:lnTo>
                    <a:pt x="55751" y="334499"/>
                  </a:lnTo>
                  <a:lnTo>
                    <a:pt x="34050" y="330118"/>
                  </a:lnTo>
                  <a:lnTo>
                    <a:pt x="16329" y="318170"/>
                  </a:lnTo>
                  <a:lnTo>
                    <a:pt x="4381" y="300449"/>
                  </a:lnTo>
                  <a:lnTo>
                    <a:pt x="0" y="278748"/>
                  </a:lnTo>
                  <a:lnTo>
                    <a:pt x="0" y="55751"/>
                  </a:lnTo>
                  <a:lnTo>
                    <a:pt x="4381" y="34050"/>
                  </a:lnTo>
                  <a:lnTo>
                    <a:pt x="16329" y="16329"/>
                  </a:lnTo>
                  <a:lnTo>
                    <a:pt x="34050" y="4381"/>
                  </a:lnTo>
                  <a:lnTo>
                    <a:pt x="55751" y="0"/>
                  </a:lnTo>
                  <a:lnTo>
                    <a:pt x="930648" y="0"/>
                  </a:lnTo>
                  <a:lnTo>
                    <a:pt x="970070" y="16329"/>
                  </a:lnTo>
                  <a:lnTo>
                    <a:pt x="986399" y="55751"/>
                  </a:lnTo>
                  <a:lnTo>
                    <a:pt x="986399" y="278748"/>
                  </a:lnTo>
                  <a:lnTo>
                    <a:pt x="982018" y="300449"/>
                  </a:lnTo>
                  <a:lnTo>
                    <a:pt x="970070" y="318170"/>
                  </a:lnTo>
                  <a:lnTo>
                    <a:pt x="952349" y="330118"/>
                  </a:lnTo>
                  <a:lnTo>
                    <a:pt x="930648" y="3344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90225" y="3235150"/>
              <a:ext cx="986790" cy="334645"/>
            </a:xfrm>
            <a:custGeom>
              <a:avLst/>
              <a:gdLst/>
              <a:ahLst/>
              <a:cxnLst/>
              <a:rect l="l" t="t" r="r" b="b"/>
              <a:pathLst>
                <a:path w="986789" h="334645">
                  <a:moveTo>
                    <a:pt x="0" y="55751"/>
                  </a:moveTo>
                  <a:lnTo>
                    <a:pt x="4381" y="34050"/>
                  </a:lnTo>
                  <a:lnTo>
                    <a:pt x="16329" y="16329"/>
                  </a:lnTo>
                  <a:lnTo>
                    <a:pt x="34050" y="4381"/>
                  </a:lnTo>
                  <a:lnTo>
                    <a:pt x="55751" y="0"/>
                  </a:lnTo>
                  <a:lnTo>
                    <a:pt x="930648" y="0"/>
                  </a:lnTo>
                  <a:lnTo>
                    <a:pt x="970070" y="16329"/>
                  </a:lnTo>
                  <a:lnTo>
                    <a:pt x="986399" y="55751"/>
                  </a:lnTo>
                  <a:lnTo>
                    <a:pt x="986399" y="278748"/>
                  </a:lnTo>
                  <a:lnTo>
                    <a:pt x="982018" y="300449"/>
                  </a:lnTo>
                  <a:lnTo>
                    <a:pt x="970070" y="318170"/>
                  </a:lnTo>
                  <a:lnTo>
                    <a:pt x="952349" y="330118"/>
                  </a:lnTo>
                  <a:lnTo>
                    <a:pt x="930648" y="334499"/>
                  </a:lnTo>
                  <a:lnTo>
                    <a:pt x="55751" y="334499"/>
                  </a:lnTo>
                  <a:lnTo>
                    <a:pt x="34050" y="330118"/>
                  </a:lnTo>
                  <a:lnTo>
                    <a:pt x="16329" y="318170"/>
                  </a:lnTo>
                  <a:lnTo>
                    <a:pt x="4381" y="300449"/>
                  </a:lnTo>
                  <a:lnTo>
                    <a:pt x="0" y="278748"/>
                  </a:lnTo>
                  <a:lnTo>
                    <a:pt x="0" y="557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60282" y="3277813"/>
            <a:ext cx="6470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[MASK]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23437" y="3941937"/>
            <a:ext cx="1280795" cy="403225"/>
            <a:chOff x="3923437" y="3941937"/>
            <a:chExt cx="1280795" cy="403225"/>
          </a:xfrm>
        </p:grpSpPr>
        <p:sp>
          <p:nvSpPr>
            <p:cNvPr id="14" name="object 14"/>
            <p:cNvSpPr/>
            <p:nvPr/>
          </p:nvSpPr>
          <p:spPr>
            <a:xfrm>
              <a:off x="3928200" y="3946699"/>
              <a:ext cx="1271270" cy="393700"/>
            </a:xfrm>
            <a:custGeom>
              <a:avLst/>
              <a:gdLst/>
              <a:ahLst/>
              <a:cxnLst/>
              <a:rect l="l" t="t" r="r" b="b"/>
              <a:pathLst>
                <a:path w="1271270" h="393700">
                  <a:moveTo>
                    <a:pt x="12051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19213" y="19213"/>
                  </a:lnTo>
                  <a:lnTo>
                    <a:pt x="65601" y="0"/>
                  </a:lnTo>
                  <a:lnTo>
                    <a:pt x="1205198" y="0"/>
                  </a:lnTo>
                  <a:lnTo>
                    <a:pt x="1230733" y="5155"/>
                  </a:lnTo>
                  <a:lnTo>
                    <a:pt x="1251585" y="19214"/>
                  </a:lnTo>
                  <a:lnTo>
                    <a:pt x="1265644" y="40066"/>
                  </a:lnTo>
                  <a:lnTo>
                    <a:pt x="1270799" y="65601"/>
                  </a:lnTo>
                  <a:lnTo>
                    <a:pt x="1270799" y="327998"/>
                  </a:lnTo>
                  <a:lnTo>
                    <a:pt x="1265644" y="353533"/>
                  </a:lnTo>
                  <a:lnTo>
                    <a:pt x="1251585" y="374385"/>
                  </a:lnTo>
                  <a:lnTo>
                    <a:pt x="1230733" y="388444"/>
                  </a:lnTo>
                  <a:lnTo>
                    <a:pt x="1205198" y="393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28200" y="3946699"/>
              <a:ext cx="1271270" cy="393700"/>
            </a:xfrm>
            <a:custGeom>
              <a:avLst/>
              <a:gdLst/>
              <a:ahLst/>
              <a:cxnLst/>
              <a:rect l="l" t="t" r="r" b="b"/>
              <a:pathLst>
                <a:path w="1271270" h="393700">
                  <a:moveTo>
                    <a:pt x="1270799" y="65601"/>
                  </a:moveTo>
                  <a:lnTo>
                    <a:pt x="1265644" y="40066"/>
                  </a:lnTo>
                  <a:lnTo>
                    <a:pt x="1251585" y="19214"/>
                  </a:lnTo>
                  <a:lnTo>
                    <a:pt x="1230733" y="5155"/>
                  </a:lnTo>
                  <a:lnTo>
                    <a:pt x="1205198" y="0"/>
                  </a:lnTo>
                  <a:lnTo>
                    <a:pt x="65601" y="0"/>
                  </a:lnTo>
                  <a:lnTo>
                    <a:pt x="19213" y="19213"/>
                  </a:lnTo>
                  <a:lnTo>
                    <a:pt x="0" y="65601"/>
                  </a:lnTo>
                  <a:lnTo>
                    <a:pt x="0" y="327998"/>
                  </a:lnTo>
                  <a:lnTo>
                    <a:pt x="5155" y="353533"/>
                  </a:lnTo>
                  <a:lnTo>
                    <a:pt x="19214" y="374385"/>
                  </a:lnTo>
                  <a:lnTo>
                    <a:pt x="40066" y="388444"/>
                  </a:lnTo>
                  <a:lnTo>
                    <a:pt x="65601" y="393599"/>
                  </a:lnTo>
                  <a:lnTo>
                    <a:pt x="1205198" y="393599"/>
                  </a:lnTo>
                  <a:lnTo>
                    <a:pt x="1230733" y="388444"/>
                  </a:lnTo>
                  <a:lnTo>
                    <a:pt x="1251585" y="374385"/>
                  </a:lnTo>
                  <a:lnTo>
                    <a:pt x="1265644" y="353533"/>
                  </a:lnTo>
                  <a:lnTo>
                    <a:pt x="1270799" y="327998"/>
                  </a:lnTo>
                  <a:lnTo>
                    <a:pt x="1270799" y="6560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02502" y="3983543"/>
            <a:ext cx="922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mbria"/>
                <a:cs typeface="Cambria"/>
              </a:rPr>
              <a:t>St.</a:t>
            </a:r>
            <a:r>
              <a:rPr sz="18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mbria"/>
                <a:cs typeface="Cambria"/>
              </a:rPr>
              <a:t>Louis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54075" y="3587924"/>
            <a:ext cx="1260475" cy="368300"/>
            <a:chOff x="4554075" y="3587924"/>
            <a:chExt cx="1260475" cy="368300"/>
          </a:xfrm>
        </p:grpSpPr>
        <p:sp>
          <p:nvSpPr>
            <p:cNvPr id="18" name="object 18"/>
            <p:cNvSpPr/>
            <p:nvPr/>
          </p:nvSpPr>
          <p:spPr>
            <a:xfrm>
              <a:off x="4563600" y="3634886"/>
              <a:ext cx="1219835" cy="312420"/>
            </a:xfrm>
            <a:custGeom>
              <a:avLst/>
              <a:gdLst/>
              <a:ahLst/>
              <a:cxnLst/>
              <a:rect l="l" t="t" r="r" b="b"/>
              <a:pathLst>
                <a:path w="1219835" h="312420">
                  <a:moveTo>
                    <a:pt x="0" y="311813"/>
                  </a:moveTo>
                  <a:lnTo>
                    <a:pt x="0" y="123290"/>
                  </a:lnTo>
                  <a:lnTo>
                    <a:pt x="1219799" y="123290"/>
                  </a:lnTo>
                  <a:lnTo>
                    <a:pt x="1219799" y="0"/>
                  </a:lnTo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61976" y="3597449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42846" y="58860"/>
                  </a:moveTo>
                  <a:lnTo>
                    <a:pt x="21423" y="37436"/>
                  </a:lnTo>
                  <a:lnTo>
                    <a:pt x="0" y="58860"/>
                  </a:lnTo>
                  <a:lnTo>
                    <a:pt x="21423" y="0"/>
                  </a:lnTo>
                  <a:lnTo>
                    <a:pt x="42846" y="5886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61976" y="3597449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21423" y="37436"/>
                  </a:moveTo>
                  <a:lnTo>
                    <a:pt x="42846" y="58860"/>
                  </a:lnTo>
                  <a:lnTo>
                    <a:pt x="21423" y="0"/>
                  </a:lnTo>
                  <a:lnTo>
                    <a:pt x="0" y="58860"/>
                  </a:lnTo>
                  <a:lnTo>
                    <a:pt x="21423" y="37436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890874" y="2275875"/>
            <a:ext cx="3479165" cy="591820"/>
            <a:chOff x="2890874" y="2275875"/>
            <a:chExt cx="3479165" cy="591820"/>
          </a:xfrm>
        </p:grpSpPr>
        <p:sp>
          <p:nvSpPr>
            <p:cNvPr id="22" name="object 22"/>
            <p:cNvSpPr/>
            <p:nvPr/>
          </p:nvSpPr>
          <p:spPr>
            <a:xfrm>
              <a:off x="2900399" y="2285400"/>
              <a:ext cx="3460115" cy="572770"/>
            </a:xfrm>
            <a:custGeom>
              <a:avLst/>
              <a:gdLst/>
              <a:ahLst/>
              <a:cxnLst/>
              <a:rect l="l" t="t" r="r" b="b"/>
              <a:pathLst>
                <a:path w="3460115" h="572769">
                  <a:moveTo>
                    <a:pt x="33644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364447" y="0"/>
                  </a:lnTo>
                  <a:lnTo>
                    <a:pt x="3417405" y="16037"/>
                  </a:lnTo>
                  <a:lnTo>
                    <a:pt x="3452634" y="58924"/>
                  </a:lnTo>
                  <a:lnTo>
                    <a:pt x="3459899" y="95451"/>
                  </a:lnTo>
                  <a:lnTo>
                    <a:pt x="3459899" y="477247"/>
                  </a:lnTo>
                  <a:lnTo>
                    <a:pt x="3452398" y="514402"/>
                  </a:lnTo>
                  <a:lnTo>
                    <a:pt x="3431942" y="544742"/>
                  </a:lnTo>
                  <a:lnTo>
                    <a:pt x="3401602" y="565198"/>
                  </a:lnTo>
                  <a:lnTo>
                    <a:pt x="3364447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00399" y="2285400"/>
              <a:ext cx="3460115" cy="572770"/>
            </a:xfrm>
            <a:custGeom>
              <a:avLst/>
              <a:gdLst/>
              <a:ahLst/>
              <a:cxnLst/>
              <a:rect l="l" t="t" r="r" b="b"/>
              <a:pathLst>
                <a:path w="346011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364447" y="0"/>
                  </a:lnTo>
                  <a:lnTo>
                    <a:pt x="3417405" y="16037"/>
                  </a:lnTo>
                  <a:lnTo>
                    <a:pt x="3452634" y="58924"/>
                  </a:lnTo>
                  <a:lnTo>
                    <a:pt x="3459899" y="95451"/>
                  </a:lnTo>
                  <a:lnTo>
                    <a:pt x="3459899" y="477247"/>
                  </a:lnTo>
                  <a:lnTo>
                    <a:pt x="3452398" y="514402"/>
                  </a:lnTo>
                  <a:lnTo>
                    <a:pt x="3431942" y="544742"/>
                  </a:lnTo>
                  <a:lnTo>
                    <a:pt x="3401602" y="565198"/>
                  </a:lnTo>
                  <a:lnTo>
                    <a:pt x="33644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88405" y="2437130"/>
            <a:ext cx="30848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Times New Roman"/>
                <a:cs typeface="Times New Roman"/>
              </a:rPr>
              <a:t>(T.S.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Eliot,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birth-</a:t>
            </a:r>
            <a:r>
              <a:rPr sz="1500" dirty="0">
                <a:latin typeface="Courier New"/>
                <a:cs typeface="Courier New"/>
              </a:rPr>
              <a:t>place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St.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Louis)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684655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15" dirty="0"/>
              <a:t> </a:t>
            </a:r>
            <a:r>
              <a:rPr spc="85" dirty="0"/>
              <a:t>Knowledge</a:t>
            </a:r>
            <a:r>
              <a:rPr spc="-15" dirty="0"/>
              <a:t> </a:t>
            </a:r>
            <a:r>
              <a:rPr spc="95" dirty="0"/>
              <a:t>Sources:</a:t>
            </a:r>
            <a:r>
              <a:rPr spc="-30" dirty="0"/>
              <a:t> </a:t>
            </a:r>
            <a:r>
              <a:rPr b="1" u="heavy" spc="-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T-</a:t>
            </a:r>
            <a:r>
              <a:rPr b="1"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REx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0535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5" dirty="0">
                <a:latin typeface="Times New Roman"/>
                <a:cs typeface="Times New Roman"/>
              </a:rPr>
              <a:t>Automatically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extracted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facts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Wikipedia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(may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have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some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errors)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multiple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right</a:t>
            </a:r>
            <a:r>
              <a:rPr sz="1700" b="1" spc="-10" dirty="0">
                <a:latin typeface="Cambria"/>
                <a:cs typeface="Cambria"/>
              </a:rPr>
              <a:t> answers</a:t>
            </a:r>
            <a:r>
              <a:rPr sz="1700" spc="-10" dirty="0">
                <a:latin typeface="Times New Roman"/>
                <a:cs typeface="Times New Roman"/>
              </a:rPr>
              <a:t>: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throw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away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all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but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one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684655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15" dirty="0"/>
              <a:t> </a:t>
            </a:r>
            <a:r>
              <a:rPr spc="85" dirty="0"/>
              <a:t>Knowledge</a:t>
            </a:r>
            <a:r>
              <a:rPr spc="-15" dirty="0"/>
              <a:t> </a:t>
            </a:r>
            <a:r>
              <a:rPr spc="95" dirty="0"/>
              <a:t>Sources:</a:t>
            </a:r>
            <a:r>
              <a:rPr spc="-30" dirty="0"/>
              <a:t> </a:t>
            </a:r>
            <a:r>
              <a:rPr b="1" u="heavy" spc="-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T-</a:t>
            </a:r>
            <a:r>
              <a:rPr b="1"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REx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0535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5" dirty="0">
                <a:latin typeface="Times New Roman"/>
                <a:cs typeface="Times New Roman"/>
              </a:rPr>
              <a:t>Automatically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extracted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facts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Wikipedia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(may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have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some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errors)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multiple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right</a:t>
            </a:r>
            <a:r>
              <a:rPr sz="1700" b="1" spc="-10" dirty="0">
                <a:latin typeface="Cambria"/>
                <a:cs typeface="Cambria"/>
              </a:rPr>
              <a:t> answers: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throw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away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all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but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one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8274" y="2275875"/>
            <a:ext cx="4191635" cy="591820"/>
            <a:chOff x="2578274" y="2275875"/>
            <a:chExt cx="4191635" cy="591820"/>
          </a:xfrm>
        </p:grpSpPr>
        <p:sp>
          <p:nvSpPr>
            <p:cNvPr id="5" name="object 5"/>
            <p:cNvSpPr/>
            <p:nvPr/>
          </p:nvSpPr>
          <p:spPr>
            <a:xfrm>
              <a:off x="2587799" y="2285400"/>
              <a:ext cx="4172585" cy="572770"/>
            </a:xfrm>
            <a:custGeom>
              <a:avLst/>
              <a:gdLst/>
              <a:ahLst/>
              <a:cxnLst/>
              <a:rect l="l" t="t" r="r" b="b"/>
              <a:pathLst>
                <a:path w="4172584" h="572769">
                  <a:moveTo>
                    <a:pt x="40769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076948" y="0"/>
                  </a:lnTo>
                  <a:lnTo>
                    <a:pt x="4129905" y="16037"/>
                  </a:lnTo>
                  <a:lnTo>
                    <a:pt x="4165134" y="58924"/>
                  </a:lnTo>
                  <a:lnTo>
                    <a:pt x="4172399" y="95451"/>
                  </a:lnTo>
                  <a:lnTo>
                    <a:pt x="4172399" y="477247"/>
                  </a:lnTo>
                  <a:lnTo>
                    <a:pt x="4164898" y="514402"/>
                  </a:lnTo>
                  <a:lnTo>
                    <a:pt x="4144442" y="544742"/>
                  </a:lnTo>
                  <a:lnTo>
                    <a:pt x="4114102" y="565198"/>
                  </a:lnTo>
                  <a:lnTo>
                    <a:pt x="4076948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7799" y="2285400"/>
              <a:ext cx="4172585" cy="572770"/>
            </a:xfrm>
            <a:custGeom>
              <a:avLst/>
              <a:gdLst/>
              <a:ahLst/>
              <a:cxnLst/>
              <a:rect l="l" t="t" r="r" b="b"/>
              <a:pathLst>
                <a:path w="4172584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076948" y="0"/>
                  </a:lnTo>
                  <a:lnTo>
                    <a:pt x="4129905" y="16037"/>
                  </a:lnTo>
                  <a:lnTo>
                    <a:pt x="4165134" y="58924"/>
                  </a:lnTo>
                  <a:lnTo>
                    <a:pt x="4172399" y="95451"/>
                  </a:lnTo>
                  <a:lnTo>
                    <a:pt x="4172399" y="477247"/>
                  </a:lnTo>
                  <a:lnTo>
                    <a:pt x="4164898" y="514402"/>
                  </a:lnTo>
                  <a:lnTo>
                    <a:pt x="4144442" y="544742"/>
                  </a:lnTo>
                  <a:lnTo>
                    <a:pt x="4114102" y="565198"/>
                  </a:lnTo>
                  <a:lnTo>
                    <a:pt x="40769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59649" y="2400750"/>
              <a:ext cx="1392555" cy="368300"/>
            </a:xfrm>
            <a:custGeom>
              <a:avLst/>
              <a:gdLst/>
              <a:ahLst/>
              <a:cxnLst/>
              <a:rect l="l" t="t" r="r" b="b"/>
              <a:pathLst>
                <a:path w="1392554" h="368300">
                  <a:moveTo>
                    <a:pt x="1330698" y="367799"/>
                  </a:moveTo>
                  <a:lnTo>
                    <a:pt x="61301" y="367799"/>
                  </a:lnTo>
                  <a:lnTo>
                    <a:pt x="37439" y="362982"/>
                  </a:lnTo>
                  <a:lnTo>
                    <a:pt x="17954" y="349845"/>
                  </a:lnTo>
                  <a:lnTo>
                    <a:pt x="4817" y="330359"/>
                  </a:lnTo>
                  <a:lnTo>
                    <a:pt x="0" y="306498"/>
                  </a:lnTo>
                  <a:lnTo>
                    <a:pt x="0" y="61301"/>
                  </a:lnTo>
                  <a:lnTo>
                    <a:pt x="4817" y="37440"/>
                  </a:lnTo>
                  <a:lnTo>
                    <a:pt x="17954" y="17954"/>
                  </a:lnTo>
                  <a:lnTo>
                    <a:pt x="37439" y="4817"/>
                  </a:lnTo>
                  <a:lnTo>
                    <a:pt x="61301" y="0"/>
                  </a:lnTo>
                  <a:lnTo>
                    <a:pt x="1330698" y="0"/>
                  </a:lnTo>
                  <a:lnTo>
                    <a:pt x="1374045" y="17954"/>
                  </a:lnTo>
                  <a:lnTo>
                    <a:pt x="1391999" y="61301"/>
                  </a:lnTo>
                  <a:lnTo>
                    <a:pt x="1391999" y="306498"/>
                  </a:lnTo>
                  <a:lnTo>
                    <a:pt x="1387182" y="330359"/>
                  </a:lnTo>
                  <a:lnTo>
                    <a:pt x="1374045" y="349845"/>
                  </a:lnTo>
                  <a:lnTo>
                    <a:pt x="1354560" y="362982"/>
                  </a:lnTo>
                  <a:lnTo>
                    <a:pt x="1330698" y="36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59649" y="2400750"/>
              <a:ext cx="1392555" cy="368300"/>
            </a:xfrm>
            <a:custGeom>
              <a:avLst/>
              <a:gdLst/>
              <a:ahLst/>
              <a:cxnLst/>
              <a:rect l="l" t="t" r="r" b="b"/>
              <a:pathLst>
                <a:path w="1392554" h="368300">
                  <a:moveTo>
                    <a:pt x="0" y="61301"/>
                  </a:moveTo>
                  <a:lnTo>
                    <a:pt x="4817" y="37440"/>
                  </a:lnTo>
                  <a:lnTo>
                    <a:pt x="17954" y="17954"/>
                  </a:lnTo>
                  <a:lnTo>
                    <a:pt x="37439" y="4817"/>
                  </a:lnTo>
                  <a:lnTo>
                    <a:pt x="61301" y="0"/>
                  </a:lnTo>
                  <a:lnTo>
                    <a:pt x="1330698" y="0"/>
                  </a:lnTo>
                  <a:lnTo>
                    <a:pt x="1374045" y="17954"/>
                  </a:lnTo>
                  <a:lnTo>
                    <a:pt x="1391999" y="61301"/>
                  </a:lnTo>
                  <a:lnTo>
                    <a:pt x="1391999" y="306498"/>
                  </a:lnTo>
                  <a:lnTo>
                    <a:pt x="1387182" y="330359"/>
                  </a:lnTo>
                  <a:lnTo>
                    <a:pt x="1374045" y="349845"/>
                  </a:lnTo>
                  <a:lnTo>
                    <a:pt x="1354560" y="362982"/>
                  </a:lnTo>
                  <a:lnTo>
                    <a:pt x="1330698" y="367799"/>
                  </a:lnTo>
                  <a:lnTo>
                    <a:pt x="61301" y="367799"/>
                  </a:lnTo>
                  <a:lnTo>
                    <a:pt x="37439" y="362982"/>
                  </a:lnTo>
                  <a:lnTo>
                    <a:pt x="17954" y="349845"/>
                  </a:lnTo>
                  <a:lnTo>
                    <a:pt x="4817" y="330359"/>
                  </a:lnTo>
                  <a:lnTo>
                    <a:pt x="0" y="306498"/>
                  </a:lnTo>
                  <a:lnTo>
                    <a:pt x="0" y="6130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00421" y="2437130"/>
            <a:ext cx="39471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latin typeface="Times New Roman"/>
                <a:cs typeface="Times New Roman"/>
              </a:rPr>
              <a:t>(Francesco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55" dirty="0">
                <a:latin typeface="Times New Roman"/>
                <a:cs typeface="Times New Roman"/>
              </a:rPr>
              <a:t>Conti,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born-</a:t>
            </a:r>
            <a:r>
              <a:rPr sz="1500" dirty="0">
                <a:latin typeface="Courier New"/>
                <a:cs typeface="Courier New"/>
              </a:rPr>
              <a:t>in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330" dirty="0">
                <a:latin typeface="Times New Roman"/>
                <a:cs typeface="Times New Roman"/>
              </a:rPr>
              <a:t> </a:t>
            </a:r>
            <a:r>
              <a:rPr sz="1500" spc="65" dirty="0">
                <a:latin typeface="Times New Roman"/>
                <a:cs typeface="Times New Roman"/>
              </a:rPr>
              <a:t>[Florence,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Italy]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1786" y="3170552"/>
            <a:ext cx="19685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E69137"/>
                </a:solidFill>
                <a:latin typeface="Book Antiqua"/>
                <a:cs typeface="Book Antiqua"/>
              </a:rPr>
              <a:t>multiple</a:t>
            </a:r>
            <a:r>
              <a:rPr sz="1600" b="1" spc="-5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600" b="1" spc="-10" dirty="0">
                <a:solidFill>
                  <a:srgbClr val="E69137"/>
                </a:solidFill>
                <a:latin typeface="Book Antiqua"/>
                <a:cs typeface="Book Antiqua"/>
              </a:rPr>
              <a:t>possibilities</a:t>
            </a:r>
            <a:endParaRPr sz="1600">
              <a:latin typeface="Book Antiqua"/>
              <a:cs typeface="Book Antiqu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78737" y="2763887"/>
            <a:ext cx="154305" cy="425450"/>
            <a:chOff x="5778737" y="2763887"/>
            <a:chExt cx="154305" cy="425450"/>
          </a:xfrm>
        </p:grpSpPr>
        <p:sp>
          <p:nvSpPr>
            <p:cNvPr id="12" name="object 12"/>
            <p:cNvSpPr/>
            <p:nvPr/>
          </p:nvSpPr>
          <p:spPr>
            <a:xfrm>
              <a:off x="5783500" y="2768649"/>
              <a:ext cx="144780" cy="415925"/>
            </a:xfrm>
            <a:custGeom>
              <a:avLst/>
              <a:gdLst/>
              <a:ahLst/>
              <a:cxnLst/>
              <a:rect l="l" t="t" r="r" b="b"/>
              <a:pathLst>
                <a:path w="144779" h="415925">
                  <a:moveTo>
                    <a:pt x="108224" y="415499"/>
                  </a:moveTo>
                  <a:lnTo>
                    <a:pt x="36074" y="415499"/>
                  </a:ln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4154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3500" y="2768649"/>
              <a:ext cx="144780" cy="415925"/>
            </a:xfrm>
            <a:custGeom>
              <a:avLst/>
              <a:gdLst/>
              <a:ahLst/>
              <a:cxnLst/>
              <a:rect l="l" t="t" r="r" b="b"/>
              <a:pathLst>
                <a:path w="144779" h="415925">
                  <a:moveTo>
                    <a:pt x="36074" y="415499"/>
                  </a:moveTo>
                  <a:lnTo>
                    <a:pt x="36074" y="72149"/>
                  </a:lnTo>
                  <a:lnTo>
                    <a:pt x="0" y="72149"/>
                  </a:lnTo>
                  <a:lnTo>
                    <a:pt x="72149" y="0"/>
                  </a:lnTo>
                  <a:lnTo>
                    <a:pt x="144299" y="72149"/>
                  </a:lnTo>
                  <a:lnTo>
                    <a:pt x="108224" y="72149"/>
                  </a:lnTo>
                  <a:lnTo>
                    <a:pt x="108224" y="415499"/>
                  </a:lnTo>
                  <a:lnTo>
                    <a:pt x="36074" y="41549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9333" y="2439339"/>
            <a:ext cx="1286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40" dirty="0">
                <a:solidFill>
                  <a:srgbClr val="3C78D8"/>
                </a:solidFill>
                <a:latin typeface="Book Antiqua"/>
                <a:cs typeface="Book Antiqua"/>
              </a:rPr>
              <a:t>Original</a:t>
            </a:r>
            <a:r>
              <a:rPr sz="1700" b="1" spc="-6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20" dirty="0">
                <a:solidFill>
                  <a:srgbClr val="3C78D8"/>
                </a:solidFill>
                <a:latin typeface="Book Antiqua"/>
                <a:cs typeface="Book Antiqua"/>
              </a:rPr>
              <a:t>Fact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684655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15" dirty="0"/>
              <a:t> </a:t>
            </a:r>
            <a:r>
              <a:rPr spc="85" dirty="0"/>
              <a:t>Knowledge</a:t>
            </a:r>
            <a:r>
              <a:rPr spc="-15" dirty="0"/>
              <a:t> </a:t>
            </a:r>
            <a:r>
              <a:rPr spc="95" dirty="0"/>
              <a:t>Sources:</a:t>
            </a:r>
            <a:r>
              <a:rPr spc="-30" dirty="0"/>
              <a:t> </a:t>
            </a:r>
            <a:r>
              <a:rPr b="1" u="heavy" spc="-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T-</a:t>
            </a:r>
            <a:r>
              <a:rPr b="1"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REx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0535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5" dirty="0">
                <a:latin typeface="Times New Roman"/>
                <a:cs typeface="Times New Roman"/>
              </a:rPr>
              <a:t>Automatically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extracted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facts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Wikipedia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(may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have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some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errors)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multiple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right</a:t>
            </a:r>
            <a:r>
              <a:rPr sz="1700" b="1" spc="-10" dirty="0">
                <a:latin typeface="Cambria"/>
                <a:cs typeface="Cambria"/>
              </a:rPr>
              <a:t> answers: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throw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away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all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but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one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8274" y="2275875"/>
            <a:ext cx="4191635" cy="591820"/>
            <a:chOff x="2578274" y="2275875"/>
            <a:chExt cx="4191635" cy="591820"/>
          </a:xfrm>
        </p:grpSpPr>
        <p:sp>
          <p:nvSpPr>
            <p:cNvPr id="5" name="object 5"/>
            <p:cNvSpPr/>
            <p:nvPr/>
          </p:nvSpPr>
          <p:spPr>
            <a:xfrm>
              <a:off x="2587799" y="2285400"/>
              <a:ext cx="4172585" cy="572770"/>
            </a:xfrm>
            <a:custGeom>
              <a:avLst/>
              <a:gdLst/>
              <a:ahLst/>
              <a:cxnLst/>
              <a:rect l="l" t="t" r="r" b="b"/>
              <a:pathLst>
                <a:path w="4172584" h="572769">
                  <a:moveTo>
                    <a:pt x="40769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076948" y="0"/>
                  </a:lnTo>
                  <a:lnTo>
                    <a:pt x="4129905" y="16037"/>
                  </a:lnTo>
                  <a:lnTo>
                    <a:pt x="4165134" y="58924"/>
                  </a:lnTo>
                  <a:lnTo>
                    <a:pt x="4172399" y="95451"/>
                  </a:lnTo>
                  <a:lnTo>
                    <a:pt x="4172399" y="477247"/>
                  </a:lnTo>
                  <a:lnTo>
                    <a:pt x="4164898" y="514402"/>
                  </a:lnTo>
                  <a:lnTo>
                    <a:pt x="4144442" y="544742"/>
                  </a:lnTo>
                  <a:lnTo>
                    <a:pt x="4114102" y="565198"/>
                  </a:lnTo>
                  <a:lnTo>
                    <a:pt x="4076948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7799" y="2285400"/>
              <a:ext cx="4172585" cy="572770"/>
            </a:xfrm>
            <a:custGeom>
              <a:avLst/>
              <a:gdLst/>
              <a:ahLst/>
              <a:cxnLst/>
              <a:rect l="l" t="t" r="r" b="b"/>
              <a:pathLst>
                <a:path w="4172584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076948" y="0"/>
                  </a:lnTo>
                  <a:lnTo>
                    <a:pt x="4129905" y="16037"/>
                  </a:lnTo>
                  <a:lnTo>
                    <a:pt x="4165134" y="58924"/>
                  </a:lnTo>
                  <a:lnTo>
                    <a:pt x="4172399" y="95451"/>
                  </a:lnTo>
                  <a:lnTo>
                    <a:pt x="4172399" y="477247"/>
                  </a:lnTo>
                  <a:lnTo>
                    <a:pt x="4164898" y="514402"/>
                  </a:lnTo>
                  <a:lnTo>
                    <a:pt x="4144442" y="544742"/>
                  </a:lnTo>
                  <a:lnTo>
                    <a:pt x="4114102" y="565198"/>
                  </a:lnTo>
                  <a:lnTo>
                    <a:pt x="40769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2134" y="2437130"/>
            <a:ext cx="39446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latin typeface="Times New Roman"/>
                <a:cs typeface="Times New Roman"/>
              </a:rPr>
              <a:t>(Francesco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55" dirty="0">
                <a:latin typeface="Times New Roman"/>
                <a:cs typeface="Times New Roman"/>
              </a:rPr>
              <a:t>Conti,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born-</a:t>
            </a:r>
            <a:r>
              <a:rPr sz="1500" dirty="0">
                <a:latin typeface="Courier New"/>
                <a:cs typeface="Courier New"/>
              </a:rPr>
              <a:t>in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[</a:t>
            </a:r>
            <a:r>
              <a:rPr sz="1500" b="1" u="heavy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Florence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Italy]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9333" y="2439339"/>
            <a:ext cx="1286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40" dirty="0">
                <a:solidFill>
                  <a:srgbClr val="3C78D8"/>
                </a:solidFill>
                <a:latin typeface="Book Antiqua"/>
                <a:cs typeface="Book Antiqua"/>
              </a:rPr>
              <a:t>Original</a:t>
            </a:r>
            <a:r>
              <a:rPr sz="1700" b="1" spc="-6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20" dirty="0">
                <a:solidFill>
                  <a:srgbClr val="3C78D8"/>
                </a:solidFill>
                <a:latin typeface="Book Antiqua"/>
                <a:cs typeface="Book Antiqua"/>
              </a:rPr>
              <a:t>Fact</a:t>
            </a:r>
            <a:endParaRPr sz="1700">
              <a:latin typeface="Book Antiqua"/>
              <a:cs typeface="Book Antiqu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90396" y="2373361"/>
            <a:ext cx="395605" cy="396875"/>
            <a:chOff x="6090396" y="2373361"/>
            <a:chExt cx="395605" cy="396875"/>
          </a:xfrm>
        </p:grpSpPr>
        <p:sp>
          <p:nvSpPr>
            <p:cNvPr id="10" name="object 10"/>
            <p:cNvSpPr/>
            <p:nvPr/>
          </p:nvSpPr>
          <p:spPr>
            <a:xfrm>
              <a:off x="6095158" y="2378124"/>
              <a:ext cx="386080" cy="387350"/>
            </a:xfrm>
            <a:custGeom>
              <a:avLst/>
              <a:gdLst/>
              <a:ahLst/>
              <a:cxnLst/>
              <a:rect l="l" t="t" r="r" b="b"/>
              <a:pathLst>
                <a:path w="386079" h="387350">
                  <a:moveTo>
                    <a:pt x="317402" y="387252"/>
                  </a:moveTo>
                  <a:lnTo>
                    <a:pt x="192890" y="262007"/>
                  </a:lnTo>
                  <a:lnTo>
                    <a:pt x="68379" y="387252"/>
                  </a:lnTo>
                  <a:lnTo>
                    <a:pt x="0" y="319272"/>
                  </a:lnTo>
                  <a:lnTo>
                    <a:pt x="124910" y="193626"/>
                  </a:lnTo>
                  <a:lnTo>
                    <a:pt x="0" y="67979"/>
                  </a:lnTo>
                  <a:lnTo>
                    <a:pt x="68379" y="0"/>
                  </a:lnTo>
                  <a:lnTo>
                    <a:pt x="192890" y="125244"/>
                  </a:lnTo>
                  <a:lnTo>
                    <a:pt x="317402" y="0"/>
                  </a:lnTo>
                  <a:lnTo>
                    <a:pt x="385781" y="67979"/>
                  </a:lnTo>
                  <a:lnTo>
                    <a:pt x="260871" y="193626"/>
                  </a:lnTo>
                  <a:lnTo>
                    <a:pt x="385781" y="319272"/>
                  </a:lnTo>
                  <a:lnTo>
                    <a:pt x="317402" y="387252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5158" y="2378124"/>
              <a:ext cx="386080" cy="387350"/>
            </a:xfrm>
            <a:custGeom>
              <a:avLst/>
              <a:gdLst/>
              <a:ahLst/>
              <a:cxnLst/>
              <a:rect l="l" t="t" r="r" b="b"/>
              <a:pathLst>
                <a:path w="386079" h="387350">
                  <a:moveTo>
                    <a:pt x="0" y="67979"/>
                  </a:moveTo>
                  <a:lnTo>
                    <a:pt x="68379" y="0"/>
                  </a:lnTo>
                  <a:lnTo>
                    <a:pt x="192890" y="125244"/>
                  </a:lnTo>
                  <a:lnTo>
                    <a:pt x="317402" y="0"/>
                  </a:lnTo>
                  <a:lnTo>
                    <a:pt x="385781" y="67979"/>
                  </a:lnTo>
                  <a:lnTo>
                    <a:pt x="260871" y="193626"/>
                  </a:lnTo>
                  <a:lnTo>
                    <a:pt x="385781" y="319272"/>
                  </a:lnTo>
                  <a:lnTo>
                    <a:pt x="317402" y="387252"/>
                  </a:lnTo>
                  <a:lnTo>
                    <a:pt x="192890" y="262007"/>
                  </a:lnTo>
                  <a:lnTo>
                    <a:pt x="68379" y="387252"/>
                  </a:lnTo>
                  <a:lnTo>
                    <a:pt x="0" y="319272"/>
                  </a:lnTo>
                  <a:lnTo>
                    <a:pt x="124910" y="193626"/>
                  </a:lnTo>
                  <a:lnTo>
                    <a:pt x="0" y="6797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684655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15" dirty="0"/>
              <a:t> </a:t>
            </a:r>
            <a:r>
              <a:rPr spc="85" dirty="0"/>
              <a:t>Knowledge</a:t>
            </a:r>
            <a:r>
              <a:rPr spc="-15" dirty="0"/>
              <a:t> </a:t>
            </a:r>
            <a:r>
              <a:rPr spc="95" dirty="0"/>
              <a:t>Sources:</a:t>
            </a:r>
            <a:r>
              <a:rPr spc="-30" dirty="0"/>
              <a:t> </a:t>
            </a:r>
            <a:r>
              <a:rPr b="1" u="heavy" spc="-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T-</a:t>
            </a:r>
            <a:r>
              <a:rPr b="1"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REx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0535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5" dirty="0">
                <a:latin typeface="Times New Roman"/>
                <a:cs typeface="Times New Roman"/>
              </a:rPr>
              <a:t>Automatically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extracted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facts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Wikipedia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(may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have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some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errors)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0" dirty="0">
                <a:latin typeface="Times New Roman"/>
                <a:cs typeface="Times New Roman"/>
              </a:rPr>
              <a:t>For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multiple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right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answers: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throw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away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all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but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one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8894" y="3235255"/>
            <a:ext cx="328802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“</a:t>
            </a:r>
            <a:r>
              <a:rPr sz="1900" spc="409" dirty="0">
                <a:latin typeface="Times New Roman"/>
                <a:cs typeface="Times New Roman"/>
              </a:rPr>
              <a:t> </a:t>
            </a:r>
            <a:r>
              <a:rPr sz="1900" spc="100" dirty="0">
                <a:latin typeface="Times New Roman"/>
                <a:cs typeface="Times New Roman"/>
              </a:rPr>
              <a:t>Francesco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Conti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was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145" dirty="0">
                <a:latin typeface="Times New Roman"/>
                <a:cs typeface="Times New Roman"/>
              </a:rPr>
              <a:t>born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in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7933" y="3235255"/>
            <a:ext cx="1257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”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8274" y="2275875"/>
            <a:ext cx="4191635" cy="591820"/>
            <a:chOff x="2578274" y="2275875"/>
            <a:chExt cx="4191635" cy="591820"/>
          </a:xfrm>
        </p:grpSpPr>
        <p:sp>
          <p:nvSpPr>
            <p:cNvPr id="7" name="object 7"/>
            <p:cNvSpPr/>
            <p:nvPr/>
          </p:nvSpPr>
          <p:spPr>
            <a:xfrm>
              <a:off x="2587799" y="2285400"/>
              <a:ext cx="4172585" cy="572770"/>
            </a:xfrm>
            <a:custGeom>
              <a:avLst/>
              <a:gdLst/>
              <a:ahLst/>
              <a:cxnLst/>
              <a:rect l="l" t="t" r="r" b="b"/>
              <a:pathLst>
                <a:path w="4172584" h="572769">
                  <a:moveTo>
                    <a:pt x="40769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076948" y="0"/>
                  </a:lnTo>
                  <a:lnTo>
                    <a:pt x="4129905" y="16037"/>
                  </a:lnTo>
                  <a:lnTo>
                    <a:pt x="4165134" y="58924"/>
                  </a:lnTo>
                  <a:lnTo>
                    <a:pt x="4172399" y="95451"/>
                  </a:lnTo>
                  <a:lnTo>
                    <a:pt x="4172399" y="477247"/>
                  </a:lnTo>
                  <a:lnTo>
                    <a:pt x="4164898" y="514402"/>
                  </a:lnTo>
                  <a:lnTo>
                    <a:pt x="4144442" y="544742"/>
                  </a:lnTo>
                  <a:lnTo>
                    <a:pt x="4114102" y="565198"/>
                  </a:lnTo>
                  <a:lnTo>
                    <a:pt x="4076948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87799" y="2285400"/>
              <a:ext cx="4172585" cy="572770"/>
            </a:xfrm>
            <a:custGeom>
              <a:avLst/>
              <a:gdLst/>
              <a:ahLst/>
              <a:cxnLst/>
              <a:rect l="l" t="t" r="r" b="b"/>
              <a:pathLst>
                <a:path w="4172584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076948" y="0"/>
                  </a:lnTo>
                  <a:lnTo>
                    <a:pt x="4129905" y="16037"/>
                  </a:lnTo>
                  <a:lnTo>
                    <a:pt x="4165134" y="58924"/>
                  </a:lnTo>
                  <a:lnTo>
                    <a:pt x="4172399" y="95451"/>
                  </a:lnTo>
                  <a:lnTo>
                    <a:pt x="4172399" y="477247"/>
                  </a:lnTo>
                  <a:lnTo>
                    <a:pt x="4164898" y="514402"/>
                  </a:lnTo>
                  <a:lnTo>
                    <a:pt x="4144442" y="544742"/>
                  </a:lnTo>
                  <a:lnTo>
                    <a:pt x="4114102" y="565198"/>
                  </a:lnTo>
                  <a:lnTo>
                    <a:pt x="40769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02134" y="2437130"/>
            <a:ext cx="39446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latin typeface="Times New Roman"/>
                <a:cs typeface="Times New Roman"/>
              </a:rPr>
              <a:t>(Francesco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55" dirty="0">
                <a:latin typeface="Times New Roman"/>
                <a:cs typeface="Times New Roman"/>
              </a:rPr>
              <a:t>Conti,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born-</a:t>
            </a:r>
            <a:r>
              <a:rPr sz="1500" dirty="0">
                <a:latin typeface="Courier New"/>
                <a:cs typeface="Courier New"/>
              </a:rPr>
              <a:t>in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[</a:t>
            </a:r>
            <a:r>
              <a:rPr sz="1500" b="1" u="heavy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Florence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Italy]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333" y="2439339"/>
            <a:ext cx="1286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40" dirty="0">
                <a:solidFill>
                  <a:srgbClr val="3C78D8"/>
                </a:solidFill>
                <a:latin typeface="Book Antiqua"/>
                <a:cs typeface="Book Antiqua"/>
              </a:rPr>
              <a:t>Original</a:t>
            </a:r>
            <a:r>
              <a:rPr sz="1700" b="1" spc="-6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20" dirty="0">
                <a:solidFill>
                  <a:srgbClr val="3C78D8"/>
                </a:solidFill>
                <a:latin typeface="Book Antiqua"/>
                <a:cs typeface="Book Antiqua"/>
              </a:rPr>
              <a:t>Fact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0637" y="3251511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E69137"/>
                </a:solidFill>
                <a:latin typeface="Book Antiqua"/>
                <a:cs typeface="Book Antiqua"/>
              </a:rPr>
              <a:t>Question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9479" y="3992624"/>
            <a:ext cx="7664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E69137"/>
                </a:solidFill>
                <a:latin typeface="Book Antiqua"/>
                <a:cs typeface="Book Antiqua"/>
              </a:rPr>
              <a:t>Answer</a:t>
            </a:r>
            <a:endParaRPr sz="1700">
              <a:latin typeface="Book Antiqua"/>
              <a:cs typeface="Book Antiqu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68912" y="3230387"/>
            <a:ext cx="996315" cy="344170"/>
            <a:chOff x="5668912" y="3230387"/>
            <a:chExt cx="996315" cy="344170"/>
          </a:xfrm>
        </p:grpSpPr>
        <p:sp>
          <p:nvSpPr>
            <p:cNvPr id="14" name="object 14"/>
            <p:cNvSpPr/>
            <p:nvPr/>
          </p:nvSpPr>
          <p:spPr>
            <a:xfrm>
              <a:off x="5673675" y="3235150"/>
              <a:ext cx="986790" cy="334645"/>
            </a:xfrm>
            <a:custGeom>
              <a:avLst/>
              <a:gdLst/>
              <a:ahLst/>
              <a:cxnLst/>
              <a:rect l="l" t="t" r="r" b="b"/>
              <a:pathLst>
                <a:path w="986790" h="334645">
                  <a:moveTo>
                    <a:pt x="930649" y="334499"/>
                  </a:moveTo>
                  <a:lnTo>
                    <a:pt x="55751" y="334499"/>
                  </a:lnTo>
                  <a:lnTo>
                    <a:pt x="34050" y="330118"/>
                  </a:lnTo>
                  <a:lnTo>
                    <a:pt x="16329" y="318170"/>
                  </a:lnTo>
                  <a:lnTo>
                    <a:pt x="4381" y="300449"/>
                  </a:lnTo>
                  <a:lnTo>
                    <a:pt x="0" y="278748"/>
                  </a:lnTo>
                  <a:lnTo>
                    <a:pt x="0" y="55751"/>
                  </a:lnTo>
                  <a:lnTo>
                    <a:pt x="4381" y="34050"/>
                  </a:lnTo>
                  <a:lnTo>
                    <a:pt x="16329" y="16329"/>
                  </a:lnTo>
                  <a:lnTo>
                    <a:pt x="34050" y="4381"/>
                  </a:lnTo>
                  <a:lnTo>
                    <a:pt x="55751" y="0"/>
                  </a:lnTo>
                  <a:lnTo>
                    <a:pt x="930649" y="0"/>
                  </a:lnTo>
                  <a:lnTo>
                    <a:pt x="970070" y="16329"/>
                  </a:lnTo>
                  <a:lnTo>
                    <a:pt x="986399" y="55751"/>
                  </a:lnTo>
                  <a:lnTo>
                    <a:pt x="986399" y="278748"/>
                  </a:lnTo>
                  <a:lnTo>
                    <a:pt x="982018" y="300449"/>
                  </a:lnTo>
                  <a:lnTo>
                    <a:pt x="970070" y="318170"/>
                  </a:lnTo>
                  <a:lnTo>
                    <a:pt x="952349" y="330118"/>
                  </a:lnTo>
                  <a:lnTo>
                    <a:pt x="930649" y="3344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73675" y="3235150"/>
              <a:ext cx="986790" cy="334645"/>
            </a:xfrm>
            <a:custGeom>
              <a:avLst/>
              <a:gdLst/>
              <a:ahLst/>
              <a:cxnLst/>
              <a:rect l="l" t="t" r="r" b="b"/>
              <a:pathLst>
                <a:path w="986790" h="334645">
                  <a:moveTo>
                    <a:pt x="0" y="55751"/>
                  </a:moveTo>
                  <a:lnTo>
                    <a:pt x="4381" y="34050"/>
                  </a:lnTo>
                  <a:lnTo>
                    <a:pt x="16329" y="16329"/>
                  </a:lnTo>
                  <a:lnTo>
                    <a:pt x="34050" y="4381"/>
                  </a:lnTo>
                  <a:lnTo>
                    <a:pt x="55751" y="0"/>
                  </a:lnTo>
                  <a:lnTo>
                    <a:pt x="930649" y="0"/>
                  </a:lnTo>
                  <a:lnTo>
                    <a:pt x="970070" y="16329"/>
                  </a:lnTo>
                  <a:lnTo>
                    <a:pt x="986399" y="55751"/>
                  </a:lnTo>
                  <a:lnTo>
                    <a:pt x="986399" y="278748"/>
                  </a:lnTo>
                  <a:lnTo>
                    <a:pt x="982018" y="300449"/>
                  </a:lnTo>
                  <a:lnTo>
                    <a:pt x="970070" y="318170"/>
                  </a:lnTo>
                  <a:lnTo>
                    <a:pt x="952349" y="330118"/>
                  </a:lnTo>
                  <a:lnTo>
                    <a:pt x="930649" y="334499"/>
                  </a:lnTo>
                  <a:lnTo>
                    <a:pt x="55751" y="334499"/>
                  </a:lnTo>
                  <a:lnTo>
                    <a:pt x="34050" y="330118"/>
                  </a:lnTo>
                  <a:lnTo>
                    <a:pt x="16329" y="318170"/>
                  </a:lnTo>
                  <a:lnTo>
                    <a:pt x="4381" y="300449"/>
                  </a:lnTo>
                  <a:lnTo>
                    <a:pt x="0" y="278748"/>
                  </a:lnTo>
                  <a:lnTo>
                    <a:pt x="0" y="557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43732" y="3277813"/>
            <a:ext cx="6470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[MASK]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23437" y="3941937"/>
            <a:ext cx="1280795" cy="403225"/>
            <a:chOff x="3923437" y="3941937"/>
            <a:chExt cx="1280795" cy="403225"/>
          </a:xfrm>
        </p:grpSpPr>
        <p:sp>
          <p:nvSpPr>
            <p:cNvPr id="18" name="object 18"/>
            <p:cNvSpPr/>
            <p:nvPr/>
          </p:nvSpPr>
          <p:spPr>
            <a:xfrm>
              <a:off x="3928200" y="3946699"/>
              <a:ext cx="1271270" cy="393700"/>
            </a:xfrm>
            <a:custGeom>
              <a:avLst/>
              <a:gdLst/>
              <a:ahLst/>
              <a:cxnLst/>
              <a:rect l="l" t="t" r="r" b="b"/>
              <a:pathLst>
                <a:path w="1271270" h="393700">
                  <a:moveTo>
                    <a:pt x="12051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19213" y="19213"/>
                  </a:lnTo>
                  <a:lnTo>
                    <a:pt x="65601" y="0"/>
                  </a:lnTo>
                  <a:lnTo>
                    <a:pt x="1205198" y="0"/>
                  </a:lnTo>
                  <a:lnTo>
                    <a:pt x="1230733" y="5155"/>
                  </a:lnTo>
                  <a:lnTo>
                    <a:pt x="1251585" y="19214"/>
                  </a:lnTo>
                  <a:lnTo>
                    <a:pt x="1265644" y="40066"/>
                  </a:lnTo>
                  <a:lnTo>
                    <a:pt x="1270799" y="65601"/>
                  </a:lnTo>
                  <a:lnTo>
                    <a:pt x="1270799" y="327998"/>
                  </a:lnTo>
                  <a:lnTo>
                    <a:pt x="1265644" y="353533"/>
                  </a:lnTo>
                  <a:lnTo>
                    <a:pt x="1251585" y="374385"/>
                  </a:lnTo>
                  <a:lnTo>
                    <a:pt x="1230733" y="388444"/>
                  </a:lnTo>
                  <a:lnTo>
                    <a:pt x="1205198" y="393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28200" y="3946699"/>
              <a:ext cx="1271270" cy="393700"/>
            </a:xfrm>
            <a:custGeom>
              <a:avLst/>
              <a:gdLst/>
              <a:ahLst/>
              <a:cxnLst/>
              <a:rect l="l" t="t" r="r" b="b"/>
              <a:pathLst>
                <a:path w="1271270" h="393700">
                  <a:moveTo>
                    <a:pt x="1270799" y="65601"/>
                  </a:moveTo>
                  <a:lnTo>
                    <a:pt x="1265644" y="40066"/>
                  </a:lnTo>
                  <a:lnTo>
                    <a:pt x="1251585" y="19214"/>
                  </a:lnTo>
                  <a:lnTo>
                    <a:pt x="1230733" y="5155"/>
                  </a:lnTo>
                  <a:lnTo>
                    <a:pt x="1205198" y="0"/>
                  </a:lnTo>
                  <a:lnTo>
                    <a:pt x="65601" y="0"/>
                  </a:lnTo>
                  <a:lnTo>
                    <a:pt x="19213" y="19213"/>
                  </a:lnTo>
                  <a:lnTo>
                    <a:pt x="0" y="65601"/>
                  </a:lnTo>
                  <a:lnTo>
                    <a:pt x="0" y="327998"/>
                  </a:lnTo>
                  <a:lnTo>
                    <a:pt x="5155" y="353533"/>
                  </a:lnTo>
                  <a:lnTo>
                    <a:pt x="19214" y="374385"/>
                  </a:lnTo>
                  <a:lnTo>
                    <a:pt x="40066" y="388444"/>
                  </a:lnTo>
                  <a:lnTo>
                    <a:pt x="65601" y="393599"/>
                  </a:lnTo>
                  <a:lnTo>
                    <a:pt x="1205198" y="393599"/>
                  </a:lnTo>
                  <a:lnTo>
                    <a:pt x="1230733" y="388444"/>
                  </a:lnTo>
                  <a:lnTo>
                    <a:pt x="1251585" y="374385"/>
                  </a:lnTo>
                  <a:lnTo>
                    <a:pt x="1265644" y="353533"/>
                  </a:lnTo>
                  <a:lnTo>
                    <a:pt x="1270799" y="327998"/>
                  </a:lnTo>
                  <a:lnTo>
                    <a:pt x="1270799" y="6560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85357" y="3983543"/>
            <a:ext cx="956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mbria"/>
                <a:cs typeface="Cambria"/>
              </a:rPr>
              <a:t>Florence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54075" y="3587924"/>
            <a:ext cx="1644014" cy="368300"/>
            <a:chOff x="4554075" y="3587924"/>
            <a:chExt cx="1644014" cy="368300"/>
          </a:xfrm>
        </p:grpSpPr>
        <p:sp>
          <p:nvSpPr>
            <p:cNvPr id="22" name="object 22"/>
            <p:cNvSpPr/>
            <p:nvPr/>
          </p:nvSpPr>
          <p:spPr>
            <a:xfrm>
              <a:off x="4563600" y="3634886"/>
              <a:ext cx="1603375" cy="312420"/>
            </a:xfrm>
            <a:custGeom>
              <a:avLst/>
              <a:gdLst/>
              <a:ahLst/>
              <a:cxnLst/>
              <a:rect l="l" t="t" r="r" b="b"/>
              <a:pathLst>
                <a:path w="1603375" h="312420">
                  <a:moveTo>
                    <a:pt x="0" y="311813"/>
                  </a:moveTo>
                  <a:lnTo>
                    <a:pt x="0" y="123290"/>
                  </a:lnTo>
                  <a:lnTo>
                    <a:pt x="1603199" y="123290"/>
                  </a:lnTo>
                  <a:lnTo>
                    <a:pt x="1603199" y="0"/>
                  </a:lnTo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45376" y="3597449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42846" y="58860"/>
                  </a:moveTo>
                  <a:lnTo>
                    <a:pt x="21423" y="37436"/>
                  </a:lnTo>
                  <a:lnTo>
                    <a:pt x="0" y="58860"/>
                  </a:lnTo>
                  <a:lnTo>
                    <a:pt x="21423" y="0"/>
                  </a:lnTo>
                  <a:lnTo>
                    <a:pt x="42846" y="5886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45376" y="3597449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21423" y="37436"/>
                  </a:moveTo>
                  <a:lnTo>
                    <a:pt x="42846" y="58860"/>
                  </a:lnTo>
                  <a:lnTo>
                    <a:pt x="21423" y="0"/>
                  </a:lnTo>
                  <a:lnTo>
                    <a:pt x="0" y="58860"/>
                  </a:lnTo>
                  <a:lnTo>
                    <a:pt x="21423" y="37436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090396" y="2373361"/>
            <a:ext cx="395605" cy="396875"/>
            <a:chOff x="6090396" y="2373361"/>
            <a:chExt cx="395605" cy="396875"/>
          </a:xfrm>
        </p:grpSpPr>
        <p:sp>
          <p:nvSpPr>
            <p:cNvPr id="26" name="object 26"/>
            <p:cNvSpPr/>
            <p:nvPr/>
          </p:nvSpPr>
          <p:spPr>
            <a:xfrm>
              <a:off x="6095158" y="2378124"/>
              <a:ext cx="386080" cy="387350"/>
            </a:xfrm>
            <a:custGeom>
              <a:avLst/>
              <a:gdLst/>
              <a:ahLst/>
              <a:cxnLst/>
              <a:rect l="l" t="t" r="r" b="b"/>
              <a:pathLst>
                <a:path w="386079" h="387350">
                  <a:moveTo>
                    <a:pt x="317402" y="387252"/>
                  </a:moveTo>
                  <a:lnTo>
                    <a:pt x="192890" y="262007"/>
                  </a:lnTo>
                  <a:lnTo>
                    <a:pt x="68379" y="387252"/>
                  </a:lnTo>
                  <a:lnTo>
                    <a:pt x="0" y="319272"/>
                  </a:lnTo>
                  <a:lnTo>
                    <a:pt x="124910" y="193626"/>
                  </a:lnTo>
                  <a:lnTo>
                    <a:pt x="0" y="67979"/>
                  </a:lnTo>
                  <a:lnTo>
                    <a:pt x="68379" y="0"/>
                  </a:lnTo>
                  <a:lnTo>
                    <a:pt x="192890" y="125244"/>
                  </a:lnTo>
                  <a:lnTo>
                    <a:pt x="317402" y="0"/>
                  </a:lnTo>
                  <a:lnTo>
                    <a:pt x="385781" y="67979"/>
                  </a:lnTo>
                  <a:lnTo>
                    <a:pt x="260871" y="193626"/>
                  </a:lnTo>
                  <a:lnTo>
                    <a:pt x="385781" y="319272"/>
                  </a:lnTo>
                  <a:lnTo>
                    <a:pt x="317402" y="387252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95158" y="2378124"/>
              <a:ext cx="386080" cy="387350"/>
            </a:xfrm>
            <a:custGeom>
              <a:avLst/>
              <a:gdLst/>
              <a:ahLst/>
              <a:cxnLst/>
              <a:rect l="l" t="t" r="r" b="b"/>
              <a:pathLst>
                <a:path w="386079" h="387350">
                  <a:moveTo>
                    <a:pt x="0" y="67979"/>
                  </a:moveTo>
                  <a:lnTo>
                    <a:pt x="68379" y="0"/>
                  </a:lnTo>
                  <a:lnTo>
                    <a:pt x="192890" y="125244"/>
                  </a:lnTo>
                  <a:lnTo>
                    <a:pt x="317402" y="0"/>
                  </a:lnTo>
                  <a:lnTo>
                    <a:pt x="385781" y="67979"/>
                  </a:lnTo>
                  <a:lnTo>
                    <a:pt x="260871" y="193626"/>
                  </a:lnTo>
                  <a:lnTo>
                    <a:pt x="385781" y="319272"/>
                  </a:lnTo>
                  <a:lnTo>
                    <a:pt x="317402" y="387252"/>
                  </a:lnTo>
                  <a:lnTo>
                    <a:pt x="192890" y="262007"/>
                  </a:lnTo>
                  <a:lnTo>
                    <a:pt x="68379" y="387252"/>
                  </a:lnTo>
                  <a:lnTo>
                    <a:pt x="0" y="319272"/>
                  </a:lnTo>
                  <a:lnTo>
                    <a:pt x="124910" y="193626"/>
                  </a:lnTo>
                  <a:lnTo>
                    <a:pt x="0" y="6797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26746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25" dirty="0"/>
              <a:t> </a:t>
            </a:r>
            <a:r>
              <a:rPr spc="85" dirty="0"/>
              <a:t>Knowledge</a:t>
            </a:r>
            <a:r>
              <a:rPr spc="-20" dirty="0"/>
              <a:t> </a:t>
            </a:r>
            <a:r>
              <a:rPr spc="95" dirty="0"/>
              <a:t>Sources:</a:t>
            </a:r>
            <a:r>
              <a:rPr spc="-35" dirty="0"/>
              <a:t> </a:t>
            </a:r>
            <a:r>
              <a:rPr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ConceptNet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3482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0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each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ConceptNet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triple,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ﬁnd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relevant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b="1" spc="-60" dirty="0">
                <a:latin typeface="Book Antiqua"/>
                <a:cs typeface="Book Antiqua"/>
              </a:rPr>
              <a:t>Open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85" dirty="0">
                <a:latin typeface="Book Antiqua"/>
                <a:cs typeface="Book Antiqua"/>
              </a:rPr>
              <a:t>Mind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b="1" spc="-20" dirty="0">
                <a:latin typeface="Book Antiqua"/>
                <a:cs typeface="Book Antiqua"/>
              </a:rPr>
              <a:t>Common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Sense </a:t>
            </a:r>
            <a:r>
              <a:rPr sz="1700" b="1" spc="-140" dirty="0">
                <a:latin typeface="Book Antiqua"/>
                <a:cs typeface="Book Antiqua"/>
              </a:rPr>
              <a:t>(OMCS)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sentences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mask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object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8274" y="2275875"/>
            <a:ext cx="4104640" cy="591820"/>
            <a:chOff x="2578274" y="2275875"/>
            <a:chExt cx="4104640" cy="591820"/>
          </a:xfrm>
        </p:grpSpPr>
        <p:sp>
          <p:nvSpPr>
            <p:cNvPr id="5" name="object 5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3989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58576" y="2437130"/>
            <a:ext cx="2143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latin typeface="Times New Roman"/>
                <a:cs typeface="Times New Roman"/>
              </a:rPr>
              <a:t>(ravens,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Courier New"/>
                <a:cs typeface="Courier New"/>
              </a:rPr>
              <a:t>CapableOf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ﬂy)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50159" y="2439339"/>
            <a:ext cx="180593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3C78D8"/>
                </a:solidFill>
                <a:latin typeface="Book Antiqua"/>
                <a:cs typeface="Book Antiqua"/>
              </a:rPr>
              <a:t>ConceptNet</a:t>
            </a:r>
            <a:r>
              <a:rPr sz="17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10" dirty="0">
                <a:solidFill>
                  <a:srgbClr val="3C78D8"/>
                </a:solidFill>
                <a:latin typeface="Book Antiqua"/>
                <a:cs typeface="Book Antiqua"/>
              </a:rPr>
              <a:t>Triple</a:t>
            </a:r>
            <a:endParaRPr sz="17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26746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25" dirty="0"/>
              <a:t> </a:t>
            </a:r>
            <a:r>
              <a:rPr spc="85" dirty="0"/>
              <a:t>Knowledge</a:t>
            </a:r>
            <a:r>
              <a:rPr spc="-20" dirty="0"/>
              <a:t> </a:t>
            </a:r>
            <a:r>
              <a:rPr spc="95" dirty="0"/>
              <a:t>Sources:</a:t>
            </a:r>
            <a:r>
              <a:rPr spc="-35" dirty="0"/>
              <a:t> </a:t>
            </a:r>
            <a:r>
              <a:rPr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ConceptNet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3482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0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each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ConceptNet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triple,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ﬁnd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relevant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b="1" spc="-60" dirty="0">
                <a:latin typeface="Book Antiqua"/>
                <a:cs typeface="Book Antiqua"/>
              </a:rPr>
              <a:t>Open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85" dirty="0">
                <a:latin typeface="Book Antiqua"/>
                <a:cs typeface="Book Antiqua"/>
              </a:rPr>
              <a:t>Mind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b="1" spc="-20" dirty="0">
                <a:latin typeface="Book Antiqua"/>
                <a:cs typeface="Book Antiqua"/>
              </a:rPr>
              <a:t>Common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Sense </a:t>
            </a:r>
            <a:r>
              <a:rPr sz="1700" b="1" spc="-140" dirty="0">
                <a:latin typeface="Book Antiqua"/>
                <a:cs typeface="Book Antiqua"/>
              </a:rPr>
              <a:t>(OMCS)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sentences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mask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object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9779" y="3235255"/>
            <a:ext cx="19227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“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Ravens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130" dirty="0">
                <a:latin typeface="Times New Roman"/>
                <a:cs typeface="Times New Roman"/>
              </a:rPr>
              <a:t>can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ﬂy.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”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78274" y="2275875"/>
            <a:ext cx="4104640" cy="591820"/>
            <a:chOff x="2578274" y="2275875"/>
            <a:chExt cx="4104640" cy="591820"/>
          </a:xfrm>
        </p:grpSpPr>
        <p:sp>
          <p:nvSpPr>
            <p:cNvPr id="6" name="object 6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3989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58576" y="2437130"/>
            <a:ext cx="2143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latin typeface="Times New Roman"/>
                <a:cs typeface="Times New Roman"/>
              </a:rPr>
              <a:t>(ravens,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Courier New"/>
                <a:cs typeface="Courier New"/>
              </a:rPr>
              <a:t>CapableOf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ﬂy)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50159" y="2439339"/>
            <a:ext cx="180593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3C78D8"/>
                </a:solidFill>
                <a:latin typeface="Book Antiqua"/>
                <a:cs typeface="Book Antiqua"/>
              </a:rPr>
              <a:t>ConceptNet</a:t>
            </a:r>
            <a:r>
              <a:rPr sz="17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10" dirty="0">
                <a:solidFill>
                  <a:srgbClr val="3C78D8"/>
                </a:solidFill>
                <a:latin typeface="Book Antiqua"/>
                <a:cs typeface="Book Antiqua"/>
              </a:rPr>
              <a:t>Triple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154" y="3251511"/>
            <a:ext cx="1551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10" dirty="0">
                <a:solidFill>
                  <a:srgbClr val="3C78D8"/>
                </a:solidFill>
                <a:latin typeface="Book Antiqua"/>
                <a:cs typeface="Book Antiqua"/>
              </a:rPr>
              <a:t>OMCS</a:t>
            </a:r>
            <a:r>
              <a:rPr sz="1700" b="1" spc="-10" dirty="0">
                <a:solidFill>
                  <a:srgbClr val="3C78D8"/>
                </a:solidFill>
                <a:latin typeface="Book Antiqua"/>
                <a:cs typeface="Book Antiqua"/>
              </a:rPr>
              <a:t> Sentence</a:t>
            </a:r>
            <a:endParaRPr sz="17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26746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25" dirty="0"/>
              <a:t> </a:t>
            </a:r>
            <a:r>
              <a:rPr spc="85" dirty="0"/>
              <a:t>Knowledge</a:t>
            </a:r>
            <a:r>
              <a:rPr spc="-20" dirty="0"/>
              <a:t> </a:t>
            </a:r>
            <a:r>
              <a:rPr spc="95" dirty="0"/>
              <a:t>Sources:</a:t>
            </a:r>
            <a:r>
              <a:rPr spc="-35" dirty="0"/>
              <a:t> </a:t>
            </a:r>
            <a:r>
              <a:rPr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ConceptNet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3482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0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each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ConceptNet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triple,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ﬁnd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relevant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b="1" spc="-60" dirty="0">
                <a:latin typeface="Book Antiqua"/>
                <a:cs typeface="Book Antiqua"/>
              </a:rPr>
              <a:t>Open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85" dirty="0">
                <a:latin typeface="Book Antiqua"/>
                <a:cs typeface="Book Antiqua"/>
              </a:rPr>
              <a:t>Mind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b="1" spc="-20" dirty="0">
                <a:latin typeface="Book Antiqua"/>
                <a:cs typeface="Book Antiqua"/>
              </a:rPr>
              <a:t>Common</a:t>
            </a:r>
            <a:r>
              <a:rPr sz="1700" b="1" spc="-3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Sense </a:t>
            </a:r>
            <a:r>
              <a:rPr sz="1700" b="1" spc="-140" dirty="0">
                <a:latin typeface="Book Antiqua"/>
                <a:cs typeface="Book Antiqua"/>
              </a:rPr>
              <a:t>(OMCS)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sentences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mask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object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5356" y="3235255"/>
            <a:ext cx="14465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“</a:t>
            </a:r>
            <a:r>
              <a:rPr sz="1900" spc="390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Ravens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105" dirty="0">
                <a:latin typeface="Times New Roman"/>
                <a:cs typeface="Times New Roman"/>
              </a:rPr>
              <a:t>can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0589" y="3235255"/>
            <a:ext cx="1257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”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8274" y="2275875"/>
            <a:ext cx="4104640" cy="591820"/>
            <a:chOff x="2578274" y="2275875"/>
            <a:chExt cx="4104640" cy="591820"/>
          </a:xfrm>
        </p:grpSpPr>
        <p:sp>
          <p:nvSpPr>
            <p:cNvPr id="7" name="object 7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3989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58576" y="2437130"/>
            <a:ext cx="2143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latin typeface="Times New Roman"/>
                <a:cs typeface="Times New Roman"/>
              </a:rPr>
              <a:t>(ravens,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Courier New"/>
                <a:cs typeface="Courier New"/>
              </a:rPr>
              <a:t>CapableOf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ﬂy)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159" y="2439339"/>
            <a:ext cx="180593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3C78D8"/>
                </a:solidFill>
                <a:latin typeface="Book Antiqua"/>
                <a:cs typeface="Book Antiqua"/>
              </a:rPr>
              <a:t>ConceptNet</a:t>
            </a:r>
            <a:r>
              <a:rPr sz="1700" b="1" spc="-4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10" dirty="0">
                <a:solidFill>
                  <a:srgbClr val="3C78D8"/>
                </a:solidFill>
                <a:latin typeface="Book Antiqua"/>
                <a:cs typeface="Book Antiqua"/>
              </a:rPr>
              <a:t>Triple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0637" y="3251511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E69137"/>
                </a:solidFill>
                <a:latin typeface="Book Antiqua"/>
                <a:cs typeface="Book Antiqua"/>
              </a:rPr>
              <a:t>Question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9479" y="3992624"/>
            <a:ext cx="7664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E69137"/>
                </a:solidFill>
                <a:latin typeface="Book Antiqua"/>
                <a:cs typeface="Book Antiqua"/>
              </a:rPr>
              <a:t>Answer</a:t>
            </a:r>
            <a:endParaRPr sz="1700">
              <a:latin typeface="Book Antiqua"/>
              <a:cs typeface="Book Antiqu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93712" y="3230387"/>
            <a:ext cx="996315" cy="344170"/>
            <a:chOff x="4793712" y="3230387"/>
            <a:chExt cx="996315" cy="344170"/>
          </a:xfrm>
        </p:grpSpPr>
        <p:sp>
          <p:nvSpPr>
            <p:cNvPr id="14" name="object 14"/>
            <p:cNvSpPr/>
            <p:nvPr/>
          </p:nvSpPr>
          <p:spPr>
            <a:xfrm>
              <a:off x="4798474" y="3235150"/>
              <a:ext cx="986790" cy="334645"/>
            </a:xfrm>
            <a:custGeom>
              <a:avLst/>
              <a:gdLst/>
              <a:ahLst/>
              <a:cxnLst/>
              <a:rect l="l" t="t" r="r" b="b"/>
              <a:pathLst>
                <a:path w="986789" h="334645">
                  <a:moveTo>
                    <a:pt x="930648" y="334499"/>
                  </a:moveTo>
                  <a:lnTo>
                    <a:pt x="55751" y="334499"/>
                  </a:lnTo>
                  <a:lnTo>
                    <a:pt x="34050" y="330118"/>
                  </a:lnTo>
                  <a:lnTo>
                    <a:pt x="16329" y="318170"/>
                  </a:lnTo>
                  <a:lnTo>
                    <a:pt x="4381" y="300449"/>
                  </a:lnTo>
                  <a:lnTo>
                    <a:pt x="0" y="278748"/>
                  </a:lnTo>
                  <a:lnTo>
                    <a:pt x="0" y="55751"/>
                  </a:lnTo>
                  <a:lnTo>
                    <a:pt x="4381" y="34050"/>
                  </a:lnTo>
                  <a:lnTo>
                    <a:pt x="16329" y="16329"/>
                  </a:lnTo>
                  <a:lnTo>
                    <a:pt x="34050" y="4381"/>
                  </a:lnTo>
                  <a:lnTo>
                    <a:pt x="55751" y="0"/>
                  </a:lnTo>
                  <a:lnTo>
                    <a:pt x="930648" y="0"/>
                  </a:lnTo>
                  <a:lnTo>
                    <a:pt x="970070" y="16329"/>
                  </a:lnTo>
                  <a:lnTo>
                    <a:pt x="986399" y="55751"/>
                  </a:lnTo>
                  <a:lnTo>
                    <a:pt x="986399" y="278748"/>
                  </a:lnTo>
                  <a:lnTo>
                    <a:pt x="982018" y="300449"/>
                  </a:lnTo>
                  <a:lnTo>
                    <a:pt x="970070" y="318170"/>
                  </a:lnTo>
                  <a:lnTo>
                    <a:pt x="952349" y="330118"/>
                  </a:lnTo>
                  <a:lnTo>
                    <a:pt x="930648" y="3344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98474" y="3235150"/>
              <a:ext cx="986790" cy="334645"/>
            </a:xfrm>
            <a:custGeom>
              <a:avLst/>
              <a:gdLst/>
              <a:ahLst/>
              <a:cxnLst/>
              <a:rect l="l" t="t" r="r" b="b"/>
              <a:pathLst>
                <a:path w="986789" h="334645">
                  <a:moveTo>
                    <a:pt x="0" y="55751"/>
                  </a:moveTo>
                  <a:lnTo>
                    <a:pt x="4381" y="34050"/>
                  </a:lnTo>
                  <a:lnTo>
                    <a:pt x="16329" y="16329"/>
                  </a:lnTo>
                  <a:lnTo>
                    <a:pt x="34050" y="4381"/>
                  </a:lnTo>
                  <a:lnTo>
                    <a:pt x="55751" y="0"/>
                  </a:lnTo>
                  <a:lnTo>
                    <a:pt x="930648" y="0"/>
                  </a:lnTo>
                  <a:lnTo>
                    <a:pt x="970070" y="16329"/>
                  </a:lnTo>
                  <a:lnTo>
                    <a:pt x="986399" y="55751"/>
                  </a:lnTo>
                  <a:lnTo>
                    <a:pt x="986399" y="278748"/>
                  </a:lnTo>
                  <a:lnTo>
                    <a:pt x="982018" y="300449"/>
                  </a:lnTo>
                  <a:lnTo>
                    <a:pt x="970070" y="318170"/>
                  </a:lnTo>
                  <a:lnTo>
                    <a:pt x="952349" y="330118"/>
                  </a:lnTo>
                  <a:lnTo>
                    <a:pt x="930648" y="334499"/>
                  </a:lnTo>
                  <a:lnTo>
                    <a:pt x="55751" y="334499"/>
                  </a:lnTo>
                  <a:lnTo>
                    <a:pt x="34050" y="330118"/>
                  </a:lnTo>
                  <a:lnTo>
                    <a:pt x="16329" y="318170"/>
                  </a:lnTo>
                  <a:lnTo>
                    <a:pt x="4381" y="300449"/>
                  </a:lnTo>
                  <a:lnTo>
                    <a:pt x="0" y="278748"/>
                  </a:lnTo>
                  <a:lnTo>
                    <a:pt x="0" y="557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68532" y="3277813"/>
            <a:ext cx="6470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[MASK]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23437" y="3941937"/>
            <a:ext cx="1280795" cy="403225"/>
            <a:chOff x="3923437" y="3941937"/>
            <a:chExt cx="1280795" cy="403225"/>
          </a:xfrm>
        </p:grpSpPr>
        <p:sp>
          <p:nvSpPr>
            <p:cNvPr id="18" name="object 18"/>
            <p:cNvSpPr/>
            <p:nvPr/>
          </p:nvSpPr>
          <p:spPr>
            <a:xfrm>
              <a:off x="3928200" y="3946699"/>
              <a:ext cx="1271270" cy="393700"/>
            </a:xfrm>
            <a:custGeom>
              <a:avLst/>
              <a:gdLst/>
              <a:ahLst/>
              <a:cxnLst/>
              <a:rect l="l" t="t" r="r" b="b"/>
              <a:pathLst>
                <a:path w="1271270" h="393700">
                  <a:moveTo>
                    <a:pt x="12051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19213" y="19213"/>
                  </a:lnTo>
                  <a:lnTo>
                    <a:pt x="65601" y="0"/>
                  </a:lnTo>
                  <a:lnTo>
                    <a:pt x="1205198" y="0"/>
                  </a:lnTo>
                  <a:lnTo>
                    <a:pt x="1230733" y="5155"/>
                  </a:lnTo>
                  <a:lnTo>
                    <a:pt x="1251585" y="19214"/>
                  </a:lnTo>
                  <a:lnTo>
                    <a:pt x="1265644" y="40066"/>
                  </a:lnTo>
                  <a:lnTo>
                    <a:pt x="1270799" y="65601"/>
                  </a:lnTo>
                  <a:lnTo>
                    <a:pt x="1270799" y="327998"/>
                  </a:lnTo>
                  <a:lnTo>
                    <a:pt x="1265644" y="353533"/>
                  </a:lnTo>
                  <a:lnTo>
                    <a:pt x="1251585" y="374385"/>
                  </a:lnTo>
                  <a:lnTo>
                    <a:pt x="1230733" y="388444"/>
                  </a:lnTo>
                  <a:lnTo>
                    <a:pt x="1205198" y="393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28200" y="3946699"/>
              <a:ext cx="1271270" cy="393700"/>
            </a:xfrm>
            <a:custGeom>
              <a:avLst/>
              <a:gdLst/>
              <a:ahLst/>
              <a:cxnLst/>
              <a:rect l="l" t="t" r="r" b="b"/>
              <a:pathLst>
                <a:path w="1271270" h="393700">
                  <a:moveTo>
                    <a:pt x="1270799" y="65601"/>
                  </a:moveTo>
                  <a:lnTo>
                    <a:pt x="1265644" y="40066"/>
                  </a:lnTo>
                  <a:lnTo>
                    <a:pt x="1251585" y="19214"/>
                  </a:lnTo>
                  <a:lnTo>
                    <a:pt x="1230733" y="5155"/>
                  </a:lnTo>
                  <a:lnTo>
                    <a:pt x="1205198" y="0"/>
                  </a:lnTo>
                  <a:lnTo>
                    <a:pt x="65601" y="0"/>
                  </a:lnTo>
                  <a:lnTo>
                    <a:pt x="19213" y="19213"/>
                  </a:lnTo>
                  <a:lnTo>
                    <a:pt x="0" y="65601"/>
                  </a:lnTo>
                  <a:lnTo>
                    <a:pt x="0" y="327998"/>
                  </a:lnTo>
                  <a:lnTo>
                    <a:pt x="5155" y="353533"/>
                  </a:lnTo>
                  <a:lnTo>
                    <a:pt x="19214" y="374385"/>
                  </a:lnTo>
                  <a:lnTo>
                    <a:pt x="40066" y="388444"/>
                  </a:lnTo>
                  <a:lnTo>
                    <a:pt x="65601" y="393599"/>
                  </a:lnTo>
                  <a:lnTo>
                    <a:pt x="1205198" y="393599"/>
                  </a:lnTo>
                  <a:lnTo>
                    <a:pt x="1230733" y="388444"/>
                  </a:lnTo>
                  <a:lnTo>
                    <a:pt x="1251585" y="374385"/>
                  </a:lnTo>
                  <a:lnTo>
                    <a:pt x="1265644" y="353533"/>
                  </a:lnTo>
                  <a:lnTo>
                    <a:pt x="1270799" y="327998"/>
                  </a:lnTo>
                  <a:lnTo>
                    <a:pt x="1270799" y="6560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18198" y="3983543"/>
            <a:ext cx="290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Cambria"/>
                <a:cs typeface="Cambria"/>
              </a:rPr>
              <a:t>ﬂy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54075" y="3587924"/>
            <a:ext cx="768985" cy="368300"/>
            <a:chOff x="4554075" y="3587924"/>
            <a:chExt cx="768985" cy="368300"/>
          </a:xfrm>
        </p:grpSpPr>
        <p:sp>
          <p:nvSpPr>
            <p:cNvPr id="22" name="object 22"/>
            <p:cNvSpPr/>
            <p:nvPr/>
          </p:nvSpPr>
          <p:spPr>
            <a:xfrm>
              <a:off x="4563600" y="3634886"/>
              <a:ext cx="728345" cy="312420"/>
            </a:xfrm>
            <a:custGeom>
              <a:avLst/>
              <a:gdLst/>
              <a:ahLst/>
              <a:cxnLst/>
              <a:rect l="l" t="t" r="r" b="b"/>
              <a:pathLst>
                <a:path w="728345" h="312420">
                  <a:moveTo>
                    <a:pt x="0" y="311813"/>
                  </a:moveTo>
                  <a:lnTo>
                    <a:pt x="0" y="123290"/>
                  </a:lnTo>
                  <a:lnTo>
                    <a:pt x="728099" y="123290"/>
                  </a:lnTo>
                  <a:lnTo>
                    <a:pt x="728099" y="0"/>
                  </a:lnTo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70276" y="3597449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42846" y="58860"/>
                  </a:moveTo>
                  <a:lnTo>
                    <a:pt x="21423" y="37436"/>
                  </a:lnTo>
                  <a:lnTo>
                    <a:pt x="0" y="58860"/>
                  </a:lnTo>
                  <a:lnTo>
                    <a:pt x="21423" y="0"/>
                  </a:lnTo>
                  <a:lnTo>
                    <a:pt x="42846" y="5886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70276" y="3597449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21423" y="37436"/>
                  </a:moveTo>
                  <a:lnTo>
                    <a:pt x="42846" y="58860"/>
                  </a:lnTo>
                  <a:lnTo>
                    <a:pt x="21423" y="0"/>
                  </a:lnTo>
                  <a:lnTo>
                    <a:pt x="0" y="58860"/>
                  </a:lnTo>
                  <a:lnTo>
                    <a:pt x="21423" y="37436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60528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25" dirty="0"/>
              <a:t> </a:t>
            </a:r>
            <a:r>
              <a:rPr spc="85" dirty="0"/>
              <a:t>Knowledge</a:t>
            </a:r>
            <a:r>
              <a:rPr spc="-20" dirty="0"/>
              <a:t> </a:t>
            </a:r>
            <a:r>
              <a:rPr spc="95" dirty="0"/>
              <a:t>Sources:</a:t>
            </a:r>
            <a:r>
              <a:rPr spc="-35" dirty="0"/>
              <a:t> </a:t>
            </a:r>
            <a:r>
              <a:rPr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SQuAD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15835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10" dirty="0">
                <a:latin typeface="Cambria"/>
                <a:cs typeface="Cambria"/>
              </a:rPr>
              <a:t>Question-</a:t>
            </a:r>
            <a:r>
              <a:rPr sz="1700" b="1" spc="-20" dirty="0">
                <a:latin typeface="Cambria"/>
                <a:cs typeface="Cambria"/>
              </a:rPr>
              <a:t>answer</a:t>
            </a:r>
            <a:r>
              <a:rPr sz="1700" b="1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dataset: </a:t>
            </a:r>
            <a:r>
              <a:rPr sz="1700" spc="75" dirty="0">
                <a:latin typeface="Times New Roman"/>
                <a:cs typeface="Times New Roman"/>
              </a:rPr>
              <a:t>pick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only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context-</a:t>
            </a:r>
            <a:r>
              <a:rPr sz="1700" spc="65" dirty="0">
                <a:latin typeface="Times New Roman"/>
                <a:cs typeface="Times New Roman"/>
              </a:rPr>
              <a:t>insensitive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questions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with single-</a:t>
            </a:r>
            <a:r>
              <a:rPr sz="1700" spc="80" dirty="0">
                <a:latin typeface="Times New Roman"/>
                <a:cs typeface="Times New Roman"/>
              </a:rPr>
              <a:t>token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answers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0" dirty="0">
                <a:latin typeface="Times New Roman"/>
                <a:cs typeface="Times New Roman"/>
              </a:rPr>
              <a:t>Originally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created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Wikipedia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60528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25" dirty="0"/>
              <a:t> </a:t>
            </a:r>
            <a:r>
              <a:rPr spc="85" dirty="0"/>
              <a:t>Knowledge</a:t>
            </a:r>
            <a:r>
              <a:rPr spc="-20" dirty="0"/>
              <a:t> </a:t>
            </a:r>
            <a:r>
              <a:rPr spc="95" dirty="0"/>
              <a:t>Sources:</a:t>
            </a:r>
            <a:r>
              <a:rPr spc="-35" dirty="0"/>
              <a:t> </a:t>
            </a:r>
            <a:r>
              <a:rPr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SQuAD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15835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10" dirty="0">
                <a:latin typeface="Cambria"/>
                <a:cs typeface="Cambria"/>
              </a:rPr>
              <a:t>Question-</a:t>
            </a:r>
            <a:r>
              <a:rPr sz="1700" b="1" spc="-20" dirty="0">
                <a:latin typeface="Cambria"/>
                <a:cs typeface="Cambria"/>
              </a:rPr>
              <a:t>answer</a:t>
            </a:r>
            <a:r>
              <a:rPr sz="1700" b="1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dataset: </a:t>
            </a:r>
            <a:r>
              <a:rPr sz="1700" spc="75" dirty="0">
                <a:latin typeface="Times New Roman"/>
                <a:cs typeface="Times New Roman"/>
              </a:rPr>
              <a:t>pick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only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context-</a:t>
            </a:r>
            <a:r>
              <a:rPr sz="1700" spc="65" dirty="0">
                <a:latin typeface="Times New Roman"/>
                <a:cs typeface="Times New Roman"/>
              </a:rPr>
              <a:t>insensitive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questions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with single-</a:t>
            </a:r>
            <a:r>
              <a:rPr sz="1700" spc="80" dirty="0">
                <a:latin typeface="Times New Roman"/>
                <a:cs typeface="Times New Roman"/>
              </a:rPr>
              <a:t>token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answers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0" dirty="0">
                <a:latin typeface="Times New Roman"/>
                <a:cs typeface="Times New Roman"/>
              </a:rPr>
              <a:t>Originally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created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Wikipedia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8274" y="2275875"/>
            <a:ext cx="4104640" cy="591820"/>
            <a:chOff x="2578274" y="2275875"/>
            <a:chExt cx="4104640" cy="591820"/>
          </a:xfrm>
        </p:grpSpPr>
        <p:sp>
          <p:nvSpPr>
            <p:cNvPr id="5" name="object 5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3989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4951" y="2322830"/>
            <a:ext cx="36118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3035" marR="5080" indent="-141097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(“Who </a:t>
            </a:r>
            <a:r>
              <a:rPr sz="1500" spc="65" dirty="0">
                <a:latin typeface="Times New Roman"/>
                <a:cs typeface="Times New Roman"/>
              </a:rPr>
              <a:t>developed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100" dirty="0">
                <a:latin typeface="Times New Roman"/>
                <a:cs typeface="Times New Roman"/>
              </a:rPr>
              <a:t>the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90" dirty="0">
                <a:latin typeface="Times New Roman"/>
                <a:cs typeface="Times New Roman"/>
              </a:rPr>
              <a:t>theory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50" dirty="0">
                <a:latin typeface="Times New Roman"/>
                <a:cs typeface="Times New Roman"/>
              </a:rPr>
              <a:t>of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relativity?”, </a:t>
            </a:r>
            <a:r>
              <a:rPr sz="1500" spc="50" dirty="0">
                <a:latin typeface="Times New Roman"/>
                <a:cs typeface="Times New Roman"/>
              </a:rPr>
              <a:t>Einstein)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98124" y="2332655"/>
            <a:ext cx="1909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3C78D8"/>
                </a:solidFill>
                <a:latin typeface="Book Antiqua"/>
                <a:cs typeface="Book Antiqua"/>
              </a:rPr>
              <a:t>SQuAD</a:t>
            </a:r>
            <a:endParaRPr sz="15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500" b="1" spc="-45" dirty="0">
                <a:solidFill>
                  <a:srgbClr val="3C78D8"/>
                </a:solidFill>
                <a:latin typeface="Book Antiqua"/>
                <a:cs typeface="Book Antiqua"/>
              </a:rPr>
              <a:t>Question-</a:t>
            </a:r>
            <a:r>
              <a:rPr sz="1500" b="1" spc="-35" dirty="0">
                <a:solidFill>
                  <a:srgbClr val="3C78D8"/>
                </a:solidFill>
                <a:latin typeface="Book Antiqua"/>
                <a:cs typeface="Book Antiqua"/>
              </a:rPr>
              <a:t>Answer</a:t>
            </a:r>
            <a:r>
              <a:rPr sz="1500" b="1" spc="3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500" b="1" spc="-20" dirty="0">
                <a:solidFill>
                  <a:srgbClr val="3C78D8"/>
                </a:solidFill>
                <a:latin typeface="Book Antiqua"/>
                <a:cs typeface="Book Antiqua"/>
              </a:rPr>
              <a:t>Pair</a:t>
            </a:r>
            <a:endParaRPr sz="15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60528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LAMAʼs</a:t>
            </a:r>
            <a:r>
              <a:rPr spc="-25" dirty="0"/>
              <a:t> </a:t>
            </a:r>
            <a:r>
              <a:rPr spc="85" dirty="0"/>
              <a:t>Knowledge</a:t>
            </a:r>
            <a:r>
              <a:rPr spc="-20" dirty="0"/>
              <a:t> </a:t>
            </a:r>
            <a:r>
              <a:rPr spc="95" dirty="0"/>
              <a:t>Sources:</a:t>
            </a:r>
            <a:r>
              <a:rPr spc="-35" dirty="0"/>
              <a:t> </a:t>
            </a:r>
            <a:r>
              <a:rPr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SQuAD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15835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10" dirty="0">
                <a:latin typeface="Cambria"/>
                <a:cs typeface="Cambria"/>
              </a:rPr>
              <a:t>Question-</a:t>
            </a:r>
            <a:r>
              <a:rPr sz="1700" b="1" spc="-20" dirty="0">
                <a:latin typeface="Cambria"/>
                <a:cs typeface="Cambria"/>
              </a:rPr>
              <a:t>answer</a:t>
            </a:r>
            <a:r>
              <a:rPr sz="1700" b="1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dataset: </a:t>
            </a:r>
            <a:r>
              <a:rPr sz="1700" spc="75" dirty="0">
                <a:latin typeface="Times New Roman"/>
                <a:cs typeface="Times New Roman"/>
              </a:rPr>
              <a:t>pick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only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context-</a:t>
            </a:r>
            <a:r>
              <a:rPr sz="1700" spc="65" dirty="0">
                <a:latin typeface="Times New Roman"/>
                <a:cs typeface="Times New Roman"/>
              </a:rPr>
              <a:t>insensitive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questions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with single-</a:t>
            </a:r>
            <a:r>
              <a:rPr sz="1700" spc="80" dirty="0">
                <a:latin typeface="Times New Roman"/>
                <a:cs typeface="Times New Roman"/>
              </a:rPr>
              <a:t>token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answers</a:t>
            </a:r>
            <a:endParaRPr sz="170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0" dirty="0">
                <a:latin typeface="Times New Roman"/>
                <a:cs typeface="Times New Roman"/>
              </a:rPr>
              <a:t>Originally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created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Wikipedia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1142" y="3235268"/>
            <a:ext cx="46323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“</a:t>
            </a:r>
            <a:r>
              <a:rPr sz="1900" spc="375" dirty="0">
                <a:latin typeface="Times New Roman"/>
                <a:cs typeface="Times New Roman"/>
              </a:rPr>
              <a:t> </a:t>
            </a:r>
            <a:r>
              <a:rPr sz="1900" spc="95" dirty="0">
                <a:latin typeface="Times New Roman"/>
                <a:cs typeface="Times New Roman"/>
              </a:rPr>
              <a:t>The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114" dirty="0">
                <a:latin typeface="Times New Roman"/>
                <a:cs typeface="Times New Roman"/>
              </a:rPr>
              <a:t>theory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of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relativity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was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Times New Roman"/>
                <a:cs typeface="Times New Roman"/>
              </a:rPr>
              <a:t>developed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45" dirty="0">
                <a:latin typeface="Times New Roman"/>
                <a:cs typeface="Times New Roman"/>
              </a:rPr>
              <a:t>by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2259" y="3235268"/>
            <a:ext cx="1257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”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8274" y="2275875"/>
            <a:ext cx="4104640" cy="591820"/>
            <a:chOff x="2578274" y="2275875"/>
            <a:chExt cx="4104640" cy="591820"/>
          </a:xfrm>
        </p:grpSpPr>
        <p:sp>
          <p:nvSpPr>
            <p:cNvPr id="7" name="object 7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3989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87799" y="2285400"/>
              <a:ext cx="4085590" cy="572770"/>
            </a:xfrm>
            <a:custGeom>
              <a:avLst/>
              <a:gdLst/>
              <a:ahLst/>
              <a:cxnLst/>
              <a:rect l="l" t="t" r="r" b="b"/>
              <a:pathLst>
                <a:path w="408559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989648" y="0"/>
                  </a:lnTo>
                  <a:lnTo>
                    <a:pt x="4042605" y="16037"/>
                  </a:lnTo>
                  <a:lnTo>
                    <a:pt x="4077834" y="58924"/>
                  </a:lnTo>
                  <a:lnTo>
                    <a:pt x="4085099" y="95451"/>
                  </a:lnTo>
                  <a:lnTo>
                    <a:pt x="4085099" y="477247"/>
                  </a:lnTo>
                  <a:lnTo>
                    <a:pt x="4077598" y="514402"/>
                  </a:lnTo>
                  <a:lnTo>
                    <a:pt x="4057142" y="544742"/>
                  </a:lnTo>
                  <a:lnTo>
                    <a:pt x="4026802" y="565198"/>
                  </a:lnTo>
                  <a:lnTo>
                    <a:pt x="3989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24951" y="2322830"/>
            <a:ext cx="36118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3035" marR="5080" indent="-141097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(“Who </a:t>
            </a:r>
            <a:r>
              <a:rPr sz="1500" spc="65" dirty="0">
                <a:latin typeface="Times New Roman"/>
                <a:cs typeface="Times New Roman"/>
              </a:rPr>
              <a:t>developed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100" dirty="0">
                <a:latin typeface="Times New Roman"/>
                <a:cs typeface="Times New Roman"/>
              </a:rPr>
              <a:t>the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90" dirty="0">
                <a:latin typeface="Times New Roman"/>
                <a:cs typeface="Times New Roman"/>
              </a:rPr>
              <a:t>theory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50" dirty="0">
                <a:latin typeface="Times New Roman"/>
                <a:cs typeface="Times New Roman"/>
              </a:rPr>
              <a:t>of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relativity?”, </a:t>
            </a:r>
            <a:r>
              <a:rPr sz="1500" spc="50" dirty="0">
                <a:latin typeface="Times New Roman"/>
                <a:cs typeface="Times New Roman"/>
              </a:rPr>
              <a:t>Einstein)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8124" y="2332655"/>
            <a:ext cx="1909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3C78D8"/>
                </a:solidFill>
                <a:latin typeface="Book Antiqua"/>
                <a:cs typeface="Book Antiqua"/>
              </a:rPr>
              <a:t>SQuAD</a:t>
            </a:r>
            <a:endParaRPr sz="15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500" b="1" spc="-45" dirty="0">
                <a:solidFill>
                  <a:srgbClr val="3C78D8"/>
                </a:solidFill>
                <a:latin typeface="Book Antiqua"/>
                <a:cs typeface="Book Antiqua"/>
              </a:rPr>
              <a:t>Question-</a:t>
            </a:r>
            <a:r>
              <a:rPr sz="1500" b="1" spc="-35" dirty="0">
                <a:solidFill>
                  <a:srgbClr val="3C78D8"/>
                </a:solidFill>
                <a:latin typeface="Book Antiqua"/>
                <a:cs typeface="Book Antiqua"/>
              </a:rPr>
              <a:t>Answer</a:t>
            </a:r>
            <a:r>
              <a:rPr sz="1500" b="1" spc="3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500" b="1" spc="-20" dirty="0">
                <a:solidFill>
                  <a:srgbClr val="3C78D8"/>
                </a:solidFill>
                <a:latin typeface="Book Antiqua"/>
                <a:cs typeface="Book Antiqua"/>
              </a:rPr>
              <a:t>Pair</a:t>
            </a:r>
            <a:endParaRPr sz="15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0637" y="3251511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E69137"/>
                </a:solidFill>
                <a:latin typeface="Book Antiqua"/>
                <a:cs typeface="Book Antiqua"/>
              </a:rPr>
              <a:t>Question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9479" y="3992624"/>
            <a:ext cx="7664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5" dirty="0">
                <a:solidFill>
                  <a:srgbClr val="E69137"/>
                </a:solidFill>
                <a:latin typeface="Book Antiqua"/>
                <a:cs typeface="Book Antiqua"/>
              </a:rPr>
              <a:t>Answer</a:t>
            </a:r>
            <a:endParaRPr sz="1700">
              <a:latin typeface="Book Antiqua"/>
              <a:cs typeface="Book Antiqu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919262" y="3230387"/>
            <a:ext cx="996315" cy="344170"/>
            <a:chOff x="6919262" y="3230387"/>
            <a:chExt cx="996315" cy="344170"/>
          </a:xfrm>
        </p:grpSpPr>
        <p:sp>
          <p:nvSpPr>
            <p:cNvPr id="14" name="object 14"/>
            <p:cNvSpPr/>
            <p:nvPr/>
          </p:nvSpPr>
          <p:spPr>
            <a:xfrm>
              <a:off x="6924024" y="3235150"/>
              <a:ext cx="986790" cy="334645"/>
            </a:xfrm>
            <a:custGeom>
              <a:avLst/>
              <a:gdLst/>
              <a:ahLst/>
              <a:cxnLst/>
              <a:rect l="l" t="t" r="r" b="b"/>
              <a:pathLst>
                <a:path w="986790" h="334645">
                  <a:moveTo>
                    <a:pt x="930649" y="334499"/>
                  </a:moveTo>
                  <a:lnTo>
                    <a:pt x="55750" y="334499"/>
                  </a:lnTo>
                  <a:lnTo>
                    <a:pt x="34050" y="330118"/>
                  </a:lnTo>
                  <a:lnTo>
                    <a:pt x="16329" y="318170"/>
                  </a:lnTo>
                  <a:lnTo>
                    <a:pt x="4381" y="300449"/>
                  </a:lnTo>
                  <a:lnTo>
                    <a:pt x="0" y="278748"/>
                  </a:lnTo>
                  <a:lnTo>
                    <a:pt x="0" y="55751"/>
                  </a:lnTo>
                  <a:lnTo>
                    <a:pt x="4381" y="34050"/>
                  </a:lnTo>
                  <a:lnTo>
                    <a:pt x="16329" y="16329"/>
                  </a:lnTo>
                  <a:lnTo>
                    <a:pt x="34050" y="4381"/>
                  </a:lnTo>
                  <a:lnTo>
                    <a:pt x="55750" y="0"/>
                  </a:lnTo>
                  <a:lnTo>
                    <a:pt x="930649" y="0"/>
                  </a:lnTo>
                  <a:lnTo>
                    <a:pt x="970070" y="16329"/>
                  </a:lnTo>
                  <a:lnTo>
                    <a:pt x="986399" y="55751"/>
                  </a:lnTo>
                  <a:lnTo>
                    <a:pt x="986399" y="278748"/>
                  </a:lnTo>
                  <a:lnTo>
                    <a:pt x="982018" y="300449"/>
                  </a:lnTo>
                  <a:lnTo>
                    <a:pt x="970070" y="318170"/>
                  </a:lnTo>
                  <a:lnTo>
                    <a:pt x="952349" y="330118"/>
                  </a:lnTo>
                  <a:lnTo>
                    <a:pt x="930649" y="3344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24024" y="3235150"/>
              <a:ext cx="986790" cy="334645"/>
            </a:xfrm>
            <a:custGeom>
              <a:avLst/>
              <a:gdLst/>
              <a:ahLst/>
              <a:cxnLst/>
              <a:rect l="l" t="t" r="r" b="b"/>
              <a:pathLst>
                <a:path w="986790" h="334645">
                  <a:moveTo>
                    <a:pt x="0" y="55751"/>
                  </a:moveTo>
                  <a:lnTo>
                    <a:pt x="4381" y="34050"/>
                  </a:lnTo>
                  <a:lnTo>
                    <a:pt x="16329" y="16329"/>
                  </a:lnTo>
                  <a:lnTo>
                    <a:pt x="34050" y="4381"/>
                  </a:lnTo>
                  <a:lnTo>
                    <a:pt x="55750" y="0"/>
                  </a:lnTo>
                  <a:lnTo>
                    <a:pt x="930649" y="0"/>
                  </a:lnTo>
                  <a:lnTo>
                    <a:pt x="970070" y="16329"/>
                  </a:lnTo>
                  <a:lnTo>
                    <a:pt x="986399" y="55751"/>
                  </a:lnTo>
                  <a:lnTo>
                    <a:pt x="986399" y="278748"/>
                  </a:lnTo>
                  <a:lnTo>
                    <a:pt x="982018" y="300449"/>
                  </a:lnTo>
                  <a:lnTo>
                    <a:pt x="970070" y="318170"/>
                  </a:lnTo>
                  <a:lnTo>
                    <a:pt x="952349" y="330118"/>
                  </a:lnTo>
                  <a:lnTo>
                    <a:pt x="930649" y="334499"/>
                  </a:lnTo>
                  <a:lnTo>
                    <a:pt x="55750" y="334499"/>
                  </a:lnTo>
                  <a:lnTo>
                    <a:pt x="34050" y="330118"/>
                  </a:lnTo>
                  <a:lnTo>
                    <a:pt x="16329" y="318170"/>
                  </a:lnTo>
                  <a:lnTo>
                    <a:pt x="4381" y="300449"/>
                  </a:lnTo>
                  <a:lnTo>
                    <a:pt x="0" y="278748"/>
                  </a:lnTo>
                  <a:lnTo>
                    <a:pt x="0" y="557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094082" y="3277813"/>
            <a:ext cx="6470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[MASK]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23437" y="3941937"/>
            <a:ext cx="1280795" cy="403225"/>
            <a:chOff x="3923437" y="3941937"/>
            <a:chExt cx="1280795" cy="403225"/>
          </a:xfrm>
        </p:grpSpPr>
        <p:sp>
          <p:nvSpPr>
            <p:cNvPr id="18" name="object 18"/>
            <p:cNvSpPr/>
            <p:nvPr/>
          </p:nvSpPr>
          <p:spPr>
            <a:xfrm>
              <a:off x="3928200" y="3946699"/>
              <a:ext cx="1271270" cy="393700"/>
            </a:xfrm>
            <a:custGeom>
              <a:avLst/>
              <a:gdLst/>
              <a:ahLst/>
              <a:cxnLst/>
              <a:rect l="l" t="t" r="r" b="b"/>
              <a:pathLst>
                <a:path w="1271270" h="393700">
                  <a:moveTo>
                    <a:pt x="12051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19213" y="19213"/>
                  </a:lnTo>
                  <a:lnTo>
                    <a:pt x="65601" y="0"/>
                  </a:lnTo>
                  <a:lnTo>
                    <a:pt x="1205198" y="0"/>
                  </a:lnTo>
                  <a:lnTo>
                    <a:pt x="1230733" y="5155"/>
                  </a:lnTo>
                  <a:lnTo>
                    <a:pt x="1251585" y="19214"/>
                  </a:lnTo>
                  <a:lnTo>
                    <a:pt x="1265644" y="40066"/>
                  </a:lnTo>
                  <a:lnTo>
                    <a:pt x="1270799" y="65601"/>
                  </a:lnTo>
                  <a:lnTo>
                    <a:pt x="1270799" y="327998"/>
                  </a:lnTo>
                  <a:lnTo>
                    <a:pt x="1265644" y="353533"/>
                  </a:lnTo>
                  <a:lnTo>
                    <a:pt x="1251585" y="374385"/>
                  </a:lnTo>
                  <a:lnTo>
                    <a:pt x="1230733" y="388444"/>
                  </a:lnTo>
                  <a:lnTo>
                    <a:pt x="1205198" y="3935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28200" y="3946699"/>
              <a:ext cx="1271270" cy="393700"/>
            </a:xfrm>
            <a:custGeom>
              <a:avLst/>
              <a:gdLst/>
              <a:ahLst/>
              <a:cxnLst/>
              <a:rect l="l" t="t" r="r" b="b"/>
              <a:pathLst>
                <a:path w="1271270" h="393700">
                  <a:moveTo>
                    <a:pt x="1270799" y="65601"/>
                  </a:moveTo>
                  <a:lnTo>
                    <a:pt x="1265644" y="40066"/>
                  </a:lnTo>
                  <a:lnTo>
                    <a:pt x="1251585" y="19214"/>
                  </a:lnTo>
                  <a:lnTo>
                    <a:pt x="1230733" y="5155"/>
                  </a:lnTo>
                  <a:lnTo>
                    <a:pt x="1205198" y="0"/>
                  </a:lnTo>
                  <a:lnTo>
                    <a:pt x="65601" y="0"/>
                  </a:lnTo>
                  <a:lnTo>
                    <a:pt x="19213" y="19213"/>
                  </a:lnTo>
                  <a:lnTo>
                    <a:pt x="0" y="65601"/>
                  </a:lnTo>
                  <a:lnTo>
                    <a:pt x="0" y="327998"/>
                  </a:lnTo>
                  <a:lnTo>
                    <a:pt x="5155" y="353533"/>
                  </a:lnTo>
                  <a:lnTo>
                    <a:pt x="19214" y="374385"/>
                  </a:lnTo>
                  <a:lnTo>
                    <a:pt x="40066" y="388444"/>
                  </a:lnTo>
                  <a:lnTo>
                    <a:pt x="65601" y="393599"/>
                  </a:lnTo>
                  <a:lnTo>
                    <a:pt x="1205198" y="393599"/>
                  </a:lnTo>
                  <a:lnTo>
                    <a:pt x="1230733" y="388444"/>
                  </a:lnTo>
                  <a:lnTo>
                    <a:pt x="1251585" y="374385"/>
                  </a:lnTo>
                  <a:lnTo>
                    <a:pt x="1265644" y="353533"/>
                  </a:lnTo>
                  <a:lnTo>
                    <a:pt x="1270799" y="327998"/>
                  </a:lnTo>
                  <a:lnTo>
                    <a:pt x="1270799" y="6560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17818" y="3983543"/>
            <a:ext cx="892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mbria"/>
                <a:cs typeface="Cambria"/>
              </a:rPr>
              <a:t>Einstein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54075" y="3587924"/>
            <a:ext cx="2894330" cy="368300"/>
            <a:chOff x="4554075" y="3587924"/>
            <a:chExt cx="2894330" cy="368300"/>
          </a:xfrm>
        </p:grpSpPr>
        <p:sp>
          <p:nvSpPr>
            <p:cNvPr id="22" name="object 22"/>
            <p:cNvSpPr/>
            <p:nvPr/>
          </p:nvSpPr>
          <p:spPr>
            <a:xfrm>
              <a:off x="4563600" y="3634886"/>
              <a:ext cx="2853690" cy="312420"/>
            </a:xfrm>
            <a:custGeom>
              <a:avLst/>
              <a:gdLst/>
              <a:ahLst/>
              <a:cxnLst/>
              <a:rect l="l" t="t" r="r" b="b"/>
              <a:pathLst>
                <a:path w="2853690" h="312420">
                  <a:moveTo>
                    <a:pt x="0" y="311813"/>
                  </a:moveTo>
                  <a:lnTo>
                    <a:pt x="0" y="123290"/>
                  </a:lnTo>
                  <a:lnTo>
                    <a:pt x="2853599" y="123290"/>
                  </a:lnTo>
                  <a:lnTo>
                    <a:pt x="2853599" y="0"/>
                  </a:lnTo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95776" y="3597449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42846" y="58860"/>
                  </a:moveTo>
                  <a:lnTo>
                    <a:pt x="21423" y="37436"/>
                  </a:lnTo>
                  <a:lnTo>
                    <a:pt x="0" y="58860"/>
                  </a:lnTo>
                  <a:lnTo>
                    <a:pt x="21423" y="0"/>
                  </a:lnTo>
                  <a:lnTo>
                    <a:pt x="42846" y="5886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95776" y="3597449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21423" y="37436"/>
                  </a:moveTo>
                  <a:lnTo>
                    <a:pt x="42846" y="58860"/>
                  </a:lnTo>
                  <a:lnTo>
                    <a:pt x="21423" y="0"/>
                  </a:lnTo>
                  <a:lnTo>
                    <a:pt x="0" y="58860"/>
                  </a:lnTo>
                  <a:lnTo>
                    <a:pt x="21423" y="37436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94386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Dataset</a:t>
            </a:r>
            <a:r>
              <a:rPr spc="-35" dirty="0"/>
              <a:t> </a:t>
            </a:r>
            <a:r>
              <a:rPr spc="65" dirty="0"/>
              <a:t>Statistics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51987" y="1272737"/>
          <a:ext cx="5945503" cy="21577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3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40" dirty="0">
                          <a:latin typeface="Times New Roman"/>
                          <a:cs typeface="Times New Roman"/>
                        </a:rPr>
                        <a:t>Facts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Relations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Tokens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9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Answer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Google-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5.5k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REx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34k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55" dirty="0">
                          <a:latin typeface="Times New Roman"/>
                          <a:cs typeface="Times New Roman"/>
                        </a:rPr>
                        <a:t>ConceptNet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11.4k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SQuAD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94386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Dataset</a:t>
            </a:r>
            <a:r>
              <a:rPr spc="-35" dirty="0"/>
              <a:t> </a:t>
            </a:r>
            <a:r>
              <a:rPr spc="65" dirty="0"/>
              <a:t>Statistics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51987" y="1272737"/>
          <a:ext cx="5945503" cy="21577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3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40" dirty="0">
                          <a:latin typeface="Times New Roman"/>
                          <a:cs typeface="Times New Roman"/>
                        </a:rPr>
                        <a:t>Facts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Relations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Tokens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9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5" dirty="0">
                          <a:latin typeface="Times New Roman"/>
                          <a:cs typeface="Times New Roman"/>
                        </a:rPr>
                        <a:t>Answer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Google-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5.5k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b="1" dirty="0">
                          <a:solidFill>
                            <a:srgbClr val="E69137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REx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34k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b="1" dirty="0">
                          <a:solidFill>
                            <a:srgbClr val="E69137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55" dirty="0">
                          <a:latin typeface="Times New Roman"/>
                          <a:cs typeface="Times New Roman"/>
                        </a:rPr>
                        <a:t>ConceptNet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11.4k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b="1" dirty="0">
                          <a:solidFill>
                            <a:srgbClr val="E69137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SQuAD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b="1" dirty="0">
                          <a:solidFill>
                            <a:srgbClr val="E69137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436062" y="3861687"/>
            <a:ext cx="5988685" cy="542925"/>
            <a:chOff x="1436062" y="3861687"/>
            <a:chExt cx="5988685" cy="542925"/>
          </a:xfrm>
        </p:grpSpPr>
        <p:sp>
          <p:nvSpPr>
            <p:cNvPr id="5" name="object 5"/>
            <p:cNvSpPr/>
            <p:nvPr/>
          </p:nvSpPr>
          <p:spPr>
            <a:xfrm>
              <a:off x="1450350" y="3875975"/>
              <a:ext cx="5960110" cy="514350"/>
            </a:xfrm>
            <a:custGeom>
              <a:avLst/>
              <a:gdLst/>
              <a:ahLst/>
              <a:cxnLst/>
              <a:rect l="l" t="t" r="r" b="b"/>
              <a:pathLst>
                <a:path w="5960109" h="514350">
                  <a:moveTo>
                    <a:pt x="5874148" y="513899"/>
                  </a:moveTo>
                  <a:lnTo>
                    <a:pt x="85651" y="513899"/>
                  </a:lnTo>
                  <a:lnTo>
                    <a:pt x="52312" y="507169"/>
                  </a:lnTo>
                  <a:lnTo>
                    <a:pt x="25086" y="488813"/>
                  </a:lnTo>
                  <a:lnTo>
                    <a:pt x="6730" y="461587"/>
                  </a:lnTo>
                  <a:lnTo>
                    <a:pt x="0" y="428248"/>
                  </a:lnTo>
                  <a:lnTo>
                    <a:pt x="0" y="85651"/>
                  </a:lnTo>
                  <a:lnTo>
                    <a:pt x="6730" y="52312"/>
                  </a:lnTo>
                  <a:lnTo>
                    <a:pt x="25086" y="25086"/>
                  </a:lnTo>
                  <a:lnTo>
                    <a:pt x="52312" y="6730"/>
                  </a:lnTo>
                  <a:lnTo>
                    <a:pt x="85651" y="0"/>
                  </a:lnTo>
                  <a:lnTo>
                    <a:pt x="5874148" y="0"/>
                  </a:lnTo>
                  <a:lnTo>
                    <a:pt x="5921667" y="14390"/>
                  </a:lnTo>
                  <a:lnTo>
                    <a:pt x="5953280" y="52874"/>
                  </a:lnTo>
                  <a:lnTo>
                    <a:pt x="5959799" y="85651"/>
                  </a:lnTo>
                  <a:lnTo>
                    <a:pt x="5959799" y="428248"/>
                  </a:lnTo>
                  <a:lnTo>
                    <a:pt x="5953069" y="461587"/>
                  </a:lnTo>
                  <a:lnTo>
                    <a:pt x="5934713" y="488813"/>
                  </a:lnTo>
                  <a:lnTo>
                    <a:pt x="5907487" y="507169"/>
                  </a:lnTo>
                  <a:lnTo>
                    <a:pt x="5874148" y="5138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50350" y="3875975"/>
              <a:ext cx="5960110" cy="514350"/>
            </a:xfrm>
            <a:custGeom>
              <a:avLst/>
              <a:gdLst/>
              <a:ahLst/>
              <a:cxnLst/>
              <a:rect l="l" t="t" r="r" b="b"/>
              <a:pathLst>
                <a:path w="5960109" h="514350">
                  <a:moveTo>
                    <a:pt x="0" y="85651"/>
                  </a:moveTo>
                  <a:lnTo>
                    <a:pt x="6730" y="52312"/>
                  </a:lnTo>
                  <a:lnTo>
                    <a:pt x="25086" y="25086"/>
                  </a:lnTo>
                  <a:lnTo>
                    <a:pt x="52312" y="6730"/>
                  </a:lnTo>
                  <a:lnTo>
                    <a:pt x="85651" y="0"/>
                  </a:lnTo>
                  <a:lnTo>
                    <a:pt x="5874148" y="0"/>
                  </a:lnTo>
                  <a:lnTo>
                    <a:pt x="5921667" y="14390"/>
                  </a:lnTo>
                  <a:lnTo>
                    <a:pt x="5953280" y="52874"/>
                  </a:lnTo>
                  <a:lnTo>
                    <a:pt x="5959799" y="85651"/>
                  </a:lnTo>
                  <a:lnTo>
                    <a:pt x="5959799" y="428248"/>
                  </a:lnTo>
                  <a:lnTo>
                    <a:pt x="5953069" y="461587"/>
                  </a:lnTo>
                  <a:lnTo>
                    <a:pt x="5934713" y="488813"/>
                  </a:lnTo>
                  <a:lnTo>
                    <a:pt x="5907487" y="507169"/>
                  </a:lnTo>
                  <a:lnTo>
                    <a:pt x="5874148" y="513899"/>
                  </a:lnTo>
                  <a:lnTo>
                    <a:pt x="85651" y="513899"/>
                  </a:lnTo>
                  <a:lnTo>
                    <a:pt x="52312" y="507169"/>
                  </a:lnTo>
                  <a:lnTo>
                    <a:pt x="25086" y="488813"/>
                  </a:lnTo>
                  <a:lnTo>
                    <a:pt x="6730" y="461587"/>
                  </a:lnTo>
                  <a:lnTo>
                    <a:pt x="0" y="428248"/>
                  </a:lnTo>
                  <a:lnTo>
                    <a:pt x="0" y="85651"/>
                  </a:lnTo>
                  <a:close/>
                </a:path>
              </a:pathLst>
            </a:custGeom>
            <a:ln w="2857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96625" y="3983001"/>
            <a:ext cx="46678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ambria"/>
                <a:cs typeface="Cambria"/>
              </a:rPr>
              <a:t>Note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all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ground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truth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answers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ambria"/>
                <a:cs typeface="Cambria"/>
              </a:rPr>
              <a:t>single-</a:t>
            </a:r>
            <a:r>
              <a:rPr sz="1700" b="1" spc="-10" dirty="0">
                <a:latin typeface="Cambria"/>
                <a:cs typeface="Cambria"/>
              </a:rPr>
              <a:t>token</a:t>
            </a:r>
            <a:r>
              <a:rPr sz="1700" spc="-10" dirty="0">
                <a:latin typeface="Times New Roman"/>
                <a:cs typeface="Times New Roman"/>
              </a:rPr>
              <a:t>!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46329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Baselines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46329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Baselines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677862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Freq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ranks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candidates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by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frequency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appearance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objects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 </a:t>
            </a:r>
            <a:r>
              <a:rPr sz="1700" spc="80" dirty="0">
                <a:latin typeface="Times New Roman"/>
                <a:cs typeface="Times New Roman"/>
              </a:rPr>
              <a:t>subject-</a:t>
            </a:r>
            <a:r>
              <a:rPr sz="1700" spc="75" dirty="0">
                <a:latin typeface="Times New Roman"/>
                <a:cs typeface="Times New Roman"/>
              </a:rPr>
              <a:t>relation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pair</a:t>
            </a:r>
            <a:endParaRPr sz="17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spcBef>
                <a:spcPts val="1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spc="50" dirty="0">
                <a:latin typeface="Times New Roman"/>
                <a:cs typeface="Times New Roman"/>
              </a:rPr>
              <a:t>Analogous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majority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classiﬁer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46329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Baselines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77176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998219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Freq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ranks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candidates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by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frequency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appearance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objects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 </a:t>
            </a:r>
            <a:r>
              <a:rPr sz="1700" spc="80" dirty="0">
                <a:latin typeface="Times New Roman"/>
                <a:cs typeface="Times New Roman"/>
              </a:rPr>
              <a:t>subject-</a:t>
            </a:r>
            <a:r>
              <a:rPr sz="1700" spc="75" dirty="0">
                <a:latin typeface="Times New Roman"/>
                <a:cs typeface="Times New Roman"/>
              </a:rPr>
              <a:t>relation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pair</a:t>
            </a:r>
            <a:endParaRPr sz="17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spcBef>
                <a:spcPts val="1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spc="50" dirty="0">
                <a:latin typeface="Times New Roman"/>
                <a:cs typeface="Times New Roman"/>
              </a:rPr>
              <a:t>Analogous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majority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classiﬁer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○"/>
            </a:pPr>
            <a:endParaRPr sz="175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10" dirty="0">
                <a:latin typeface="Cambria"/>
                <a:cs typeface="Cambria"/>
              </a:rPr>
              <a:t>Pretrained</a:t>
            </a:r>
            <a:r>
              <a:rPr sz="1700" b="1" spc="-7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models</a:t>
            </a:r>
            <a:endParaRPr sz="1700">
              <a:latin typeface="Cambria"/>
              <a:cs typeface="Cambria"/>
            </a:endParaRPr>
          </a:p>
          <a:p>
            <a:pPr marL="828675" lvl="1" indent="-359410">
              <a:lnSpc>
                <a:spcPct val="100000"/>
              </a:lnSpc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700" b="1" spc="-75" dirty="0">
                <a:latin typeface="Book Antiqua"/>
                <a:cs typeface="Book Antiqua"/>
              </a:rPr>
              <a:t>RE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(Sorokin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Gurevych,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2017):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extracts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relation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triples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sentence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46329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Baselines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524" y="1216864"/>
            <a:ext cx="7860665" cy="200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104902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409575" algn="l"/>
                <a:tab pos="410209" algn="l"/>
              </a:tabLst>
            </a:pPr>
            <a:r>
              <a:rPr sz="1700" b="1" dirty="0">
                <a:latin typeface="Cambria"/>
                <a:cs typeface="Cambria"/>
              </a:rPr>
              <a:t>Freq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ranks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candidates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by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frequency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appearance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objects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 </a:t>
            </a:r>
            <a:r>
              <a:rPr sz="1700" spc="80" dirty="0">
                <a:latin typeface="Times New Roman"/>
                <a:cs typeface="Times New Roman"/>
              </a:rPr>
              <a:t>subject-</a:t>
            </a:r>
            <a:r>
              <a:rPr sz="1700" spc="75" dirty="0">
                <a:latin typeface="Times New Roman"/>
                <a:cs typeface="Times New Roman"/>
              </a:rPr>
              <a:t>relation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pair</a:t>
            </a:r>
            <a:endParaRPr sz="1700">
              <a:latin typeface="Times New Roman"/>
              <a:cs typeface="Times New Roman"/>
            </a:endParaRPr>
          </a:p>
          <a:p>
            <a:pPr marL="866775" lvl="1" indent="-336550">
              <a:lnSpc>
                <a:spcPct val="100000"/>
              </a:lnSpc>
              <a:spcBef>
                <a:spcPts val="10"/>
              </a:spcBef>
              <a:buFont typeface="Arial"/>
              <a:buChar char="○"/>
              <a:tabLst>
                <a:tab pos="866775" algn="l"/>
                <a:tab pos="867410" algn="l"/>
              </a:tabLst>
            </a:pPr>
            <a:r>
              <a:rPr sz="1400" spc="50" dirty="0">
                <a:latin typeface="Times New Roman"/>
                <a:cs typeface="Times New Roman"/>
              </a:rPr>
              <a:t>Analogous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majority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classiﬁer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○"/>
            </a:pPr>
            <a:endParaRPr sz="1750">
              <a:latin typeface="Times New Roman"/>
              <a:cs typeface="Times New Roman"/>
            </a:endParaRPr>
          </a:p>
          <a:p>
            <a:pPr marL="409575" indent="-359410">
              <a:lnSpc>
                <a:spcPct val="100000"/>
              </a:lnSpc>
              <a:buFont typeface="Arial"/>
              <a:buChar char="●"/>
              <a:tabLst>
                <a:tab pos="409575" algn="l"/>
                <a:tab pos="410209" algn="l"/>
              </a:tabLst>
            </a:pPr>
            <a:r>
              <a:rPr sz="1700" b="1" spc="-10" dirty="0">
                <a:latin typeface="Cambria"/>
                <a:cs typeface="Cambria"/>
              </a:rPr>
              <a:t>Pretrained</a:t>
            </a:r>
            <a:r>
              <a:rPr sz="1700" b="1" spc="-7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models</a:t>
            </a:r>
            <a:endParaRPr sz="1700">
              <a:latin typeface="Cambria"/>
              <a:cs typeface="Cambria"/>
            </a:endParaRPr>
          </a:p>
          <a:p>
            <a:pPr marL="866775" lvl="1" indent="-359410">
              <a:lnSpc>
                <a:spcPct val="100000"/>
              </a:lnSpc>
              <a:buFont typeface="Arial"/>
              <a:buChar char="○"/>
              <a:tabLst>
                <a:tab pos="866775" algn="l"/>
                <a:tab pos="867410" algn="l"/>
              </a:tabLst>
            </a:pPr>
            <a:r>
              <a:rPr sz="1700" b="1" spc="-75" dirty="0">
                <a:latin typeface="Book Antiqua"/>
                <a:cs typeface="Book Antiqua"/>
              </a:rPr>
              <a:t>RE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(Sorokin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Gurevych,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2017):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extracts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relation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triples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sentence</a:t>
            </a:r>
            <a:endParaRPr sz="1700">
              <a:latin typeface="Times New Roman"/>
              <a:cs typeface="Times New Roman"/>
            </a:endParaRPr>
          </a:p>
          <a:p>
            <a:pPr marL="1323975" lvl="2" indent="-35941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121428"/>
              <a:buFont typeface="Arial"/>
              <a:buChar char="■"/>
              <a:tabLst>
                <a:tab pos="1323975" algn="l"/>
                <a:tab pos="1324610" algn="l"/>
              </a:tabLst>
            </a:pPr>
            <a:r>
              <a:rPr sz="1400" b="1" dirty="0">
                <a:solidFill>
                  <a:srgbClr val="E69137"/>
                </a:solidFill>
                <a:latin typeface="Cambria"/>
                <a:cs typeface="Cambria"/>
              </a:rPr>
              <a:t>RE</a:t>
            </a:r>
            <a:r>
              <a:rPr sz="1350" b="1" baseline="-33950" dirty="0">
                <a:solidFill>
                  <a:srgbClr val="E69137"/>
                </a:solidFill>
                <a:latin typeface="Cambria"/>
                <a:cs typeface="Cambria"/>
              </a:rPr>
              <a:t>n</a:t>
            </a:r>
            <a:r>
              <a:rPr sz="1400" b="1" dirty="0">
                <a:solidFill>
                  <a:srgbClr val="E69137"/>
                </a:solidFill>
                <a:latin typeface="Cambria"/>
                <a:cs typeface="Cambria"/>
              </a:rPr>
              <a:t>:</a:t>
            </a:r>
            <a:r>
              <a:rPr sz="1400" b="1" spc="3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uses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exact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string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matching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for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entity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linking</a:t>
            </a:r>
            <a:endParaRPr sz="1400">
              <a:latin typeface="Times New Roman"/>
              <a:cs typeface="Times New Roman"/>
            </a:endParaRPr>
          </a:p>
          <a:p>
            <a:pPr marL="1781175" lvl="3" indent="-336550">
              <a:lnSpc>
                <a:spcPct val="100000"/>
              </a:lnSpc>
              <a:spcBef>
                <a:spcPts val="75"/>
              </a:spcBef>
              <a:buFont typeface="Arial"/>
              <a:buChar char="●"/>
              <a:tabLst>
                <a:tab pos="1781175" algn="l"/>
                <a:tab pos="1781810" algn="l"/>
              </a:tabLst>
            </a:pPr>
            <a:r>
              <a:rPr sz="1400" b="1" dirty="0">
                <a:latin typeface="Book Antiqua"/>
                <a:cs typeface="Book Antiqua"/>
              </a:rPr>
              <a:t>RE</a:t>
            </a:r>
            <a:r>
              <a:rPr sz="1350" b="1" baseline="-33950" dirty="0">
                <a:latin typeface="Book Antiqua"/>
                <a:cs typeface="Book Antiqua"/>
              </a:rPr>
              <a:t>n</a:t>
            </a:r>
            <a:r>
              <a:rPr sz="1350" b="1" spc="97" baseline="-339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has</a:t>
            </a:r>
            <a:r>
              <a:rPr sz="1400" b="1" spc="-6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to</a:t>
            </a:r>
            <a:r>
              <a:rPr sz="1400" b="1" spc="-55" dirty="0">
                <a:latin typeface="Book Antiqua"/>
                <a:cs typeface="Book Antiqua"/>
              </a:rPr>
              <a:t> </a:t>
            </a:r>
            <a:r>
              <a:rPr sz="1400" b="1" spc="-10" dirty="0">
                <a:latin typeface="Book Antiqua"/>
                <a:cs typeface="Book Antiqua"/>
              </a:rPr>
              <a:t>ﬁnd</a:t>
            </a:r>
            <a:r>
              <a:rPr sz="1400" b="1" spc="-6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the</a:t>
            </a:r>
            <a:r>
              <a:rPr sz="1400" b="1" spc="-6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subject/object</a:t>
            </a:r>
            <a:r>
              <a:rPr sz="1400" b="1" spc="-55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entities</a:t>
            </a:r>
            <a:r>
              <a:rPr sz="1400" b="1" spc="-60" dirty="0">
                <a:latin typeface="Book Antiqua"/>
                <a:cs typeface="Book Antiqua"/>
              </a:rPr>
              <a:t> </a:t>
            </a:r>
            <a:r>
              <a:rPr sz="1400" b="1" spc="-10" dirty="0">
                <a:latin typeface="Book Antiqua"/>
                <a:cs typeface="Book Antiqua"/>
              </a:rPr>
              <a:t>itself</a:t>
            </a:r>
            <a:endParaRPr sz="14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46329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Baselines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24" y="1216864"/>
            <a:ext cx="7886065" cy="243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marR="106172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422275" algn="l"/>
                <a:tab pos="422909" algn="l"/>
              </a:tabLst>
            </a:pPr>
            <a:r>
              <a:rPr sz="1700" b="1" dirty="0">
                <a:latin typeface="Cambria"/>
                <a:cs typeface="Cambria"/>
              </a:rPr>
              <a:t>Freq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ranks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candidates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by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frequency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appearance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objects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 </a:t>
            </a:r>
            <a:r>
              <a:rPr sz="1700" spc="80" dirty="0">
                <a:latin typeface="Times New Roman"/>
                <a:cs typeface="Times New Roman"/>
              </a:rPr>
              <a:t>subject-</a:t>
            </a:r>
            <a:r>
              <a:rPr sz="1700" spc="75" dirty="0">
                <a:latin typeface="Times New Roman"/>
                <a:cs typeface="Times New Roman"/>
              </a:rPr>
              <a:t>relation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pair</a:t>
            </a:r>
            <a:endParaRPr sz="1700">
              <a:latin typeface="Times New Roman"/>
              <a:cs typeface="Times New Roman"/>
            </a:endParaRPr>
          </a:p>
          <a:p>
            <a:pPr marL="879475" lvl="1" indent="-336550">
              <a:lnSpc>
                <a:spcPct val="100000"/>
              </a:lnSpc>
              <a:spcBef>
                <a:spcPts val="10"/>
              </a:spcBef>
              <a:buFont typeface="Arial"/>
              <a:buChar char="○"/>
              <a:tabLst>
                <a:tab pos="879475" algn="l"/>
                <a:tab pos="880110" algn="l"/>
              </a:tabLst>
            </a:pPr>
            <a:r>
              <a:rPr sz="1400" spc="50" dirty="0">
                <a:latin typeface="Times New Roman"/>
                <a:cs typeface="Times New Roman"/>
              </a:rPr>
              <a:t>Analogous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majority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classiﬁer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○"/>
            </a:pPr>
            <a:endParaRPr sz="1750">
              <a:latin typeface="Times New Roman"/>
              <a:cs typeface="Times New Roman"/>
            </a:endParaRPr>
          </a:p>
          <a:p>
            <a:pPr marL="422275" indent="-359410">
              <a:lnSpc>
                <a:spcPct val="100000"/>
              </a:lnSpc>
              <a:buFont typeface="Arial"/>
              <a:buChar char="●"/>
              <a:tabLst>
                <a:tab pos="422275" algn="l"/>
                <a:tab pos="422909" algn="l"/>
              </a:tabLst>
            </a:pPr>
            <a:r>
              <a:rPr sz="1700" b="1" spc="-10" dirty="0">
                <a:latin typeface="Cambria"/>
                <a:cs typeface="Cambria"/>
              </a:rPr>
              <a:t>Pretrained</a:t>
            </a:r>
            <a:r>
              <a:rPr sz="1700" b="1" spc="-7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models</a:t>
            </a:r>
            <a:endParaRPr sz="1700">
              <a:latin typeface="Cambria"/>
              <a:cs typeface="Cambria"/>
            </a:endParaRPr>
          </a:p>
          <a:p>
            <a:pPr marL="879475" lvl="1" indent="-359410">
              <a:lnSpc>
                <a:spcPct val="100000"/>
              </a:lnSpc>
              <a:buFont typeface="Arial"/>
              <a:buChar char="○"/>
              <a:tabLst>
                <a:tab pos="879475" algn="l"/>
                <a:tab pos="880110" algn="l"/>
              </a:tabLst>
            </a:pPr>
            <a:r>
              <a:rPr sz="1700" b="1" spc="-75" dirty="0">
                <a:latin typeface="Book Antiqua"/>
                <a:cs typeface="Book Antiqua"/>
              </a:rPr>
              <a:t>RE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(Sorokin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Gurevych,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2017):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extracts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relation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triples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sentence</a:t>
            </a:r>
            <a:endParaRPr sz="1700">
              <a:latin typeface="Times New Roman"/>
              <a:cs typeface="Times New Roman"/>
            </a:endParaRPr>
          </a:p>
          <a:p>
            <a:pPr marL="1336675" lvl="2" indent="-35941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121428"/>
              <a:buFont typeface="Arial"/>
              <a:buChar char="■"/>
              <a:tabLst>
                <a:tab pos="1336675" algn="l"/>
                <a:tab pos="1337310" algn="l"/>
              </a:tabLst>
            </a:pPr>
            <a:r>
              <a:rPr sz="1400" b="1" dirty="0">
                <a:solidFill>
                  <a:srgbClr val="E69137"/>
                </a:solidFill>
                <a:latin typeface="Cambria"/>
                <a:cs typeface="Cambria"/>
              </a:rPr>
              <a:t>RE</a:t>
            </a:r>
            <a:r>
              <a:rPr sz="1350" b="1" baseline="-33950" dirty="0">
                <a:solidFill>
                  <a:srgbClr val="E69137"/>
                </a:solidFill>
                <a:latin typeface="Cambria"/>
                <a:cs typeface="Cambria"/>
              </a:rPr>
              <a:t>n</a:t>
            </a:r>
            <a:r>
              <a:rPr sz="1400" b="1" dirty="0">
                <a:solidFill>
                  <a:srgbClr val="E69137"/>
                </a:solidFill>
                <a:latin typeface="Cambria"/>
                <a:cs typeface="Cambria"/>
              </a:rPr>
              <a:t>:</a:t>
            </a:r>
            <a:r>
              <a:rPr sz="1400" b="1" spc="3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uses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exact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string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matching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for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entity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linking</a:t>
            </a:r>
            <a:endParaRPr sz="1400">
              <a:latin typeface="Times New Roman"/>
              <a:cs typeface="Times New Roman"/>
            </a:endParaRPr>
          </a:p>
          <a:p>
            <a:pPr marL="1793875" lvl="3" indent="-336550">
              <a:lnSpc>
                <a:spcPct val="100000"/>
              </a:lnSpc>
              <a:spcBef>
                <a:spcPts val="75"/>
              </a:spcBef>
              <a:buFont typeface="Arial"/>
              <a:buChar char="●"/>
              <a:tabLst>
                <a:tab pos="1793875" algn="l"/>
                <a:tab pos="1794510" algn="l"/>
              </a:tabLst>
            </a:pPr>
            <a:r>
              <a:rPr sz="1400" b="1" dirty="0">
                <a:latin typeface="Book Antiqua"/>
                <a:cs typeface="Book Antiqua"/>
              </a:rPr>
              <a:t>RE</a:t>
            </a:r>
            <a:r>
              <a:rPr sz="1350" b="1" baseline="-33950" dirty="0">
                <a:latin typeface="Book Antiqua"/>
                <a:cs typeface="Book Antiqua"/>
              </a:rPr>
              <a:t>n</a:t>
            </a:r>
            <a:r>
              <a:rPr sz="1350" b="1" spc="97" baseline="-339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has</a:t>
            </a:r>
            <a:r>
              <a:rPr sz="1400" b="1" spc="-6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to</a:t>
            </a:r>
            <a:r>
              <a:rPr sz="1400" b="1" spc="-55" dirty="0">
                <a:latin typeface="Book Antiqua"/>
                <a:cs typeface="Book Antiqua"/>
              </a:rPr>
              <a:t> </a:t>
            </a:r>
            <a:r>
              <a:rPr sz="1400" b="1" spc="-10" dirty="0">
                <a:latin typeface="Book Antiqua"/>
                <a:cs typeface="Book Antiqua"/>
              </a:rPr>
              <a:t>ﬁnd</a:t>
            </a:r>
            <a:r>
              <a:rPr sz="1400" b="1" spc="-6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the</a:t>
            </a:r>
            <a:r>
              <a:rPr sz="1400" b="1" spc="-6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subject/object</a:t>
            </a:r>
            <a:r>
              <a:rPr sz="1400" b="1" spc="-55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entities</a:t>
            </a:r>
            <a:r>
              <a:rPr sz="1400" b="1" spc="-60" dirty="0">
                <a:latin typeface="Book Antiqua"/>
                <a:cs typeface="Book Antiqua"/>
              </a:rPr>
              <a:t> </a:t>
            </a:r>
            <a:r>
              <a:rPr sz="1400" b="1" spc="-10" dirty="0">
                <a:latin typeface="Book Antiqua"/>
                <a:cs typeface="Book Antiqua"/>
              </a:rPr>
              <a:t>itself</a:t>
            </a:r>
            <a:endParaRPr sz="1400">
              <a:latin typeface="Book Antiqua"/>
              <a:cs typeface="Book Antiqua"/>
            </a:endParaRPr>
          </a:p>
          <a:p>
            <a:pPr marL="1336675" lvl="2" indent="-336550">
              <a:lnSpc>
                <a:spcPct val="100000"/>
              </a:lnSpc>
              <a:buClr>
                <a:srgbClr val="000000"/>
              </a:buClr>
              <a:buFont typeface="Arial"/>
              <a:buChar char="■"/>
              <a:tabLst>
                <a:tab pos="1336675" algn="l"/>
                <a:tab pos="1337310" algn="l"/>
              </a:tabLst>
            </a:pPr>
            <a:r>
              <a:rPr sz="1400" b="1" dirty="0">
                <a:solidFill>
                  <a:srgbClr val="E69137"/>
                </a:solidFill>
                <a:latin typeface="Cambria"/>
                <a:cs typeface="Cambria"/>
              </a:rPr>
              <a:t>RE</a:t>
            </a:r>
            <a:r>
              <a:rPr sz="1350" b="1" baseline="-33950" dirty="0">
                <a:solidFill>
                  <a:srgbClr val="E69137"/>
                </a:solidFill>
                <a:latin typeface="Cambria"/>
                <a:cs typeface="Cambria"/>
              </a:rPr>
              <a:t>o</a:t>
            </a:r>
            <a:r>
              <a:rPr sz="1400" b="1" dirty="0">
                <a:solidFill>
                  <a:srgbClr val="E69137"/>
                </a:solidFill>
                <a:latin typeface="Cambria"/>
                <a:cs typeface="Cambria"/>
              </a:rPr>
              <a:t>:</a:t>
            </a:r>
            <a:r>
              <a:rPr sz="1400" b="1" spc="4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uses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oracle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for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entity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linking</a:t>
            </a:r>
            <a:endParaRPr sz="1400">
              <a:latin typeface="Times New Roman"/>
              <a:cs typeface="Times New Roman"/>
            </a:endParaRPr>
          </a:p>
          <a:p>
            <a:pPr marL="1793875" lvl="3" indent="-336550">
              <a:lnSpc>
                <a:spcPct val="100000"/>
              </a:lnSpc>
              <a:buFont typeface="Arial"/>
              <a:buChar char="●"/>
              <a:tabLst>
                <a:tab pos="1793875" algn="l"/>
                <a:tab pos="1794510" algn="l"/>
              </a:tabLst>
            </a:pPr>
            <a:r>
              <a:rPr sz="1400" b="1" spc="-85" dirty="0">
                <a:latin typeface="Book Antiqua"/>
                <a:cs typeface="Book Antiqua"/>
              </a:rPr>
              <a:t>As</a:t>
            </a:r>
            <a:r>
              <a:rPr sz="1400" b="1" spc="-40" dirty="0">
                <a:latin typeface="Book Antiqua"/>
                <a:cs typeface="Book Antiqua"/>
              </a:rPr>
              <a:t> </a:t>
            </a:r>
            <a:r>
              <a:rPr sz="1400" b="1" spc="-20" dirty="0">
                <a:latin typeface="Book Antiqua"/>
                <a:cs typeface="Book Antiqua"/>
              </a:rPr>
              <a:t>long</a:t>
            </a:r>
            <a:r>
              <a:rPr sz="1400" b="1" spc="-65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as</a:t>
            </a:r>
            <a:r>
              <a:rPr sz="1400" b="1" spc="-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RE</a:t>
            </a:r>
            <a:r>
              <a:rPr sz="1350" b="1" baseline="-33950" dirty="0">
                <a:latin typeface="Book Antiqua"/>
                <a:cs typeface="Book Antiqua"/>
              </a:rPr>
              <a:t>o</a:t>
            </a:r>
            <a:r>
              <a:rPr sz="1350" b="1" spc="112" baseline="-339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gets</a:t>
            </a:r>
            <a:r>
              <a:rPr sz="1400" b="1" spc="-55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the</a:t>
            </a:r>
            <a:r>
              <a:rPr sz="1400" b="1" spc="-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right</a:t>
            </a:r>
            <a:r>
              <a:rPr sz="1400" b="1" spc="-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relation</a:t>
            </a:r>
            <a:r>
              <a:rPr sz="1400" b="1" spc="-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type,</a:t>
            </a:r>
            <a:r>
              <a:rPr sz="1400" b="1" spc="-55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it</a:t>
            </a:r>
            <a:r>
              <a:rPr sz="1400" b="1" spc="-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gets</a:t>
            </a:r>
            <a:r>
              <a:rPr sz="1400" b="1" spc="-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the</a:t>
            </a:r>
            <a:r>
              <a:rPr sz="1400" b="1" spc="-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answer</a:t>
            </a:r>
            <a:r>
              <a:rPr sz="1400" b="1" spc="-50" dirty="0">
                <a:latin typeface="Book Antiqua"/>
                <a:cs typeface="Book Antiqua"/>
              </a:rPr>
              <a:t> </a:t>
            </a:r>
            <a:r>
              <a:rPr sz="1400" b="1" dirty="0">
                <a:latin typeface="Book Antiqua"/>
                <a:cs typeface="Book Antiqua"/>
              </a:rPr>
              <a:t>for</a:t>
            </a:r>
            <a:r>
              <a:rPr sz="1400" b="1" spc="-55" dirty="0">
                <a:latin typeface="Book Antiqua"/>
                <a:cs typeface="Book Antiqua"/>
              </a:rPr>
              <a:t> </a:t>
            </a:r>
            <a:r>
              <a:rPr sz="1400" b="1" spc="-20" dirty="0">
                <a:latin typeface="Book Antiqua"/>
                <a:cs typeface="Book Antiqua"/>
              </a:rPr>
              <a:t>free</a:t>
            </a:r>
            <a:endParaRPr sz="14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46329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Baselines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524" y="1216864"/>
            <a:ext cx="7998459" cy="278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118681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409575" algn="l"/>
                <a:tab pos="410209" algn="l"/>
              </a:tabLst>
            </a:pPr>
            <a:r>
              <a:rPr sz="1700" b="1" dirty="0">
                <a:latin typeface="Cambria"/>
                <a:cs typeface="Cambria"/>
              </a:rPr>
              <a:t>Freq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ranks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candidates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by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frequency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appearance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objects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 </a:t>
            </a:r>
            <a:r>
              <a:rPr sz="1700" spc="80" dirty="0">
                <a:latin typeface="Times New Roman"/>
                <a:cs typeface="Times New Roman"/>
              </a:rPr>
              <a:t>subject-</a:t>
            </a:r>
            <a:r>
              <a:rPr sz="1700" spc="75" dirty="0">
                <a:latin typeface="Times New Roman"/>
                <a:cs typeface="Times New Roman"/>
              </a:rPr>
              <a:t>relation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pair</a:t>
            </a:r>
            <a:endParaRPr sz="1700">
              <a:latin typeface="Times New Roman"/>
              <a:cs typeface="Times New Roman"/>
            </a:endParaRPr>
          </a:p>
          <a:p>
            <a:pPr marL="866775" lvl="1" indent="-336550">
              <a:lnSpc>
                <a:spcPct val="100000"/>
              </a:lnSpc>
              <a:spcBef>
                <a:spcPts val="10"/>
              </a:spcBef>
              <a:buFont typeface="Arial"/>
              <a:buChar char="○"/>
              <a:tabLst>
                <a:tab pos="866775" algn="l"/>
                <a:tab pos="867410" algn="l"/>
              </a:tabLst>
            </a:pPr>
            <a:r>
              <a:rPr sz="1400" spc="50" dirty="0">
                <a:latin typeface="Times New Roman"/>
                <a:cs typeface="Times New Roman"/>
              </a:rPr>
              <a:t>Analogous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majority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classiﬁer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○"/>
            </a:pPr>
            <a:endParaRPr sz="1750">
              <a:latin typeface="Times New Roman"/>
              <a:cs typeface="Times New Roman"/>
            </a:endParaRPr>
          </a:p>
          <a:p>
            <a:pPr marL="409575" indent="-359410">
              <a:lnSpc>
                <a:spcPct val="100000"/>
              </a:lnSpc>
              <a:buFont typeface="Arial"/>
              <a:buChar char="●"/>
              <a:tabLst>
                <a:tab pos="409575" algn="l"/>
                <a:tab pos="410209" algn="l"/>
              </a:tabLst>
            </a:pPr>
            <a:r>
              <a:rPr sz="1700" b="1" spc="-10" dirty="0">
                <a:latin typeface="Cambria"/>
                <a:cs typeface="Cambria"/>
              </a:rPr>
              <a:t>Pretrained</a:t>
            </a:r>
            <a:r>
              <a:rPr sz="1700" b="1" spc="-7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models</a:t>
            </a:r>
            <a:endParaRPr sz="1700">
              <a:latin typeface="Cambria"/>
              <a:cs typeface="Cambria"/>
            </a:endParaRPr>
          </a:p>
          <a:p>
            <a:pPr marL="866775" lvl="1" indent="-359410">
              <a:lnSpc>
                <a:spcPct val="100000"/>
              </a:lnSpc>
              <a:buFont typeface="Arial"/>
              <a:buChar char="○"/>
              <a:tabLst>
                <a:tab pos="866775" algn="l"/>
                <a:tab pos="867410" algn="l"/>
              </a:tabLst>
            </a:pPr>
            <a:r>
              <a:rPr sz="1700" b="1" spc="-75" dirty="0">
                <a:latin typeface="Book Antiqua"/>
                <a:cs typeface="Book Antiqua"/>
              </a:rPr>
              <a:t>RE</a:t>
            </a:r>
            <a:r>
              <a:rPr sz="1700" b="1" spc="-35" dirty="0">
                <a:latin typeface="Book Antiqua"/>
                <a:cs typeface="Book Antiqua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(Sorokin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Gurevych,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2017):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extracts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relation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triples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sentence</a:t>
            </a:r>
            <a:endParaRPr sz="1700">
              <a:latin typeface="Times New Roman"/>
              <a:cs typeface="Times New Roman"/>
            </a:endParaRPr>
          </a:p>
          <a:p>
            <a:pPr marL="1323975" lvl="2" indent="-359410">
              <a:lnSpc>
                <a:spcPct val="100000"/>
              </a:lnSpc>
              <a:spcBef>
                <a:spcPts val="300"/>
              </a:spcBef>
              <a:buSzPct val="121428"/>
              <a:buFont typeface="Arial"/>
              <a:buChar char="■"/>
              <a:tabLst>
                <a:tab pos="1323975" algn="l"/>
                <a:tab pos="1324610" algn="l"/>
              </a:tabLst>
            </a:pPr>
            <a:r>
              <a:rPr sz="1400" dirty="0">
                <a:latin typeface="Times New Roman"/>
                <a:cs typeface="Times New Roman"/>
              </a:rPr>
              <a:t>RE</a:t>
            </a:r>
            <a:r>
              <a:rPr sz="1350" baseline="-33950" dirty="0">
                <a:latin typeface="Times New Roman"/>
                <a:cs typeface="Times New Roman"/>
              </a:rPr>
              <a:t>n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uses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exact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string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matching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for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entity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linking</a:t>
            </a:r>
            <a:endParaRPr sz="1400">
              <a:latin typeface="Times New Roman"/>
              <a:cs typeface="Times New Roman"/>
            </a:endParaRPr>
          </a:p>
          <a:p>
            <a:pPr marL="1323975" lvl="2" indent="-336550">
              <a:lnSpc>
                <a:spcPct val="100000"/>
              </a:lnSpc>
              <a:spcBef>
                <a:spcPts val="75"/>
              </a:spcBef>
              <a:buFont typeface="Arial"/>
              <a:buChar char="■"/>
              <a:tabLst>
                <a:tab pos="1323975" algn="l"/>
                <a:tab pos="1324610" algn="l"/>
              </a:tabLst>
            </a:pPr>
            <a:r>
              <a:rPr sz="1400" dirty="0">
                <a:latin typeface="Times New Roman"/>
                <a:cs typeface="Times New Roman"/>
              </a:rPr>
              <a:t>RE</a:t>
            </a:r>
            <a:r>
              <a:rPr sz="1350" baseline="-33950" dirty="0">
                <a:latin typeface="Times New Roman"/>
                <a:cs typeface="Times New Roman"/>
              </a:rPr>
              <a:t>o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uses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oracle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for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entity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linking</a:t>
            </a:r>
            <a:endParaRPr sz="14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Font typeface="Arial"/>
              <a:buChar char="■"/>
            </a:pPr>
            <a:endParaRPr sz="1750">
              <a:latin typeface="Times New Roman"/>
              <a:cs typeface="Times New Roman"/>
            </a:endParaRPr>
          </a:p>
          <a:p>
            <a:pPr marL="866775" marR="55880" lvl="1" indent="-359410">
              <a:lnSpc>
                <a:spcPct val="100000"/>
              </a:lnSpc>
              <a:buFont typeface="Arial"/>
              <a:buChar char="○"/>
              <a:tabLst>
                <a:tab pos="866775" algn="l"/>
                <a:tab pos="867410" algn="l"/>
              </a:tabLst>
            </a:pPr>
            <a:r>
              <a:rPr sz="1700" b="1" spc="-229" dirty="0">
                <a:latin typeface="Book Antiqua"/>
                <a:cs typeface="Book Antiqua"/>
              </a:rPr>
              <a:t>DRQA</a:t>
            </a:r>
            <a:r>
              <a:rPr sz="1700" b="1" spc="-55" dirty="0">
                <a:latin typeface="Book Antiqua"/>
                <a:cs typeface="Book Antiqua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(Chen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al.,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2017):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uses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TF/IDF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retrieve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relevant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arguments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from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set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documents,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then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extracts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answers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best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k</a:t>
            </a:r>
            <a:r>
              <a:rPr sz="1700" i="1" spc="-15" dirty="0">
                <a:latin typeface="Book Antiqua"/>
                <a:cs typeface="Book Antiqua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articles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10566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Pre-</a:t>
            </a:r>
            <a:r>
              <a:rPr spc="130" dirty="0"/>
              <a:t>trained</a:t>
            </a:r>
            <a:r>
              <a:rPr spc="-15" dirty="0"/>
              <a:t> </a:t>
            </a:r>
            <a:r>
              <a:rPr spc="120" dirty="0"/>
              <a:t>language</a:t>
            </a:r>
            <a:r>
              <a:rPr spc="-15" dirty="0"/>
              <a:t> </a:t>
            </a:r>
            <a:r>
              <a:rPr spc="130" dirty="0"/>
              <a:t>models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0037" y="1156024"/>
          <a:ext cx="7694294" cy="2940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Model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Cambria"/>
                          <a:cs typeface="Cambria"/>
                        </a:rPr>
                        <a:t>Base</a:t>
                      </a:r>
                      <a:r>
                        <a:rPr sz="1400" b="1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latin typeface="Cambria"/>
                          <a:cs typeface="Cambria"/>
                        </a:rPr>
                        <a:t>Model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Cambria"/>
                          <a:cs typeface="Cambria"/>
                        </a:rPr>
                        <a:t>Training</a:t>
                      </a:r>
                      <a:r>
                        <a:rPr sz="1400" b="1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latin typeface="Cambria"/>
                          <a:cs typeface="Cambria"/>
                        </a:rPr>
                        <a:t>Corpus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Cambria"/>
                          <a:cs typeface="Cambria"/>
                        </a:rPr>
                        <a:t>Size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 gridSpan="2"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u="heavy" spc="-10" dirty="0">
                          <a:solidFill>
                            <a:srgbClr val="3D85C6"/>
                          </a:solidFill>
                          <a:uFill>
                            <a:solidFill>
                              <a:srgbClr val="3D85C6"/>
                            </a:solidFill>
                          </a:uFill>
                          <a:latin typeface="Book Antiqua"/>
                          <a:cs typeface="Book Antiqua"/>
                          <a:hlinkClick r:id="rId2"/>
                        </a:rPr>
                        <a:t>fairseq-</a:t>
                      </a:r>
                      <a:r>
                        <a:rPr sz="1500" b="1" u="heavy" spc="-20" dirty="0">
                          <a:solidFill>
                            <a:srgbClr val="3D85C6"/>
                          </a:solidFill>
                          <a:uFill>
                            <a:solidFill>
                              <a:srgbClr val="3D85C6"/>
                            </a:solidFill>
                          </a:uFill>
                          <a:latin typeface="Book Antiqua"/>
                          <a:cs typeface="Book Antiqua"/>
                          <a:hlinkClick r:id="rId2"/>
                        </a:rPr>
                        <a:t>fconv</a:t>
                      </a:r>
                      <a:r>
                        <a:rPr sz="1500" b="1" spc="-55" dirty="0">
                          <a:solidFill>
                            <a:srgbClr val="3D85C6"/>
                          </a:solidFill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00" b="1" spc="-20" dirty="0">
                          <a:latin typeface="Book Antiqua"/>
                          <a:cs typeface="Book Antiqua"/>
                        </a:rPr>
                        <a:t>(Fs)</a:t>
                      </a:r>
                      <a:endParaRPr sz="1500">
                        <a:latin typeface="Book Antiqua"/>
                        <a:cs typeface="Book Antiqua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ConvNet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WikiText-103</a:t>
                      </a:r>
                      <a:r>
                        <a:rPr sz="15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80" dirty="0">
                          <a:latin typeface="Times New Roman"/>
                          <a:cs typeface="Times New Roman"/>
                        </a:rPr>
                        <a:t>corpus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324M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 gridSpan="2"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u="heavy" spc="-10" dirty="0">
                          <a:solidFill>
                            <a:srgbClr val="3D85C6"/>
                          </a:solidFill>
                          <a:uFill>
                            <a:solidFill>
                              <a:srgbClr val="3D85C6"/>
                            </a:solidFill>
                          </a:uFill>
                          <a:latin typeface="Book Antiqua"/>
                          <a:cs typeface="Book Antiqua"/>
                          <a:hlinkClick r:id="rId3"/>
                        </a:rPr>
                        <a:t>Transformer-</a:t>
                      </a:r>
                      <a:r>
                        <a:rPr sz="1500" b="1" u="heavy" spc="-20" dirty="0">
                          <a:solidFill>
                            <a:srgbClr val="3D85C6"/>
                          </a:solidFill>
                          <a:uFill>
                            <a:solidFill>
                              <a:srgbClr val="3D85C6"/>
                            </a:solidFill>
                          </a:uFill>
                          <a:latin typeface="Book Antiqua"/>
                          <a:cs typeface="Book Antiqua"/>
                          <a:hlinkClick r:id="rId3"/>
                        </a:rPr>
                        <a:t>XL</a:t>
                      </a:r>
                      <a:r>
                        <a:rPr sz="1500" b="1" u="heavy" spc="-25" dirty="0">
                          <a:solidFill>
                            <a:srgbClr val="3D85C6"/>
                          </a:solidFill>
                          <a:uFill>
                            <a:solidFill>
                              <a:srgbClr val="3D85C6"/>
                            </a:solidFill>
                          </a:uFill>
                          <a:latin typeface="Book Antiqua"/>
                          <a:cs typeface="Book Antiqua"/>
                          <a:hlinkClick r:id="rId3"/>
                        </a:rPr>
                        <a:t> </a:t>
                      </a:r>
                      <a:r>
                        <a:rPr sz="1500" b="1" u="heavy" dirty="0">
                          <a:solidFill>
                            <a:srgbClr val="3D85C6"/>
                          </a:solidFill>
                          <a:uFill>
                            <a:solidFill>
                              <a:srgbClr val="3D85C6"/>
                            </a:solidFill>
                          </a:uFill>
                          <a:latin typeface="Book Antiqua"/>
                          <a:cs typeface="Book Antiqua"/>
                          <a:hlinkClick r:id="rId3"/>
                        </a:rPr>
                        <a:t>large</a:t>
                      </a:r>
                      <a:r>
                        <a:rPr sz="1500" b="1" spc="-40" dirty="0">
                          <a:solidFill>
                            <a:srgbClr val="3D85C6"/>
                          </a:solidFill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00" b="1" spc="-20" dirty="0">
                          <a:latin typeface="Book Antiqua"/>
                          <a:cs typeface="Book Antiqua"/>
                        </a:rPr>
                        <a:t>(Txl)</a:t>
                      </a:r>
                      <a:endParaRPr sz="1500">
                        <a:latin typeface="Book Antiqua"/>
                        <a:cs typeface="Book Antiqua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70" dirty="0">
                          <a:latin typeface="Times New Roman"/>
                          <a:cs typeface="Times New Roman"/>
                        </a:rPr>
                        <a:t>Transformer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WikiText-103</a:t>
                      </a:r>
                      <a:r>
                        <a:rPr sz="15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80" dirty="0">
                          <a:latin typeface="Times New Roman"/>
                          <a:cs typeface="Times New Roman"/>
                        </a:rPr>
                        <a:t>corpus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257M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45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u="heavy" spc="-20" dirty="0">
                          <a:solidFill>
                            <a:srgbClr val="3D85C6"/>
                          </a:solidFill>
                          <a:uFill>
                            <a:solidFill>
                              <a:srgbClr val="3D85C6"/>
                            </a:solidFill>
                          </a:uFill>
                          <a:latin typeface="Times New Roman"/>
                          <a:cs typeface="Times New Roman"/>
                          <a:hlinkClick r:id="rId4"/>
                        </a:rPr>
                        <a:t>ELMo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spc="-75" dirty="0">
                          <a:latin typeface="Book Antiqua"/>
                          <a:cs typeface="Book Antiqua"/>
                        </a:rPr>
                        <a:t>ELMo</a:t>
                      </a:r>
                      <a:r>
                        <a:rPr sz="1500" b="1" spc="-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00" b="1" spc="-20" dirty="0">
                          <a:latin typeface="Book Antiqua"/>
                          <a:cs typeface="Book Antiqua"/>
                        </a:rPr>
                        <a:t>(Eb)</a:t>
                      </a:r>
                      <a:endParaRPr sz="1500">
                        <a:latin typeface="Book Antiqua"/>
                        <a:cs typeface="Book Antiqua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BiLSTM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5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Billion</a:t>
                      </a:r>
                      <a:r>
                        <a:rPr sz="15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Word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93.6M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5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spc="-75" dirty="0">
                          <a:latin typeface="Book Antiqua"/>
                          <a:cs typeface="Book Antiqua"/>
                        </a:rPr>
                        <a:t>ELMo</a:t>
                      </a:r>
                      <a:r>
                        <a:rPr sz="1500" b="1" spc="2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00" b="1" dirty="0">
                          <a:latin typeface="Book Antiqua"/>
                          <a:cs typeface="Book Antiqua"/>
                        </a:rPr>
                        <a:t>5.5B</a:t>
                      </a:r>
                      <a:r>
                        <a:rPr sz="1500" b="1" spc="2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00" b="1" spc="-20" dirty="0">
                          <a:latin typeface="Book Antiqua"/>
                          <a:cs typeface="Book Antiqua"/>
                        </a:rPr>
                        <a:t>(E5B)</a:t>
                      </a:r>
                      <a:endParaRPr sz="1500">
                        <a:latin typeface="Book Antiqua"/>
                        <a:cs typeface="Book Antiqua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55" dirty="0">
                          <a:latin typeface="Times New Roman"/>
                          <a:cs typeface="Times New Roman"/>
                        </a:rPr>
                        <a:t>Wikipedia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6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WMT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2008-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2012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93.6M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845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u="heavy" spc="-20" dirty="0">
                          <a:solidFill>
                            <a:srgbClr val="3D85C6"/>
                          </a:solidFill>
                          <a:uFill>
                            <a:solidFill>
                              <a:srgbClr val="3D85C6"/>
                            </a:solidFill>
                          </a:uFill>
                          <a:latin typeface="Times New Roman"/>
                          <a:cs typeface="Times New Roman"/>
                          <a:hlinkClick r:id="rId5"/>
                        </a:rPr>
                        <a:t>BERT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spc="-100" dirty="0">
                          <a:latin typeface="Book Antiqua"/>
                          <a:cs typeface="Book Antiqua"/>
                        </a:rPr>
                        <a:t>BERT-</a:t>
                      </a:r>
                      <a:r>
                        <a:rPr sz="1500" b="1" dirty="0">
                          <a:latin typeface="Book Antiqua"/>
                          <a:cs typeface="Book Antiqua"/>
                        </a:rPr>
                        <a:t>base</a:t>
                      </a:r>
                      <a:r>
                        <a:rPr sz="1500" b="1" spc="1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00" b="1" spc="-20" dirty="0">
                          <a:latin typeface="Book Antiqua"/>
                          <a:cs typeface="Book Antiqua"/>
                        </a:rPr>
                        <a:t>(Bb)</a:t>
                      </a:r>
                      <a:endParaRPr sz="1500">
                        <a:latin typeface="Book Antiqua"/>
                        <a:cs typeface="Book Antiqua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70" dirty="0">
                          <a:latin typeface="Times New Roman"/>
                          <a:cs typeface="Times New Roman"/>
                        </a:rPr>
                        <a:t>Transformer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00735" marR="600075" indent="-1930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55" dirty="0">
                          <a:latin typeface="Times New Roman"/>
                          <a:cs typeface="Times New Roman"/>
                        </a:rPr>
                        <a:t>Wikipedia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50" dirty="0">
                          <a:latin typeface="Times New Roman"/>
                          <a:cs typeface="Times New Roman"/>
                        </a:rPr>
                        <a:t>(en)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500" spc="45" dirty="0">
                          <a:latin typeface="Times New Roman"/>
                          <a:cs typeface="Times New Roman"/>
                        </a:rPr>
                        <a:t>BookCorpus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110M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8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spc="-100" dirty="0">
                          <a:latin typeface="Book Antiqua"/>
                          <a:cs typeface="Book Antiqua"/>
                        </a:rPr>
                        <a:t>BERT-</a:t>
                      </a:r>
                      <a:r>
                        <a:rPr sz="1500" b="1" dirty="0">
                          <a:latin typeface="Book Antiqua"/>
                          <a:cs typeface="Book Antiqua"/>
                        </a:rPr>
                        <a:t>large</a:t>
                      </a:r>
                      <a:r>
                        <a:rPr sz="1500" b="1" spc="-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500" b="1" spc="-20" dirty="0">
                          <a:latin typeface="Book Antiqua"/>
                          <a:cs typeface="Book Antiqua"/>
                        </a:rPr>
                        <a:t>(Bl)</a:t>
                      </a:r>
                      <a:endParaRPr sz="1500">
                        <a:latin typeface="Book Antiqua"/>
                        <a:cs typeface="Book Antiqua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340M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9998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Cambria"/>
                <a:cs typeface="Cambria"/>
              </a:rPr>
              <a:t>Results</a:t>
            </a:r>
            <a:r>
              <a:rPr sz="2100" dirty="0"/>
              <a:t>:</a:t>
            </a:r>
            <a:r>
              <a:rPr sz="2100" spc="-5" dirty="0"/>
              <a:t> </a:t>
            </a:r>
            <a:r>
              <a:rPr sz="2100" spc="135" dirty="0"/>
              <a:t>both</a:t>
            </a:r>
            <a:r>
              <a:rPr sz="2100" spc="-10" dirty="0"/>
              <a:t> </a:t>
            </a:r>
            <a:r>
              <a:rPr sz="2100" spc="-75" dirty="0"/>
              <a:t>BERT</a:t>
            </a:r>
            <a:r>
              <a:rPr sz="2100" spc="-40" dirty="0"/>
              <a:t> </a:t>
            </a:r>
            <a:r>
              <a:rPr sz="2100" spc="114" dirty="0"/>
              <a:t>models</a:t>
            </a:r>
            <a:r>
              <a:rPr sz="2100" spc="-5" dirty="0"/>
              <a:t> </a:t>
            </a:r>
            <a:r>
              <a:rPr sz="2100" spc="135" dirty="0"/>
              <a:t>outperform</a:t>
            </a:r>
            <a:r>
              <a:rPr sz="2100" spc="-5" dirty="0"/>
              <a:t> </a:t>
            </a:r>
            <a:r>
              <a:rPr sz="2100" spc="135" dirty="0"/>
              <a:t>other</a:t>
            </a:r>
            <a:r>
              <a:rPr sz="2100" spc="-5" dirty="0"/>
              <a:t> </a:t>
            </a:r>
            <a:r>
              <a:rPr sz="2100" spc="114" dirty="0"/>
              <a:t>models</a:t>
            </a:r>
            <a:r>
              <a:rPr sz="2100" spc="-5" dirty="0"/>
              <a:t> </a:t>
            </a:r>
            <a:r>
              <a:rPr sz="2100" spc="155" dirty="0"/>
              <a:t>on</a:t>
            </a:r>
            <a:r>
              <a:rPr sz="2100" spc="-5" dirty="0"/>
              <a:t> </a:t>
            </a:r>
            <a:r>
              <a:rPr sz="2100" dirty="0"/>
              <a:t>Google-</a:t>
            </a:r>
            <a:r>
              <a:rPr sz="2100" spc="-25" dirty="0"/>
              <a:t>RE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98999" y="1102449"/>
            <a:ext cx="7336790" cy="3194050"/>
            <a:chOff x="898999" y="1102449"/>
            <a:chExt cx="7336790" cy="3194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525" y="1102449"/>
              <a:ext cx="7326952" cy="31938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08524" y="1675424"/>
              <a:ext cx="2217420" cy="934085"/>
            </a:xfrm>
            <a:custGeom>
              <a:avLst/>
              <a:gdLst/>
              <a:ahLst/>
              <a:cxnLst/>
              <a:rect l="l" t="t" r="r" b="b"/>
              <a:pathLst>
                <a:path w="2217420" h="934085">
                  <a:moveTo>
                    <a:pt x="2061696" y="933599"/>
                  </a:moveTo>
                  <a:lnTo>
                    <a:pt x="155603" y="933599"/>
                  </a:lnTo>
                  <a:lnTo>
                    <a:pt x="106420" y="925667"/>
                  </a:lnTo>
                  <a:lnTo>
                    <a:pt x="63705" y="903577"/>
                  </a:lnTo>
                  <a:lnTo>
                    <a:pt x="30022" y="869894"/>
                  </a:lnTo>
                  <a:lnTo>
                    <a:pt x="7932" y="827179"/>
                  </a:lnTo>
                  <a:lnTo>
                    <a:pt x="0" y="777996"/>
                  </a:lnTo>
                  <a:lnTo>
                    <a:pt x="0" y="155603"/>
                  </a:lnTo>
                  <a:lnTo>
                    <a:pt x="7932" y="106420"/>
                  </a:lnTo>
                  <a:lnTo>
                    <a:pt x="30022" y="63705"/>
                  </a:lnTo>
                  <a:lnTo>
                    <a:pt x="63705" y="30022"/>
                  </a:lnTo>
                  <a:lnTo>
                    <a:pt x="106420" y="7932"/>
                  </a:lnTo>
                  <a:lnTo>
                    <a:pt x="155603" y="0"/>
                  </a:lnTo>
                  <a:lnTo>
                    <a:pt x="2061696" y="0"/>
                  </a:lnTo>
                  <a:lnTo>
                    <a:pt x="2121243" y="11844"/>
                  </a:lnTo>
                  <a:lnTo>
                    <a:pt x="2171724" y="45574"/>
                  </a:lnTo>
                  <a:lnTo>
                    <a:pt x="2205455" y="96056"/>
                  </a:lnTo>
                  <a:lnTo>
                    <a:pt x="2217299" y="155603"/>
                  </a:lnTo>
                  <a:lnTo>
                    <a:pt x="2217299" y="777996"/>
                  </a:lnTo>
                  <a:lnTo>
                    <a:pt x="2209367" y="827179"/>
                  </a:lnTo>
                  <a:lnTo>
                    <a:pt x="2187277" y="869894"/>
                  </a:lnTo>
                  <a:lnTo>
                    <a:pt x="2153594" y="903577"/>
                  </a:lnTo>
                  <a:lnTo>
                    <a:pt x="2110879" y="925667"/>
                  </a:lnTo>
                  <a:lnTo>
                    <a:pt x="2061696" y="933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8524" y="1675424"/>
              <a:ext cx="2217420" cy="934085"/>
            </a:xfrm>
            <a:custGeom>
              <a:avLst/>
              <a:gdLst/>
              <a:ahLst/>
              <a:cxnLst/>
              <a:rect l="l" t="t" r="r" b="b"/>
              <a:pathLst>
                <a:path w="2217420" h="934085">
                  <a:moveTo>
                    <a:pt x="0" y="155603"/>
                  </a:moveTo>
                  <a:lnTo>
                    <a:pt x="7932" y="106420"/>
                  </a:lnTo>
                  <a:lnTo>
                    <a:pt x="30022" y="63705"/>
                  </a:lnTo>
                  <a:lnTo>
                    <a:pt x="63705" y="30022"/>
                  </a:lnTo>
                  <a:lnTo>
                    <a:pt x="106420" y="7932"/>
                  </a:lnTo>
                  <a:lnTo>
                    <a:pt x="155603" y="0"/>
                  </a:lnTo>
                  <a:lnTo>
                    <a:pt x="2061696" y="0"/>
                  </a:lnTo>
                  <a:lnTo>
                    <a:pt x="2121243" y="11844"/>
                  </a:lnTo>
                  <a:lnTo>
                    <a:pt x="2171724" y="45574"/>
                  </a:lnTo>
                  <a:lnTo>
                    <a:pt x="2205455" y="96056"/>
                  </a:lnTo>
                  <a:lnTo>
                    <a:pt x="2217299" y="155603"/>
                  </a:lnTo>
                  <a:lnTo>
                    <a:pt x="2217299" y="777996"/>
                  </a:lnTo>
                  <a:lnTo>
                    <a:pt x="2209367" y="827179"/>
                  </a:lnTo>
                  <a:lnTo>
                    <a:pt x="2187277" y="869894"/>
                  </a:lnTo>
                  <a:lnTo>
                    <a:pt x="2153594" y="903577"/>
                  </a:lnTo>
                  <a:lnTo>
                    <a:pt x="2110879" y="925667"/>
                  </a:lnTo>
                  <a:lnTo>
                    <a:pt x="2061696" y="933599"/>
                  </a:lnTo>
                  <a:lnTo>
                    <a:pt x="155603" y="933599"/>
                  </a:lnTo>
                  <a:lnTo>
                    <a:pt x="106420" y="925667"/>
                  </a:lnTo>
                  <a:lnTo>
                    <a:pt x="63705" y="903577"/>
                  </a:lnTo>
                  <a:lnTo>
                    <a:pt x="30022" y="869894"/>
                  </a:lnTo>
                  <a:lnTo>
                    <a:pt x="7932" y="827179"/>
                  </a:lnTo>
                  <a:lnTo>
                    <a:pt x="0" y="777996"/>
                  </a:lnTo>
                  <a:lnTo>
                    <a:pt x="0" y="155603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60174" y="1675349"/>
              <a:ext cx="936625" cy="934085"/>
            </a:xfrm>
            <a:custGeom>
              <a:avLst/>
              <a:gdLst/>
              <a:ahLst/>
              <a:cxnLst/>
              <a:rect l="l" t="t" r="r" b="b"/>
              <a:pathLst>
                <a:path w="936625" h="934085">
                  <a:moveTo>
                    <a:pt x="780396" y="933599"/>
                  </a:moveTo>
                  <a:lnTo>
                    <a:pt x="155602" y="933599"/>
                  </a:lnTo>
                  <a:lnTo>
                    <a:pt x="106420" y="925667"/>
                  </a:lnTo>
                  <a:lnTo>
                    <a:pt x="63705" y="903577"/>
                  </a:lnTo>
                  <a:lnTo>
                    <a:pt x="30022" y="869894"/>
                  </a:lnTo>
                  <a:lnTo>
                    <a:pt x="7932" y="827179"/>
                  </a:lnTo>
                  <a:lnTo>
                    <a:pt x="0" y="777996"/>
                  </a:lnTo>
                  <a:lnTo>
                    <a:pt x="0" y="155603"/>
                  </a:lnTo>
                  <a:lnTo>
                    <a:pt x="7932" y="106420"/>
                  </a:lnTo>
                  <a:lnTo>
                    <a:pt x="30022" y="63705"/>
                  </a:lnTo>
                  <a:lnTo>
                    <a:pt x="63705" y="30022"/>
                  </a:lnTo>
                  <a:lnTo>
                    <a:pt x="106420" y="7932"/>
                  </a:lnTo>
                  <a:lnTo>
                    <a:pt x="155602" y="0"/>
                  </a:lnTo>
                  <a:lnTo>
                    <a:pt x="780396" y="0"/>
                  </a:lnTo>
                  <a:lnTo>
                    <a:pt x="839943" y="11844"/>
                  </a:lnTo>
                  <a:lnTo>
                    <a:pt x="890424" y="45574"/>
                  </a:lnTo>
                  <a:lnTo>
                    <a:pt x="924155" y="96056"/>
                  </a:lnTo>
                  <a:lnTo>
                    <a:pt x="935999" y="155603"/>
                  </a:lnTo>
                  <a:lnTo>
                    <a:pt x="935999" y="777996"/>
                  </a:lnTo>
                  <a:lnTo>
                    <a:pt x="928067" y="827179"/>
                  </a:lnTo>
                  <a:lnTo>
                    <a:pt x="905977" y="869894"/>
                  </a:lnTo>
                  <a:lnTo>
                    <a:pt x="872294" y="903577"/>
                  </a:lnTo>
                  <a:lnTo>
                    <a:pt x="829579" y="925667"/>
                  </a:lnTo>
                  <a:lnTo>
                    <a:pt x="780396" y="933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60174" y="1675349"/>
              <a:ext cx="936625" cy="934085"/>
            </a:xfrm>
            <a:custGeom>
              <a:avLst/>
              <a:gdLst/>
              <a:ahLst/>
              <a:cxnLst/>
              <a:rect l="l" t="t" r="r" b="b"/>
              <a:pathLst>
                <a:path w="936625" h="934085">
                  <a:moveTo>
                    <a:pt x="0" y="155603"/>
                  </a:moveTo>
                  <a:lnTo>
                    <a:pt x="7932" y="106420"/>
                  </a:lnTo>
                  <a:lnTo>
                    <a:pt x="30022" y="63705"/>
                  </a:lnTo>
                  <a:lnTo>
                    <a:pt x="63705" y="30022"/>
                  </a:lnTo>
                  <a:lnTo>
                    <a:pt x="106420" y="7932"/>
                  </a:lnTo>
                  <a:lnTo>
                    <a:pt x="155602" y="0"/>
                  </a:lnTo>
                  <a:lnTo>
                    <a:pt x="780396" y="0"/>
                  </a:lnTo>
                  <a:lnTo>
                    <a:pt x="839943" y="11844"/>
                  </a:lnTo>
                  <a:lnTo>
                    <a:pt x="890424" y="45574"/>
                  </a:lnTo>
                  <a:lnTo>
                    <a:pt x="924155" y="96056"/>
                  </a:lnTo>
                  <a:lnTo>
                    <a:pt x="935999" y="155603"/>
                  </a:lnTo>
                  <a:lnTo>
                    <a:pt x="935999" y="777996"/>
                  </a:lnTo>
                  <a:lnTo>
                    <a:pt x="928067" y="827179"/>
                  </a:lnTo>
                  <a:lnTo>
                    <a:pt x="905977" y="869894"/>
                  </a:lnTo>
                  <a:lnTo>
                    <a:pt x="872294" y="903577"/>
                  </a:lnTo>
                  <a:lnTo>
                    <a:pt x="829579" y="925667"/>
                  </a:lnTo>
                  <a:lnTo>
                    <a:pt x="780396" y="933599"/>
                  </a:lnTo>
                  <a:lnTo>
                    <a:pt x="155602" y="933599"/>
                  </a:lnTo>
                  <a:lnTo>
                    <a:pt x="106420" y="925667"/>
                  </a:lnTo>
                  <a:lnTo>
                    <a:pt x="63705" y="903577"/>
                  </a:lnTo>
                  <a:lnTo>
                    <a:pt x="30022" y="869894"/>
                  </a:lnTo>
                  <a:lnTo>
                    <a:pt x="7932" y="827179"/>
                  </a:lnTo>
                  <a:lnTo>
                    <a:pt x="0" y="777996"/>
                  </a:lnTo>
                  <a:lnTo>
                    <a:pt x="0" y="155603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60174" y="1335949"/>
              <a:ext cx="936625" cy="248285"/>
            </a:xfrm>
            <a:custGeom>
              <a:avLst/>
              <a:gdLst/>
              <a:ahLst/>
              <a:cxnLst/>
              <a:rect l="l" t="t" r="r" b="b"/>
              <a:pathLst>
                <a:path w="936625" h="248284">
                  <a:moveTo>
                    <a:pt x="894699" y="247799"/>
                  </a:move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894699" y="0"/>
                  </a:lnTo>
                  <a:lnTo>
                    <a:pt x="929060" y="18387"/>
                  </a:lnTo>
                  <a:lnTo>
                    <a:pt x="935999" y="41300"/>
                  </a:lnTo>
                  <a:lnTo>
                    <a:pt x="935999" y="206499"/>
                  </a:lnTo>
                  <a:lnTo>
                    <a:pt x="932754" y="222575"/>
                  </a:lnTo>
                  <a:lnTo>
                    <a:pt x="923903" y="235703"/>
                  </a:lnTo>
                  <a:lnTo>
                    <a:pt x="910775" y="244554"/>
                  </a:lnTo>
                  <a:lnTo>
                    <a:pt x="894699" y="2477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60174" y="1335949"/>
              <a:ext cx="936625" cy="248285"/>
            </a:xfrm>
            <a:custGeom>
              <a:avLst/>
              <a:gdLst/>
              <a:ahLst/>
              <a:cxnLst/>
              <a:rect l="l" t="t" r="r" b="b"/>
              <a:pathLst>
                <a:path w="936625" h="248284">
                  <a:moveTo>
                    <a:pt x="0" y="41300"/>
                  </a:move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894699" y="0"/>
                  </a:lnTo>
                  <a:lnTo>
                    <a:pt x="929060" y="18387"/>
                  </a:lnTo>
                  <a:lnTo>
                    <a:pt x="935999" y="41300"/>
                  </a:lnTo>
                  <a:lnTo>
                    <a:pt x="935999" y="206499"/>
                  </a:lnTo>
                  <a:lnTo>
                    <a:pt x="932754" y="222575"/>
                  </a:lnTo>
                  <a:lnTo>
                    <a:pt x="923903" y="235703"/>
                  </a:lnTo>
                  <a:lnTo>
                    <a:pt x="910775" y="244554"/>
                  </a:lnTo>
                  <a:lnTo>
                    <a:pt x="894699" y="247799"/>
                  </a:ln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611559" y="67029"/>
            <a:ext cx="143510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Table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Petroni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al.,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3592559" y="4277265"/>
            <a:ext cx="195961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20" dirty="0">
                <a:latin typeface="Cambria"/>
                <a:cs typeface="Cambria"/>
              </a:rPr>
              <a:t>P@</a:t>
            </a:r>
            <a:r>
              <a:rPr sz="1350" b="1" spc="-2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r>
              <a:rPr sz="1350" b="1" spc="-20" dirty="0">
                <a:latin typeface="Cambria"/>
                <a:cs typeface="Cambria"/>
              </a:rPr>
              <a:t>: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precision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at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E69137"/>
                </a:solidFill>
                <a:latin typeface="Cambria"/>
                <a:cs typeface="Cambria"/>
              </a:rPr>
              <a:t>rank</a:t>
            </a:r>
            <a:r>
              <a:rPr sz="1350" b="1" spc="-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350" b="1" spc="-5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185" y="508906"/>
            <a:ext cx="846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Results</a:t>
            </a:r>
            <a:r>
              <a:rPr sz="1800" dirty="0"/>
              <a:t>:</a:t>
            </a:r>
            <a:r>
              <a:rPr sz="1800" spc="-25" dirty="0"/>
              <a:t> </a:t>
            </a:r>
            <a:r>
              <a:rPr sz="1800" spc="-70" dirty="0"/>
              <a:t>BERT</a:t>
            </a:r>
            <a:r>
              <a:rPr sz="1800" spc="-55" dirty="0"/>
              <a:t> </a:t>
            </a:r>
            <a:r>
              <a:rPr sz="1800" spc="100" dirty="0"/>
              <a:t>models</a:t>
            </a:r>
            <a:r>
              <a:rPr sz="1800" spc="-20" dirty="0"/>
              <a:t> </a:t>
            </a:r>
            <a:r>
              <a:rPr sz="1800" spc="95" dirty="0"/>
              <a:t>does</a:t>
            </a:r>
            <a:r>
              <a:rPr sz="1800" spc="-25" dirty="0"/>
              <a:t> </a:t>
            </a:r>
            <a:r>
              <a:rPr sz="1800" spc="114" dirty="0"/>
              <a:t>better</a:t>
            </a:r>
            <a:r>
              <a:rPr sz="1800" spc="-20" dirty="0"/>
              <a:t> </a:t>
            </a:r>
            <a:r>
              <a:rPr sz="1800" spc="135" dirty="0"/>
              <a:t>on</a:t>
            </a:r>
            <a:r>
              <a:rPr sz="1800" spc="-55" dirty="0"/>
              <a:t> </a:t>
            </a:r>
            <a:r>
              <a:rPr sz="1800" spc="-60" dirty="0"/>
              <a:t>T-</a:t>
            </a:r>
            <a:r>
              <a:rPr sz="1800" dirty="0"/>
              <a:t>REx</a:t>
            </a:r>
            <a:r>
              <a:rPr sz="1800" spc="-20" dirty="0"/>
              <a:t> </a:t>
            </a:r>
            <a:r>
              <a:rPr sz="1800" spc="120" dirty="0"/>
              <a:t>when</a:t>
            </a:r>
            <a:r>
              <a:rPr sz="1800" spc="-25" dirty="0"/>
              <a:t> </a:t>
            </a:r>
            <a:r>
              <a:rPr sz="1800" spc="45" dirty="0"/>
              <a:t>thereʼs</a:t>
            </a:r>
            <a:r>
              <a:rPr sz="1800" spc="-20" dirty="0"/>
              <a:t> </a:t>
            </a:r>
            <a:r>
              <a:rPr sz="1800" spc="70" dirty="0"/>
              <a:t>only</a:t>
            </a:r>
            <a:r>
              <a:rPr sz="1800" spc="-25" dirty="0"/>
              <a:t> </a:t>
            </a:r>
            <a:r>
              <a:rPr sz="1800" spc="125" dirty="0"/>
              <a:t>one</a:t>
            </a:r>
            <a:r>
              <a:rPr sz="1800" spc="-20" dirty="0"/>
              <a:t> </a:t>
            </a:r>
            <a:r>
              <a:rPr sz="1800" spc="100" dirty="0"/>
              <a:t>correct</a:t>
            </a:r>
            <a:r>
              <a:rPr sz="1800" spc="-25" dirty="0"/>
              <a:t> </a:t>
            </a:r>
            <a:r>
              <a:rPr sz="1800" spc="-10" dirty="0"/>
              <a:t>answer…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8525" y="1102449"/>
            <a:ext cx="7327265" cy="3194050"/>
            <a:chOff x="908525" y="1102449"/>
            <a:chExt cx="7327265" cy="3194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525" y="1102449"/>
              <a:ext cx="7326952" cy="31938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75475" y="2683949"/>
              <a:ext cx="429895" cy="248285"/>
            </a:xfrm>
            <a:custGeom>
              <a:avLst/>
              <a:gdLst/>
              <a:ahLst/>
              <a:cxnLst/>
              <a:rect l="l" t="t" r="r" b="b"/>
              <a:pathLst>
                <a:path w="429894" h="248285">
                  <a:moveTo>
                    <a:pt x="388599" y="247799"/>
                  </a:move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388599" y="0"/>
                  </a:lnTo>
                  <a:lnTo>
                    <a:pt x="422960" y="18387"/>
                  </a:lnTo>
                  <a:lnTo>
                    <a:pt x="429899" y="41300"/>
                  </a:lnTo>
                  <a:lnTo>
                    <a:pt x="429899" y="206499"/>
                  </a:lnTo>
                  <a:lnTo>
                    <a:pt x="426654" y="222575"/>
                  </a:lnTo>
                  <a:lnTo>
                    <a:pt x="417803" y="235703"/>
                  </a:lnTo>
                  <a:lnTo>
                    <a:pt x="404675" y="244554"/>
                  </a:lnTo>
                  <a:lnTo>
                    <a:pt x="388599" y="2477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75475" y="2683949"/>
              <a:ext cx="429895" cy="248285"/>
            </a:xfrm>
            <a:custGeom>
              <a:avLst/>
              <a:gdLst/>
              <a:ahLst/>
              <a:cxnLst/>
              <a:rect l="l" t="t" r="r" b="b"/>
              <a:pathLst>
                <a:path w="429894" h="248285">
                  <a:moveTo>
                    <a:pt x="0" y="41300"/>
                  </a:move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388599" y="0"/>
                  </a:lnTo>
                  <a:lnTo>
                    <a:pt x="422960" y="18387"/>
                  </a:lnTo>
                  <a:lnTo>
                    <a:pt x="429899" y="41300"/>
                  </a:lnTo>
                  <a:lnTo>
                    <a:pt x="429899" y="206499"/>
                  </a:lnTo>
                  <a:lnTo>
                    <a:pt x="426654" y="222575"/>
                  </a:lnTo>
                  <a:lnTo>
                    <a:pt x="417803" y="235703"/>
                  </a:lnTo>
                  <a:lnTo>
                    <a:pt x="404675" y="244554"/>
                  </a:lnTo>
                  <a:lnTo>
                    <a:pt x="388599" y="247799"/>
                  </a:ln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79824" y="2683949"/>
              <a:ext cx="936625" cy="248285"/>
            </a:xfrm>
            <a:custGeom>
              <a:avLst/>
              <a:gdLst/>
              <a:ahLst/>
              <a:cxnLst/>
              <a:rect l="l" t="t" r="r" b="b"/>
              <a:pathLst>
                <a:path w="936625" h="248285">
                  <a:moveTo>
                    <a:pt x="894699" y="247799"/>
                  </a:move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894699" y="0"/>
                  </a:lnTo>
                  <a:lnTo>
                    <a:pt x="929060" y="18387"/>
                  </a:lnTo>
                  <a:lnTo>
                    <a:pt x="935999" y="41300"/>
                  </a:lnTo>
                  <a:lnTo>
                    <a:pt x="935999" y="206499"/>
                  </a:lnTo>
                  <a:lnTo>
                    <a:pt x="932754" y="222575"/>
                  </a:lnTo>
                  <a:lnTo>
                    <a:pt x="923903" y="235703"/>
                  </a:lnTo>
                  <a:lnTo>
                    <a:pt x="910775" y="244554"/>
                  </a:lnTo>
                  <a:lnTo>
                    <a:pt x="894699" y="2477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79824" y="2683949"/>
              <a:ext cx="936625" cy="248285"/>
            </a:xfrm>
            <a:custGeom>
              <a:avLst/>
              <a:gdLst/>
              <a:ahLst/>
              <a:cxnLst/>
              <a:rect l="l" t="t" r="r" b="b"/>
              <a:pathLst>
                <a:path w="936625" h="248285">
                  <a:moveTo>
                    <a:pt x="0" y="41300"/>
                  </a:move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894699" y="0"/>
                  </a:lnTo>
                  <a:lnTo>
                    <a:pt x="929060" y="18387"/>
                  </a:lnTo>
                  <a:lnTo>
                    <a:pt x="935999" y="41300"/>
                  </a:lnTo>
                  <a:lnTo>
                    <a:pt x="935999" y="206499"/>
                  </a:lnTo>
                  <a:lnTo>
                    <a:pt x="932754" y="222575"/>
                  </a:lnTo>
                  <a:lnTo>
                    <a:pt x="923903" y="235703"/>
                  </a:lnTo>
                  <a:lnTo>
                    <a:pt x="910775" y="244554"/>
                  </a:lnTo>
                  <a:lnTo>
                    <a:pt x="894699" y="247799"/>
                  </a:ln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60174" y="1335949"/>
              <a:ext cx="936625" cy="248285"/>
            </a:xfrm>
            <a:custGeom>
              <a:avLst/>
              <a:gdLst/>
              <a:ahLst/>
              <a:cxnLst/>
              <a:rect l="l" t="t" r="r" b="b"/>
              <a:pathLst>
                <a:path w="936625" h="248284">
                  <a:moveTo>
                    <a:pt x="894699" y="247799"/>
                  </a:move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894699" y="0"/>
                  </a:lnTo>
                  <a:lnTo>
                    <a:pt x="929060" y="18387"/>
                  </a:lnTo>
                  <a:lnTo>
                    <a:pt x="935999" y="41300"/>
                  </a:lnTo>
                  <a:lnTo>
                    <a:pt x="935999" y="206499"/>
                  </a:lnTo>
                  <a:lnTo>
                    <a:pt x="932754" y="222575"/>
                  </a:lnTo>
                  <a:lnTo>
                    <a:pt x="923903" y="235703"/>
                  </a:lnTo>
                  <a:lnTo>
                    <a:pt x="910775" y="244554"/>
                  </a:lnTo>
                  <a:lnTo>
                    <a:pt x="894699" y="2477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60174" y="1335949"/>
              <a:ext cx="936625" cy="248285"/>
            </a:xfrm>
            <a:custGeom>
              <a:avLst/>
              <a:gdLst/>
              <a:ahLst/>
              <a:cxnLst/>
              <a:rect l="l" t="t" r="r" b="b"/>
              <a:pathLst>
                <a:path w="936625" h="248284">
                  <a:moveTo>
                    <a:pt x="0" y="41300"/>
                  </a:move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894699" y="0"/>
                  </a:lnTo>
                  <a:lnTo>
                    <a:pt x="929060" y="18387"/>
                  </a:lnTo>
                  <a:lnTo>
                    <a:pt x="935999" y="41300"/>
                  </a:lnTo>
                  <a:lnTo>
                    <a:pt x="935999" y="206499"/>
                  </a:lnTo>
                  <a:lnTo>
                    <a:pt x="932754" y="222575"/>
                  </a:lnTo>
                  <a:lnTo>
                    <a:pt x="923903" y="235703"/>
                  </a:lnTo>
                  <a:lnTo>
                    <a:pt x="910775" y="244554"/>
                  </a:lnTo>
                  <a:lnTo>
                    <a:pt x="894699" y="247799"/>
                  </a:ln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51249" y="1335949"/>
              <a:ext cx="429895" cy="248285"/>
            </a:xfrm>
            <a:custGeom>
              <a:avLst/>
              <a:gdLst/>
              <a:ahLst/>
              <a:cxnLst/>
              <a:rect l="l" t="t" r="r" b="b"/>
              <a:pathLst>
                <a:path w="429895" h="248284">
                  <a:moveTo>
                    <a:pt x="388599" y="247799"/>
                  </a:move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388599" y="0"/>
                  </a:lnTo>
                  <a:lnTo>
                    <a:pt x="422960" y="18387"/>
                  </a:lnTo>
                  <a:lnTo>
                    <a:pt x="429899" y="41300"/>
                  </a:lnTo>
                  <a:lnTo>
                    <a:pt x="429899" y="206499"/>
                  </a:lnTo>
                  <a:lnTo>
                    <a:pt x="426654" y="222575"/>
                  </a:lnTo>
                  <a:lnTo>
                    <a:pt x="417803" y="235703"/>
                  </a:lnTo>
                  <a:lnTo>
                    <a:pt x="404675" y="244554"/>
                  </a:lnTo>
                  <a:lnTo>
                    <a:pt x="388599" y="2477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51249" y="1335949"/>
              <a:ext cx="429895" cy="248285"/>
            </a:xfrm>
            <a:custGeom>
              <a:avLst/>
              <a:gdLst/>
              <a:ahLst/>
              <a:cxnLst/>
              <a:rect l="l" t="t" r="r" b="b"/>
              <a:pathLst>
                <a:path w="429895" h="248284">
                  <a:moveTo>
                    <a:pt x="0" y="41300"/>
                  </a:move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388599" y="0"/>
                  </a:lnTo>
                  <a:lnTo>
                    <a:pt x="422960" y="18387"/>
                  </a:lnTo>
                  <a:lnTo>
                    <a:pt x="429899" y="41300"/>
                  </a:lnTo>
                  <a:lnTo>
                    <a:pt x="429899" y="206499"/>
                  </a:lnTo>
                  <a:lnTo>
                    <a:pt x="426654" y="222575"/>
                  </a:lnTo>
                  <a:lnTo>
                    <a:pt x="417803" y="235703"/>
                  </a:lnTo>
                  <a:lnTo>
                    <a:pt x="404675" y="244554"/>
                  </a:lnTo>
                  <a:lnTo>
                    <a:pt x="388599" y="247799"/>
                  </a:ln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1249" y="2646974"/>
              <a:ext cx="429895" cy="248285"/>
            </a:xfrm>
            <a:custGeom>
              <a:avLst/>
              <a:gdLst/>
              <a:ahLst/>
              <a:cxnLst/>
              <a:rect l="l" t="t" r="r" b="b"/>
              <a:pathLst>
                <a:path w="429895" h="248285">
                  <a:moveTo>
                    <a:pt x="388599" y="247799"/>
                  </a:move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388599" y="0"/>
                  </a:lnTo>
                  <a:lnTo>
                    <a:pt x="422960" y="18387"/>
                  </a:lnTo>
                  <a:lnTo>
                    <a:pt x="429899" y="41300"/>
                  </a:lnTo>
                  <a:lnTo>
                    <a:pt x="429899" y="206499"/>
                  </a:lnTo>
                  <a:lnTo>
                    <a:pt x="426654" y="222575"/>
                  </a:lnTo>
                  <a:lnTo>
                    <a:pt x="417803" y="235703"/>
                  </a:lnTo>
                  <a:lnTo>
                    <a:pt x="404675" y="244554"/>
                  </a:lnTo>
                  <a:lnTo>
                    <a:pt x="388599" y="2477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51249" y="2646974"/>
              <a:ext cx="429895" cy="248285"/>
            </a:xfrm>
            <a:custGeom>
              <a:avLst/>
              <a:gdLst/>
              <a:ahLst/>
              <a:cxnLst/>
              <a:rect l="l" t="t" r="r" b="b"/>
              <a:pathLst>
                <a:path w="429895" h="248285">
                  <a:moveTo>
                    <a:pt x="0" y="41300"/>
                  </a:move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388599" y="0"/>
                  </a:lnTo>
                  <a:lnTo>
                    <a:pt x="422960" y="18387"/>
                  </a:lnTo>
                  <a:lnTo>
                    <a:pt x="429899" y="41300"/>
                  </a:lnTo>
                  <a:lnTo>
                    <a:pt x="429899" y="206499"/>
                  </a:lnTo>
                  <a:lnTo>
                    <a:pt x="426654" y="222575"/>
                  </a:lnTo>
                  <a:lnTo>
                    <a:pt x="417803" y="235703"/>
                  </a:lnTo>
                  <a:lnTo>
                    <a:pt x="404675" y="244554"/>
                  </a:lnTo>
                  <a:lnTo>
                    <a:pt x="388599" y="247799"/>
                  </a:ln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6850" y="2683949"/>
              <a:ext cx="658495" cy="934085"/>
            </a:xfrm>
            <a:custGeom>
              <a:avLst/>
              <a:gdLst/>
              <a:ahLst/>
              <a:cxnLst/>
              <a:rect l="l" t="t" r="r" b="b"/>
              <a:pathLst>
                <a:path w="658494" h="934085">
                  <a:moveTo>
                    <a:pt x="548747" y="933599"/>
                  </a:moveTo>
                  <a:lnTo>
                    <a:pt x="109752" y="933599"/>
                  </a:lnTo>
                  <a:lnTo>
                    <a:pt x="67031" y="924975"/>
                  </a:lnTo>
                  <a:lnTo>
                    <a:pt x="32145" y="901454"/>
                  </a:lnTo>
                  <a:lnTo>
                    <a:pt x="8624" y="866568"/>
                  </a:lnTo>
                  <a:lnTo>
                    <a:pt x="0" y="823847"/>
                  </a:lnTo>
                  <a:lnTo>
                    <a:pt x="0" y="109752"/>
                  </a:lnTo>
                  <a:lnTo>
                    <a:pt x="8624" y="67031"/>
                  </a:lnTo>
                  <a:lnTo>
                    <a:pt x="32145" y="32145"/>
                  </a:lnTo>
                  <a:lnTo>
                    <a:pt x="67031" y="8624"/>
                  </a:lnTo>
                  <a:lnTo>
                    <a:pt x="109752" y="0"/>
                  </a:lnTo>
                  <a:lnTo>
                    <a:pt x="548747" y="0"/>
                  </a:lnTo>
                  <a:lnTo>
                    <a:pt x="590748" y="8354"/>
                  </a:lnTo>
                  <a:lnTo>
                    <a:pt x="626354" y="32145"/>
                  </a:lnTo>
                  <a:lnTo>
                    <a:pt x="650145" y="67751"/>
                  </a:lnTo>
                  <a:lnTo>
                    <a:pt x="658499" y="109752"/>
                  </a:lnTo>
                  <a:lnTo>
                    <a:pt x="658499" y="823847"/>
                  </a:lnTo>
                  <a:lnTo>
                    <a:pt x="649875" y="866568"/>
                  </a:lnTo>
                  <a:lnTo>
                    <a:pt x="626354" y="901454"/>
                  </a:lnTo>
                  <a:lnTo>
                    <a:pt x="591468" y="924975"/>
                  </a:lnTo>
                  <a:lnTo>
                    <a:pt x="548747" y="933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6850" y="2683949"/>
              <a:ext cx="658495" cy="934085"/>
            </a:xfrm>
            <a:custGeom>
              <a:avLst/>
              <a:gdLst/>
              <a:ahLst/>
              <a:cxnLst/>
              <a:rect l="l" t="t" r="r" b="b"/>
              <a:pathLst>
                <a:path w="658494" h="934085">
                  <a:moveTo>
                    <a:pt x="0" y="109752"/>
                  </a:moveTo>
                  <a:lnTo>
                    <a:pt x="8624" y="67031"/>
                  </a:lnTo>
                  <a:lnTo>
                    <a:pt x="32145" y="32145"/>
                  </a:lnTo>
                  <a:lnTo>
                    <a:pt x="67031" y="8624"/>
                  </a:lnTo>
                  <a:lnTo>
                    <a:pt x="109752" y="0"/>
                  </a:lnTo>
                  <a:lnTo>
                    <a:pt x="548747" y="0"/>
                  </a:lnTo>
                  <a:lnTo>
                    <a:pt x="590748" y="8354"/>
                  </a:lnTo>
                  <a:lnTo>
                    <a:pt x="626354" y="32145"/>
                  </a:lnTo>
                  <a:lnTo>
                    <a:pt x="650145" y="67751"/>
                  </a:lnTo>
                  <a:lnTo>
                    <a:pt x="658499" y="109752"/>
                  </a:lnTo>
                  <a:lnTo>
                    <a:pt x="658499" y="823847"/>
                  </a:lnTo>
                  <a:lnTo>
                    <a:pt x="649875" y="866568"/>
                  </a:lnTo>
                  <a:lnTo>
                    <a:pt x="626354" y="901454"/>
                  </a:lnTo>
                  <a:lnTo>
                    <a:pt x="591468" y="924975"/>
                  </a:lnTo>
                  <a:lnTo>
                    <a:pt x="548747" y="933599"/>
                  </a:lnTo>
                  <a:lnTo>
                    <a:pt x="109752" y="933599"/>
                  </a:lnTo>
                  <a:lnTo>
                    <a:pt x="67031" y="924975"/>
                  </a:lnTo>
                  <a:lnTo>
                    <a:pt x="32145" y="901454"/>
                  </a:lnTo>
                  <a:lnTo>
                    <a:pt x="8624" y="866568"/>
                  </a:lnTo>
                  <a:lnTo>
                    <a:pt x="0" y="823847"/>
                  </a:lnTo>
                  <a:lnTo>
                    <a:pt x="0" y="109752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11559" y="67029"/>
            <a:ext cx="143510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Table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Petroni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al.,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3592559" y="4277265"/>
            <a:ext cx="195961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20" dirty="0">
                <a:latin typeface="Cambria"/>
                <a:cs typeface="Cambria"/>
              </a:rPr>
              <a:t>P@</a:t>
            </a:r>
            <a:r>
              <a:rPr sz="1350" b="1" spc="-2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r>
              <a:rPr sz="1350" b="1" spc="-20" dirty="0">
                <a:latin typeface="Cambria"/>
                <a:cs typeface="Cambria"/>
              </a:rPr>
              <a:t>: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precision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at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E69137"/>
                </a:solidFill>
                <a:latin typeface="Cambria"/>
                <a:cs typeface="Cambria"/>
              </a:rPr>
              <a:t>rank</a:t>
            </a:r>
            <a:r>
              <a:rPr sz="1350" b="1" spc="-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350" b="1" spc="-5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982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Cambria"/>
                <a:cs typeface="Cambria"/>
              </a:rPr>
              <a:t>Results</a:t>
            </a:r>
            <a:r>
              <a:rPr sz="2300" dirty="0"/>
              <a:t>:</a:t>
            </a:r>
            <a:r>
              <a:rPr sz="2300" spc="-10" dirty="0"/>
              <a:t> </a:t>
            </a:r>
            <a:r>
              <a:rPr sz="2300" dirty="0"/>
              <a:t>…but</a:t>
            </a:r>
            <a:r>
              <a:rPr sz="2300" spc="-5" dirty="0"/>
              <a:t> </a:t>
            </a:r>
            <a:r>
              <a:rPr sz="2300" spc="155" dirty="0"/>
              <a:t>when</a:t>
            </a:r>
            <a:r>
              <a:rPr sz="2300" spc="-5" dirty="0"/>
              <a:t> </a:t>
            </a:r>
            <a:r>
              <a:rPr sz="2300" spc="155" dirty="0"/>
              <a:t>there</a:t>
            </a:r>
            <a:r>
              <a:rPr sz="2300" spc="-5" dirty="0"/>
              <a:t> </a:t>
            </a:r>
            <a:r>
              <a:rPr sz="2300" spc="150" dirty="0"/>
              <a:t>are</a:t>
            </a:r>
            <a:r>
              <a:rPr sz="2300" spc="-5" dirty="0"/>
              <a:t> </a:t>
            </a:r>
            <a:r>
              <a:rPr sz="2300" spc="114" dirty="0"/>
              <a:t>multiple</a:t>
            </a:r>
            <a:r>
              <a:rPr sz="2300" spc="-5" dirty="0"/>
              <a:t> </a:t>
            </a:r>
            <a:r>
              <a:rPr sz="2300" spc="120" dirty="0"/>
              <a:t>answers,</a:t>
            </a:r>
            <a:r>
              <a:rPr sz="2300" spc="-5" dirty="0"/>
              <a:t> </a:t>
            </a:r>
            <a:r>
              <a:rPr sz="2300" dirty="0"/>
              <a:t>RE</a:t>
            </a:r>
            <a:r>
              <a:rPr sz="2250" baseline="-31481" dirty="0"/>
              <a:t>o</a:t>
            </a:r>
            <a:r>
              <a:rPr sz="2250" spc="292" baseline="-31481" dirty="0"/>
              <a:t> </a:t>
            </a:r>
            <a:r>
              <a:rPr sz="2300" spc="65" dirty="0"/>
              <a:t>is</a:t>
            </a:r>
            <a:r>
              <a:rPr sz="2300" spc="-5" dirty="0"/>
              <a:t> </a:t>
            </a:r>
            <a:r>
              <a:rPr sz="2300" spc="105" dirty="0"/>
              <a:t>best</a:t>
            </a:r>
            <a:endParaRPr sz="23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8525" y="1102449"/>
            <a:ext cx="7327265" cy="3194050"/>
            <a:chOff x="908525" y="1102449"/>
            <a:chExt cx="7327265" cy="3194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525" y="1102449"/>
              <a:ext cx="7326952" cy="31938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58825" y="2867399"/>
              <a:ext cx="549275" cy="495300"/>
            </a:xfrm>
            <a:custGeom>
              <a:avLst/>
              <a:gdLst/>
              <a:ahLst/>
              <a:cxnLst/>
              <a:rect l="l" t="t" r="r" b="b"/>
              <a:pathLst>
                <a:path w="549275" h="495300">
                  <a:moveTo>
                    <a:pt x="466148" y="495299"/>
                  </a:moveTo>
                  <a:lnTo>
                    <a:pt x="82551" y="495299"/>
                  </a:lnTo>
                  <a:lnTo>
                    <a:pt x="50418" y="488812"/>
                  </a:lnTo>
                  <a:lnTo>
                    <a:pt x="24178" y="471121"/>
                  </a:lnTo>
                  <a:lnTo>
                    <a:pt x="6487" y="444881"/>
                  </a:lnTo>
                  <a:lnTo>
                    <a:pt x="0" y="412748"/>
                  </a:lnTo>
                  <a:lnTo>
                    <a:pt x="0" y="82551"/>
                  </a:lnTo>
                  <a:lnTo>
                    <a:pt x="6487" y="50418"/>
                  </a:lnTo>
                  <a:lnTo>
                    <a:pt x="24178" y="24178"/>
                  </a:lnTo>
                  <a:lnTo>
                    <a:pt x="50418" y="6487"/>
                  </a:lnTo>
                  <a:lnTo>
                    <a:pt x="82551" y="0"/>
                  </a:lnTo>
                  <a:lnTo>
                    <a:pt x="466148" y="0"/>
                  </a:lnTo>
                  <a:lnTo>
                    <a:pt x="511947" y="13869"/>
                  </a:lnTo>
                  <a:lnTo>
                    <a:pt x="542416" y="50960"/>
                  </a:lnTo>
                  <a:lnTo>
                    <a:pt x="548699" y="82551"/>
                  </a:lnTo>
                  <a:lnTo>
                    <a:pt x="548699" y="412748"/>
                  </a:lnTo>
                  <a:lnTo>
                    <a:pt x="542212" y="444881"/>
                  </a:lnTo>
                  <a:lnTo>
                    <a:pt x="524521" y="471121"/>
                  </a:lnTo>
                  <a:lnTo>
                    <a:pt x="498281" y="488812"/>
                  </a:lnTo>
                  <a:lnTo>
                    <a:pt x="466148" y="4952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8825" y="2867399"/>
              <a:ext cx="549275" cy="495300"/>
            </a:xfrm>
            <a:custGeom>
              <a:avLst/>
              <a:gdLst/>
              <a:ahLst/>
              <a:cxnLst/>
              <a:rect l="l" t="t" r="r" b="b"/>
              <a:pathLst>
                <a:path w="549275" h="495300">
                  <a:moveTo>
                    <a:pt x="0" y="82551"/>
                  </a:moveTo>
                  <a:lnTo>
                    <a:pt x="6487" y="50418"/>
                  </a:lnTo>
                  <a:lnTo>
                    <a:pt x="24178" y="24178"/>
                  </a:lnTo>
                  <a:lnTo>
                    <a:pt x="50418" y="6487"/>
                  </a:lnTo>
                  <a:lnTo>
                    <a:pt x="82551" y="0"/>
                  </a:lnTo>
                  <a:lnTo>
                    <a:pt x="466148" y="0"/>
                  </a:lnTo>
                  <a:lnTo>
                    <a:pt x="511947" y="13869"/>
                  </a:lnTo>
                  <a:lnTo>
                    <a:pt x="542416" y="50960"/>
                  </a:lnTo>
                  <a:lnTo>
                    <a:pt x="548699" y="82551"/>
                  </a:lnTo>
                  <a:lnTo>
                    <a:pt x="548699" y="412748"/>
                  </a:lnTo>
                  <a:lnTo>
                    <a:pt x="542212" y="444881"/>
                  </a:lnTo>
                  <a:lnTo>
                    <a:pt x="524521" y="471121"/>
                  </a:lnTo>
                  <a:lnTo>
                    <a:pt x="498281" y="488812"/>
                  </a:lnTo>
                  <a:lnTo>
                    <a:pt x="466148" y="495299"/>
                  </a:lnTo>
                  <a:lnTo>
                    <a:pt x="82551" y="495299"/>
                  </a:lnTo>
                  <a:lnTo>
                    <a:pt x="50418" y="488812"/>
                  </a:lnTo>
                  <a:lnTo>
                    <a:pt x="24178" y="471121"/>
                  </a:lnTo>
                  <a:lnTo>
                    <a:pt x="6487" y="444881"/>
                  </a:lnTo>
                  <a:lnTo>
                    <a:pt x="0" y="412748"/>
                  </a:lnTo>
                  <a:lnTo>
                    <a:pt x="0" y="82551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60174" y="2867399"/>
              <a:ext cx="936625" cy="495300"/>
            </a:xfrm>
            <a:custGeom>
              <a:avLst/>
              <a:gdLst/>
              <a:ahLst/>
              <a:cxnLst/>
              <a:rect l="l" t="t" r="r" b="b"/>
              <a:pathLst>
                <a:path w="936625" h="495300">
                  <a:moveTo>
                    <a:pt x="853448" y="495299"/>
                  </a:moveTo>
                  <a:lnTo>
                    <a:pt x="82551" y="495299"/>
                  </a:lnTo>
                  <a:lnTo>
                    <a:pt x="50418" y="488812"/>
                  </a:lnTo>
                  <a:lnTo>
                    <a:pt x="24178" y="471121"/>
                  </a:lnTo>
                  <a:lnTo>
                    <a:pt x="6487" y="444881"/>
                  </a:lnTo>
                  <a:lnTo>
                    <a:pt x="0" y="412748"/>
                  </a:lnTo>
                  <a:lnTo>
                    <a:pt x="0" y="82551"/>
                  </a:lnTo>
                  <a:lnTo>
                    <a:pt x="6487" y="50418"/>
                  </a:lnTo>
                  <a:lnTo>
                    <a:pt x="24178" y="24178"/>
                  </a:lnTo>
                  <a:lnTo>
                    <a:pt x="50418" y="6487"/>
                  </a:lnTo>
                  <a:lnTo>
                    <a:pt x="82551" y="0"/>
                  </a:lnTo>
                  <a:lnTo>
                    <a:pt x="853448" y="0"/>
                  </a:lnTo>
                  <a:lnTo>
                    <a:pt x="899248" y="13869"/>
                  </a:lnTo>
                  <a:lnTo>
                    <a:pt x="929716" y="50960"/>
                  </a:lnTo>
                  <a:lnTo>
                    <a:pt x="935999" y="82551"/>
                  </a:lnTo>
                  <a:lnTo>
                    <a:pt x="935999" y="412748"/>
                  </a:lnTo>
                  <a:lnTo>
                    <a:pt x="929512" y="444881"/>
                  </a:lnTo>
                  <a:lnTo>
                    <a:pt x="911821" y="471121"/>
                  </a:lnTo>
                  <a:lnTo>
                    <a:pt x="885581" y="488812"/>
                  </a:lnTo>
                  <a:lnTo>
                    <a:pt x="853448" y="4952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60174" y="2867399"/>
              <a:ext cx="936625" cy="495300"/>
            </a:xfrm>
            <a:custGeom>
              <a:avLst/>
              <a:gdLst/>
              <a:ahLst/>
              <a:cxnLst/>
              <a:rect l="l" t="t" r="r" b="b"/>
              <a:pathLst>
                <a:path w="936625" h="495300">
                  <a:moveTo>
                    <a:pt x="0" y="82551"/>
                  </a:moveTo>
                  <a:lnTo>
                    <a:pt x="6487" y="50418"/>
                  </a:lnTo>
                  <a:lnTo>
                    <a:pt x="24178" y="24178"/>
                  </a:lnTo>
                  <a:lnTo>
                    <a:pt x="50418" y="6487"/>
                  </a:lnTo>
                  <a:lnTo>
                    <a:pt x="82551" y="0"/>
                  </a:lnTo>
                  <a:lnTo>
                    <a:pt x="853448" y="0"/>
                  </a:lnTo>
                  <a:lnTo>
                    <a:pt x="899248" y="13869"/>
                  </a:lnTo>
                  <a:lnTo>
                    <a:pt x="929716" y="50960"/>
                  </a:lnTo>
                  <a:lnTo>
                    <a:pt x="935999" y="82551"/>
                  </a:lnTo>
                  <a:lnTo>
                    <a:pt x="935999" y="412748"/>
                  </a:lnTo>
                  <a:lnTo>
                    <a:pt x="929512" y="444881"/>
                  </a:lnTo>
                  <a:lnTo>
                    <a:pt x="911821" y="471121"/>
                  </a:lnTo>
                  <a:lnTo>
                    <a:pt x="885581" y="488812"/>
                  </a:lnTo>
                  <a:lnTo>
                    <a:pt x="853448" y="495299"/>
                  </a:lnTo>
                  <a:lnTo>
                    <a:pt x="82551" y="495299"/>
                  </a:lnTo>
                  <a:lnTo>
                    <a:pt x="50418" y="488812"/>
                  </a:lnTo>
                  <a:lnTo>
                    <a:pt x="24178" y="471121"/>
                  </a:lnTo>
                  <a:lnTo>
                    <a:pt x="6487" y="444881"/>
                  </a:lnTo>
                  <a:lnTo>
                    <a:pt x="0" y="412748"/>
                  </a:lnTo>
                  <a:lnTo>
                    <a:pt x="0" y="82551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60174" y="1335949"/>
              <a:ext cx="936625" cy="248285"/>
            </a:xfrm>
            <a:custGeom>
              <a:avLst/>
              <a:gdLst/>
              <a:ahLst/>
              <a:cxnLst/>
              <a:rect l="l" t="t" r="r" b="b"/>
              <a:pathLst>
                <a:path w="936625" h="248284">
                  <a:moveTo>
                    <a:pt x="894699" y="247799"/>
                  </a:move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894699" y="0"/>
                  </a:lnTo>
                  <a:lnTo>
                    <a:pt x="929060" y="18387"/>
                  </a:lnTo>
                  <a:lnTo>
                    <a:pt x="935999" y="41300"/>
                  </a:lnTo>
                  <a:lnTo>
                    <a:pt x="935999" y="206499"/>
                  </a:lnTo>
                  <a:lnTo>
                    <a:pt x="932754" y="222575"/>
                  </a:lnTo>
                  <a:lnTo>
                    <a:pt x="923903" y="235703"/>
                  </a:lnTo>
                  <a:lnTo>
                    <a:pt x="910775" y="244554"/>
                  </a:lnTo>
                  <a:lnTo>
                    <a:pt x="894699" y="2477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60174" y="1335949"/>
              <a:ext cx="936625" cy="248285"/>
            </a:xfrm>
            <a:custGeom>
              <a:avLst/>
              <a:gdLst/>
              <a:ahLst/>
              <a:cxnLst/>
              <a:rect l="l" t="t" r="r" b="b"/>
              <a:pathLst>
                <a:path w="936625" h="248284">
                  <a:moveTo>
                    <a:pt x="0" y="41300"/>
                  </a:move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894699" y="0"/>
                  </a:lnTo>
                  <a:lnTo>
                    <a:pt x="929060" y="18387"/>
                  </a:lnTo>
                  <a:lnTo>
                    <a:pt x="935999" y="41300"/>
                  </a:lnTo>
                  <a:lnTo>
                    <a:pt x="935999" y="206499"/>
                  </a:lnTo>
                  <a:lnTo>
                    <a:pt x="932754" y="222575"/>
                  </a:lnTo>
                  <a:lnTo>
                    <a:pt x="923903" y="235703"/>
                  </a:lnTo>
                  <a:lnTo>
                    <a:pt x="910775" y="244554"/>
                  </a:lnTo>
                  <a:lnTo>
                    <a:pt x="894699" y="247799"/>
                  </a:ln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51249" y="1335949"/>
              <a:ext cx="429895" cy="248285"/>
            </a:xfrm>
            <a:custGeom>
              <a:avLst/>
              <a:gdLst/>
              <a:ahLst/>
              <a:cxnLst/>
              <a:rect l="l" t="t" r="r" b="b"/>
              <a:pathLst>
                <a:path w="429895" h="248284">
                  <a:moveTo>
                    <a:pt x="388599" y="247799"/>
                  </a:move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388599" y="0"/>
                  </a:lnTo>
                  <a:lnTo>
                    <a:pt x="422960" y="18387"/>
                  </a:lnTo>
                  <a:lnTo>
                    <a:pt x="429899" y="41300"/>
                  </a:lnTo>
                  <a:lnTo>
                    <a:pt x="429899" y="206499"/>
                  </a:lnTo>
                  <a:lnTo>
                    <a:pt x="426654" y="222575"/>
                  </a:lnTo>
                  <a:lnTo>
                    <a:pt x="417803" y="235703"/>
                  </a:lnTo>
                  <a:lnTo>
                    <a:pt x="404675" y="244554"/>
                  </a:lnTo>
                  <a:lnTo>
                    <a:pt x="388599" y="2477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51249" y="1335949"/>
              <a:ext cx="429895" cy="248285"/>
            </a:xfrm>
            <a:custGeom>
              <a:avLst/>
              <a:gdLst/>
              <a:ahLst/>
              <a:cxnLst/>
              <a:rect l="l" t="t" r="r" b="b"/>
              <a:pathLst>
                <a:path w="429895" h="248284">
                  <a:moveTo>
                    <a:pt x="0" y="41300"/>
                  </a:moveTo>
                  <a:lnTo>
                    <a:pt x="3245" y="25224"/>
                  </a:lnTo>
                  <a:lnTo>
                    <a:pt x="12096" y="12096"/>
                  </a:lnTo>
                  <a:lnTo>
                    <a:pt x="25224" y="3245"/>
                  </a:lnTo>
                  <a:lnTo>
                    <a:pt x="41300" y="0"/>
                  </a:lnTo>
                  <a:lnTo>
                    <a:pt x="388599" y="0"/>
                  </a:lnTo>
                  <a:lnTo>
                    <a:pt x="422960" y="18387"/>
                  </a:lnTo>
                  <a:lnTo>
                    <a:pt x="429899" y="41300"/>
                  </a:lnTo>
                  <a:lnTo>
                    <a:pt x="429899" y="206499"/>
                  </a:lnTo>
                  <a:lnTo>
                    <a:pt x="426654" y="222575"/>
                  </a:lnTo>
                  <a:lnTo>
                    <a:pt x="417803" y="235703"/>
                  </a:lnTo>
                  <a:lnTo>
                    <a:pt x="404675" y="244554"/>
                  </a:lnTo>
                  <a:lnTo>
                    <a:pt x="388599" y="247799"/>
                  </a:lnTo>
                  <a:lnTo>
                    <a:pt x="41300" y="247799"/>
                  </a:lnTo>
                  <a:lnTo>
                    <a:pt x="25224" y="244554"/>
                  </a:lnTo>
                  <a:lnTo>
                    <a:pt x="12096" y="235703"/>
                  </a:lnTo>
                  <a:lnTo>
                    <a:pt x="3245" y="222575"/>
                  </a:lnTo>
                  <a:lnTo>
                    <a:pt x="0" y="206499"/>
                  </a:lnTo>
                  <a:lnTo>
                    <a:pt x="0" y="41300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1249" y="2867399"/>
              <a:ext cx="429895" cy="495300"/>
            </a:xfrm>
            <a:custGeom>
              <a:avLst/>
              <a:gdLst/>
              <a:ahLst/>
              <a:cxnLst/>
              <a:rect l="l" t="t" r="r" b="b"/>
              <a:pathLst>
                <a:path w="429895" h="495300">
                  <a:moveTo>
                    <a:pt x="358248" y="495299"/>
                  </a:moveTo>
                  <a:lnTo>
                    <a:pt x="71651" y="495299"/>
                  </a:lnTo>
                  <a:lnTo>
                    <a:pt x="43761" y="489669"/>
                  </a:lnTo>
                  <a:lnTo>
                    <a:pt x="20986" y="474313"/>
                  </a:lnTo>
                  <a:lnTo>
                    <a:pt x="5630" y="451538"/>
                  </a:lnTo>
                  <a:lnTo>
                    <a:pt x="0" y="423648"/>
                  </a:lnTo>
                  <a:lnTo>
                    <a:pt x="0" y="71651"/>
                  </a:lnTo>
                  <a:lnTo>
                    <a:pt x="5630" y="43761"/>
                  </a:lnTo>
                  <a:lnTo>
                    <a:pt x="20986" y="20986"/>
                  </a:lnTo>
                  <a:lnTo>
                    <a:pt x="43761" y="5630"/>
                  </a:lnTo>
                  <a:lnTo>
                    <a:pt x="71651" y="0"/>
                  </a:lnTo>
                  <a:lnTo>
                    <a:pt x="358248" y="0"/>
                  </a:lnTo>
                  <a:lnTo>
                    <a:pt x="398000" y="12038"/>
                  </a:lnTo>
                  <a:lnTo>
                    <a:pt x="424445" y="44231"/>
                  </a:lnTo>
                  <a:lnTo>
                    <a:pt x="429899" y="71651"/>
                  </a:lnTo>
                  <a:lnTo>
                    <a:pt x="429899" y="423648"/>
                  </a:lnTo>
                  <a:lnTo>
                    <a:pt x="424269" y="451538"/>
                  </a:lnTo>
                  <a:lnTo>
                    <a:pt x="408913" y="474313"/>
                  </a:lnTo>
                  <a:lnTo>
                    <a:pt x="386138" y="489669"/>
                  </a:lnTo>
                  <a:lnTo>
                    <a:pt x="358248" y="4952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51249" y="2867399"/>
              <a:ext cx="429895" cy="495300"/>
            </a:xfrm>
            <a:custGeom>
              <a:avLst/>
              <a:gdLst/>
              <a:ahLst/>
              <a:cxnLst/>
              <a:rect l="l" t="t" r="r" b="b"/>
              <a:pathLst>
                <a:path w="429895" h="495300">
                  <a:moveTo>
                    <a:pt x="0" y="71651"/>
                  </a:moveTo>
                  <a:lnTo>
                    <a:pt x="5630" y="43761"/>
                  </a:lnTo>
                  <a:lnTo>
                    <a:pt x="20986" y="20986"/>
                  </a:lnTo>
                  <a:lnTo>
                    <a:pt x="43761" y="5630"/>
                  </a:lnTo>
                  <a:lnTo>
                    <a:pt x="71651" y="0"/>
                  </a:lnTo>
                  <a:lnTo>
                    <a:pt x="358248" y="0"/>
                  </a:lnTo>
                  <a:lnTo>
                    <a:pt x="398000" y="12038"/>
                  </a:lnTo>
                  <a:lnTo>
                    <a:pt x="424445" y="44231"/>
                  </a:lnTo>
                  <a:lnTo>
                    <a:pt x="429899" y="71651"/>
                  </a:lnTo>
                  <a:lnTo>
                    <a:pt x="429899" y="423648"/>
                  </a:lnTo>
                  <a:lnTo>
                    <a:pt x="424269" y="451538"/>
                  </a:lnTo>
                  <a:lnTo>
                    <a:pt x="408913" y="474313"/>
                  </a:lnTo>
                  <a:lnTo>
                    <a:pt x="386138" y="489669"/>
                  </a:lnTo>
                  <a:lnTo>
                    <a:pt x="358248" y="495299"/>
                  </a:lnTo>
                  <a:lnTo>
                    <a:pt x="71651" y="495299"/>
                  </a:lnTo>
                  <a:lnTo>
                    <a:pt x="43761" y="489669"/>
                  </a:lnTo>
                  <a:lnTo>
                    <a:pt x="20986" y="474313"/>
                  </a:lnTo>
                  <a:lnTo>
                    <a:pt x="5630" y="451538"/>
                  </a:lnTo>
                  <a:lnTo>
                    <a:pt x="0" y="423648"/>
                  </a:lnTo>
                  <a:lnTo>
                    <a:pt x="0" y="71651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6850" y="2683949"/>
              <a:ext cx="658495" cy="934085"/>
            </a:xfrm>
            <a:custGeom>
              <a:avLst/>
              <a:gdLst/>
              <a:ahLst/>
              <a:cxnLst/>
              <a:rect l="l" t="t" r="r" b="b"/>
              <a:pathLst>
                <a:path w="658494" h="934085">
                  <a:moveTo>
                    <a:pt x="548747" y="933599"/>
                  </a:moveTo>
                  <a:lnTo>
                    <a:pt x="109752" y="933599"/>
                  </a:lnTo>
                  <a:lnTo>
                    <a:pt x="67031" y="924975"/>
                  </a:lnTo>
                  <a:lnTo>
                    <a:pt x="32145" y="901454"/>
                  </a:lnTo>
                  <a:lnTo>
                    <a:pt x="8624" y="866568"/>
                  </a:lnTo>
                  <a:lnTo>
                    <a:pt x="0" y="823847"/>
                  </a:lnTo>
                  <a:lnTo>
                    <a:pt x="0" y="109752"/>
                  </a:lnTo>
                  <a:lnTo>
                    <a:pt x="8624" y="67031"/>
                  </a:lnTo>
                  <a:lnTo>
                    <a:pt x="32145" y="32145"/>
                  </a:lnTo>
                  <a:lnTo>
                    <a:pt x="67031" y="8624"/>
                  </a:lnTo>
                  <a:lnTo>
                    <a:pt x="109752" y="0"/>
                  </a:lnTo>
                  <a:lnTo>
                    <a:pt x="548747" y="0"/>
                  </a:lnTo>
                  <a:lnTo>
                    <a:pt x="590748" y="8354"/>
                  </a:lnTo>
                  <a:lnTo>
                    <a:pt x="626354" y="32145"/>
                  </a:lnTo>
                  <a:lnTo>
                    <a:pt x="650145" y="67751"/>
                  </a:lnTo>
                  <a:lnTo>
                    <a:pt x="658499" y="109752"/>
                  </a:lnTo>
                  <a:lnTo>
                    <a:pt x="658499" y="823847"/>
                  </a:lnTo>
                  <a:lnTo>
                    <a:pt x="649875" y="866568"/>
                  </a:lnTo>
                  <a:lnTo>
                    <a:pt x="626354" y="901454"/>
                  </a:lnTo>
                  <a:lnTo>
                    <a:pt x="591468" y="924975"/>
                  </a:lnTo>
                  <a:lnTo>
                    <a:pt x="548747" y="933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6850" y="2683949"/>
              <a:ext cx="658495" cy="934085"/>
            </a:xfrm>
            <a:custGeom>
              <a:avLst/>
              <a:gdLst/>
              <a:ahLst/>
              <a:cxnLst/>
              <a:rect l="l" t="t" r="r" b="b"/>
              <a:pathLst>
                <a:path w="658494" h="934085">
                  <a:moveTo>
                    <a:pt x="0" y="109752"/>
                  </a:moveTo>
                  <a:lnTo>
                    <a:pt x="8624" y="67031"/>
                  </a:lnTo>
                  <a:lnTo>
                    <a:pt x="32145" y="32145"/>
                  </a:lnTo>
                  <a:lnTo>
                    <a:pt x="67031" y="8624"/>
                  </a:lnTo>
                  <a:lnTo>
                    <a:pt x="109752" y="0"/>
                  </a:lnTo>
                  <a:lnTo>
                    <a:pt x="548747" y="0"/>
                  </a:lnTo>
                  <a:lnTo>
                    <a:pt x="590748" y="8354"/>
                  </a:lnTo>
                  <a:lnTo>
                    <a:pt x="626354" y="32145"/>
                  </a:lnTo>
                  <a:lnTo>
                    <a:pt x="650145" y="67751"/>
                  </a:lnTo>
                  <a:lnTo>
                    <a:pt x="658499" y="109752"/>
                  </a:lnTo>
                  <a:lnTo>
                    <a:pt x="658499" y="823847"/>
                  </a:lnTo>
                  <a:lnTo>
                    <a:pt x="649875" y="866568"/>
                  </a:lnTo>
                  <a:lnTo>
                    <a:pt x="626354" y="901454"/>
                  </a:lnTo>
                  <a:lnTo>
                    <a:pt x="591468" y="924975"/>
                  </a:lnTo>
                  <a:lnTo>
                    <a:pt x="548747" y="933599"/>
                  </a:lnTo>
                  <a:lnTo>
                    <a:pt x="109752" y="933599"/>
                  </a:lnTo>
                  <a:lnTo>
                    <a:pt x="67031" y="924975"/>
                  </a:lnTo>
                  <a:lnTo>
                    <a:pt x="32145" y="901454"/>
                  </a:lnTo>
                  <a:lnTo>
                    <a:pt x="8624" y="866568"/>
                  </a:lnTo>
                  <a:lnTo>
                    <a:pt x="0" y="823847"/>
                  </a:lnTo>
                  <a:lnTo>
                    <a:pt x="0" y="109752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11559" y="67029"/>
            <a:ext cx="143510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Table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Petroni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al.,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3592559" y="4277265"/>
            <a:ext cx="195961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20" dirty="0">
                <a:latin typeface="Cambria"/>
                <a:cs typeface="Cambria"/>
              </a:rPr>
              <a:t>P@</a:t>
            </a:r>
            <a:r>
              <a:rPr sz="1350" b="1" spc="-2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r>
              <a:rPr sz="1350" b="1" spc="-20" dirty="0">
                <a:latin typeface="Cambria"/>
                <a:cs typeface="Cambria"/>
              </a:rPr>
              <a:t>: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precision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latin typeface="Cambria"/>
                <a:cs typeface="Cambria"/>
              </a:rPr>
              <a:t>at</a:t>
            </a:r>
            <a:r>
              <a:rPr sz="1350" b="1" spc="-5" dirty="0"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E69137"/>
                </a:solidFill>
                <a:latin typeface="Cambria"/>
                <a:cs typeface="Cambria"/>
              </a:rPr>
              <a:t>rank</a:t>
            </a:r>
            <a:r>
              <a:rPr sz="1350" b="1" spc="-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350" b="1" spc="-50" dirty="0">
                <a:solidFill>
                  <a:srgbClr val="E69137"/>
                </a:solidFill>
                <a:latin typeface="Cambria"/>
                <a:cs typeface="Cambria"/>
              </a:rPr>
              <a:t>1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mbria"/>
                <a:cs typeface="Cambria"/>
              </a:rPr>
              <a:t>Results</a:t>
            </a:r>
            <a:r>
              <a:rPr dirty="0"/>
              <a:t>:</a:t>
            </a:r>
            <a:r>
              <a:rPr spc="-30" dirty="0"/>
              <a:t> </a:t>
            </a:r>
            <a:r>
              <a:rPr spc="-90" dirty="0"/>
              <a:t>BERT</a:t>
            </a:r>
            <a:r>
              <a:rPr spc="-70" dirty="0"/>
              <a:t> </a:t>
            </a:r>
            <a:r>
              <a:rPr spc="140" dirty="0"/>
              <a:t>models</a:t>
            </a:r>
            <a:r>
              <a:rPr spc="-25" dirty="0"/>
              <a:t> </a:t>
            </a:r>
            <a:r>
              <a:rPr spc="160" dirty="0"/>
              <a:t>outperform</a:t>
            </a:r>
            <a:r>
              <a:rPr spc="-30" dirty="0"/>
              <a:t> </a:t>
            </a:r>
            <a:r>
              <a:rPr spc="165" dirty="0"/>
              <a:t>other</a:t>
            </a:r>
            <a:r>
              <a:rPr spc="-25" dirty="0"/>
              <a:t> </a:t>
            </a:r>
            <a:r>
              <a:rPr dirty="0"/>
              <a:t>LMs</a:t>
            </a:r>
            <a:r>
              <a:rPr spc="-25" dirty="0"/>
              <a:t> </a:t>
            </a:r>
            <a:r>
              <a:rPr spc="185" dirty="0"/>
              <a:t>on</a:t>
            </a:r>
            <a:r>
              <a:rPr spc="-75" dirty="0"/>
              <a:t> </a:t>
            </a:r>
            <a:r>
              <a:rPr spc="-80" dirty="0"/>
              <a:t>T-</a:t>
            </a:r>
            <a:r>
              <a:rPr spc="-25" dirty="0"/>
              <a:t>REx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941" y="1481196"/>
            <a:ext cx="5160645" cy="3553460"/>
            <a:chOff x="426941" y="1481196"/>
            <a:chExt cx="5160645" cy="3553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941" y="1481196"/>
              <a:ext cx="5160383" cy="35530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9526" y="1729775"/>
              <a:ext cx="1132205" cy="445134"/>
            </a:xfrm>
            <a:custGeom>
              <a:avLst/>
              <a:gdLst/>
              <a:ahLst/>
              <a:cxnLst/>
              <a:rect l="l" t="t" r="r" b="b"/>
              <a:pathLst>
                <a:path w="1132204" h="445135">
                  <a:moveTo>
                    <a:pt x="1058098" y="444599"/>
                  </a:moveTo>
                  <a:lnTo>
                    <a:pt x="74101" y="444599"/>
                  </a:lnTo>
                  <a:lnTo>
                    <a:pt x="45257" y="438776"/>
                  </a:lnTo>
                  <a:lnTo>
                    <a:pt x="21703" y="422896"/>
                  </a:lnTo>
                  <a:lnTo>
                    <a:pt x="5823" y="399342"/>
                  </a:lnTo>
                  <a:lnTo>
                    <a:pt x="0" y="370498"/>
                  </a:lnTo>
                  <a:lnTo>
                    <a:pt x="0" y="74101"/>
                  </a:lnTo>
                  <a:lnTo>
                    <a:pt x="5823" y="45257"/>
                  </a:lnTo>
                  <a:lnTo>
                    <a:pt x="21703" y="21703"/>
                  </a:lnTo>
                  <a:lnTo>
                    <a:pt x="45257" y="5823"/>
                  </a:lnTo>
                  <a:lnTo>
                    <a:pt x="74101" y="0"/>
                  </a:lnTo>
                  <a:lnTo>
                    <a:pt x="1058098" y="0"/>
                  </a:lnTo>
                  <a:lnTo>
                    <a:pt x="1099209" y="12449"/>
                  </a:lnTo>
                  <a:lnTo>
                    <a:pt x="1126559" y="45744"/>
                  </a:lnTo>
                  <a:lnTo>
                    <a:pt x="1132199" y="74101"/>
                  </a:lnTo>
                  <a:lnTo>
                    <a:pt x="1132199" y="370498"/>
                  </a:lnTo>
                  <a:lnTo>
                    <a:pt x="1126376" y="399342"/>
                  </a:lnTo>
                  <a:lnTo>
                    <a:pt x="1110496" y="422896"/>
                  </a:lnTo>
                  <a:lnTo>
                    <a:pt x="1086942" y="438776"/>
                  </a:lnTo>
                  <a:lnTo>
                    <a:pt x="1058098" y="444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9526" y="1729775"/>
              <a:ext cx="1132205" cy="445134"/>
            </a:xfrm>
            <a:custGeom>
              <a:avLst/>
              <a:gdLst/>
              <a:ahLst/>
              <a:cxnLst/>
              <a:rect l="l" t="t" r="r" b="b"/>
              <a:pathLst>
                <a:path w="1132204" h="445135">
                  <a:moveTo>
                    <a:pt x="0" y="74101"/>
                  </a:moveTo>
                  <a:lnTo>
                    <a:pt x="5823" y="45257"/>
                  </a:lnTo>
                  <a:lnTo>
                    <a:pt x="21703" y="21703"/>
                  </a:lnTo>
                  <a:lnTo>
                    <a:pt x="45257" y="5823"/>
                  </a:lnTo>
                  <a:lnTo>
                    <a:pt x="74101" y="0"/>
                  </a:lnTo>
                  <a:lnTo>
                    <a:pt x="1058098" y="0"/>
                  </a:lnTo>
                  <a:lnTo>
                    <a:pt x="1099209" y="12449"/>
                  </a:lnTo>
                  <a:lnTo>
                    <a:pt x="1126559" y="45744"/>
                  </a:lnTo>
                  <a:lnTo>
                    <a:pt x="1132199" y="74101"/>
                  </a:lnTo>
                  <a:lnTo>
                    <a:pt x="1132199" y="370498"/>
                  </a:lnTo>
                  <a:lnTo>
                    <a:pt x="1126376" y="399342"/>
                  </a:lnTo>
                  <a:lnTo>
                    <a:pt x="1110496" y="422896"/>
                  </a:lnTo>
                  <a:lnTo>
                    <a:pt x="1086942" y="438776"/>
                  </a:lnTo>
                  <a:lnTo>
                    <a:pt x="1058098" y="444599"/>
                  </a:lnTo>
                  <a:lnTo>
                    <a:pt x="74101" y="444599"/>
                  </a:lnTo>
                  <a:lnTo>
                    <a:pt x="45257" y="438776"/>
                  </a:lnTo>
                  <a:lnTo>
                    <a:pt x="21703" y="422896"/>
                  </a:lnTo>
                  <a:lnTo>
                    <a:pt x="5823" y="399342"/>
                  </a:lnTo>
                  <a:lnTo>
                    <a:pt x="0" y="370498"/>
                  </a:lnTo>
                  <a:lnTo>
                    <a:pt x="0" y="74101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56624" y="1116262"/>
            <a:ext cx="6774815" cy="98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0" dirty="0">
                <a:solidFill>
                  <a:srgbClr val="595959"/>
                </a:solidFill>
                <a:latin typeface="Times New Roman"/>
                <a:cs typeface="Times New Roman"/>
              </a:rPr>
              <a:t>Performance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125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T-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REx</a:t>
            </a:r>
            <a:endParaRPr sz="1700">
              <a:latin typeface="Times New Roman"/>
              <a:cs typeface="Times New Roman"/>
            </a:endParaRPr>
          </a:p>
          <a:p>
            <a:pPr marL="4281805" marR="5080" indent="-195580">
              <a:lnSpc>
                <a:spcPts val="1939"/>
              </a:lnSpc>
              <a:spcBef>
                <a:spcPts val="1680"/>
              </a:spcBef>
            </a:pPr>
            <a:r>
              <a:rPr sz="1800" b="1" spc="-110" dirty="0">
                <a:solidFill>
                  <a:srgbClr val="E69137"/>
                </a:solidFill>
                <a:latin typeface="Book Antiqua"/>
                <a:cs typeface="Book Antiqua"/>
              </a:rPr>
              <a:t>BERT</a:t>
            </a:r>
            <a:r>
              <a:rPr sz="1800" b="1" spc="-3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800" b="1" spc="-10" dirty="0">
                <a:solidFill>
                  <a:srgbClr val="E69137"/>
                </a:solidFill>
                <a:latin typeface="Book Antiqua"/>
                <a:cs typeface="Book Antiqua"/>
              </a:rPr>
              <a:t>models</a:t>
            </a:r>
            <a:r>
              <a:rPr sz="1800" b="1" spc="-1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800" b="1" dirty="0">
                <a:solidFill>
                  <a:srgbClr val="E69137"/>
                </a:solidFill>
                <a:latin typeface="Book Antiqua"/>
                <a:cs typeface="Book Antiqua"/>
              </a:rPr>
              <a:t>perform</a:t>
            </a:r>
            <a:r>
              <a:rPr sz="1800" b="1" spc="-1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800" b="1" spc="-25" dirty="0">
                <a:solidFill>
                  <a:srgbClr val="E69137"/>
                </a:solidFill>
                <a:latin typeface="Book Antiqua"/>
                <a:cs typeface="Book Antiqua"/>
              </a:rPr>
              <a:t>the </a:t>
            </a:r>
            <a:r>
              <a:rPr sz="1800" b="1" dirty="0">
                <a:solidFill>
                  <a:srgbClr val="E69137"/>
                </a:solidFill>
                <a:latin typeface="Book Antiqua"/>
                <a:cs typeface="Book Antiqua"/>
              </a:rPr>
              <a:t>best</a:t>
            </a:r>
            <a:r>
              <a:rPr sz="1800" b="1" spc="-6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800" b="1" spc="-55" dirty="0">
                <a:solidFill>
                  <a:srgbClr val="E69137"/>
                </a:solidFill>
                <a:latin typeface="Book Antiqua"/>
                <a:cs typeface="Book Antiqua"/>
              </a:rPr>
              <a:t>by</a:t>
            </a:r>
            <a:r>
              <a:rPr sz="1800" b="1" spc="-4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800" b="1" dirty="0">
                <a:solidFill>
                  <a:srgbClr val="E69137"/>
                </a:solidFill>
                <a:latin typeface="Book Antiqua"/>
                <a:cs typeface="Book Antiqua"/>
              </a:rPr>
              <a:t>a</a:t>
            </a:r>
            <a:r>
              <a:rPr sz="1800" b="1" spc="-5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800" b="1" dirty="0">
                <a:solidFill>
                  <a:srgbClr val="E69137"/>
                </a:solidFill>
                <a:latin typeface="Book Antiqua"/>
                <a:cs typeface="Book Antiqua"/>
              </a:rPr>
              <a:t>large</a:t>
            </a:r>
            <a:r>
              <a:rPr sz="1800" b="1" spc="-4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800" b="1" spc="-10" dirty="0">
                <a:solidFill>
                  <a:srgbClr val="E69137"/>
                </a:solidFill>
                <a:latin typeface="Book Antiqua"/>
                <a:cs typeface="Book Antiqua"/>
              </a:rPr>
              <a:t>margin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65499" y="1502148"/>
            <a:ext cx="187960" cy="698500"/>
          </a:xfrm>
          <a:custGeom>
            <a:avLst/>
            <a:gdLst/>
            <a:ahLst/>
            <a:cxnLst/>
            <a:rect l="l" t="t" r="r" b="b"/>
            <a:pathLst>
              <a:path w="187960" h="698500">
                <a:moveTo>
                  <a:pt x="0" y="0"/>
                </a:moveTo>
                <a:lnTo>
                  <a:pt x="36491" y="7367"/>
                </a:lnTo>
                <a:lnTo>
                  <a:pt x="66291" y="27458"/>
                </a:lnTo>
                <a:lnTo>
                  <a:pt x="86382" y="57258"/>
                </a:lnTo>
                <a:lnTo>
                  <a:pt x="93749" y="93749"/>
                </a:lnTo>
                <a:lnTo>
                  <a:pt x="93749" y="255449"/>
                </a:lnTo>
                <a:lnTo>
                  <a:pt x="101117" y="291941"/>
                </a:lnTo>
                <a:lnTo>
                  <a:pt x="121208" y="321741"/>
                </a:lnTo>
                <a:lnTo>
                  <a:pt x="151008" y="341832"/>
                </a:lnTo>
                <a:lnTo>
                  <a:pt x="187499" y="349199"/>
                </a:lnTo>
                <a:lnTo>
                  <a:pt x="151008" y="356567"/>
                </a:lnTo>
                <a:lnTo>
                  <a:pt x="121208" y="376658"/>
                </a:lnTo>
                <a:lnTo>
                  <a:pt x="101117" y="406458"/>
                </a:lnTo>
                <a:lnTo>
                  <a:pt x="93749" y="442949"/>
                </a:lnTo>
                <a:lnTo>
                  <a:pt x="93749" y="604649"/>
                </a:lnTo>
                <a:lnTo>
                  <a:pt x="86382" y="641141"/>
                </a:lnTo>
                <a:lnTo>
                  <a:pt x="66291" y="670941"/>
                </a:lnTo>
                <a:lnTo>
                  <a:pt x="36491" y="691032"/>
                </a:lnTo>
                <a:lnTo>
                  <a:pt x="0" y="698399"/>
                </a:lnTo>
              </a:path>
            </a:pathLst>
          </a:custGeom>
          <a:ln w="19049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82910" y="67029"/>
            <a:ext cx="148844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mbria"/>
                <a:cs typeface="Cambria"/>
              </a:rPr>
              <a:t>Results</a:t>
            </a:r>
            <a:r>
              <a:rPr dirty="0"/>
              <a:t>:</a:t>
            </a:r>
            <a:r>
              <a:rPr spc="-30" dirty="0"/>
              <a:t> </a:t>
            </a:r>
            <a:r>
              <a:rPr spc="-90" dirty="0"/>
              <a:t>BERT</a:t>
            </a:r>
            <a:r>
              <a:rPr spc="-70" dirty="0"/>
              <a:t> </a:t>
            </a:r>
            <a:r>
              <a:rPr spc="140" dirty="0"/>
              <a:t>models</a:t>
            </a:r>
            <a:r>
              <a:rPr spc="-25" dirty="0"/>
              <a:t> </a:t>
            </a:r>
            <a:r>
              <a:rPr spc="160" dirty="0"/>
              <a:t>outperform</a:t>
            </a:r>
            <a:r>
              <a:rPr spc="-30" dirty="0"/>
              <a:t> </a:t>
            </a:r>
            <a:r>
              <a:rPr spc="165" dirty="0"/>
              <a:t>other</a:t>
            </a:r>
            <a:r>
              <a:rPr spc="-25" dirty="0"/>
              <a:t> </a:t>
            </a:r>
            <a:r>
              <a:rPr dirty="0"/>
              <a:t>LMs</a:t>
            </a:r>
            <a:r>
              <a:rPr spc="-25" dirty="0"/>
              <a:t> </a:t>
            </a:r>
            <a:r>
              <a:rPr spc="185" dirty="0"/>
              <a:t>on</a:t>
            </a:r>
            <a:r>
              <a:rPr spc="-75" dirty="0"/>
              <a:t> </a:t>
            </a:r>
            <a:r>
              <a:rPr spc="-80" dirty="0"/>
              <a:t>T-</a:t>
            </a:r>
            <a:r>
              <a:rPr spc="-25" dirty="0"/>
              <a:t>REx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941" y="1481196"/>
            <a:ext cx="5167630" cy="3553460"/>
            <a:chOff x="426941" y="1481196"/>
            <a:chExt cx="5167630" cy="3553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941" y="1481196"/>
              <a:ext cx="5160383" cy="35530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5899" y="1742900"/>
              <a:ext cx="1132205" cy="241300"/>
            </a:xfrm>
            <a:custGeom>
              <a:avLst/>
              <a:gdLst/>
              <a:ahLst/>
              <a:cxnLst/>
              <a:rect l="l" t="t" r="r" b="b"/>
              <a:pathLst>
                <a:path w="1132205" h="241300">
                  <a:moveTo>
                    <a:pt x="1092049" y="240899"/>
                  </a:moveTo>
                  <a:lnTo>
                    <a:pt x="40150" y="240899"/>
                  </a:lnTo>
                  <a:lnTo>
                    <a:pt x="24522" y="237744"/>
                  </a:lnTo>
                  <a:lnTo>
                    <a:pt x="11759" y="229140"/>
                  </a:lnTo>
                  <a:lnTo>
                    <a:pt x="3155" y="216377"/>
                  </a:lnTo>
                  <a:lnTo>
                    <a:pt x="0" y="200749"/>
                  </a:lnTo>
                  <a:lnTo>
                    <a:pt x="0" y="40150"/>
                  </a:lnTo>
                  <a:lnTo>
                    <a:pt x="3155" y="24522"/>
                  </a:lnTo>
                  <a:lnTo>
                    <a:pt x="11759" y="11759"/>
                  </a:lnTo>
                  <a:lnTo>
                    <a:pt x="24522" y="3155"/>
                  </a:lnTo>
                  <a:lnTo>
                    <a:pt x="40150" y="0"/>
                  </a:lnTo>
                  <a:lnTo>
                    <a:pt x="1092049" y="0"/>
                  </a:lnTo>
                  <a:lnTo>
                    <a:pt x="1129143" y="24785"/>
                  </a:lnTo>
                  <a:lnTo>
                    <a:pt x="1132199" y="40150"/>
                  </a:lnTo>
                  <a:lnTo>
                    <a:pt x="1132199" y="200749"/>
                  </a:lnTo>
                  <a:lnTo>
                    <a:pt x="1129044" y="216377"/>
                  </a:lnTo>
                  <a:lnTo>
                    <a:pt x="1120440" y="229140"/>
                  </a:lnTo>
                  <a:lnTo>
                    <a:pt x="1107677" y="237744"/>
                  </a:lnTo>
                  <a:lnTo>
                    <a:pt x="1092049" y="240899"/>
                  </a:lnTo>
                  <a:close/>
                </a:path>
              </a:pathLst>
            </a:custGeom>
            <a:solidFill>
              <a:srgbClr val="6AA84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5899" y="1742900"/>
              <a:ext cx="4479290" cy="867410"/>
            </a:xfrm>
            <a:custGeom>
              <a:avLst/>
              <a:gdLst/>
              <a:ahLst/>
              <a:cxnLst/>
              <a:rect l="l" t="t" r="r" b="b"/>
              <a:pathLst>
                <a:path w="4479290" h="867410">
                  <a:moveTo>
                    <a:pt x="0" y="40150"/>
                  </a:moveTo>
                  <a:lnTo>
                    <a:pt x="3155" y="24522"/>
                  </a:lnTo>
                  <a:lnTo>
                    <a:pt x="11759" y="11759"/>
                  </a:lnTo>
                  <a:lnTo>
                    <a:pt x="24522" y="3155"/>
                  </a:lnTo>
                  <a:lnTo>
                    <a:pt x="40150" y="0"/>
                  </a:lnTo>
                  <a:lnTo>
                    <a:pt x="1092049" y="0"/>
                  </a:lnTo>
                  <a:lnTo>
                    <a:pt x="1129143" y="24785"/>
                  </a:lnTo>
                  <a:lnTo>
                    <a:pt x="1132199" y="40150"/>
                  </a:lnTo>
                  <a:lnTo>
                    <a:pt x="1132199" y="200749"/>
                  </a:lnTo>
                  <a:lnTo>
                    <a:pt x="1129044" y="216377"/>
                  </a:lnTo>
                  <a:lnTo>
                    <a:pt x="1120440" y="229140"/>
                  </a:lnTo>
                  <a:lnTo>
                    <a:pt x="1107677" y="237744"/>
                  </a:lnTo>
                  <a:lnTo>
                    <a:pt x="1092049" y="240899"/>
                  </a:lnTo>
                  <a:lnTo>
                    <a:pt x="40150" y="240899"/>
                  </a:lnTo>
                  <a:lnTo>
                    <a:pt x="24522" y="237744"/>
                  </a:lnTo>
                  <a:lnTo>
                    <a:pt x="11759" y="229140"/>
                  </a:lnTo>
                  <a:lnTo>
                    <a:pt x="3155" y="216377"/>
                  </a:lnTo>
                  <a:lnTo>
                    <a:pt x="0" y="200749"/>
                  </a:lnTo>
                  <a:lnTo>
                    <a:pt x="0" y="40150"/>
                  </a:lnTo>
                  <a:close/>
                </a:path>
                <a:path w="4479290" h="867410">
                  <a:moveTo>
                    <a:pt x="4385549" y="591824"/>
                  </a:moveTo>
                  <a:lnTo>
                    <a:pt x="4403708" y="595490"/>
                  </a:lnTo>
                  <a:lnTo>
                    <a:pt x="4418536" y="605488"/>
                  </a:lnTo>
                  <a:lnTo>
                    <a:pt x="4428533" y="620316"/>
                  </a:lnTo>
                  <a:lnTo>
                    <a:pt x="4432199" y="638474"/>
                  </a:lnTo>
                  <a:lnTo>
                    <a:pt x="4432199" y="694424"/>
                  </a:lnTo>
                  <a:lnTo>
                    <a:pt x="4435865" y="712583"/>
                  </a:lnTo>
                  <a:lnTo>
                    <a:pt x="4445863" y="727411"/>
                  </a:lnTo>
                  <a:lnTo>
                    <a:pt x="4460691" y="737408"/>
                  </a:lnTo>
                  <a:lnTo>
                    <a:pt x="4478849" y="741074"/>
                  </a:lnTo>
                  <a:lnTo>
                    <a:pt x="4460691" y="744740"/>
                  </a:lnTo>
                  <a:lnTo>
                    <a:pt x="4445863" y="754738"/>
                  </a:lnTo>
                  <a:lnTo>
                    <a:pt x="4435865" y="769566"/>
                  </a:lnTo>
                  <a:lnTo>
                    <a:pt x="4432199" y="787724"/>
                  </a:lnTo>
                  <a:lnTo>
                    <a:pt x="4432199" y="820274"/>
                  </a:lnTo>
                  <a:lnTo>
                    <a:pt x="4428533" y="838433"/>
                  </a:lnTo>
                  <a:lnTo>
                    <a:pt x="4418536" y="853261"/>
                  </a:lnTo>
                  <a:lnTo>
                    <a:pt x="4403708" y="863258"/>
                  </a:lnTo>
                  <a:lnTo>
                    <a:pt x="4385549" y="866924"/>
                  </a:lnTo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56624" y="1116262"/>
            <a:ext cx="22021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0" dirty="0">
                <a:solidFill>
                  <a:srgbClr val="595959"/>
                </a:solidFill>
                <a:latin typeface="Times New Roman"/>
                <a:cs typeface="Times New Roman"/>
              </a:rPr>
              <a:t>Performance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125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T-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REx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902005" y="2277535"/>
            <a:ext cx="292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6AA84F"/>
                </a:solidFill>
                <a:latin typeface="Book Antiqua"/>
                <a:cs typeface="Book Antiqua"/>
              </a:rPr>
              <a:t>Next </a:t>
            </a:r>
            <a:r>
              <a:rPr sz="1800" b="1" dirty="0">
                <a:solidFill>
                  <a:srgbClr val="6AA84F"/>
                </a:solidFill>
                <a:latin typeface="Book Antiqua"/>
                <a:cs typeface="Book Antiqua"/>
              </a:rPr>
              <a:t>best</a:t>
            </a:r>
            <a:r>
              <a:rPr sz="1800" b="1" spc="-40" dirty="0">
                <a:solidFill>
                  <a:srgbClr val="6AA84F"/>
                </a:solidFill>
                <a:latin typeface="Book Antiqua"/>
                <a:cs typeface="Book Antiqua"/>
              </a:rPr>
              <a:t> </a:t>
            </a:r>
            <a:r>
              <a:rPr sz="1800" b="1" spc="-20" dirty="0">
                <a:solidFill>
                  <a:srgbClr val="6AA84F"/>
                </a:solidFill>
                <a:latin typeface="Book Antiqua"/>
                <a:cs typeface="Book Antiqua"/>
              </a:rPr>
              <a:t>is</a:t>
            </a:r>
            <a:r>
              <a:rPr sz="1800" b="1" spc="-60" dirty="0">
                <a:solidFill>
                  <a:srgbClr val="6AA84F"/>
                </a:solidFill>
                <a:latin typeface="Book Antiqua"/>
                <a:cs typeface="Book Antiqua"/>
              </a:rPr>
              <a:t> </a:t>
            </a:r>
            <a:r>
              <a:rPr sz="1800" b="1" spc="-10" dirty="0">
                <a:solidFill>
                  <a:srgbClr val="6AA84F"/>
                </a:solidFill>
                <a:latin typeface="Book Antiqua"/>
                <a:cs typeface="Book Antiqua"/>
              </a:rPr>
              <a:t>Transformer-</a:t>
            </a:r>
            <a:r>
              <a:rPr sz="1800" b="1" spc="-25" dirty="0">
                <a:solidFill>
                  <a:srgbClr val="6AA84F"/>
                </a:solidFill>
                <a:latin typeface="Book Antiqua"/>
                <a:cs typeface="Book Antiqua"/>
              </a:rPr>
              <a:t>XL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82910" y="67029"/>
            <a:ext cx="148844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mbria"/>
                <a:cs typeface="Cambria"/>
              </a:rPr>
              <a:t>Results</a:t>
            </a:r>
            <a:r>
              <a:rPr dirty="0"/>
              <a:t>:</a:t>
            </a:r>
            <a:r>
              <a:rPr spc="-30" dirty="0"/>
              <a:t> </a:t>
            </a:r>
            <a:r>
              <a:rPr spc="-90" dirty="0"/>
              <a:t>BERT</a:t>
            </a:r>
            <a:r>
              <a:rPr spc="-70" dirty="0"/>
              <a:t> </a:t>
            </a:r>
            <a:r>
              <a:rPr spc="140" dirty="0"/>
              <a:t>models</a:t>
            </a:r>
            <a:r>
              <a:rPr spc="-25" dirty="0"/>
              <a:t> </a:t>
            </a:r>
            <a:r>
              <a:rPr spc="160" dirty="0"/>
              <a:t>outperform</a:t>
            </a:r>
            <a:r>
              <a:rPr spc="-30" dirty="0"/>
              <a:t> </a:t>
            </a:r>
            <a:r>
              <a:rPr spc="165" dirty="0"/>
              <a:t>other</a:t>
            </a:r>
            <a:r>
              <a:rPr spc="-25" dirty="0"/>
              <a:t> </a:t>
            </a:r>
            <a:r>
              <a:rPr dirty="0"/>
              <a:t>LMs</a:t>
            </a:r>
            <a:r>
              <a:rPr spc="-25" dirty="0"/>
              <a:t> </a:t>
            </a:r>
            <a:r>
              <a:rPr spc="185" dirty="0"/>
              <a:t>on</a:t>
            </a:r>
            <a:r>
              <a:rPr spc="-75" dirty="0"/>
              <a:t> </a:t>
            </a:r>
            <a:r>
              <a:rPr spc="-80" dirty="0"/>
              <a:t>T-</a:t>
            </a:r>
            <a:r>
              <a:rPr spc="-25" dirty="0"/>
              <a:t>REx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941" y="1481196"/>
            <a:ext cx="5226050" cy="3553460"/>
            <a:chOff x="426941" y="1481196"/>
            <a:chExt cx="5226050" cy="3553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941" y="1481196"/>
              <a:ext cx="5160383" cy="35530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9224" y="1521075"/>
              <a:ext cx="2253615" cy="241300"/>
            </a:xfrm>
            <a:custGeom>
              <a:avLst/>
              <a:gdLst/>
              <a:ahLst/>
              <a:cxnLst/>
              <a:rect l="l" t="t" r="r" b="b"/>
              <a:pathLst>
                <a:path w="2253615" h="241300">
                  <a:moveTo>
                    <a:pt x="2213149" y="240899"/>
                  </a:moveTo>
                  <a:lnTo>
                    <a:pt x="40150" y="240899"/>
                  </a:lnTo>
                  <a:lnTo>
                    <a:pt x="24522" y="237744"/>
                  </a:lnTo>
                  <a:lnTo>
                    <a:pt x="11759" y="229140"/>
                  </a:lnTo>
                  <a:lnTo>
                    <a:pt x="3155" y="216377"/>
                  </a:lnTo>
                  <a:lnTo>
                    <a:pt x="0" y="200749"/>
                  </a:lnTo>
                  <a:lnTo>
                    <a:pt x="0" y="40150"/>
                  </a:lnTo>
                  <a:lnTo>
                    <a:pt x="3155" y="24522"/>
                  </a:lnTo>
                  <a:lnTo>
                    <a:pt x="11759" y="11759"/>
                  </a:lnTo>
                  <a:lnTo>
                    <a:pt x="24522" y="3155"/>
                  </a:lnTo>
                  <a:lnTo>
                    <a:pt x="40150" y="0"/>
                  </a:lnTo>
                  <a:lnTo>
                    <a:pt x="2213149" y="0"/>
                  </a:lnTo>
                  <a:lnTo>
                    <a:pt x="2250243" y="24785"/>
                  </a:lnTo>
                  <a:lnTo>
                    <a:pt x="2253299" y="40150"/>
                  </a:lnTo>
                  <a:lnTo>
                    <a:pt x="2253299" y="200749"/>
                  </a:lnTo>
                  <a:lnTo>
                    <a:pt x="2250144" y="216377"/>
                  </a:lnTo>
                  <a:lnTo>
                    <a:pt x="2241540" y="229140"/>
                  </a:lnTo>
                  <a:lnTo>
                    <a:pt x="2228777" y="237744"/>
                  </a:lnTo>
                  <a:lnTo>
                    <a:pt x="2213149" y="2408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9224" y="1521075"/>
              <a:ext cx="4554220" cy="1738630"/>
            </a:xfrm>
            <a:custGeom>
              <a:avLst/>
              <a:gdLst/>
              <a:ahLst/>
              <a:cxnLst/>
              <a:rect l="l" t="t" r="r" b="b"/>
              <a:pathLst>
                <a:path w="4554220" h="1738629">
                  <a:moveTo>
                    <a:pt x="0" y="40150"/>
                  </a:moveTo>
                  <a:lnTo>
                    <a:pt x="3155" y="24522"/>
                  </a:lnTo>
                  <a:lnTo>
                    <a:pt x="11759" y="11759"/>
                  </a:lnTo>
                  <a:lnTo>
                    <a:pt x="24522" y="3155"/>
                  </a:lnTo>
                  <a:lnTo>
                    <a:pt x="40150" y="0"/>
                  </a:lnTo>
                  <a:lnTo>
                    <a:pt x="2213149" y="0"/>
                  </a:lnTo>
                  <a:lnTo>
                    <a:pt x="2250243" y="24785"/>
                  </a:lnTo>
                  <a:lnTo>
                    <a:pt x="2253299" y="40150"/>
                  </a:lnTo>
                  <a:lnTo>
                    <a:pt x="2253299" y="200749"/>
                  </a:lnTo>
                  <a:lnTo>
                    <a:pt x="2250144" y="216377"/>
                  </a:lnTo>
                  <a:lnTo>
                    <a:pt x="2241540" y="229140"/>
                  </a:lnTo>
                  <a:lnTo>
                    <a:pt x="2228777" y="237744"/>
                  </a:lnTo>
                  <a:lnTo>
                    <a:pt x="2213149" y="240899"/>
                  </a:lnTo>
                  <a:lnTo>
                    <a:pt x="40150" y="240899"/>
                  </a:lnTo>
                  <a:lnTo>
                    <a:pt x="24522" y="237744"/>
                  </a:lnTo>
                  <a:lnTo>
                    <a:pt x="11759" y="229140"/>
                  </a:lnTo>
                  <a:lnTo>
                    <a:pt x="3155" y="216377"/>
                  </a:lnTo>
                  <a:lnTo>
                    <a:pt x="0" y="200749"/>
                  </a:lnTo>
                  <a:lnTo>
                    <a:pt x="0" y="40150"/>
                  </a:lnTo>
                  <a:close/>
                </a:path>
                <a:path w="4554220" h="1738629">
                  <a:moveTo>
                    <a:pt x="4385274" y="1050799"/>
                  </a:moveTo>
                  <a:lnTo>
                    <a:pt x="4418088" y="1057424"/>
                  </a:lnTo>
                  <a:lnTo>
                    <a:pt x="4444884" y="1075490"/>
                  </a:lnTo>
                  <a:lnTo>
                    <a:pt x="4462950" y="1102286"/>
                  </a:lnTo>
                  <a:lnTo>
                    <a:pt x="4469574" y="1135099"/>
                  </a:lnTo>
                  <a:lnTo>
                    <a:pt x="4469574" y="1339380"/>
                  </a:lnTo>
                  <a:lnTo>
                    <a:pt x="4476199" y="1372194"/>
                  </a:lnTo>
                  <a:lnTo>
                    <a:pt x="4494265" y="1398989"/>
                  </a:lnTo>
                  <a:lnTo>
                    <a:pt x="4521061" y="1417056"/>
                  </a:lnTo>
                  <a:lnTo>
                    <a:pt x="4553874" y="1423680"/>
                  </a:lnTo>
                  <a:lnTo>
                    <a:pt x="4521061" y="1430305"/>
                  </a:lnTo>
                  <a:lnTo>
                    <a:pt x="4494265" y="1448371"/>
                  </a:lnTo>
                  <a:lnTo>
                    <a:pt x="4476199" y="1475167"/>
                  </a:lnTo>
                  <a:lnTo>
                    <a:pt x="4469574" y="1507980"/>
                  </a:lnTo>
                  <a:lnTo>
                    <a:pt x="4469574" y="1653799"/>
                  </a:lnTo>
                  <a:lnTo>
                    <a:pt x="4462950" y="1686613"/>
                  </a:lnTo>
                  <a:lnTo>
                    <a:pt x="4444884" y="1713409"/>
                  </a:lnTo>
                  <a:lnTo>
                    <a:pt x="4418088" y="1731475"/>
                  </a:lnTo>
                  <a:lnTo>
                    <a:pt x="4385274" y="1738099"/>
                  </a:lnTo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9224" y="1931875"/>
              <a:ext cx="1132205" cy="241300"/>
            </a:xfrm>
            <a:custGeom>
              <a:avLst/>
              <a:gdLst/>
              <a:ahLst/>
              <a:cxnLst/>
              <a:rect l="l" t="t" r="r" b="b"/>
              <a:pathLst>
                <a:path w="1132205" h="241300">
                  <a:moveTo>
                    <a:pt x="1092049" y="240899"/>
                  </a:moveTo>
                  <a:lnTo>
                    <a:pt x="40150" y="240899"/>
                  </a:lnTo>
                  <a:lnTo>
                    <a:pt x="24522" y="237744"/>
                  </a:lnTo>
                  <a:lnTo>
                    <a:pt x="11759" y="229140"/>
                  </a:lnTo>
                  <a:lnTo>
                    <a:pt x="3155" y="216377"/>
                  </a:lnTo>
                  <a:lnTo>
                    <a:pt x="0" y="200749"/>
                  </a:lnTo>
                  <a:lnTo>
                    <a:pt x="0" y="40150"/>
                  </a:lnTo>
                  <a:lnTo>
                    <a:pt x="3155" y="24522"/>
                  </a:lnTo>
                  <a:lnTo>
                    <a:pt x="11759" y="11759"/>
                  </a:lnTo>
                  <a:lnTo>
                    <a:pt x="24522" y="3155"/>
                  </a:lnTo>
                  <a:lnTo>
                    <a:pt x="40150" y="0"/>
                  </a:lnTo>
                  <a:lnTo>
                    <a:pt x="1092049" y="0"/>
                  </a:lnTo>
                  <a:lnTo>
                    <a:pt x="1129143" y="24785"/>
                  </a:lnTo>
                  <a:lnTo>
                    <a:pt x="1132199" y="40150"/>
                  </a:lnTo>
                  <a:lnTo>
                    <a:pt x="1132199" y="200749"/>
                  </a:lnTo>
                  <a:lnTo>
                    <a:pt x="1129044" y="216377"/>
                  </a:lnTo>
                  <a:lnTo>
                    <a:pt x="1120440" y="229140"/>
                  </a:lnTo>
                  <a:lnTo>
                    <a:pt x="1107677" y="237744"/>
                  </a:lnTo>
                  <a:lnTo>
                    <a:pt x="1092049" y="2408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89224" y="1931875"/>
              <a:ext cx="1132205" cy="241300"/>
            </a:xfrm>
            <a:custGeom>
              <a:avLst/>
              <a:gdLst/>
              <a:ahLst/>
              <a:cxnLst/>
              <a:rect l="l" t="t" r="r" b="b"/>
              <a:pathLst>
                <a:path w="1132205" h="241300">
                  <a:moveTo>
                    <a:pt x="0" y="40150"/>
                  </a:moveTo>
                  <a:lnTo>
                    <a:pt x="3155" y="24522"/>
                  </a:lnTo>
                  <a:lnTo>
                    <a:pt x="11759" y="11759"/>
                  </a:lnTo>
                  <a:lnTo>
                    <a:pt x="24522" y="3155"/>
                  </a:lnTo>
                  <a:lnTo>
                    <a:pt x="40150" y="0"/>
                  </a:lnTo>
                  <a:lnTo>
                    <a:pt x="1092049" y="0"/>
                  </a:lnTo>
                  <a:lnTo>
                    <a:pt x="1129143" y="24785"/>
                  </a:lnTo>
                  <a:lnTo>
                    <a:pt x="1132199" y="40150"/>
                  </a:lnTo>
                  <a:lnTo>
                    <a:pt x="1132199" y="200749"/>
                  </a:lnTo>
                  <a:lnTo>
                    <a:pt x="1129044" y="216377"/>
                  </a:lnTo>
                  <a:lnTo>
                    <a:pt x="1120440" y="229140"/>
                  </a:lnTo>
                  <a:lnTo>
                    <a:pt x="1107677" y="237744"/>
                  </a:lnTo>
                  <a:lnTo>
                    <a:pt x="1092049" y="240899"/>
                  </a:lnTo>
                  <a:lnTo>
                    <a:pt x="40150" y="240899"/>
                  </a:lnTo>
                  <a:lnTo>
                    <a:pt x="24522" y="237744"/>
                  </a:lnTo>
                  <a:lnTo>
                    <a:pt x="11759" y="229140"/>
                  </a:lnTo>
                  <a:lnTo>
                    <a:pt x="3155" y="216377"/>
                  </a:lnTo>
                  <a:lnTo>
                    <a:pt x="0" y="200749"/>
                  </a:lnTo>
                  <a:lnTo>
                    <a:pt x="0" y="40150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56624" y="1116262"/>
            <a:ext cx="22021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0" dirty="0">
                <a:solidFill>
                  <a:srgbClr val="595959"/>
                </a:solidFill>
                <a:latin typeface="Times New Roman"/>
                <a:cs typeface="Times New Roman"/>
              </a:rPr>
              <a:t>Performance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125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T-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REx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92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990959" y="2621310"/>
            <a:ext cx="267779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50495" marR="5080" indent="-138430">
              <a:lnSpc>
                <a:spcPts val="1939"/>
              </a:lnSpc>
              <a:spcBef>
                <a:spcPts val="345"/>
              </a:spcBef>
            </a:pPr>
            <a:r>
              <a:rPr sz="1800" b="1" spc="-20" dirty="0">
                <a:solidFill>
                  <a:srgbClr val="3C78D8"/>
                </a:solidFill>
                <a:latin typeface="Book Antiqua"/>
                <a:cs typeface="Book Antiqua"/>
              </a:rPr>
              <a:t>The</a:t>
            </a:r>
            <a:r>
              <a:rPr sz="1800" b="1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Book Antiqua"/>
                <a:cs typeface="Book Antiqua"/>
              </a:rPr>
              <a:t>worst</a:t>
            </a:r>
            <a:r>
              <a:rPr sz="1800" b="1" spc="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800" b="1" dirty="0">
                <a:solidFill>
                  <a:srgbClr val="3C78D8"/>
                </a:solidFill>
                <a:latin typeface="Book Antiqua"/>
                <a:cs typeface="Book Antiqua"/>
              </a:rPr>
              <a:t>performers</a:t>
            </a:r>
            <a:r>
              <a:rPr sz="1800" b="1" spc="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800" b="1" spc="-25" dirty="0">
                <a:solidFill>
                  <a:srgbClr val="3C78D8"/>
                </a:solidFill>
                <a:latin typeface="Book Antiqua"/>
                <a:cs typeface="Book Antiqua"/>
              </a:rPr>
              <a:t>are </a:t>
            </a:r>
            <a:r>
              <a:rPr sz="1800" b="1" spc="-85" dirty="0">
                <a:solidFill>
                  <a:srgbClr val="3C78D8"/>
                </a:solidFill>
                <a:latin typeface="Book Antiqua"/>
                <a:cs typeface="Book Antiqua"/>
              </a:rPr>
              <a:t>ELMo</a:t>
            </a:r>
            <a:r>
              <a:rPr sz="1800" b="1" spc="-50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800" b="1" dirty="0">
                <a:solidFill>
                  <a:srgbClr val="3C78D8"/>
                </a:solidFill>
                <a:latin typeface="Book Antiqua"/>
                <a:cs typeface="Book Antiqua"/>
              </a:rPr>
              <a:t>and</a:t>
            </a:r>
            <a:r>
              <a:rPr sz="1800" b="1" spc="-60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Book Antiqua"/>
                <a:cs typeface="Book Antiqua"/>
              </a:rPr>
              <a:t>fairseq-</a:t>
            </a:r>
            <a:r>
              <a:rPr sz="1800" b="1" spc="-20" dirty="0">
                <a:solidFill>
                  <a:srgbClr val="3C78D8"/>
                </a:solidFill>
                <a:latin typeface="Book Antiqua"/>
                <a:cs typeface="Book Antiqua"/>
              </a:rPr>
              <a:t>conv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2910" y="67029"/>
            <a:ext cx="148844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63" y="507889"/>
            <a:ext cx="8441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mbria"/>
                <a:cs typeface="Cambria"/>
              </a:rPr>
              <a:t>Results</a:t>
            </a:r>
            <a:r>
              <a:rPr sz="2000" dirty="0"/>
              <a:t>:</a:t>
            </a:r>
            <a:r>
              <a:rPr sz="2000" spc="-25" dirty="0"/>
              <a:t> </a:t>
            </a:r>
            <a:r>
              <a:rPr sz="2000" spc="-75" dirty="0"/>
              <a:t>BERT</a:t>
            </a:r>
            <a:r>
              <a:rPr sz="2000" spc="-60" dirty="0"/>
              <a:t> </a:t>
            </a:r>
            <a:r>
              <a:rPr sz="2000" spc="110" dirty="0"/>
              <a:t>models</a:t>
            </a:r>
            <a:r>
              <a:rPr sz="2000" spc="-20" dirty="0"/>
              <a:t> </a:t>
            </a:r>
            <a:r>
              <a:rPr sz="2000" spc="130" dirty="0"/>
              <a:t>are</a:t>
            </a:r>
            <a:r>
              <a:rPr sz="2000" spc="-20" dirty="0"/>
              <a:t> </a:t>
            </a:r>
            <a:r>
              <a:rPr sz="2000" spc="80" dirty="0"/>
              <a:t>less</a:t>
            </a:r>
            <a:r>
              <a:rPr sz="2000" spc="-20" dirty="0"/>
              <a:t> </a:t>
            </a:r>
            <a:r>
              <a:rPr sz="2000" spc="80" dirty="0"/>
              <a:t>sensitive</a:t>
            </a:r>
            <a:r>
              <a:rPr sz="2000" spc="-20" dirty="0"/>
              <a:t> </a:t>
            </a:r>
            <a:r>
              <a:rPr sz="2000" spc="90" dirty="0"/>
              <a:t>to</a:t>
            </a:r>
            <a:r>
              <a:rPr sz="2000" spc="-25" dirty="0"/>
              <a:t> </a:t>
            </a:r>
            <a:r>
              <a:rPr sz="2000" spc="120" dirty="0"/>
              <a:t>query</a:t>
            </a:r>
            <a:r>
              <a:rPr sz="2000" spc="-20" dirty="0"/>
              <a:t> </a:t>
            </a:r>
            <a:r>
              <a:rPr sz="2000" spc="90" dirty="0"/>
              <a:t>variations</a:t>
            </a:r>
            <a:r>
              <a:rPr sz="2000" spc="-20" dirty="0"/>
              <a:t> </a:t>
            </a:r>
            <a:r>
              <a:rPr sz="2000" spc="150" dirty="0"/>
              <a:t>than</a:t>
            </a:r>
            <a:r>
              <a:rPr sz="2000" spc="-20" dirty="0"/>
              <a:t> </a:t>
            </a:r>
            <a:r>
              <a:rPr sz="2000" spc="130" dirty="0"/>
              <a:t>other</a:t>
            </a:r>
            <a:r>
              <a:rPr sz="2000" spc="-20" dirty="0"/>
              <a:t> </a:t>
            </a:r>
            <a:r>
              <a:rPr sz="2000" spc="-25" dirty="0"/>
              <a:t>LMs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3092" y="1298699"/>
            <a:ext cx="4972975" cy="32344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19486" y="1028025"/>
            <a:ext cx="42779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0" dirty="0">
                <a:solidFill>
                  <a:srgbClr val="595959"/>
                </a:solidFill>
                <a:latin typeface="Times New Roman"/>
                <a:cs typeface="Times New Roman"/>
              </a:rPr>
              <a:t>Rank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Distribution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Ground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85" dirty="0">
                <a:solidFill>
                  <a:srgbClr val="595959"/>
                </a:solidFill>
                <a:latin typeface="Times New Roman"/>
                <a:cs typeface="Times New Roman"/>
              </a:rPr>
              <a:t>Truth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125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T-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REx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41149" y="1419874"/>
            <a:ext cx="4043679" cy="3266440"/>
            <a:chOff x="2741149" y="1419874"/>
            <a:chExt cx="4043679" cy="3266440"/>
          </a:xfrm>
        </p:grpSpPr>
        <p:sp>
          <p:nvSpPr>
            <p:cNvPr id="6" name="object 6"/>
            <p:cNvSpPr/>
            <p:nvPr/>
          </p:nvSpPr>
          <p:spPr>
            <a:xfrm>
              <a:off x="2830924" y="4488674"/>
              <a:ext cx="2571750" cy="187960"/>
            </a:xfrm>
            <a:custGeom>
              <a:avLst/>
              <a:gdLst/>
              <a:ahLst/>
              <a:cxnLst/>
              <a:rect l="l" t="t" r="r" b="b"/>
              <a:pathLst>
                <a:path w="2571750" h="187960">
                  <a:moveTo>
                    <a:pt x="2571299" y="0"/>
                  </a:moveTo>
                  <a:lnTo>
                    <a:pt x="2563932" y="36491"/>
                  </a:lnTo>
                  <a:lnTo>
                    <a:pt x="2543841" y="66291"/>
                  </a:lnTo>
                  <a:lnTo>
                    <a:pt x="2514041" y="86382"/>
                  </a:lnTo>
                  <a:lnTo>
                    <a:pt x="2477549" y="93749"/>
                  </a:lnTo>
                  <a:lnTo>
                    <a:pt x="1379399" y="93749"/>
                  </a:lnTo>
                  <a:lnTo>
                    <a:pt x="1342908" y="101117"/>
                  </a:lnTo>
                  <a:lnTo>
                    <a:pt x="1313108" y="121208"/>
                  </a:lnTo>
                  <a:lnTo>
                    <a:pt x="1293017" y="151008"/>
                  </a:lnTo>
                  <a:lnTo>
                    <a:pt x="1285649" y="187499"/>
                  </a:lnTo>
                  <a:lnTo>
                    <a:pt x="1278282" y="151008"/>
                  </a:lnTo>
                  <a:lnTo>
                    <a:pt x="1258191" y="121208"/>
                  </a:lnTo>
                  <a:lnTo>
                    <a:pt x="1228391" y="101117"/>
                  </a:lnTo>
                  <a:lnTo>
                    <a:pt x="1191899" y="93749"/>
                  </a:lnTo>
                  <a:lnTo>
                    <a:pt x="93749" y="93749"/>
                  </a:lnTo>
                  <a:lnTo>
                    <a:pt x="57258" y="86382"/>
                  </a:lnTo>
                  <a:lnTo>
                    <a:pt x="27458" y="66291"/>
                  </a:lnTo>
                  <a:lnTo>
                    <a:pt x="7367" y="36491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48999" y="4488674"/>
              <a:ext cx="1026160" cy="187960"/>
            </a:xfrm>
            <a:custGeom>
              <a:avLst/>
              <a:gdLst/>
              <a:ahLst/>
              <a:cxnLst/>
              <a:rect l="l" t="t" r="r" b="b"/>
              <a:pathLst>
                <a:path w="1026159" h="187960">
                  <a:moveTo>
                    <a:pt x="1025999" y="0"/>
                  </a:moveTo>
                  <a:lnTo>
                    <a:pt x="1018632" y="36491"/>
                  </a:lnTo>
                  <a:lnTo>
                    <a:pt x="998541" y="66291"/>
                  </a:lnTo>
                  <a:lnTo>
                    <a:pt x="968741" y="86382"/>
                  </a:lnTo>
                  <a:lnTo>
                    <a:pt x="932249" y="93749"/>
                  </a:lnTo>
                  <a:lnTo>
                    <a:pt x="606749" y="93749"/>
                  </a:lnTo>
                  <a:lnTo>
                    <a:pt x="570258" y="101117"/>
                  </a:lnTo>
                  <a:lnTo>
                    <a:pt x="540458" y="121208"/>
                  </a:lnTo>
                  <a:lnTo>
                    <a:pt x="520367" y="151008"/>
                  </a:lnTo>
                  <a:lnTo>
                    <a:pt x="512999" y="187499"/>
                  </a:lnTo>
                  <a:lnTo>
                    <a:pt x="505632" y="151008"/>
                  </a:lnTo>
                  <a:lnTo>
                    <a:pt x="485541" y="121208"/>
                  </a:lnTo>
                  <a:lnTo>
                    <a:pt x="455741" y="101117"/>
                  </a:lnTo>
                  <a:lnTo>
                    <a:pt x="419249" y="93749"/>
                  </a:lnTo>
                  <a:lnTo>
                    <a:pt x="93749" y="93749"/>
                  </a:lnTo>
                  <a:lnTo>
                    <a:pt x="57258" y="86382"/>
                  </a:lnTo>
                  <a:lnTo>
                    <a:pt x="27458" y="66291"/>
                  </a:lnTo>
                  <a:lnTo>
                    <a:pt x="7367" y="36491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50674" y="1429399"/>
              <a:ext cx="1967230" cy="2896870"/>
            </a:xfrm>
            <a:custGeom>
              <a:avLst/>
              <a:gdLst/>
              <a:ahLst/>
              <a:cxnLst/>
              <a:rect l="l" t="t" r="r" b="b"/>
              <a:pathLst>
                <a:path w="1967229" h="2896870">
                  <a:moveTo>
                    <a:pt x="1901575" y="2896799"/>
                  </a:moveTo>
                  <a:lnTo>
                    <a:pt x="65523" y="2896799"/>
                  </a:lnTo>
                  <a:lnTo>
                    <a:pt x="40019" y="2891650"/>
                  </a:lnTo>
                  <a:lnTo>
                    <a:pt x="19191" y="2877608"/>
                  </a:lnTo>
                  <a:lnTo>
                    <a:pt x="5149" y="2856780"/>
                  </a:lnTo>
                  <a:lnTo>
                    <a:pt x="0" y="2831275"/>
                  </a:lnTo>
                  <a:lnTo>
                    <a:pt x="0" y="65524"/>
                  </a:lnTo>
                  <a:lnTo>
                    <a:pt x="5149" y="40019"/>
                  </a:lnTo>
                  <a:lnTo>
                    <a:pt x="19191" y="19191"/>
                  </a:lnTo>
                  <a:lnTo>
                    <a:pt x="40019" y="5149"/>
                  </a:lnTo>
                  <a:lnTo>
                    <a:pt x="65523" y="0"/>
                  </a:lnTo>
                  <a:lnTo>
                    <a:pt x="1901575" y="0"/>
                  </a:lnTo>
                  <a:lnTo>
                    <a:pt x="1947908" y="19191"/>
                  </a:lnTo>
                  <a:lnTo>
                    <a:pt x="1967099" y="65524"/>
                  </a:lnTo>
                  <a:lnTo>
                    <a:pt x="1967099" y="2831275"/>
                  </a:lnTo>
                  <a:lnTo>
                    <a:pt x="1961950" y="2856780"/>
                  </a:lnTo>
                  <a:lnTo>
                    <a:pt x="1947908" y="2877608"/>
                  </a:lnTo>
                  <a:lnTo>
                    <a:pt x="1927080" y="2891650"/>
                  </a:lnTo>
                  <a:lnTo>
                    <a:pt x="1901575" y="28967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50674" y="1429399"/>
              <a:ext cx="1967230" cy="2896870"/>
            </a:xfrm>
            <a:custGeom>
              <a:avLst/>
              <a:gdLst/>
              <a:ahLst/>
              <a:cxnLst/>
              <a:rect l="l" t="t" r="r" b="b"/>
              <a:pathLst>
                <a:path w="1967229" h="2896870">
                  <a:moveTo>
                    <a:pt x="0" y="65524"/>
                  </a:moveTo>
                  <a:lnTo>
                    <a:pt x="5149" y="40019"/>
                  </a:lnTo>
                  <a:lnTo>
                    <a:pt x="19191" y="19191"/>
                  </a:lnTo>
                  <a:lnTo>
                    <a:pt x="40019" y="5149"/>
                  </a:lnTo>
                  <a:lnTo>
                    <a:pt x="65523" y="0"/>
                  </a:lnTo>
                  <a:lnTo>
                    <a:pt x="1901575" y="0"/>
                  </a:lnTo>
                  <a:lnTo>
                    <a:pt x="1947908" y="19191"/>
                  </a:lnTo>
                  <a:lnTo>
                    <a:pt x="1967099" y="65524"/>
                  </a:lnTo>
                  <a:lnTo>
                    <a:pt x="1967099" y="2831275"/>
                  </a:lnTo>
                  <a:lnTo>
                    <a:pt x="1961950" y="2856780"/>
                  </a:lnTo>
                  <a:lnTo>
                    <a:pt x="1947908" y="2877608"/>
                  </a:lnTo>
                  <a:lnTo>
                    <a:pt x="1927080" y="2891650"/>
                  </a:lnTo>
                  <a:lnTo>
                    <a:pt x="1901575" y="2896799"/>
                  </a:lnTo>
                  <a:lnTo>
                    <a:pt x="65523" y="2896799"/>
                  </a:lnTo>
                  <a:lnTo>
                    <a:pt x="40019" y="2891650"/>
                  </a:lnTo>
                  <a:lnTo>
                    <a:pt x="19191" y="2877608"/>
                  </a:lnTo>
                  <a:lnTo>
                    <a:pt x="5149" y="2856780"/>
                  </a:lnTo>
                  <a:lnTo>
                    <a:pt x="0" y="2831275"/>
                  </a:lnTo>
                  <a:lnTo>
                    <a:pt x="0" y="65524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46769" y="2420339"/>
            <a:ext cx="835660" cy="4889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192405">
              <a:lnSpc>
                <a:spcPts val="1730"/>
              </a:lnSpc>
              <a:spcBef>
                <a:spcPts val="315"/>
              </a:spcBef>
            </a:pPr>
            <a:r>
              <a:rPr sz="1600" b="1" spc="-20" dirty="0">
                <a:solidFill>
                  <a:srgbClr val="3C78D8"/>
                </a:solidFill>
                <a:latin typeface="Cambria"/>
                <a:cs typeface="Cambria"/>
              </a:rPr>
              <a:t>high </a:t>
            </a:r>
            <a:r>
              <a:rPr sz="1600" b="1" spc="-10" dirty="0">
                <a:solidFill>
                  <a:srgbClr val="3C78D8"/>
                </a:solidFill>
                <a:latin typeface="Cambria"/>
                <a:cs typeface="Cambria"/>
              </a:rPr>
              <a:t>variance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7546" y="4658577"/>
            <a:ext cx="21196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</a:pPr>
            <a:r>
              <a:rPr sz="1600" b="1" dirty="0">
                <a:solidFill>
                  <a:srgbClr val="3C78D8"/>
                </a:solidFill>
                <a:latin typeface="Cambria"/>
                <a:cs typeface="Cambria"/>
              </a:rPr>
              <a:t>Other</a:t>
            </a:r>
            <a:r>
              <a:rPr sz="1600" b="1" spc="-15" dirty="0">
                <a:solidFill>
                  <a:srgbClr val="3C78D8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3C78D8"/>
                </a:solidFill>
                <a:latin typeface="Cambria"/>
                <a:cs typeface="Cambria"/>
              </a:rPr>
              <a:t>Pre-</a:t>
            </a:r>
            <a:r>
              <a:rPr sz="1600" b="1" spc="-10" dirty="0">
                <a:solidFill>
                  <a:srgbClr val="3C78D8"/>
                </a:solidFill>
                <a:latin typeface="Cambria"/>
                <a:cs typeface="Cambria"/>
              </a:rPr>
              <a:t>trained </a:t>
            </a:r>
            <a:r>
              <a:rPr sz="1600" b="1" spc="-25" dirty="0">
                <a:solidFill>
                  <a:srgbClr val="3C78D8"/>
                </a:solidFill>
                <a:latin typeface="Cambria"/>
                <a:cs typeface="Cambria"/>
              </a:rPr>
              <a:t>LMs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2939" y="4658577"/>
            <a:ext cx="12592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</a:pPr>
            <a:r>
              <a:rPr sz="1600" b="1" dirty="0">
                <a:solidFill>
                  <a:srgbClr val="E69137"/>
                </a:solidFill>
                <a:latin typeface="Cambria"/>
                <a:cs typeface="Cambria"/>
              </a:rPr>
              <a:t>BERT</a:t>
            </a:r>
            <a:r>
              <a:rPr sz="1600" b="1" spc="-8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E69137"/>
                </a:solidFill>
                <a:latin typeface="Cambria"/>
                <a:cs typeface="Cambria"/>
              </a:rPr>
              <a:t>models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7582910" y="67029"/>
            <a:ext cx="148844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63" y="507889"/>
            <a:ext cx="8441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mbria"/>
                <a:cs typeface="Cambria"/>
              </a:rPr>
              <a:t>Results</a:t>
            </a:r>
            <a:r>
              <a:rPr sz="2000" dirty="0"/>
              <a:t>:</a:t>
            </a:r>
            <a:r>
              <a:rPr sz="2000" spc="-25" dirty="0"/>
              <a:t> </a:t>
            </a:r>
            <a:r>
              <a:rPr sz="2000" spc="-75" dirty="0"/>
              <a:t>BERT</a:t>
            </a:r>
            <a:r>
              <a:rPr sz="2000" spc="-60" dirty="0"/>
              <a:t> </a:t>
            </a:r>
            <a:r>
              <a:rPr sz="2000" spc="110" dirty="0"/>
              <a:t>models</a:t>
            </a:r>
            <a:r>
              <a:rPr sz="2000" spc="-20" dirty="0"/>
              <a:t> </a:t>
            </a:r>
            <a:r>
              <a:rPr sz="2000" spc="130" dirty="0"/>
              <a:t>are</a:t>
            </a:r>
            <a:r>
              <a:rPr sz="2000" spc="-20" dirty="0"/>
              <a:t> </a:t>
            </a:r>
            <a:r>
              <a:rPr sz="2000" spc="80" dirty="0"/>
              <a:t>less</a:t>
            </a:r>
            <a:r>
              <a:rPr sz="2000" spc="-20" dirty="0"/>
              <a:t> </a:t>
            </a:r>
            <a:r>
              <a:rPr sz="2000" spc="80" dirty="0"/>
              <a:t>sensitive</a:t>
            </a:r>
            <a:r>
              <a:rPr sz="2000" spc="-20" dirty="0"/>
              <a:t> </a:t>
            </a:r>
            <a:r>
              <a:rPr sz="2000" spc="90" dirty="0"/>
              <a:t>to</a:t>
            </a:r>
            <a:r>
              <a:rPr sz="2000" spc="-25" dirty="0"/>
              <a:t> </a:t>
            </a:r>
            <a:r>
              <a:rPr sz="2000" spc="120" dirty="0"/>
              <a:t>query</a:t>
            </a:r>
            <a:r>
              <a:rPr sz="2000" spc="-20" dirty="0"/>
              <a:t> </a:t>
            </a:r>
            <a:r>
              <a:rPr sz="2000" spc="90" dirty="0"/>
              <a:t>variations</a:t>
            </a:r>
            <a:r>
              <a:rPr sz="2000" spc="-20" dirty="0"/>
              <a:t> </a:t>
            </a:r>
            <a:r>
              <a:rPr sz="2000" spc="150" dirty="0"/>
              <a:t>than</a:t>
            </a:r>
            <a:r>
              <a:rPr sz="2000" spc="-20" dirty="0"/>
              <a:t> </a:t>
            </a:r>
            <a:r>
              <a:rPr sz="2000" spc="130" dirty="0"/>
              <a:t>other</a:t>
            </a:r>
            <a:r>
              <a:rPr sz="2000" spc="-20" dirty="0"/>
              <a:t> </a:t>
            </a:r>
            <a:r>
              <a:rPr sz="2000" spc="-25" dirty="0"/>
              <a:t>LMs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3092" y="1298699"/>
            <a:ext cx="4972975" cy="32344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19486" y="1028025"/>
            <a:ext cx="42779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0" dirty="0">
                <a:solidFill>
                  <a:srgbClr val="595959"/>
                </a:solidFill>
                <a:latin typeface="Times New Roman"/>
                <a:cs typeface="Times New Roman"/>
              </a:rPr>
              <a:t>Rank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Distribution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Ground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85" dirty="0">
                <a:solidFill>
                  <a:srgbClr val="595959"/>
                </a:solidFill>
                <a:latin typeface="Times New Roman"/>
                <a:cs typeface="Times New Roman"/>
              </a:rPr>
              <a:t>Truth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125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T-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REx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21400" y="1408762"/>
            <a:ext cx="4114800" cy="3277235"/>
            <a:chOff x="2821400" y="1408762"/>
            <a:chExt cx="4114800" cy="3277235"/>
          </a:xfrm>
        </p:grpSpPr>
        <p:sp>
          <p:nvSpPr>
            <p:cNvPr id="6" name="object 6"/>
            <p:cNvSpPr/>
            <p:nvPr/>
          </p:nvSpPr>
          <p:spPr>
            <a:xfrm>
              <a:off x="2830925" y="4488674"/>
              <a:ext cx="2571750" cy="187960"/>
            </a:xfrm>
            <a:custGeom>
              <a:avLst/>
              <a:gdLst/>
              <a:ahLst/>
              <a:cxnLst/>
              <a:rect l="l" t="t" r="r" b="b"/>
              <a:pathLst>
                <a:path w="2571750" h="187960">
                  <a:moveTo>
                    <a:pt x="2571299" y="0"/>
                  </a:moveTo>
                  <a:lnTo>
                    <a:pt x="2563932" y="36491"/>
                  </a:lnTo>
                  <a:lnTo>
                    <a:pt x="2543841" y="66291"/>
                  </a:lnTo>
                  <a:lnTo>
                    <a:pt x="2514041" y="86382"/>
                  </a:lnTo>
                  <a:lnTo>
                    <a:pt x="2477549" y="93749"/>
                  </a:lnTo>
                  <a:lnTo>
                    <a:pt x="1379399" y="93749"/>
                  </a:lnTo>
                  <a:lnTo>
                    <a:pt x="1342908" y="101117"/>
                  </a:lnTo>
                  <a:lnTo>
                    <a:pt x="1313108" y="121208"/>
                  </a:lnTo>
                  <a:lnTo>
                    <a:pt x="1293017" y="151008"/>
                  </a:lnTo>
                  <a:lnTo>
                    <a:pt x="1285649" y="187499"/>
                  </a:lnTo>
                  <a:lnTo>
                    <a:pt x="1278282" y="151008"/>
                  </a:lnTo>
                  <a:lnTo>
                    <a:pt x="1258191" y="121208"/>
                  </a:lnTo>
                  <a:lnTo>
                    <a:pt x="1228391" y="101117"/>
                  </a:lnTo>
                  <a:lnTo>
                    <a:pt x="1191899" y="93749"/>
                  </a:lnTo>
                  <a:lnTo>
                    <a:pt x="93749" y="93749"/>
                  </a:lnTo>
                  <a:lnTo>
                    <a:pt x="57258" y="86382"/>
                  </a:lnTo>
                  <a:lnTo>
                    <a:pt x="27458" y="66291"/>
                  </a:lnTo>
                  <a:lnTo>
                    <a:pt x="7367" y="36491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49000" y="4488674"/>
              <a:ext cx="1026160" cy="187960"/>
            </a:xfrm>
            <a:custGeom>
              <a:avLst/>
              <a:gdLst/>
              <a:ahLst/>
              <a:cxnLst/>
              <a:rect l="l" t="t" r="r" b="b"/>
              <a:pathLst>
                <a:path w="1026159" h="187960">
                  <a:moveTo>
                    <a:pt x="1025999" y="0"/>
                  </a:moveTo>
                  <a:lnTo>
                    <a:pt x="1018632" y="36491"/>
                  </a:lnTo>
                  <a:lnTo>
                    <a:pt x="998541" y="66291"/>
                  </a:lnTo>
                  <a:lnTo>
                    <a:pt x="968741" y="86382"/>
                  </a:lnTo>
                  <a:lnTo>
                    <a:pt x="932249" y="93749"/>
                  </a:lnTo>
                  <a:lnTo>
                    <a:pt x="606749" y="93749"/>
                  </a:lnTo>
                  <a:lnTo>
                    <a:pt x="570258" y="101117"/>
                  </a:lnTo>
                  <a:lnTo>
                    <a:pt x="540458" y="121208"/>
                  </a:lnTo>
                  <a:lnTo>
                    <a:pt x="520367" y="151008"/>
                  </a:lnTo>
                  <a:lnTo>
                    <a:pt x="512999" y="187499"/>
                  </a:lnTo>
                  <a:lnTo>
                    <a:pt x="505632" y="151008"/>
                  </a:lnTo>
                  <a:lnTo>
                    <a:pt x="485541" y="121208"/>
                  </a:lnTo>
                  <a:lnTo>
                    <a:pt x="455741" y="101117"/>
                  </a:lnTo>
                  <a:lnTo>
                    <a:pt x="419249" y="93749"/>
                  </a:lnTo>
                  <a:lnTo>
                    <a:pt x="93749" y="93749"/>
                  </a:lnTo>
                  <a:lnTo>
                    <a:pt x="57258" y="86382"/>
                  </a:lnTo>
                  <a:lnTo>
                    <a:pt x="27458" y="66291"/>
                  </a:lnTo>
                  <a:lnTo>
                    <a:pt x="7367" y="36491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34600" y="1418287"/>
              <a:ext cx="509905" cy="2896870"/>
            </a:xfrm>
            <a:custGeom>
              <a:avLst/>
              <a:gdLst/>
              <a:ahLst/>
              <a:cxnLst/>
              <a:rect l="l" t="t" r="r" b="b"/>
              <a:pathLst>
                <a:path w="509904" h="2896870">
                  <a:moveTo>
                    <a:pt x="501802" y="2896799"/>
                  </a:moveTo>
                  <a:lnTo>
                    <a:pt x="7596" y="2896799"/>
                  </a:lnTo>
                  <a:lnTo>
                    <a:pt x="0" y="2889202"/>
                  </a:lnTo>
                  <a:lnTo>
                    <a:pt x="0" y="16968"/>
                  </a:lnTo>
                  <a:lnTo>
                    <a:pt x="0" y="7596"/>
                  </a:lnTo>
                  <a:lnTo>
                    <a:pt x="7596" y="0"/>
                  </a:lnTo>
                  <a:lnTo>
                    <a:pt x="496931" y="0"/>
                  </a:lnTo>
                  <a:lnTo>
                    <a:pt x="501247" y="1787"/>
                  </a:lnTo>
                  <a:lnTo>
                    <a:pt x="507611" y="8151"/>
                  </a:lnTo>
                  <a:lnTo>
                    <a:pt x="509399" y="12467"/>
                  </a:lnTo>
                  <a:lnTo>
                    <a:pt x="509399" y="2889202"/>
                  </a:lnTo>
                  <a:lnTo>
                    <a:pt x="501802" y="28967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34600" y="1418287"/>
              <a:ext cx="509905" cy="2896870"/>
            </a:xfrm>
            <a:custGeom>
              <a:avLst/>
              <a:gdLst/>
              <a:ahLst/>
              <a:cxnLst/>
              <a:rect l="l" t="t" r="r" b="b"/>
              <a:pathLst>
                <a:path w="509904" h="2896870">
                  <a:moveTo>
                    <a:pt x="0" y="16968"/>
                  </a:moveTo>
                  <a:lnTo>
                    <a:pt x="0" y="7596"/>
                  </a:lnTo>
                  <a:lnTo>
                    <a:pt x="7596" y="0"/>
                  </a:lnTo>
                  <a:lnTo>
                    <a:pt x="16967" y="0"/>
                  </a:lnTo>
                  <a:lnTo>
                    <a:pt x="492431" y="0"/>
                  </a:lnTo>
                  <a:lnTo>
                    <a:pt x="496931" y="0"/>
                  </a:lnTo>
                  <a:lnTo>
                    <a:pt x="501247" y="1787"/>
                  </a:lnTo>
                  <a:lnTo>
                    <a:pt x="504429" y="4969"/>
                  </a:lnTo>
                  <a:lnTo>
                    <a:pt x="507611" y="8151"/>
                  </a:lnTo>
                  <a:lnTo>
                    <a:pt x="509399" y="12467"/>
                  </a:lnTo>
                  <a:lnTo>
                    <a:pt x="509399" y="16968"/>
                  </a:lnTo>
                  <a:lnTo>
                    <a:pt x="509399" y="2879831"/>
                  </a:lnTo>
                  <a:lnTo>
                    <a:pt x="509399" y="2889202"/>
                  </a:lnTo>
                  <a:lnTo>
                    <a:pt x="501802" y="2896799"/>
                  </a:lnTo>
                  <a:lnTo>
                    <a:pt x="492431" y="2896799"/>
                  </a:lnTo>
                  <a:lnTo>
                    <a:pt x="16967" y="2896799"/>
                  </a:lnTo>
                  <a:lnTo>
                    <a:pt x="7596" y="2896799"/>
                  </a:lnTo>
                  <a:lnTo>
                    <a:pt x="0" y="2889202"/>
                  </a:lnTo>
                  <a:lnTo>
                    <a:pt x="0" y="2879831"/>
                  </a:lnTo>
                  <a:lnTo>
                    <a:pt x="0" y="16968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59775" y="1418299"/>
              <a:ext cx="1267460" cy="2933065"/>
            </a:xfrm>
            <a:custGeom>
              <a:avLst/>
              <a:gdLst/>
              <a:ahLst/>
              <a:cxnLst/>
              <a:rect l="l" t="t" r="r" b="b"/>
              <a:pathLst>
                <a:path w="1267459" h="2933065">
                  <a:moveTo>
                    <a:pt x="1176734" y="2932799"/>
                  </a:moveTo>
                  <a:lnTo>
                    <a:pt x="90165" y="2932799"/>
                  </a:lnTo>
                  <a:lnTo>
                    <a:pt x="55068" y="2925714"/>
                  </a:lnTo>
                  <a:lnTo>
                    <a:pt x="26408" y="2906391"/>
                  </a:lnTo>
                  <a:lnTo>
                    <a:pt x="7085" y="2877731"/>
                  </a:lnTo>
                  <a:lnTo>
                    <a:pt x="0" y="2842634"/>
                  </a:lnTo>
                  <a:lnTo>
                    <a:pt x="0" y="90165"/>
                  </a:lnTo>
                  <a:lnTo>
                    <a:pt x="7085" y="55068"/>
                  </a:lnTo>
                  <a:lnTo>
                    <a:pt x="26408" y="26408"/>
                  </a:lnTo>
                  <a:lnTo>
                    <a:pt x="55068" y="7085"/>
                  </a:lnTo>
                  <a:lnTo>
                    <a:pt x="90165" y="0"/>
                  </a:lnTo>
                  <a:lnTo>
                    <a:pt x="1176734" y="0"/>
                  </a:lnTo>
                  <a:lnTo>
                    <a:pt x="1226758" y="15148"/>
                  </a:lnTo>
                  <a:lnTo>
                    <a:pt x="1260036" y="55660"/>
                  </a:lnTo>
                  <a:lnTo>
                    <a:pt x="1266899" y="90165"/>
                  </a:lnTo>
                  <a:lnTo>
                    <a:pt x="1266899" y="2842634"/>
                  </a:lnTo>
                  <a:lnTo>
                    <a:pt x="1259814" y="2877731"/>
                  </a:lnTo>
                  <a:lnTo>
                    <a:pt x="1240491" y="2906391"/>
                  </a:lnTo>
                  <a:lnTo>
                    <a:pt x="1211830" y="2925714"/>
                  </a:lnTo>
                  <a:lnTo>
                    <a:pt x="1176734" y="29327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59775" y="1418299"/>
              <a:ext cx="1267460" cy="2933065"/>
            </a:xfrm>
            <a:custGeom>
              <a:avLst/>
              <a:gdLst/>
              <a:ahLst/>
              <a:cxnLst/>
              <a:rect l="l" t="t" r="r" b="b"/>
              <a:pathLst>
                <a:path w="1267459" h="2933065">
                  <a:moveTo>
                    <a:pt x="0" y="90165"/>
                  </a:moveTo>
                  <a:lnTo>
                    <a:pt x="7085" y="55068"/>
                  </a:lnTo>
                  <a:lnTo>
                    <a:pt x="26408" y="26408"/>
                  </a:lnTo>
                  <a:lnTo>
                    <a:pt x="55068" y="7085"/>
                  </a:lnTo>
                  <a:lnTo>
                    <a:pt x="90165" y="0"/>
                  </a:lnTo>
                  <a:lnTo>
                    <a:pt x="1176734" y="0"/>
                  </a:lnTo>
                  <a:lnTo>
                    <a:pt x="1226758" y="15148"/>
                  </a:lnTo>
                  <a:lnTo>
                    <a:pt x="1260036" y="55660"/>
                  </a:lnTo>
                  <a:lnTo>
                    <a:pt x="1266899" y="90165"/>
                  </a:lnTo>
                  <a:lnTo>
                    <a:pt x="1266899" y="2842634"/>
                  </a:lnTo>
                  <a:lnTo>
                    <a:pt x="1259814" y="2877731"/>
                  </a:lnTo>
                  <a:lnTo>
                    <a:pt x="1240491" y="2906391"/>
                  </a:lnTo>
                  <a:lnTo>
                    <a:pt x="1211830" y="2925714"/>
                  </a:lnTo>
                  <a:lnTo>
                    <a:pt x="1176734" y="2932799"/>
                  </a:lnTo>
                  <a:lnTo>
                    <a:pt x="90165" y="2932799"/>
                  </a:lnTo>
                  <a:lnTo>
                    <a:pt x="55068" y="2925714"/>
                  </a:lnTo>
                  <a:lnTo>
                    <a:pt x="26408" y="2906391"/>
                  </a:lnTo>
                  <a:lnTo>
                    <a:pt x="7085" y="2877731"/>
                  </a:lnTo>
                  <a:lnTo>
                    <a:pt x="0" y="2842634"/>
                  </a:lnTo>
                  <a:lnTo>
                    <a:pt x="0" y="90165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90118" y="2420339"/>
            <a:ext cx="835660" cy="7086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065" marR="5080" algn="ctr">
              <a:lnSpc>
                <a:spcPts val="1730"/>
              </a:lnSpc>
              <a:spcBef>
                <a:spcPts val="315"/>
              </a:spcBef>
            </a:pPr>
            <a:r>
              <a:rPr sz="1600" b="1" spc="-20" dirty="0">
                <a:solidFill>
                  <a:srgbClr val="E69137"/>
                </a:solidFill>
                <a:latin typeface="Cambria"/>
                <a:cs typeface="Cambria"/>
              </a:rPr>
              <a:t>much </a:t>
            </a:r>
            <a:r>
              <a:rPr sz="1600" b="1" spc="-10" dirty="0">
                <a:solidFill>
                  <a:srgbClr val="E69137"/>
                </a:solidFill>
                <a:latin typeface="Cambria"/>
                <a:cs typeface="Cambria"/>
              </a:rPr>
              <a:t>lower variance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7546" y="4658577"/>
            <a:ext cx="21196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</a:pPr>
            <a:r>
              <a:rPr sz="1600" b="1" dirty="0">
                <a:solidFill>
                  <a:srgbClr val="3C78D8"/>
                </a:solidFill>
                <a:latin typeface="Cambria"/>
                <a:cs typeface="Cambria"/>
              </a:rPr>
              <a:t>Other</a:t>
            </a:r>
            <a:r>
              <a:rPr sz="1600" b="1" spc="-15" dirty="0">
                <a:solidFill>
                  <a:srgbClr val="3C78D8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3C78D8"/>
                </a:solidFill>
                <a:latin typeface="Cambria"/>
                <a:cs typeface="Cambria"/>
              </a:rPr>
              <a:t>Pre-</a:t>
            </a:r>
            <a:r>
              <a:rPr sz="1600" b="1" spc="-10" dirty="0">
                <a:solidFill>
                  <a:srgbClr val="3C78D8"/>
                </a:solidFill>
                <a:latin typeface="Cambria"/>
                <a:cs typeface="Cambria"/>
              </a:rPr>
              <a:t>trained </a:t>
            </a:r>
            <a:r>
              <a:rPr sz="1600" b="1" spc="-25" dirty="0">
                <a:solidFill>
                  <a:srgbClr val="3C78D8"/>
                </a:solidFill>
                <a:latin typeface="Cambria"/>
                <a:cs typeface="Cambria"/>
              </a:rPr>
              <a:t>LMs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2939" y="4658577"/>
            <a:ext cx="12592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</a:pPr>
            <a:r>
              <a:rPr sz="1600" b="1" dirty="0">
                <a:solidFill>
                  <a:srgbClr val="E69137"/>
                </a:solidFill>
                <a:latin typeface="Cambria"/>
                <a:cs typeface="Cambria"/>
              </a:rPr>
              <a:t>BERT</a:t>
            </a:r>
            <a:r>
              <a:rPr sz="1600" b="1" spc="-8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E69137"/>
                </a:solidFill>
                <a:latin typeface="Cambria"/>
                <a:cs typeface="Cambria"/>
              </a:rPr>
              <a:t>models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7582910" y="67029"/>
            <a:ext cx="148844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892" y="507915"/>
            <a:ext cx="8636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mbria"/>
                <a:cs typeface="Cambria"/>
              </a:rPr>
              <a:t>Results</a:t>
            </a:r>
            <a:r>
              <a:rPr sz="2000" dirty="0"/>
              <a:t>:</a:t>
            </a:r>
            <a:r>
              <a:rPr sz="2000" spc="-85" dirty="0"/>
              <a:t> </a:t>
            </a:r>
            <a:r>
              <a:rPr sz="2000" spc="105" dirty="0"/>
              <a:t>What</a:t>
            </a:r>
            <a:r>
              <a:rPr sz="2000" spc="-20" dirty="0"/>
              <a:t> </a:t>
            </a:r>
            <a:r>
              <a:rPr sz="2000" spc="95" dirty="0"/>
              <a:t>factors</a:t>
            </a:r>
            <a:r>
              <a:rPr sz="2000" spc="-20" dirty="0"/>
              <a:t> </a:t>
            </a:r>
            <a:r>
              <a:rPr sz="2000" spc="105" dirty="0"/>
              <a:t>correlate</a:t>
            </a:r>
            <a:r>
              <a:rPr sz="2000" spc="-20" dirty="0"/>
              <a:t> </a:t>
            </a:r>
            <a:r>
              <a:rPr sz="2000" spc="95" dirty="0"/>
              <a:t>with</a:t>
            </a:r>
            <a:r>
              <a:rPr sz="2000" spc="-20" dirty="0"/>
              <a:t> </a:t>
            </a:r>
            <a:r>
              <a:rPr sz="2000" spc="130" dirty="0"/>
              <a:t>better</a:t>
            </a:r>
            <a:r>
              <a:rPr sz="2000" spc="-20" dirty="0"/>
              <a:t> </a:t>
            </a:r>
            <a:r>
              <a:rPr sz="2000" spc="135" dirty="0"/>
              <a:t>performance</a:t>
            </a:r>
            <a:r>
              <a:rPr sz="2000" spc="-20" dirty="0"/>
              <a:t> </a:t>
            </a:r>
            <a:r>
              <a:rPr sz="2000" spc="90" dirty="0"/>
              <a:t>for</a:t>
            </a:r>
            <a:r>
              <a:rPr sz="2000" spc="-20" dirty="0"/>
              <a:t> </a:t>
            </a:r>
            <a:r>
              <a:rPr sz="2000" spc="-75" dirty="0"/>
              <a:t>BERT</a:t>
            </a:r>
            <a:r>
              <a:rPr sz="2000" spc="-60" dirty="0"/>
              <a:t> </a:t>
            </a:r>
            <a:r>
              <a:rPr sz="2000" spc="150" dirty="0"/>
              <a:t>on</a:t>
            </a:r>
            <a:r>
              <a:rPr sz="2000" spc="-55" dirty="0"/>
              <a:t> </a:t>
            </a:r>
            <a:r>
              <a:rPr sz="2000" spc="-70" dirty="0"/>
              <a:t>T-</a:t>
            </a:r>
            <a:r>
              <a:rPr sz="2000" spc="-20" dirty="0"/>
              <a:t>REx?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203" y="1645949"/>
            <a:ext cx="7772258" cy="9037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1412" y="1077865"/>
            <a:ext cx="428437" cy="21008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5556" y="1200950"/>
            <a:ext cx="483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595959"/>
                </a:solidFill>
                <a:latin typeface="Times New Roman"/>
                <a:cs typeface="Times New Roman"/>
              </a:rPr>
              <a:t>Pearson</a:t>
            </a:r>
            <a:r>
              <a:rPr sz="1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595959"/>
                </a:solidFill>
                <a:latin typeface="Times New Roman"/>
                <a:cs typeface="Times New Roman"/>
              </a:rPr>
              <a:t>Correlation</a:t>
            </a:r>
            <a:r>
              <a:rPr sz="14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Times New Roman"/>
                <a:cs typeface="Times New Roman"/>
              </a:rPr>
              <a:t>Coeﬃcients</a:t>
            </a:r>
            <a:r>
              <a:rPr sz="1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14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P@1</a:t>
            </a:r>
            <a:r>
              <a:rPr sz="1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595959"/>
                </a:solidFill>
                <a:latin typeface="Times New Roman"/>
                <a:cs typeface="Times New Roman"/>
              </a:rPr>
              <a:t>(BERT-</a:t>
            </a:r>
            <a:r>
              <a:rPr sz="1400" dirty="0">
                <a:solidFill>
                  <a:srgbClr val="595959"/>
                </a:solidFill>
                <a:latin typeface="Times New Roman"/>
                <a:cs typeface="Times New Roman"/>
              </a:rPr>
              <a:t>large,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595959"/>
                </a:solidFill>
                <a:latin typeface="Times New Roman"/>
                <a:cs typeface="Times New Roman"/>
              </a:rPr>
              <a:t>T-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REx)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191" y="2637663"/>
            <a:ext cx="94741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90" dirty="0">
                <a:solidFill>
                  <a:srgbClr val="595959"/>
                </a:solidFill>
                <a:latin typeface="Book Antiqua"/>
                <a:cs typeface="Book Antiqua"/>
              </a:rPr>
              <a:t>#</a:t>
            </a:r>
            <a:r>
              <a:rPr sz="1400" b="1" spc="-4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of</a:t>
            </a:r>
            <a:r>
              <a:rPr sz="1400" b="1" spc="-7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subject mentions </a:t>
            </a:r>
            <a:r>
              <a:rPr sz="1400" b="1" dirty="0">
                <a:solidFill>
                  <a:srgbClr val="595959"/>
                </a:solidFill>
                <a:latin typeface="Book Antiqua"/>
                <a:cs typeface="Book Antiqua"/>
              </a:rPr>
              <a:t>in</a:t>
            </a:r>
            <a:r>
              <a:rPr sz="1400" b="1" spc="-8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training corpus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7088" y="2637663"/>
            <a:ext cx="87820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90" dirty="0">
                <a:solidFill>
                  <a:srgbClr val="3C78D8"/>
                </a:solidFill>
                <a:latin typeface="Book Antiqua"/>
                <a:cs typeface="Book Antiqua"/>
              </a:rPr>
              <a:t>#</a:t>
            </a:r>
            <a:r>
              <a:rPr sz="1400" b="1" spc="-40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of</a:t>
            </a:r>
            <a:r>
              <a:rPr sz="1400" b="1" spc="-70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object mentions </a:t>
            </a:r>
            <a:r>
              <a:rPr sz="1400" b="1" dirty="0">
                <a:solidFill>
                  <a:srgbClr val="3C78D8"/>
                </a:solidFill>
                <a:latin typeface="Book Antiqua"/>
                <a:cs typeface="Book Antiqua"/>
              </a:rPr>
              <a:t>in</a:t>
            </a:r>
            <a:r>
              <a:rPr sz="1400" b="1" spc="-80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training corpus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8063" y="2637663"/>
            <a:ext cx="8686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logprob</a:t>
            </a:r>
            <a:r>
              <a:rPr sz="1400" b="1" spc="-7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25" dirty="0">
                <a:solidFill>
                  <a:srgbClr val="595959"/>
                </a:solidFill>
                <a:latin typeface="Book Antiqua"/>
                <a:cs typeface="Book Antiqua"/>
              </a:rPr>
              <a:t>of </a:t>
            </a:r>
            <a:r>
              <a:rPr sz="1400" b="1" spc="-20" dirty="0">
                <a:solidFill>
                  <a:srgbClr val="595959"/>
                </a:solidFill>
                <a:latin typeface="Book Antiqua"/>
                <a:cs typeface="Book Antiqua"/>
              </a:rPr>
              <a:t>ﬁrst </a:t>
            </a: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prediction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3289" y="2637663"/>
            <a:ext cx="9010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90" dirty="0">
                <a:solidFill>
                  <a:srgbClr val="595959"/>
                </a:solidFill>
                <a:latin typeface="Book Antiqua"/>
                <a:cs typeface="Book Antiqua"/>
              </a:rPr>
              <a:t>#</a:t>
            </a:r>
            <a:r>
              <a:rPr sz="1400" b="1" spc="-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20" dirty="0">
                <a:solidFill>
                  <a:srgbClr val="595959"/>
                </a:solidFill>
                <a:latin typeface="Book Antiqua"/>
                <a:cs typeface="Book Antiqua"/>
              </a:rPr>
              <a:t>tokens</a:t>
            </a:r>
            <a:r>
              <a:rPr sz="1400" b="1" spc="-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25" dirty="0">
                <a:solidFill>
                  <a:srgbClr val="595959"/>
                </a:solidFill>
                <a:latin typeface="Book Antiqua"/>
                <a:cs typeface="Book Antiqua"/>
              </a:rPr>
              <a:t>in </a:t>
            </a: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subject (standard tokenizer)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73707" y="2707738"/>
            <a:ext cx="91694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90" dirty="0">
                <a:solidFill>
                  <a:srgbClr val="595959"/>
                </a:solidFill>
                <a:latin typeface="Book Antiqua"/>
                <a:cs typeface="Book Antiqua"/>
              </a:rPr>
              <a:t>#</a:t>
            </a:r>
            <a:r>
              <a:rPr sz="1400" b="1" spc="-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20" dirty="0">
                <a:solidFill>
                  <a:srgbClr val="595959"/>
                </a:solidFill>
                <a:latin typeface="Book Antiqua"/>
                <a:cs typeface="Book Antiqua"/>
              </a:rPr>
              <a:t>tokens</a:t>
            </a:r>
            <a:r>
              <a:rPr sz="1400" b="1" spc="-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25" dirty="0">
                <a:solidFill>
                  <a:srgbClr val="595959"/>
                </a:solidFill>
                <a:latin typeface="Book Antiqua"/>
                <a:cs typeface="Book Antiqua"/>
              </a:rPr>
              <a:t>in </a:t>
            </a: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subject (BERT</a:t>
            </a:r>
            <a:endParaRPr sz="1400">
              <a:latin typeface="Book Antiqua"/>
              <a:cs typeface="Book Antiqua"/>
            </a:endParaRPr>
          </a:p>
          <a:p>
            <a:pPr marL="12065" marR="29209" algn="ctr">
              <a:lnSpc>
                <a:spcPct val="100000"/>
              </a:lnSpc>
            </a:pPr>
            <a:r>
              <a:rPr sz="1400" b="1" spc="-20" dirty="0">
                <a:solidFill>
                  <a:srgbClr val="595959"/>
                </a:solidFill>
                <a:latin typeface="Book Antiqua"/>
                <a:cs typeface="Book Antiqua"/>
              </a:rPr>
              <a:t>Wordpiece </a:t>
            </a: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tokenizer)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16108" y="2637663"/>
            <a:ext cx="114490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cosine similarity between </a:t>
            </a:r>
            <a:r>
              <a:rPr sz="1400" b="1" dirty="0">
                <a:solidFill>
                  <a:srgbClr val="595959"/>
                </a:solidFill>
                <a:latin typeface="Book Antiqua"/>
                <a:cs typeface="Book Antiqua"/>
              </a:rPr>
              <a:t>subject</a:t>
            </a:r>
            <a:r>
              <a:rPr sz="1400" b="1" spc="-8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50" dirty="0">
                <a:solidFill>
                  <a:srgbClr val="595959"/>
                </a:solidFill>
                <a:latin typeface="Book Antiqua"/>
                <a:cs typeface="Book Antiqua"/>
              </a:rPr>
              <a:t>+ </a:t>
            </a:r>
            <a:r>
              <a:rPr sz="1400" b="1" dirty="0">
                <a:solidFill>
                  <a:srgbClr val="595959"/>
                </a:solidFill>
                <a:latin typeface="Book Antiqua"/>
                <a:cs typeface="Book Antiqua"/>
              </a:rPr>
              <a:t>object</a:t>
            </a:r>
            <a:r>
              <a:rPr sz="1400" b="1" spc="-5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Book Antiqua"/>
                <a:cs typeface="Book Antiqua"/>
              </a:rPr>
              <a:t>vectors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95624" y="1549999"/>
            <a:ext cx="1222375" cy="2456815"/>
          </a:xfrm>
          <a:custGeom>
            <a:avLst/>
            <a:gdLst/>
            <a:ahLst/>
            <a:cxnLst/>
            <a:rect l="l" t="t" r="r" b="b"/>
            <a:pathLst>
              <a:path w="1222375" h="2456815">
                <a:moveTo>
                  <a:pt x="0" y="76930"/>
                </a:moveTo>
                <a:lnTo>
                  <a:pt x="6045" y="46985"/>
                </a:lnTo>
                <a:lnTo>
                  <a:pt x="22532" y="22532"/>
                </a:lnTo>
                <a:lnTo>
                  <a:pt x="46985" y="6045"/>
                </a:lnTo>
                <a:lnTo>
                  <a:pt x="76930" y="0"/>
                </a:lnTo>
                <a:lnTo>
                  <a:pt x="1144969" y="0"/>
                </a:lnTo>
                <a:lnTo>
                  <a:pt x="1187650" y="12925"/>
                </a:lnTo>
                <a:lnTo>
                  <a:pt x="1216044" y="47490"/>
                </a:lnTo>
                <a:lnTo>
                  <a:pt x="1221899" y="76930"/>
                </a:lnTo>
                <a:lnTo>
                  <a:pt x="1221899" y="2379769"/>
                </a:lnTo>
                <a:lnTo>
                  <a:pt x="1215854" y="2409714"/>
                </a:lnTo>
                <a:lnTo>
                  <a:pt x="1199367" y="2434167"/>
                </a:lnTo>
                <a:lnTo>
                  <a:pt x="1174914" y="2450654"/>
                </a:lnTo>
                <a:lnTo>
                  <a:pt x="1144969" y="2456699"/>
                </a:lnTo>
                <a:lnTo>
                  <a:pt x="76930" y="2456699"/>
                </a:lnTo>
                <a:lnTo>
                  <a:pt x="46985" y="2450654"/>
                </a:lnTo>
                <a:lnTo>
                  <a:pt x="22532" y="2434167"/>
                </a:lnTo>
                <a:lnTo>
                  <a:pt x="6045" y="2409714"/>
                </a:lnTo>
                <a:lnTo>
                  <a:pt x="0" y="2379769"/>
                </a:lnTo>
                <a:lnTo>
                  <a:pt x="0" y="76930"/>
                </a:lnTo>
                <a:close/>
              </a:path>
            </a:pathLst>
          </a:custGeom>
          <a:ln w="28574">
            <a:solidFill>
              <a:srgbClr val="3C7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82910" y="67029"/>
            <a:ext cx="148844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9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Petroni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et</a:t>
            </a:r>
            <a:r>
              <a:rPr sz="850" i="1" u="sng" spc="9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al.,</a:t>
            </a:r>
            <a:r>
              <a:rPr sz="850" i="1" u="sng" spc="10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</a:rPr>
              <a:t>2019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3629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2252" y="1215847"/>
            <a:ext cx="7882255" cy="2341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marR="754380" indent="-37465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86715" algn="l"/>
                <a:tab pos="387350" algn="l"/>
              </a:tabLst>
            </a:pPr>
            <a:r>
              <a:rPr sz="1900" b="1" spc="-120" dirty="0">
                <a:latin typeface="Book Antiqua"/>
                <a:cs typeface="Book Antiqua"/>
              </a:rPr>
              <a:t>BERT-</a:t>
            </a:r>
            <a:r>
              <a:rPr sz="1900" b="1" dirty="0">
                <a:latin typeface="Book Antiqua"/>
                <a:cs typeface="Book Antiqua"/>
              </a:rPr>
              <a:t>large</a:t>
            </a:r>
            <a:r>
              <a:rPr sz="1900" b="1" spc="1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recalls</a:t>
            </a:r>
            <a:r>
              <a:rPr sz="1900" b="1" spc="15" dirty="0">
                <a:latin typeface="Book Antiqua"/>
                <a:cs typeface="Book Antiqua"/>
              </a:rPr>
              <a:t> </a:t>
            </a:r>
            <a:r>
              <a:rPr sz="1900" b="1" spc="-45" dirty="0">
                <a:latin typeface="Book Antiqua"/>
                <a:cs typeface="Book Antiqua"/>
              </a:rPr>
              <a:t>knowledge</a:t>
            </a:r>
            <a:r>
              <a:rPr sz="1900" b="1" spc="1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better</a:t>
            </a:r>
            <a:r>
              <a:rPr sz="1900" b="1" spc="1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than</a:t>
            </a:r>
            <a:r>
              <a:rPr sz="1900" b="1" spc="20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its</a:t>
            </a:r>
            <a:r>
              <a:rPr sz="1900" b="1" spc="1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competitors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spc="114" dirty="0">
                <a:latin typeface="Times New Roman"/>
                <a:cs typeface="Times New Roman"/>
              </a:rPr>
              <a:t>and </a:t>
            </a:r>
            <a:r>
              <a:rPr sz="1900" spc="70" dirty="0">
                <a:latin typeface="Times New Roman"/>
                <a:cs typeface="Times New Roman"/>
              </a:rPr>
              <a:t>competitively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with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135" dirty="0">
                <a:latin typeface="Times New Roman"/>
                <a:cs typeface="Times New Roman"/>
              </a:rPr>
              <a:t>non-</a:t>
            </a:r>
            <a:r>
              <a:rPr sz="1900" spc="100" dirty="0">
                <a:latin typeface="Times New Roman"/>
                <a:cs typeface="Times New Roman"/>
              </a:rPr>
              <a:t>neural/supervised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Times New Roman"/>
                <a:cs typeface="Times New Roman"/>
              </a:rPr>
              <a:t>alternatives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●"/>
            </a:pPr>
            <a:endParaRPr sz="1950">
              <a:latin typeface="Times New Roman"/>
              <a:cs typeface="Times New Roman"/>
            </a:endParaRPr>
          </a:p>
          <a:p>
            <a:pPr marL="386715" marR="40640" indent="-374650">
              <a:lnSpc>
                <a:spcPct val="100000"/>
              </a:lnSpc>
              <a:buFont typeface="Arial"/>
              <a:buChar char="●"/>
              <a:tabLst>
                <a:tab pos="386715" algn="l"/>
                <a:tab pos="387350" algn="l"/>
              </a:tabLst>
            </a:pPr>
            <a:r>
              <a:rPr sz="1900" b="1" spc="-120" dirty="0">
                <a:latin typeface="Book Antiqua"/>
                <a:cs typeface="Book Antiqua"/>
              </a:rPr>
              <a:t>BERT-</a:t>
            </a:r>
            <a:r>
              <a:rPr sz="1900" b="1" dirty="0">
                <a:latin typeface="Book Antiqua"/>
                <a:cs typeface="Book Antiqua"/>
              </a:rPr>
              <a:t>large</a:t>
            </a:r>
            <a:r>
              <a:rPr sz="1900" b="1" spc="-5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is</a:t>
            </a:r>
            <a:r>
              <a:rPr sz="1900" b="1" spc="-50" dirty="0">
                <a:latin typeface="Book Antiqua"/>
                <a:cs typeface="Book Antiqua"/>
              </a:rPr>
              <a:t> </a:t>
            </a:r>
            <a:r>
              <a:rPr sz="1900" b="1" spc="-10" dirty="0">
                <a:latin typeface="Book Antiqua"/>
                <a:cs typeface="Book Antiqua"/>
              </a:rPr>
              <a:t>competitive</a:t>
            </a:r>
            <a:r>
              <a:rPr sz="1900" b="1" spc="-55" dirty="0">
                <a:latin typeface="Book Antiqua"/>
                <a:cs typeface="Book Antiqua"/>
              </a:rPr>
              <a:t> </a:t>
            </a:r>
            <a:r>
              <a:rPr sz="1900" b="1" spc="-40" dirty="0">
                <a:latin typeface="Book Antiqua"/>
                <a:cs typeface="Book Antiqua"/>
              </a:rPr>
              <a:t>with</a:t>
            </a:r>
            <a:r>
              <a:rPr sz="1900" b="1" spc="-50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a</a:t>
            </a:r>
            <a:r>
              <a:rPr sz="1900" b="1" spc="-50" dirty="0">
                <a:latin typeface="Book Antiqua"/>
                <a:cs typeface="Book Antiqua"/>
              </a:rPr>
              <a:t> </a:t>
            </a:r>
            <a:r>
              <a:rPr sz="1900" b="1" spc="-80" dirty="0">
                <a:latin typeface="Book Antiqua"/>
                <a:cs typeface="Book Antiqua"/>
              </a:rPr>
              <a:t>RE</a:t>
            </a:r>
            <a:r>
              <a:rPr sz="1900" b="1" spc="-50" dirty="0">
                <a:latin typeface="Book Antiqua"/>
                <a:cs typeface="Book Antiqua"/>
              </a:rPr>
              <a:t> </a:t>
            </a:r>
            <a:r>
              <a:rPr sz="1900" b="1" spc="-45" dirty="0">
                <a:latin typeface="Book Antiqua"/>
                <a:cs typeface="Book Antiqua"/>
              </a:rPr>
              <a:t>knowledge</a:t>
            </a:r>
            <a:r>
              <a:rPr sz="1900" b="1" spc="-5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base</a:t>
            </a:r>
            <a:r>
              <a:rPr sz="1900" b="1" spc="-40" dirty="0">
                <a:latin typeface="Book Antiqua"/>
                <a:cs typeface="Book Antiqua"/>
              </a:rPr>
              <a:t> </a:t>
            </a:r>
            <a:r>
              <a:rPr sz="1900" spc="120" dirty="0">
                <a:latin typeface="Times New Roman"/>
                <a:cs typeface="Times New Roman"/>
              </a:rPr>
              <a:t>that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was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105" dirty="0">
                <a:latin typeface="Times New Roman"/>
                <a:cs typeface="Times New Roman"/>
              </a:rPr>
              <a:t>trained </a:t>
            </a:r>
            <a:r>
              <a:rPr sz="1900" spc="140" dirty="0">
                <a:latin typeface="Times New Roman"/>
                <a:cs typeface="Times New Roman"/>
              </a:rPr>
              <a:t>on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13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“best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Times New Roman"/>
                <a:cs typeface="Times New Roman"/>
              </a:rPr>
              <a:t>possible”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105" dirty="0">
                <a:latin typeface="Times New Roman"/>
                <a:cs typeface="Times New Roman"/>
              </a:rPr>
              <a:t>data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Book Antiqua"/>
                <a:cs typeface="Book Antiqua"/>
              </a:rPr>
              <a:t>and</a:t>
            </a:r>
            <a:r>
              <a:rPr sz="1900" i="1" spc="-20" dirty="0">
                <a:latin typeface="Book Antiqua"/>
                <a:cs typeface="Book Antiqua"/>
              </a:rPr>
              <a:t> </a:t>
            </a:r>
            <a:r>
              <a:rPr sz="1900" spc="120" dirty="0">
                <a:latin typeface="Times New Roman"/>
                <a:cs typeface="Times New Roman"/>
              </a:rPr>
              <a:t>used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13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80" dirty="0">
                <a:latin typeface="Times New Roman"/>
                <a:cs typeface="Times New Roman"/>
              </a:rPr>
              <a:t>entity-</a:t>
            </a:r>
            <a:r>
              <a:rPr sz="1900" spc="65" dirty="0">
                <a:latin typeface="Times New Roman"/>
                <a:cs typeface="Times New Roman"/>
              </a:rPr>
              <a:t>linking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80" dirty="0">
                <a:latin typeface="Times New Roman"/>
                <a:cs typeface="Times New Roman"/>
              </a:rPr>
              <a:t>oracle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●"/>
            </a:pPr>
            <a:endParaRPr sz="1950">
              <a:latin typeface="Times New Roman"/>
              <a:cs typeface="Times New Roman"/>
            </a:endParaRPr>
          </a:p>
          <a:p>
            <a:pPr marL="386715" marR="5080" indent="-374650">
              <a:lnSpc>
                <a:spcPct val="100000"/>
              </a:lnSpc>
              <a:buFont typeface="Arial"/>
              <a:buChar char="●"/>
              <a:tabLst>
                <a:tab pos="386715" algn="l"/>
                <a:tab pos="387350" algn="l"/>
              </a:tabLst>
            </a:pPr>
            <a:r>
              <a:rPr sz="1900" spc="65" dirty="0">
                <a:latin typeface="Times New Roman"/>
                <a:cs typeface="Times New Roman"/>
              </a:rPr>
              <a:t>Dealing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with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95" dirty="0">
                <a:latin typeface="Times New Roman"/>
                <a:cs typeface="Times New Roman"/>
              </a:rPr>
              <a:t>variance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114" dirty="0">
                <a:latin typeface="Times New Roman"/>
                <a:cs typeface="Times New Roman"/>
              </a:rPr>
              <a:t>in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130" dirty="0">
                <a:latin typeface="Times New Roman"/>
                <a:cs typeface="Times New Roman"/>
              </a:rPr>
              <a:t>performance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114" dirty="0">
                <a:latin typeface="Times New Roman"/>
                <a:cs typeface="Times New Roman"/>
              </a:rPr>
              <a:t>in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114" dirty="0">
                <a:latin typeface="Times New Roman"/>
                <a:cs typeface="Times New Roman"/>
              </a:rPr>
              <a:t>response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110" dirty="0">
                <a:latin typeface="Times New Roman"/>
                <a:cs typeface="Times New Roman"/>
              </a:rPr>
              <a:t>diﬀerent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110" dirty="0">
                <a:latin typeface="Times New Roman"/>
                <a:cs typeface="Times New Roman"/>
              </a:rPr>
              <a:t>natural </a:t>
            </a:r>
            <a:r>
              <a:rPr sz="1900" spc="90" dirty="0">
                <a:latin typeface="Times New Roman"/>
                <a:cs typeface="Times New Roman"/>
              </a:rPr>
              <a:t>language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105" dirty="0">
                <a:latin typeface="Times New Roman"/>
                <a:cs typeface="Times New Roman"/>
              </a:rPr>
              <a:t>templates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55" dirty="0">
                <a:latin typeface="Times New Roman"/>
                <a:cs typeface="Times New Roman"/>
              </a:rPr>
              <a:t>is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114" dirty="0">
                <a:latin typeface="Times New Roman"/>
                <a:cs typeface="Times New Roman"/>
              </a:rPr>
              <a:t>a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Times New Roman"/>
                <a:cs typeface="Times New Roman"/>
              </a:rPr>
              <a:t>challenge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81375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Question</a:t>
            </a:r>
            <a:r>
              <a:rPr spc="-2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69" y="1178002"/>
            <a:ext cx="7762875" cy="300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7790">
              <a:lnSpc>
                <a:spcPct val="114999"/>
              </a:lnSpc>
              <a:spcBef>
                <a:spcPts val="100"/>
              </a:spcBef>
            </a:pPr>
            <a:r>
              <a:rPr sz="1700" b="1" dirty="0">
                <a:latin typeface="Cambria"/>
                <a:cs typeface="Cambria"/>
              </a:rPr>
              <a:t>Describe</a:t>
            </a:r>
            <a:r>
              <a:rPr sz="1700" b="1" spc="-10" dirty="0">
                <a:latin typeface="Cambria"/>
                <a:cs typeface="Cambria"/>
              </a:rPr>
              <a:t> what </a:t>
            </a:r>
            <a:r>
              <a:rPr sz="1700" b="1" dirty="0">
                <a:latin typeface="Cambria"/>
                <a:cs typeface="Cambria"/>
              </a:rPr>
              <a:t>the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LAMA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Probe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is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(Petroni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et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spc="55" dirty="0">
                <a:latin typeface="Cambria"/>
                <a:cs typeface="Cambria"/>
              </a:rPr>
              <a:t>al.,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spc="-90" dirty="0">
                <a:latin typeface="Cambria"/>
                <a:cs typeface="Cambria"/>
              </a:rPr>
              <a:t>2019)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-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How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do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they</a:t>
            </a:r>
            <a:r>
              <a:rPr sz="1700" b="1" spc="-10" dirty="0">
                <a:latin typeface="Cambria"/>
                <a:cs typeface="Cambria"/>
              </a:rPr>
              <a:t> probe </a:t>
            </a:r>
            <a:r>
              <a:rPr sz="1700" b="1" dirty="0">
                <a:latin typeface="Cambria"/>
                <a:cs typeface="Cambria"/>
              </a:rPr>
              <a:t>diﬀerent</a:t>
            </a:r>
            <a:r>
              <a:rPr sz="1700" b="1" spc="-10" dirty="0">
                <a:latin typeface="Cambria"/>
                <a:cs typeface="Cambria"/>
              </a:rPr>
              <a:t> knowledge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sources</a:t>
            </a:r>
            <a:r>
              <a:rPr sz="1700" b="1" spc="-10" dirty="0">
                <a:latin typeface="Cambria"/>
                <a:cs typeface="Cambria"/>
              </a:rPr>
              <a:t> (Wikidata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triples,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ConceptNet,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QA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pairs)?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-12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collection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sources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either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relation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extraction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QA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70" dirty="0">
                <a:latin typeface="Times New Roman"/>
                <a:cs typeface="Times New Roman"/>
              </a:rPr>
              <a:t>Convert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facts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cloze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statements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(either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manually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using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templates)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Ask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rank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candidate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vocabulary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see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ground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truth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top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Book Antiqua"/>
                <a:cs typeface="Book Antiqua"/>
              </a:rPr>
              <a:t>k</a:t>
            </a:r>
            <a:r>
              <a:rPr sz="1700" i="1" spc="-20" dirty="0">
                <a:latin typeface="Book Antiqua"/>
                <a:cs typeface="Book Antiqua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rank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●"/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Can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you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think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any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drawbacks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the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probes?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65" dirty="0">
                <a:latin typeface="Times New Roman"/>
                <a:cs typeface="Times New Roman"/>
              </a:rPr>
              <a:t>Answers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must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be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single-</a:t>
            </a:r>
            <a:r>
              <a:rPr sz="1700" spc="70" dirty="0">
                <a:latin typeface="Times New Roman"/>
                <a:cs typeface="Times New Roman"/>
              </a:rPr>
              <a:t>token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Relies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manual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templates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75" dirty="0">
                <a:latin typeface="Times New Roman"/>
                <a:cs typeface="Times New Roman"/>
              </a:rPr>
              <a:t>Questions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constrained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very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speciﬁc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simple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types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questions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67437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Is</a:t>
            </a:r>
            <a:r>
              <a:rPr spc="-35" dirty="0"/>
              <a:t> </a:t>
            </a:r>
            <a:r>
              <a:rPr spc="170" dirty="0"/>
              <a:t>there</a:t>
            </a:r>
            <a:r>
              <a:rPr spc="-35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60" dirty="0"/>
              <a:t>better</a:t>
            </a:r>
            <a:r>
              <a:rPr spc="-35" dirty="0"/>
              <a:t> </a:t>
            </a:r>
            <a:r>
              <a:rPr spc="125" dirty="0"/>
              <a:t>alternative</a:t>
            </a:r>
            <a:r>
              <a:rPr spc="-35" dirty="0"/>
              <a:t> </a:t>
            </a:r>
            <a:r>
              <a:rPr spc="114" dirty="0"/>
              <a:t>to</a:t>
            </a:r>
            <a:r>
              <a:rPr spc="-30" dirty="0"/>
              <a:t> </a:t>
            </a:r>
            <a:r>
              <a:rPr spc="180" dirty="0"/>
              <a:t>manual</a:t>
            </a:r>
            <a:r>
              <a:rPr spc="-35" dirty="0"/>
              <a:t> </a:t>
            </a:r>
            <a:r>
              <a:rPr spc="105" dirty="0"/>
              <a:t>templates?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10895" y="67029"/>
            <a:ext cx="136080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8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8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Shin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et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al.,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67437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Is</a:t>
            </a:r>
            <a:r>
              <a:rPr spc="-35" dirty="0"/>
              <a:t> </a:t>
            </a:r>
            <a:r>
              <a:rPr spc="170" dirty="0"/>
              <a:t>there</a:t>
            </a:r>
            <a:r>
              <a:rPr spc="-35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60" dirty="0"/>
              <a:t>better</a:t>
            </a:r>
            <a:r>
              <a:rPr spc="-35" dirty="0"/>
              <a:t> </a:t>
            </a:r>
            <a:r>
              <a:rPr spc="125" dirty="0"/>
              <a:t>alternative</a:t>
            </a:r>
            <a:r>
              <a:rPr spc="-35" dirty="0"/>
              <a:t> </a:t>
            </a:r>
            <a:r>
              <a:rPr spc="114" dirty="0"/>
              <a:t>to</a:t>
            </a:r>
            <a:r>
              <a:rPr spc="-30" dirty="0"/>
              <a:t> </a:t>
            </a:r>
            <a:r>
              <a:rPr spc="180" dirty="0"/>
              <a:t>manual</a:t>
            </a:r>
            <a:r>
              <a:rPr spc="-35" dirty="0"/>
              <a:t> </a:t>
            </a:r>
            <a:r>
              <a:rPr spc="105" dirty="0"/>
              <a:t>templates?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178002"/>
            <a:ext cx="7011034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Prompt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mining (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Jiang et</a:t>
            </a:r>
            <a:r>
              <a:rPr sz="1700" b="1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spc="5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al.,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spc="-7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2020</a:t>
            </a:r>
            <a:r>
              <a:rPr sz="1700" b="1" spc="-70" dirty="0">
                <a:latin typeface="Cambria"/>
                <a:cs typeface="Cambria"/>
              </a:rPr>
              <a:t>)</a:t>
            </a:r>
            <a:r>
              <a:rPr sz="1700" spc="-70" dirty="0">
                <a:latin typeface="Times New Roman"/>
                <a:cs typeface="Times New Roman"/>
              </a:rPr>
              <a:t>: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automated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prompt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extraction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via </a:t>
            </a:r>
            <a:r>
              <a:rPr sz="1700" spc="110" dirty="0">
                <a:latin typeface="Times New Roman"/>
                <a:cs typeface="Times New Roman"/>
              </a:rPr>
              <a:t>dependency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parsing,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simple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heuristics,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automated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paraphrasing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10895" y="67029"/>
            <a:ext cx="136080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8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8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Shin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et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al.,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67437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Is</a:t>
            </a:r>
            <a:r>
              <a:rPr spc="-35" dirty="0"/>
              <a:t> </a:t>
            </a:r>
            <a:r>
              <a:rPr spc="170" dirty="0"/>
              <a:t>there</a:t>
            </a:r>
            <a:r>
              <a:rPr spc="-35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60" dirty="0"/>
              <a:t>better</a:t>
            </a:r>
            <a:r>
              <a:rPr spc="-35" dirty="0"/>
              <a:t> </a:t>
            </a:r>
            <a:r>
              <a:rPr spc="125" dirty="0"/>
              <a:t>alternative</a:t>
            </a:r>
            <a:r>
              <a:rPr spc="-35" dirty="0"/>
              <a:t> </a:t>
            </a:r>
            <a:r>
              <a:rPr spc="114" dirty="0"/>
              <a:t>to</a:t>
            </a:r>
            <a:r>
              <a:rPr spc="-30" dirty="0"/>
              <a:t> </a:t>
            </a:r>
            <a:r>
              <a:rPr spc="180" dirty="0"/>
              <a:t>manual</a:t>
            </a:r>
            <a:r>
              <a:rPr spc="-35" dirty="0"/>
              <a:t> </a:t>
            </a:r>
            <a:r>
              <a:rPr spc="105" dirty="0"/>
              <a:t>templates?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178002"/>
            <a:ext cx="7901305" cy="151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895350" indent="-3594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Prompt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mining (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Jiang et</a:t>
            </a:r>
            <a:r>
              <a:rPr sz="1700" b="1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spc="5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al.,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spc="-7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2020</a:t>
            </a:r>
            <a:r>
              <a:rPr sz="1700" b="1" spc="-70" dirty="0">
                <a:latin typeface="Cambria"/>
                <a:cs typeface="Cambria"/>
              </a:rPr>
              <a:t>)</a:t>
            </a:r>
            <a:r>
              <a:rPr sz="1700" spc="-70" dirty="0">
                <a:latin typeface="Times New Roman"/>
                <a:cs typeface="Times New Roman"/>
              </a:rPr>
              <a:t>: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automated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prompt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extraction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via </a:t>
            </a:r>
            <a:r>
              <a:rPr sz="1700" spc="110" dirty="0">
                <a:latin typeface="Times New Roman"/>
                <a:cs typeface="Times New Roman"/>
              </a:rPr>
              <a:t>dependency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parsing,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simple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heuristics,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automated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paraphrasing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1475" marR="5080" indent="-359410">
              <a:lnSpc>
                <a:spcPct val="114999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10" dirty="0">
                <a:latin typeface="Cambria"/>
                <a:cs typeface="Cambria"/>
              </a:rPr>
              <a:t>AutoPrompt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Shin</a:t>
            </a:r>
            <a:r>
              <a:rPr sz="1700"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et</a:t>
            </a:r>
            <a:r>
              <a:rPr sz="1700"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 </a:t>
            </a:r>
            <a:r>
              <a:rPr sz="1700" b="1" u="heavy" spc="5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al.,</a:t>
            </a:r>
            <a:r>
              <a:rPr sz="1700" b="1" u="heavy" spc="-1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 </a:t>
            </a:r>
            <a:r>
              <a:rPr sz="1700" b="1" u="heavy" spc="-6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2020</a:t>
            </a:r>
            <a:r>
              <a:rPr sz="1700" b="1" spc="-65" dirty="0">
                <a:latin typeface="Cambria"/>
                <a:cs typeface="Cambria"/>
              </a:rPr>
              <a:t>):</a:t>
            </a:r>
            <a:r>
              <a:rPr sz="1700" b="1" spc="25" dirty="0">
                <a:latin typeface="Cambria"/>
                <a:cs typeface="Cambria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prompt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constructed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by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adding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tokens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found </a:t>
            </a:r>
            <a:r>
              <a:rPr sz="1700" dirty="0">
                <a:latin typeface="Times New Roman"/>
                <a:cs typeface="Times New Roman"/>
              </a:rPr>
              <a:t>via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gradient-</a:t>
            </a:r>
            <a:r>
              <a:rPr sz="1700" spc="75" dirty="0">
                <a:latin typeface="Times New Roman"/>
                <a:cs typeface="Times New Roman"/>
              </a:rPr>
              <a:t>guided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search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simple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prompt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6593" y="2929441"/>
            <a:ext cx="2007834" cy="18135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44763" y="3546087"/>
            <a:ext cx="4227530" cy="66469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280550" y="2943574"/>
            <a:ext cx="367030" cy="1766570"/>
          </a:xfrm>
          <a:custGeom>
            <a:avLst/>
            <a:gdLst/>
            <a:ahLst/>
            <a:cxnLst/>
            <a:rect l="l" t="t" r="r" b="b"/>
            <a:pathLst>
              <a:path w="367029" h="1766570">
                <a:moveTo>
                  <a:pt x="0" y="0"/>
                </a:moveTo>
                <a:lnTo>
                  <a:pt x="35956" y="3557"/>
                </a:lnTo>
                <a:lnTo>
                  <a:pt x="70203" y="13964"/>
                </a:lnTo>
                <a:lnTo>
                  <a:pt x="129718" y="53731"/>
                </a:lnTo>
                <a:lnTo>
                  <a:pt x="169485" y="113246"/>
                </a:lnTo>
                <a:lnTo>
                  <a:pt x="183449" y="183449"/>
                </a:lnTo>
                <a:lnTo>
                  <a:pt x="183449" y="713156"/>
                </a:lnTo>
                <a:lnTo>
                  <a:pt x="190003" y="761925"/>
                </a:lnTo>
                <a:lnTo>
                  <a:pt x="208496" y="805747"/>
                </a:lnTo>
                <a:lnTo>
                  <a:pt x="237181" y="842875"/>
                </a:lnTo>
                <a:lnTo>
                  <a:pt x="274309" y="871560"/>
                </a:lnTo>
                <a:lnTo>
                  <a:pt x="318131" y="890053"/>
                </a:lnTo>
                <a:lnTo>
                  <a:pt x="366899" y="896606"/>
                </a:lnTo>
                <a:lnTo>
                  <a:pt x="318131" y="903159"/>
                </a:lnTo>
                <a:lnTo>
                  <a:pt x="274309" y="921653"/>
                </a:lnTo>
                <a:lnTo>
                  <a:pt x="237181" y="950338"/>
                </a:lnTo>
                <a:lnTo>
                  <a:pt x="208496" y="987466"/>
                </a:lnTo>
                <a:lnTo>
                  <a:pt x="190003" y="1031288"/>
                </a:lnTo>
                <a:lnTo>
                  <a:pt x="183449" y="1080056"/>
                </a:lnTo>
                <a:lnTo>
                  <a:pt x="183449" y="1582949"/>
                </a:lnTo>
                <a:lnTo>
                  <a:pt x="176896" y="1631718"/>
                </a:lnTo>
                <a:lnTo>
                  <a:pt x="158403" y="1675540"/>
                </a:lnTo>
                <a:lnTo>
                  <a:pt x="129718" y="1712668"/>
                </a:lnTo>
                <a:lnTo>
                  <a:pt x="92590" y="1741353"/>
                </a:lnTo>
                <a:lnTo>
                  <a:pt x="48768" y="1759846"/>
                </a:lnTo>
                <a:lnTo>
                  <a:pt x="0" y="1766399"/>
                </a:lnTo>
              </a:path>
            </a:pathLst>
          </a:custGeom>
          <a:ln w="28574">
            <a:solidFill>
              <a:srgbClr val="3C7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10895" y="67029"/>
            <a:ext cx="136080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Figure</a:t>
            </a:r>
            <a:r>
              <a:rPr sz="850" i="1" spc="8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85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Shin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et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al.,</a:t>
            </a:r>
            <a:r>
              <a:rPr sz="850" i="1" u="sng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3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67437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Is</a:t>
            </a:r>
            <a:r>
              <a:rPr spc="-35" dirty="0"/>
              <a:t> </a:t>
            </a:r>
            <a:r>
              <a:rPr spc="170" dirty="0"/>
              <a:t>there</a:t>
            </a:r>
            <a:r>
              <a:rPr spc="-35" dirty="0"/>
              <a:t> </a:t>
            </a:r>
            <a:r>
              <a:rPr spc="155" dirty="0"/>
              <a:t>a</a:t>
            </a:r>
            <a:r>
              <a:rPr spc="-35" dirty="0"/>
              <a:t> </a:t>
            </a:r>
            <a:r>
              <a:rPr spc="160" dirty="0"/>
              <a:t>better</a:t>
            </a:r>
            <a:r>
              <a:rPr spc="-35" dirty="0"/>
              <a:t> </a:t>
            </a:r>
            <a:r>
              <a:rPr spc="125" dirty="0"/>
              <a:t>alternative</a:t>
            </a:r>
            <a:r>
              <a:rPr spc="-35" dirty="0"/>
              <a:t> </a:t>
            </a:r>
            <a:r>
              <a:rPr spc="114" dirty="0"/>
              <a:t>to</a:t>
            </a:r>
            <a:r>
              <a:rPr spc="-30" dirty="0"/>
              <a:t> </a:t>
            </a:r>
            <a:r>
              <a:rPr spc="180" dirty="0"/>
              <a:t>manual</a:t>
            </a:r>
            <a:r>
              <a:rPr spc="-35" dirty="0"/>
              <a:t> </a:t>
            </a:r>
            <a:r>
              <a:rPr spc="105" dirty="0"/>
              <a:t>templates?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178002"/>
            <a:ext cx="7901305" cy="266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899160" indent="-3594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Prompt</a:t>
            </a:r>
            <a:r>
              <a:rPr sz="1700" b="1" spc="-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mining (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Jiang et </a:t>
            </a:r>
            <a:r>
              <a:rPr sz="1700" b="1" u="heavy" spc="5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al.,</a:t>
            </a:r>
            <a:r>
              <a:rPr sz="1700" b="1" u="heavy" spc="-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1700" b="1" u="heavy" spc="-7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2"/>
              </a:rPr>
              <a:t>2020</a:t>
            </a:r>
            <a:r>
              <a:rPr sz="1700" b="1" spc="-70" dirty="0">
                <a:latin typeface="Cambria"/>
                <a:cs typeface="Cambria"/>
              </a:rPr>
              <a:t>):</a:t>
            </a:r>
            <a:r>
              <a:rPr sz="1700" b="1" dirty="0">
                <a:latin typeface="Cambria"/>
                <a:cs typeface="Cambria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automated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prompt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extraction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via </a:t>
            </a:r>
            <a:r>
              <a:rPr sz="1700" spc="110" dirty="0">
                <a:latin typeface="Times New Roman"/>
                <a:cs typeface="Times New Roman"/>
              </a:rPr>
              <a:t>dependency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parsing,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simple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heuristics,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automated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paraphrasing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1475" marR="5080" indent="-359410">
              <a:lnSpc>
                <a:spcPct val="114999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spc="-10" dirty="0">
                <a:latin typeface="Cambria"/>
                <a:cs typeface="Cambria"/>
              </a:rPr>
              <a:t>AutoPrompt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Shin</a:t>
            </a:r>
            <a:r>
              <a:rPr sz="1700"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et</a:t>
            </a:r>
            <a:r>
              <a:rPr sz="1700"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 </a:t>
            </a:r>
            <a:r>
              <a:rPr sz="1700" b="1" u="heavy" spc="5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al.,</a:t>
            </a:r>
            <a:r>
              <a:rPr sz="1700" b="1" u="heavy" spc="-1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 </a:t>
            </a:r>
            <a:r>
              <a:rPr sz="1700" b="1" u="heavy" spc="-6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3"/>
              </a:rPr>
              <a:t>2020</a:t>
            </a:r>
            <a:r>
              <a:rPr sz="1700" b="1" spc="-65" dirty="0">
                <a:latin typeface="Cambria"/>
                <a:cs typeface="Cambria"/>
              </a:rPr>
              <a:t>):</a:t>
            </a:r>
            <a:r>
              <a:rPr sz="1700" b="1" spc="25" dirty="0">
                <a:latin typeface="Cambria"/>
                <a:cs typeface="Cambria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prompt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constructed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by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adding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tokens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found </a:t>
            </a:r>
            <a:r>
              <a:rPr sz="1700" dirty="0">
                <a:latin typeface="Times New Roman"/>
                <a:cs typeface="Times New Roman"/>
              </a:rPr>
              <a:t>via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gradient-</a:t>
            </a:r>
            <a:r>
              <a:rPr sz="1700" spc="75" dirty="0">
                <a:latin typeface="Times New Roman"/>
                <a:cs typeface="Times New Roman"/>
              </a:rPr>
              <a:t>guided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search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simple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prompt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1475" marR="504190" indent="-359410">
              <a:lnSpc>
                <a:spcPct val="114999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b="1" dirty="0">
                <a:latin typeface="Cambria"/>
                <a:cs typeface="Cambria"/>
              </a:rPr>
              <a:t>OptiPrompt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4"/>
              </a:rPr>
              <a:t>Zhong</a:t>
            </a:r>
            <a:r>
              <a:rPr sz="1700" b="1" u="heavy" spc="-1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4"/>
              </a:rPr>
              <a:t> </a:t>
            </a:r>
            <a:r>
              <a:rPr sz="1700" b="1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4"/>
              </a:rPr>
              <a:t>et</a:t>
            </a:r>
            <a:r>
              <a:rPr sz="1700" b="1" u="heavy" spc="-1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4"/>
              </a:rPr>
              <a:t> </a:t>
            </a:r>
            <a:r>
              <a:rPr sz="1700" b="1" u="heavy" spc="5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4"/>
              </a:rPr>
              <a:t>al.,</a:t>
            </a:r>
            <a:r>
              <a:rPr sz="1700" b="1" u="heavy" spc="-1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4"/>
              </a:rPr>
              <a:t> </a:t>
            </a:r>
            <a:r>
              <a:rPr sz="1700" b="1" u="heavy" spc="-7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Cambria"/>
                <a:cs typeface="Cambria"/>
                <a:hlinkClick r:id="rId4"/>
              </a:rPr>
              <a:t>2021</a:t>
            </a:r>
            <a:r>
              <a:rPr sz="1700" b="1" spc="-70" dirty="0">
                <a:latin typeface="Cambria"/>
                <a:cs typeface="Cambria"/>
              </a:rPr>
              <a:t>):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directly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optimize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prompt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in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embedding </a:t>
            </a:r>
            <a:r>
              <a:rPr sz="1700" spc="85" dirty="0">
                <a:latin typeface="Times New Roman"/>
                <a:cs typeface="Times New Roman"/>
              </a:rPr>
              <a:t>space,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rather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than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discrete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space</a:t>
            </a:r>
            <a:endParaRPr sz="17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spcBef>
                <a:spcPts val="32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spc="50" dirty="0">
                <a:latin typeface="Times New Roman"/>
                <a:cs typeface="Times New Roman"/>
              </a:rPr>
              <a:t>Similar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prompt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tuning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0029" y="1641602"/>
            <a:ext cx="744728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600" spc="155" dirty="0"/>
              <a:t>How</a:t>
            </a:r>
            <a:r>
              <a:rPr sz="3600" spc="-85" dirty="0"/>
              <a:t> </a:t>
            </a:r>
            <a:r>
              <a:rPr sz="3600" spc="165" dirty="0"/>
              <a:t>Much</a:t>
            </a:r>
            <a:r>
              <a:rPr sz="3600" spc="-80" dirty="0"/>
              <a:t> </a:t>
            </a:r>
            <a:r>
              <a:rPr sz="3600" spc="120" dirty="0"/>
              <a:t>Knowledge</a:t>
            </a:r>
            <a:r>
              <a:rPr sz="3600" spc="-80" dirty="0"/>
              <a:t> </a:t>
            </a:r>
            <a:r>
              <a:rPr sz="3600" spc="145" dirty="0"/>
              <a:t>Can</a:t>
            </a:r>
            <a:r>
              <a:rPr sz="3600" spc="-180" dirty="0"/>
              <a:t> </a:t>
            </a:r>
            <a:r>
              <a:rPr sz="3600" spc="-45" dirty="0"/>
              <a:t>You</a:t>
            </a:r>
            <a:r>
              <a:rPr sz="3600" spc="-80" dirty="0"/>
              <a:t> </a:t>
            </a:r>
            <a:r>
              <a:rPr sz="3600" spc="125" dirty="0"/>
              <a:t>Pack </a:t>
            </a:r>
            <a:r>
              <a:rPr sz="3600" spc="204" dirty="0"/>
              <a:t>Into</a:t>
            </a:r>
            <a:r>
              <a:rPr sz="3600" spc="-55" dirty="0"/>
              <a:t> </a:t>
            </a:r>
            <a:r>
              <a:rPr sz="3600" spc="245" dirty="0"/>
              <a:t>the</a:t>
            </a:r>
            <a:r>
              <a:rPr sz="3600" spc="-50" dirty="0"/>
              <a:t> </a:t>
            </a:r>
            <a:r>
              <a:rPr sz="3600" spc="225" dirty="0"/>
              <a:t>Parameters</a:t>
            </a:r>
            <a:r>
              <a:rPr sz="3600" spc="-50" dirty="0"/>
              <a:t> </a:t>
            </a:r>
            <a:r>
              <a:rPr sz="3600" spc="120" dirty="0"/>
              <a:t>of</a:t>
            </a:r>
            <a:r>
              <a:rPr sz="3600" spc="-50" dirty="0"/>
              <a:t> </a:t>
            </a:r>
            <a:r>
              <a:rPr sz="3600" spc="220" dirty="0"/>
              <a:t>a</a:t>
            </a:r>
            <a:r>
              <a:rPr sz="3600" spc="-50" dirty="0"/>
              <a:t> </a:t>
            </a:r>
            <a:r>
              <a:rPr sz="3600" spc="150" dirty="0"/>
              <a:t>Language </a:t>
            </a:r>
            <a:r>
              <a:rPr sz="3600" spc="80" dirty="0"/>
              <a:t>Model?</a:t>
            </a:r>
            <a:r>
              <a:rPr sz="3600" spc="-50" dirty="0"/>
              <a:t> </a:t>
            </a:r>
            <a:r>
              <a:rPr sz="3600" spc="155" dirty="0"/>
              <a:t>(Roberts</a:t>
            </a:r>
            <a:r>
              <a:rPr sz="3600" spc="-50" dirty="0"/>
              <a:t> </a:t>
            </a:r>
            <a:r>
              <a:rPr sz="3600" spc="190" dirty="0"/>
              <a:t>et</a:t>
            </a:r>
            <a:r>
              <a:rPr sz="3600" spc="-50" dirty="0"/>
              <a:t> </a:t>
            </a:r>
            <a:r>
              <a:rPr sz="3600" spc="160" dirty="0"/>
              <a:t>al.,</a:t>
            </a:r>
            <a:r>
              <a:rPr sz="3600" spc="-50" dirty="0"/>
              <a:t> </a:t>
            </a:r>
            <a:r>
              <a:rPr sz="3600" spc="-10" dirty="0"/>
              <a:t>2020)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624" y="1141172"/>
            <a:ext cx="790130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600" spc="80" dirty="0">
                <a:latin typeface="Times New Roman"/>
                <a:cs typeface="Times New Roman"/>
              </a:rPr>
              <a:t>Petroni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85" dirty="0">
                <a:latin typeface="Times New Roman"/>
                <a:cs typeface="Times New Roman"/>
              </a:rPr>
              <a:t>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70" dirty="0">
                <a:latin typeface="Times New Roman"/>
                <a:cs typeface="Times New Roman"/>
              </a:rPr>
              <a:t>al.,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2019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105" dirty="0">
                <a:latin typeface="Times New Roman"/>
                <a:cs typeface="Times New Roman"/>
              </a:rPr>
              <a:t>measures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70" dirty="0">
                <a:latin typeface="Times New Roman"/>
                <a:cs typeface="Times New Roman"/>
              </a:rPr>
              <a:t>knowledge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95" dirty="0">
                <a:latin typeface="Times New Roman"/>
                <a:cs typeface="Times New Roman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95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95" dirty="0">
                <a:latin typeface="Times New Roman"/>
                <a:cs typeface="Times New Roman"/>
              </a:rPr>
              <a:t>model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75" dirty="0">
                <a:latin typeface="Times New Roman"/>
                <a:cs typeface="Times New Roman"/>
              </a:rPr>
              <a:t>with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Times New Roman"/>
                <a:cs typeface="Times New Roman"/>
              </a:rPr>
              <a:t>its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E69137"/>
                </a:solidFill>
                <a:latin typeface="Book Antiqua"/>
                <a:cs typeface="Book Antiqua"/>
              </a:rPr>
              <a:t>pre-training</a:t>
            </a:r>
            <a:r>
              <a:rPr sz="1600" b="1" i="1" spc="-4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600" b="1" i="1" spc="-10" dirty="0">
                <a:solidFill>
                  <a:srgbClr val="E69137"/>
                </a:solidFill>
                <a:latin typeface="Book Antiqua"/>
                <a:cs typeface="Book Antiqua"/>
              </a:rPr>
              <a:t>objective</a:t>
            </a:r>
            <a:endParaRPr sz="1600">
              <a:latin typeface="Book Antiqua"/>
              <a:cs typeface="Book Antiqua"/>
            </a:endParaRPr>
          </a:p>
          <a:p>
            <a:pPr marL="371475">
              <a:lnSpc>
                <a:spcPts val="1920"/>
              </a:lnSpc>
            </a:pPr>
            <a:r>
              <a:rPr sz="1600" spc="75" dirty="0">
                <a:latin typeface="Times New Roman"/>
                <a:cs typeface="Times New Roman"/>
              </a:rPr>
              <a:t>with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E69137"/>
                </a:solidFill>
                <a:latin typeface="Book Antiqua"/>
                <a:cs typeface="Book Antiqua"/>
              </a:rPr>
              <a:t>a</a:t>
            </a:r>
            <a:r>
              <a:rPr sz="1600" b="1" i="1" spc="-5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600" b="1" i="1" spc="-10" dirty="0">
                <a:solidFill>
                  <a:srgbClr val="E69137"/>
                </a:solidFill>
                <a:latin typeface="Book Antiqua"/>
                <a:cs typeface="Book Antiqua"/>
              </a:rPr>
              <a:t>synthetic</a:t>
            </a:r>
            <a:r>
              <a:rPr sz="1600" b="1" i="1" spc="-5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600" b="1" i="1" spc="-20" dirty="0">
                <a:solidFill>
                  <a:srgbClr val="E69137"/>
                </a:solidFill>
                <a:latin typeface="Book Antiqua"/>
                <a:cs typeface="Book Antiqua"/>
              </a:rPr>
              <a:t>task</a:t>
            </a:r>
            <a:endParaRPr sz="1600">
              <a:latin typeface="Book Antiqua"/>
              <a:cs typeface="Book Antiqua"/>
            </a:endParaRPr>
          </a:p>
          <a:p>
            <a:pPr marL="371475" marR="5080" indent="-359410">
              <a:lnSpc>
                <a:spcPts val="2039"/>
              </a:lnSpc>
              <a:spcBef>
                <a:spcPts val="65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0" dirty="0">
                <a:latin typeface="Times New Roman"/>
                <a:cs typeface="Times New Roman"/>
              </a:rPr>
              <a:t>This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work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measures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E69137"/>
                </a:solidFill>
                <a:latin typeface="Book Antiqua"/>
                <a:cs typeface="Book Antiqua"/>
              </a:rPr>
              <a:t>transfer</a:t>
            </a:r>
            <a:r>
              <a:rPr sz="1700" b="1" i="1" spc="1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i="1" dirty="0">
                <a:solidFill>
                  <a:srgbClr val="E69137"/>
                </a:solidFill>
                <a:latin typeface="Book Antiqua"/>
                <a:cs typeface="Book Antiqua"/>
              </a:rPr>
              <a:t>learning</a:t>
            </a:r>
            <a:r>
              <a:rPr sz="1700" b="1" i="1" spc="1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i="1" dirty="0">
                <a:solidFill>
                  <a:srgbClr val="E69137"/>
                </a:solidFill>
                <a:latin typeface="Book Antiqua"/>
                <a:cs typeface="Book Antiqua"/>
              </a:rPr>
              <a:t>performance</a:t>
            </a:r>
            <a:r>
              <a:rPr sz="1700" b="1" i="1" spc="-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480" dirty="0">
                <a:latin typeface="Times New Roman"/>
                <a:cs typeface="Times New Roman"/>
              </a:rPr>
              <a:t> </a:t>
            </a:r>
            <a:r>
              <a:rPr sz="1700" b="1" i="1" spc="-10" dirty="0">
                <a:solidFill>
                  <a:srgbClr val="E69137"/>
                </a:solidFill>
                <a:latin typeface="Book Antiqua"/>
                <a:cs typeface="Book Antiqua"/>
              </a:rPr>
              <a:t>question </a:t>
            </a:r>
            <a:r>
              <a:rPr sz="1700" b="1" i="1" dirty="0">
                <a:solidFill>
                  <a:srgbClr val="E69137"/>
                </a:solidFill>
                <a:latin typeface="Book Antiqua"/>
                <a:cs typeface="Book Antiqua"/>
              </a:rPr>
              <a:t>answering</a:t>
            </a:r>
            <a:r>
              <a:rPr sz="1700" b="1" i="1" spc="-1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i="1" spc="-55" dirty="0">
                <a:solidFill>
                  <a:srgbClr val="E69137"/>
                </a:solidFill>
                <a:latin typeface="Book Antiqua"/>
                <a:cs typeface="Book Antiqua"/>
              </a:rPr>
              <a:t>tasks</a:t>
            </a:r>
            <a:r>
              <a:rPr sz="1700" b="1" i="1" spc="-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i="1" spc="-45" dirty="0">
                <a:solidFill>
                  <a:srgbClr val="E69137"/>
                </a:solidFill>
                <a:latin typeface="Book Antiqua"/>
                <a:cs typeface="Book Antiqua"/>
              </a:rPr>
              <a:t>with</a:t>
            </a:r>
            <a:r>
              <a:rPr sz="1700" b="1" i="1" spc="-10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i="1" dirty="0">
                <a:solidFill>
                  <a:srgbClr val="E69137"/>
                </a:solidFill>
                <a:latin typeface="Book Antiqua"/>
                <a:cs typeface="Book Antiqua"/>
              </a:rPr>
              <a:t>a</a:t>
            </a:r>
            <a:r>
              <a:rPr sz="1700" b="1" i="1" spc="-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i="1" spc="-35" dirty="0">
                <a:solidFill>
                  <a:srgbClr val="E69137"/>
                </a:solidFill>
                <a:latin typeface="Book Antiqua"/>
                <a:cs typeface="Book Antiqua"/>
              </a:rPr>
              <a:t>closed-</a:t>
            </a:r>
            <a:r>
              <a:rPr sz="1700" b="1" i="1" spc="-55" dirty="0">
                <a:solidFill>
                  <a:srgbClr val="E69137"/>
                </a:solidFill>
                <a:latin typeface="Book Antiqua"/>
                <a:cs typeface="Book Antiqua"/>
              </a:rPr>
              <a:t>book</a:t>
            </a:r>
            <a:r>
              <a:rPr sz="1700" b="1" i="1" spc="-10" dirty="0">
                <a:solidFill>
                  <a:srgbClr val="E69137"/>
                </a:solidFill>
                <a:latin typeface="Book Antiqua"/>
                <a:cs typeface="Book Antiqua"/>
              </a:rPr>
              <a:t> approach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70579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Motivation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4571" y="2494701"/>
            <a:ext cx="5378367" cy="22214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101090">
              <a:lnSpc>
                <a:spcPct val="100000"/>
              </a:lnSpc>
              <a:spcBef>
                <a:spcPts val="100"/>
              </a:spcBef>
            </a:pPr>
            <a:r>
              <a:rPr dirty="0"/>
              <a:t>To</a:t>
            </a:r>
            <a:r>
              <a:rPr spc="-60" dirty="0"/>
              <a:t> </a:t>
            </a:r>
            <a:r>
              <a:rPr spc="65" dirty="0"/>
              <a:t>solve</a:t>
            </a:r>
            <a:r>
              <a:rPr spc="-50" dirty="0"/>
              <a:t> </a:t>
            </a:r>
            <a:r>
              <a:rPr spc="135" dirty="0"/>
              <a:t>open-</a:t>
            </a:r>
            <a:r>
              <a:rPr spc="175" dirty="0"/>
              <a:t>domain</a:t>
            </a:r>
            <a:r>
              <a:rPr spc="-50" dirty="0"/>
              <a:t> </a:t>
            </a:r>
            <a:r>
              <a:rPr spc="-90" dirty="0"/>
              <a:t>QA: </a:t>
            </a:r>
            <a:r>
              <a:rPr dirty="0"/>
              <a:t>Two</a:t>
            </a:r>
            <a:r>
              <a:rPr spc="-55" dirty="0"/>
              <a:t> </a:t>
            </a:r>
            <a:r>
              <a:rPr spc="14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6111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75" dirty="0">
                <a:latin typeface="Times New Roman"/>
                <a:cs typeface="Times New Roman"/>
              </a:rPr>
              <a:t>Open-</a:t>
            </a:r>
            <a:r>
              <a:rPr sz="1700" spc="70" dirty="0">
                <a:latin typeface="Times New Roman"/>
                <a:cs typeface="Times New Roman"/>
              </a:rPr>
              <a:t>book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QA: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E69137"/>
                </a:solidFill>
                <a:latin typeface="Cambria"/>
                <a:cs typeface="Cambria"/>
              </a:rPr>
              <a:t>questions</a:t>
            </a:r>
            <a:r>
              <a:rPr sz="1700" b="1" spc="-1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E69137"/>
                </a:solidFill>
                <a:latin typeface="Cambria"/>
                <a:cs typeface="Cambria"/>
              </a:rPr>
              <a:t>external</a:t>
            </a:r>
            <a:r>
              <a:rPr sz="1700" b="1" spc="-3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E69137"/>
                </a:solidFill>
                <a:latin typeface="Cambria"/>
                <a:cs typeface="Cambria"/>
              </a:rPr>
              <a:t>resources</a:t>
            </a:r>
            <a:r>
              <a:rPr sz="1700" b="1" spc="-2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are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given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624" y="3289503"/>
            <a:ext cx="29921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0" dirty="0">
                <a:latin typeface="Times New Roman"/>
                <a:cs typeface="Times New Roman"/>
              </a:rPr>
              <a:t>Closed-</a:t>
            </a:r>
            <a:r>
              <a:rPr sz="1700" spc="55" dirty="0">
                <a:latin typeface="Times New Roman"/>
                <a:cs typeface="Times New Roman"/>
              </a:rPr>
              <a:t>book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QA: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E69137"/>
                </a:solidFill>
                <a:latin typeface="Cambria"/>
                <a:cs typeface="Cambria"/>
              </a:rPr>
              <a:t>questions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925" y="1634175"/>
            <a:ext cx="4893373" cy="172014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876022" y="3750494"/>
            <a:ext cx="3295650" cy="733425"/>
            <a:chOff x="2876022" y="3750494"/>
            <a:chExt cx="3295650" cy="7334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6022" y="3886690"/>
              <a:ext cx="3295547" cy="5969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40672" y="3755256"/>
              <a:ext cx="360680" cy="155575"/>
            </a:xfrm>
            <a:custGeom>
              <a:avLst/>
              <a:gdLst/>
              <a:ahLst/>
              <a:cxnLst/>
              <a:rect l="l" t="t" r="r" b="b"/>
              <a:pathLst>
                <a:path w="360679" h="155575">
                  <a:moveTo>
                    <a:pt x="360360" y="155458"/>
                  </a:moveTo>
                  <a:lnTo>
                    <a:pt x="0" y="155458"/>
                  </a:lnTo>
                  <a:lnTo>
                    <a:pt x="0" y="0"/>
                  </a:lnTo>
                  <a:lnTo>
                    <a:pt x="360360" y="0"/>
                  </a:lnTo>
                  <a:lnTo>
                    <a:pt x="360360" y="155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0672" y="3755256"/>
              <a:ext cx="360680" cy="155575"/>
            </a:xfrm>
            <a:custGeom>
              <a:avLst/>
              <a:gdLst/>
              <a:ahLst/>
              <a:cxnLst/>
              <a:rect l="l" t="t" r="r" b="b"/>
              <a:pathLst>
                <a:path w="360679" h="155575">
                  <a:moveTo>
                    <a:pt x="0" y="0"/>
                  </a:moveTo>
                  <a:lnTo>
                    <a:pt x="360360" y="0"/>
                  </a:lnTo>
                  <a:lnTo>
                    <a:pt x="360360" y="155458"/>
                  </a:lnTo>
                  <a:lnTo>
                    <a:pt x="0" y="15545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016125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Experimental</a:t>
            </a:r>
            <a:r>
              <a:rPr spc="-50" dirty="0"/>
              <a:t> </a:t>
            </a:r>
            <a:r>
              <a:rPr spc="105" dirty="0"/>
              <a:t>Setup</a:t>
            </a:r>
            <a:r>
              <a:rPr spc="-5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spc="95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293" y="1280734"/>
            <a:ext cx="7731759" cy="27247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35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b="1" dirty="0">
                <a:latin typeface="Cambria"/>
                <a:cs typeface="Cambria"/>
              </a:rPr>
              <a:t>Natural</a:t>
            </a:r>
            <a:r>
              <a:rPr sz="1400" b="1" spc="-4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Questions:</a:t>
            </a:r>
            <a:endParaRPr sz="1400">
              <a:latin typeface="Cambria"/>
              <a:cs typeface="Cambria"/>
            </a:endParaRPr>
          </a:p>
          <a:p>
            <a:pPr marL="805180" lvl="1" indent="-336550">
              <a:lnSpc>
                <a:spcPct val="100000"/>
              </a:lnSpc>
              <a:spcBef>
                <a:spcPts val="254"/>
              </a:spcBef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dirty="0">
                <a:latin typeface="Times New Roman"/>
                <a:cs typeface="Times New Roman"/>
              </a:rPr>
              <a:t>Web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queries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each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trike="sngStrike" spc="110" dirty="0">
                <a:latin typeface="Times New Roman"/>
                <a:cs typeface="Times New Roman"/>
              </a:rPr>
              <a:t>an</a:t>
            </a:r>
            <a:r>
              <a:rPr sz="1400" strike="sngStrike" dirty="0">
                <a:latin typeface="Times New Roman"/>
                <a:cs typeface="Times New Roman"/>
              </a:rPr>
              <a:t> </a:t>
            </a:r>
            <a:r>
              <a:rPr sz="1400" strike="sngStrike" spc="65" dirty="0">
                <a:latin typeface="Times New Roman"/>
                <a:cs typeface="Times New Roman"/>
              </a:rPr>
              <a:t>oracle</a:t>
            </a:r>
            <a:r>
              <a:rPr sz="1400" strike="sngStrike" dirty="0">
                <a:latin typeface="Times New Roman"/>
                <a:cs typeface="Times New Roman"/>
              </a:rPr>
              <a:t> </a:t>
            </a:r>
            <a:r>
              <a:rPr sz="1400" strike="sngStrike" spc="60" dirty="0">
                <a:latin typeface="Times New Roman"/>
                <a:cs typeface="Times New Roman"/>
              </a:rPr>
              <a:t>wikipedia</a:t>
            </a:r>
            <a:r>
              <a:rPr sz="1400" strike="sngStrike" dirty="0">
                <a:latin typeface="Times New Roman"/>
                <a:cs typeface="Times New Roman"/>
              </a:rPr>
              <a:t> </a:t>
            </a:r>
            <a:r>
              <a:rPr sz="1400" strike="sngStrike" spc="55" dirty="0">
                <a:latin typeface="Times New Roman"/>
                <a:cs typeface="Times New Roman"/>
              </a:rPr>
              <a:t>article</a:t>
            </a:r>
            <a:endParaRPr sz="1400">
              <a:latin typeface="Times New Roman"/>
              <a:cs typeface="Times New Roman"/>
            </a:endParaRPr>
          </a:p>
          <a:p>
            <a:pPr marL="805180" marR="5080" lvl="1" indent="-335915">
              <a:lnSpc>
                <a:spcPct val="114999"/>
              </a:lnSpc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dirty="0">
                <a:latin typeface="Times New Roman"/>
                <a:cs typeface="Times New Roman"/>
              </a:rPr>
              <a:t>Rich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annotation,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diﬀerent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answer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types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(yes/no,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trike="sngStrike" spc="80" dirty="0">
                <a:latin typeface="Times New Roman"/>
                <a:cs typeface="Times New Roman"/>
              </a:rPr>
              <a:t>unanswerable</a:t>
            </a:r>
            <a:r>
              <a:rPr sz="1400" strike="noStrike" spc="80" dirty="0">
                <a:latin typeface="Times New Roman"/>
                <a:cs typeface="Times New Roman"/>
              </a:rPr>
              <a:t>,</a:t>
            </a:r>
            <a:r>
              <a:rPr sz="1400" strike="noStrike" spc="15" dirty="0">
                <a:latin typeface="Times New Roman"/>
                <a:cs typeface="Times New Roman"/>
              </a:rPr>
              <a:t> </a:t>
            </a:r>
            <a:r>
              <a:rPr sz="1400" strike="noStrike" spc="70" dirty="0">
                <a:latin typeface="Times New Roman"/>
                <a:cs typeface="Times New Roman"/>
              </a:rPr>
              <a:t>multiple</a:t>
            </a:r>
            <a:r>
              <a:rPr sz="1400" strike="noStrike" spc="15" dirty="0">
                <a:latin typeface="Times New Roman"/>
                <a:cs typeface="Times New Roman"/>
              </a:rPr>
              <a:t> </a:t>
            </a:r>
            <a:r>
              <a:rPr sz="1400" strike="noStrike" spc="70" dirty="0">
                <a:latin typeface="Times New Roman"/>
                <a:cs typeface="Times New Roman"/>
              </a:rPr>
              <a:t>answers,</a:t>
            </a:r>
            <a:r>
              <a:rPr sz="1400" strike="noStrike" spc="20" dirty="0">
                <a:latin typeface="Times New Roman"/>
                <a:cs typeface="Times New Roman"/>
              </a:rPr>
              <a:t> </a:t>
            </a:r>
            <a:r>
              <a:rPr sz="1400" strike="noStrike" spc="80" dirty="0">
                <a:latin typeface="Times New Roman"/>
                <a:cs typeface="Times New Roman"/>
              </a:rPr>
              <a:t>short </a:t>
            </a:r>
            <a:r>
              <a:rPr sz="1400" strike="noStrike" spc="85" dirty="0">
                <a:latin typeface="Times New Roman"/>
                <a:cs typeface="Times New Roman"/>
              </a:rPr>
              <a:t>answer</a:t>
            </a:r>
            <a:r>
              <a:rPr sz="1400" strike="noStrike" spc="-25" dirty="0">
                <a:latin typeface="Times New Roman"/>
                <a:cs typeface="Times New Roman"/>
              </a:rPr>
              <a:t> </a:t>
            </a:r>
            <a:r>
              <a:rPr sz="1400" strike="noStrike" spc="105" dirty="0">
                <a:latin typeface="Times New Roman"/>
                <a:cs typeface="Times New Roman"/>
              </a:rPr>
              <a:t>and</a:t>
            </a:r>
            <a:r>
              <a:rPr sz="1400" strike="noStrike" spc="-25" dirty="0">
                <a:latin typeface="Times New Roman"/>
                <a:cs typeface="Times New Roman"/>
              </a:rPr>
              <a:t> </a:t>
            </a:r>
            <a:r>
              <a:rPr sz="1400" strike="sngStrike" spc="60" dirty="0">
                <a:latin typeface="Times New Roman"/>
                <a:cs typeface="Times New Roman"/>
              </a:rPr>
              <a:t>long</a:t>
            </a:r>
            <a:r>
              <a:rPr sz="1400" strike="sngStrike" spc="-20" dirty="0">
                <a:latin typeface="Times New Roman"/>
                <a:cs typeface="Times New Roman"/>
              </a:rPr>
              <a:t> </a:t>
            </a:r>
            <a:r>
              <a:rPr sz="1400" strike="sngStrike" spc="85" dirty="0">
                <a:latin typeface="Times New Roman"/>
                <a:cs typeface="Times New Roman"/>
              </a:rPr>
              <a:t>answer</a:t>
            </a:r>
            <a:r>
              <a:rPr sz="1400" strike="noStrike" spc="-25" dirty="0">
                <a:latin typeface="Times New Roman"/>
                <a:cs typeface="Times New Roman"/>
              </a:rPr>
              <a:t> </a:t>
            </a:r>
            <a:r>
              <a:rPr sz="1400" strike="noStrike" spc="-5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805180" lvl="1" indent="-336550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dirty="0">
                <a:latin typeface="Times New Roman"/>
                <a:cs typeface="Times New Roman"/>
              </a:rPr>
              <a:t>E.g.,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Who</a:t>
            </a:r>
            <a:r>
              <a:rPr sz="1400" i="1" spc="65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are</a:t>
            </a:r>
            <a:r>
              <a:rPr sz="1400" i="1" spc="65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the</a:t>
            </a:r>
            <a:r>
              <a:rPr sz="1400" i="1" spc="65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members</a:t>
            </a:r>
            <a:r>
              <a:rPr sz="1400" i="1" spc="65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of</a:t>
            </a:r>
            <a:r>
              <a:rPr sz="1400" i="1" spc="65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the</a:t>
            </a:r>
            <a:r>
              <a:rPr sz="1400" i="1" spc="65" dirty="0">
                <a:latin typeface="Book Antiqua"/>
                <a:cs typeface="Book Antiqua"/>
              </a:rPr>
              <a:t> </a:t>
            </a:r>
            <a:r>
              <a:rPr sz="1400" i="1" spc="-10" dirty="0">
                <a:latin typeface="Book Antiqua"/>
                <a:cs typeface="Book Antiqua"/>
              </a:rPr>
              <a:t>Beatles?</a:t>
            </a:r>
            <a:endParaRPr sz="1400">
              <a:latin typeface="Book Antiqua"/>
              <a:cs typeface="Book Antiqua"/>
            </a:endParaRPr>
          </a:p>
          <a:p>
            <a:pPr marL="347980" indent="-335915">
              <a:lnSpc>
                <a:spcPct val="100000"/>
              </a:lnSpc>
              <a:spcBef>
                <a:spcPts val="25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b="1" spc="-10" dirty="0">
                <a:latin typeface="Cambria"/>
                <a:cs typeface="Cambria"/>
              </a:rPr>
              <a:t>WebQuestions</a:t>
            </a:r>
            <a:endParaRPr sz="1400">
              <a:latin typeface="Cambria"/>
              <a:cs typeface="Cambria"/>
            </a:endParaRPr>
          </a:p>
          <a:p>
            <a:pPr marL="805180" lvl="1" indent="-336550">
              <a:lnSpc>
                <a:spcPct val="100000"/>
              </a:lnSpc>
              <a:spcBef>
                <a:spcPts val="254"/>
              </a:spcBef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dirty="0">
                <a:latin typeface="Times New Roman"/>
                <a:cs typeface="Times New Roman"/>
              </a:rPr>
              <a:t>Web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queries</a:t>
            </a:r>
            <a:endParaRPr sz="1400">
              <a:latin typeface="Times New Roman"/>
              <a:cs typeface="Times New Roman"/>
            </a:endParaRPr>
          </a:p>
          <a:p>
            <a:pPr marL="805180" lvl="1" indent="-336550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dirty="0">
                <a:latin typeface="Times New Roman"/>
                <a:cs typeface="Times New Roman"/>
              </a:rPr>
              <a:t>E.g.,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Which</a:t>
            </a:r>
            <a:r>
              <a:rPr sz="1400" i="1" spc="45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college</a:t>
            </a:r>
            <a:r>
              <a:rPr sz="1400" i="1" spc="45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did</a:t>
            </a:r>
            <a:r>
              <a:rPr sz="1400" i="1" spc="40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Obama</a:t>
            </a:r>
            <a:r>
              <a:rPr sz="1400" i="1" spc="45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go</a:t>
            </a:r>
            <a:r>
              <a:rPr sz="1400" i="1" spc="45" dirty="0">
                <a:latin typeface="Book Antiqua"/>
                <a:cs typeface="Book Antiqua"/>
              </a:rPr>
              <a:t> </a:t>
            </a:r>
            <a:r>
              <a:rPr sz="1400" i="1" spc="-25" dirty="0">
                <a:latin typeface="Book Antiqua"/>
                <a:cs typeface="Book Antiqua"/>
              </a:rPr>
              <a:t>to?</a:t>
            </a:r>
            <a:endParaRPr sz="1400">
              <a:latin typeface="Book Antiqua"/>
              <a:cs typeface="Book Antiqua"/>
            </a:endParaRPr>
          </a:p>
          <a:p>
            <a:pPr marL="347980" indent="-335915">
              <a:lnSpc>
                <a:spcPct val="100000"/>
              </a:lnSpc>
              <a:spcBef>
                <a:spcPts val="25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b="1" spc="-10" dirty="0">
                <a:latin typeface="Cambria"/>
                <a:cs typeface="Cambria"/>
              </a:rPr>
              <a:t>TriviaQA</a:t>
            </a:r>
            <a:endParaRPr sz="1400">
              <a:latin typeface="Cambria"/>
              <a:cs typeface="Cambria"/>
            </a:endParaRPr>
          </a:p>
          <a:p>
            <a:pPr marL="805180" lvl="1" indent="-336550">
              <a:lnSpc>
                <a:spcPct val="100000"/>
              </a:lnSpc>
              <a:spcBef>
                <a:spcPts val="254"/>
              </a:spcBef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spc="60" dirty="0">
                <a:latin typeface="Times New Roman"/>
                <a:cs typeface="Times New Roman"/>
              </a:rPr>
              <a:t>Questions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from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quiz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league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websites,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each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with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trike="sngStrike" spc="65" dirty="0">
                <a:latin typeface="Times New Roman"/>
                <a:cs typeface="Times New Roman"/>
              </a:rPr>
              <a:t>web</a:t>
            </a:r>
            <a:r>
              <a:rPr sz="1400" strike="sngStrike" spc="-10" dirty="0">
                <a:latin typeface="Times New Roman"/>
                <a:cs typeface="Times New Roman"/>
              </a:rPr>
              <a:t> </a:t>
            </a:r>
            <a:r>
              <a:rPr sz="1400" strike="sngStrike" spc="65" dirty="0">
                <a:latin typeface="Times New Roman"/>
                <a:cs typeface="Times New Roman"/>
              </a:rPr>
              <a:t>pages</a:t>
            </a:r>
            <a:r>
              <a:rPr sz="1400" strike="sngStrike" spc="-10" dirty="0">
                <a:latin typeface="Times New Roman"/>
                <a:cs typeface="Times New Roman"/>
              </a:rPr>
              <a:t> </a:t>
            </a:r>
            <a:r>
              <a:rPr sz="1400" strike="sngStrike" spc="85" dirty="0">
                <a:latin typeface="Times New Roman"/>
                <a:cs typeface="Times New Roman"/>
              </a:rPr>
              <a:t>that</a:t>
            </a:r>
            <a:r>
              <a:rPr sz="1400" strike="sngStrike" spc="-15" dirty="0">
                <a:latin typeface="Times New Roman"/>
                <a:cs typeface="Times New Roman"/>
              </a:rPr>
              <a:t> </a:t>
            </a:r>
            <a:r>
              <a:rPr sz="1400" strike="sngStrike" spc="75" dirty="0">
                <a:latin typeface="Times New Roman"/>
                <a:cs typeface="Times New Roman"/>
              </a:rPr>
              <a:t>might</a:t>
            </a:r>
            <a:r>
              <a:rPr sz="1400" strike="sngStrike" spc="-10" dirty="0">
                <a:latin typeface="Times New Roman"/>
                <a:cs typeface="Times New Roman"/>
              </a:rPr>
              <a:t> </a:t>
            </a:r>
            <a:r>
              <a:rPr sz="1400" strike="sngStrike" spc="80" dirty="0">
                <a:latin typeface="Times New Roman"/>
                <a:cs typeface="Times New Roman"/>
              </a:rPr>
              <a:t>contain</a:t>
            </a:r>
            <a:r>
              <a:rPr sz="1400" strike="sngStrike" spc="-15" dirty="0">
                <a:latin typeface="Times New Roman"/>
                <a:cs typeface="Times New Roman"/>
              </a:rPr>
              <a:t> </a:t>
            </a:r>
            <a:r>
              <a:rPr sz="1400" strike="sngStrike" spc="65" dirty="0">
                <a:latin typeface="Times New Roman"/>
                <a:cs typeface="Times New Roman"/>
              </a:rPr>
              <a:t>answers</a:t>
            </a:r>
            <a:endParaRPr sz="1400">
              <a:latin typeface="Times New Roman"/>
              <a:cs typeface="Times New Roman"/>
            </a:endParaRPr>
          </a:p>
          <a:p>
            <a:pPr marL="805180" lvl="1" indent="-336550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dirty="0">
                <a:latin typeface="Times New Roman"/>
                <a:cs typeface="Times New Roman"/>
              </a:rPr>
              <a:t>E.g.,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Who</a:t>
            </a:r>
            <a:r>
              <a:rPr sz="1400" i="1" spc="30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won</a:t>
            </a:r>
            <a:r>
              <a:rPr sz="1400" i="1" spc="30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the</a:t>
            </a:r>
            <a:r>
              <a:rPr sz="1400" i="1" spc="30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Nobel</a:t>
            </a:r>
            <a:r>
              <a:rPr sz="1400" i="1" spc="30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Peace</a:t>
            </a:r>
            <a:r>
              <a:rPr sz="1400" i="1" spc="30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Prize</a:t>
            </a:r>
            <a:r>
              <a:rPr sz="1400" i="1" spc="30" dirty="0">
                <a:latin typeface="Book Antiqua"/>
                <a:cs typeface="Book Antiqua"/>
              </a:rPr>
              <a:t> </a:t>
            </a:r>
            <a:r>
              <a:rPr sz="1400" i="1" dirty="0">
                <a:latin typeface="Book Antiqua"/>
                <a:cs typeface="Book Antiqua"/>
              </a:rPr>
              <a:t>in</a:t>
            </a:r>
            <a:r>
              <a:rPr sz="1400" i="1" spc="30" dirty="0">
                <a:latin typeface="Book Antiqua"/>
                <a:cs typeface="Book Antiqua"/>
              </a:rPr>
              <a:t> </a:t>
            </a:r>
            <a:r>
              <a:rPr sz="1400" i="1" spc="-10" dirty="0">
                <a:latin typeface="Book Antiqua"/>
                <a:cs typeface="Book Antiqua"/>
              </a:rPr>
              <a:t>2009?</a:t>
            </a:r>
            <a:endParaRPr sz="14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099945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Experimental</a:t>
            </a:r>
            <a:r>
              <a:rPr spc="-50" dirty="0"/>
              <a:t> </a:t>
            </a:r>
            <a:r>
              <a:rPr spc="105" dirty="0"/>
              <a:t>Setup</a:t>
            </a:r>
            <a:r>
              <a:rPr spc="-5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spc="75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912" y="1201687"/>
            <a:ext cx="7559675" cy="317500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225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b="1" spc="-20" dirty="0">
                <a:latin typeface="Cambria"/>
                <a:cs typeface="Cambria"/>
              </a:rPr>
              <a:t>Pre-</a:t>
            </a:r>
            <a:r>
              <a:rPr sz="1500" b="1" dirty="0">
                <a:latin typeface="Cambria"/>
                <a:cs typeface="Cambria"/>
              </a:rPr>
              <a:t>training</a:t>
            </a:r>
            <a:r>
              <a:rPr sz="1500" b="1" spc="1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resources</a:t>
            </a:r>
            <a:endParaRPr sz="1500">
              <a:latin typeface="Cambria"/>
              <a:cs typeface="Cambria"/>
            </a:endParaRPr>
          </a:p>
          <a:p>
            <a:pPr marL="813435" marR="5080" lvl="1" indent="-320675">
              <a:lnSpc>
                <a:spcPct val="105000"/>
              </a:lnSpc>
              <a:spcBef>
                <a:spcPts val="30"/>
              </a:spcBef>
              <a:buFont typeface="Arial"/>
              <a:buChar char="○"/>
              <a:tabLst>
                <a:tab pos="813435" algn="l"/>
                <a:tab pos="814069" algn="l"/>
              </a:tabLst>
            </a:pPr>
            <a:r>
              <a:rPr sz="1200" b="1" spc="-10" dirty="0">
                <a:latin typeface="Book Antiqua"/>
                <a:cs typeface="Book Antiqua"/>
              </a:rPr>
              <a:t>T5</a:t>
            </a:r>
            <a:r>
              <a:rPr sz="1200" b="1" spc="-5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v1.0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trained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with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8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unsupervised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“span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corruption”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task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9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C4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as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Book Antiqua"/>
                <a:cs typeface="Book Antiqua"/>
              </a:rPr>
              <a:t>supervised</a:t>
            </a:r>
            <a:r>
              <a:rPr sz="1200" i="1" spc="15" dirty="0">
                <a:latin typeface="Book Antiqua"/>
                <a:cs typeface="Book Antiqua"/>
              </a:rPr>
              <a:t> </a:t>
            </a:r>
            <a:r>
              <a:rPr sz="1200" i="1" spc="-10" dirty="0">
                <a:latin typeface="Book Antiqua"/>
                <a:cs typeface="Book Antiqua"/>
              </a:rPr>
              <a:t>translation, </a:t>
            </a:r>
            <a:r>
              <a:rPr sz="1200" i="1" dirty="0">
                <a:latin typeface="Book Antiqua"/>
                <a:cs typeface="Book Antiqua"/>
              </a:rPr>
              <a:t>summarization,</a:t>
            </a:r>
            <a:r>
              <a:rPr sz="1200" i="1" spc="204" dirty="0">
                <a:latin typeface="Book Antiqua"/>
                <a:cs typeface="Book Antiqua"/>
              </a:rPr>
              <a:t> </a:t>
            </a:r>
            <a:r>
              <a:rPr sz="1200" i="1" dirty="0">
                <a:latin typeface="Book Antiqua"/>
                <a:cs typeface="Book Antiqua"/>
              </a:rPr>
              <a:t>classiﬁcation,</a:t>
            </a:r>
            <a:r>
              <a:rPr sz="1200" i="1" spc="204" dirty="0">
                <a:latin typeface="Book Antiqua"/>
                <a:cs typeface="Book Antiqua"/>
              </a:rPr>
              <a:t> </a:t>
            </a:r>
            <a:r>
              <a:rPr sz="1200" i="1" dirty="0">
                <a:latin typeface="Book Antiqua"/>
                <a:cs typeface="Book Antiqua"/>
              </a:rPr>
              <a:t>and</a:t>
            </a:r>
            <a:r>
              <a:rPr sz="1200" i="1" spc="204" dirty="0">
                <a:latin typeface="Book Antiqua"/>
                <a:cs typeface="Book Antiqua"/>
              </a:rPr>
              <a:t> </a:t>
            </a:r>
            <a:r>
              <a:rPr sz="1200" i="1" dirty="0">
                <a:latin typeface="Book Antiqua"/>
                <a:cs typeface="Book Antiqua"/>
              </a:rPr>
              <a:t>reading</a:t>
            </a:r>
            <a:r>
              <a:rPr sz="1200" i="1" spc="210" dirty="0">
                <a:latin typeface="Book Antiqua"/>
                <a:cs typeface="Book Antiqua"/>
              </a:rPr>
              <a:t> </a:t>
            </a:r>
            <a:r>
              <a:rPr sz="1200" i="1" dirty="0">
                <a:latin typeface="Book Antiqua"/>
                <a:cs typeface="Book Antiqua"/>
              </a:rPr>
              <a:t>comprehension</a:t>
            </a:r>
            <a:r>
              <a:rPr sz="1200" i="1" spc="204" dirty="0">
                <a:latin typeface="Book Antiqua"/>
                <a:cs typeface="Book Antiqua"/>
              </a:rPr>
              <a:t> </a:t>
            </a:r>
            <a:r>
              <a:rPr sz="1200" i="1" spc="-10" dirty="0">
                <a:latin typeface="Book Antiqua"/>
                <a:cs typeface="Book Antiqua"/>
              </a:rPr>
              <a:t>tasks</a:t>
            </a:r>
            <a:endParaRPr sz="1200">
              <a:latin typeface="Book Antiqua"/>
              <a:cs typeface="Book Antiqua"/>
            </a:endParaRPr>
          </a:p>
          <a:p>
            <a:pPr marL="813435" lvl="1" indent="-321310">
              <a:lnSpc>
                <a:spcPct val="100000"/>
              </a:lnSpc>
              <a:spcBef>
                <a:spcPts val="75"/>
              </a:spcBef>
              <a:buFont typeface="Arial"/>
              <a:buChar char="○"/>
              <a:tabLst>
                <a:tab pos="813435" algn="l"/>
                <a:tab pos="814069" algn="l"/>
              </a:tabLst>
            </a:pPr>
            <a:r>
              <a:rPr sz="1200" b="1" spc="-10" dirty="0">
                <a:latin typeface="Book Antiqua"/>
                <a:cs typeface="Book Antiqua"/>
              </a:rPr>
              <a:t>T5</a:t>
            </a:r>
            <a:r>
              <a:rPr sz="1200" b="1" dirty="0">
                <a:latin typeface="Book Antiqua"/>
                <a:cs typeface="Book Antiqua"/>
              </a:rPr>
              <a:t> v.1.1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trained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with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8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C4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○"/>
            </a:pPr>
            <a:endParaRPr sz="1350">
              <a:latin typeface="Times New Roman"/>
              <a:cs typeface="Times New Roman"/>
            </a:endParaRPr>
          </a:p>
          <a:p>
            <a:pPr marL="356235" indent="-344170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b="1" dirty="0">
                <a:latin typeface="Cambria"/>
                <a:cs typeface="Cambria"/>
              </a:rPr>
              <a:t>Model</a:t>
            </a:r>
            <a:r>
              <a:rPr sz="1500" b="1" spc="-35" dirty="0">
                <a:latin typeface="Cambria"/>
                <a:cs typeface="Cambria"/>
              </a:rPr>
              <a:t> </a:t>
            </a:r>
            <a:r>
              <a:rPr sz="1500" b="1" spc="-20" dirty="0">
                <a:latin typeface="Cambria"/>
                <a:cs typeface="Cambria"/>
              </a:rPr>
              <a:t>size</a:t>
            </a:r>
            <a:endParaRPr sz="1500">
              <a:latin typeface="Cambria"/>
              <a:cs typeface="Cambria"/>
            </a:endParaRPr>
          </a:p>
          <a:p>
            <a:pPr marL="813435" lvl="1" indent="-321310">
              <a:lnSpc>
                <a:spcPct val="100000"/>
              </a:lnSpc>
              <a:spcBef>
                <a:spcPts val="100"/>
              </a:spcBef>
              <a:buFont typeface="Arial"/>
              <a:buChar char="○"/>
              <a:tabLst>
                <a:tab pos="813435" algn="l"/>
                <a:tab pos="814069" algn="l"/>
              </a:tabLst>
            </a:pP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(220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million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parameters)</a:t>
            </a:r>
            <a:endParaRPr sz="1200">
              <a:latin typeface="Times New Roman"/>
              <a:cs typeface="Times New Roman"/>
            </a:endParaRPr>
          </a:p>
          <a:p>
            <a:pPr marL="813435" lvl="1" indent="-321310">
              <a:lnSpc>
                <a:spcPct val="100000"/>
              </a:lnSpc>
              <a:spcBef>
                <a:spcPts val="70"/>
              </a:spcBef>
              <a:buFont typeface="Arial"/>
              <a:buChar char="○"/>
              <a:tabLst>
                <a:tab pos="813435" algn="l"/>
                <a:tab pos="814069" algn="l"/>
              </a:tabLst>
            </a:pP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(770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million)</a:t>
            </a:r>
            <a:endParaRPr sz="1200">
              <a:latin typeface="Times New Roman"/>
              <a:cs typeface="Times New Roman"/>
            </a:endParaRPr>
          </a:p>
          <a:p>
            <a:pPr marL="813435" lvl="1" indent="-321310">
              <a:lnSpc>
                <a:spcPct val="100000"/>
              </a:lnSpc>
              <a:spcBef>
                <a:spcPts val="75"/>
              </a:spcBef>
              <a:buFont typeface="Arial"/>
              <a:buChar char="○"/>
              <a:tabLst>
                <a:tab pos="813435" algn="l"/>
                <a:tab pos="814069" algn="l"/>
              </a:tabLst>
            </a:pPr>
            <a:r>
              <a:rPr sz="1200" spc="-10" dirty="0">
                <a:latin typeface="Times New Roman"/>
                <a:cs typeface="Times New Roman"/>
              </a:rPr>
              <a:t>3B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(3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billion)</a:t>
            </a:r>
            <a:endParaRPr sz="1200">
              <a:latin typeface="Times New Roman"/>
              <a:cs typeface="Times New Roman"/>
            </a:endParaRPr>
          </a:p>
          <a:p>
            <a:pPr marL="813435" lvl="1" indent="-321310">
              <a:lnSpc>
                <a:spcPct val="100000"/>
              </a:lnSpc>
              <a:spcBef>
                <a:spcPts val="70"/>
              </a:spcBef>
              <a:buFont typeface="Arial"/>
              <a:buChar char="○"/>
              <a:tabLst>
                <a:tab pos="813435" algn="l"/>
                <a:tab pos="814069" algn="l"/>
              </a:tabLst>
            </a:pPr>
            <a:r>
              <a:rPr sz="1200" spc="-10" dirty="0">
                <a:latin typeface="Times New Roman"/>
                <a:cs typeface="Times New Roman"/>
              </a:rPr>
              <a:t>11B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(11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billion)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○"/>
            </a:pPr>
            <a:endParaRPr sz="1650">
              <a:latin typeface="Times New Roman"/>
              <a:cs typeface="Times New Roman"/>
            </a:endParaRPr>
          </a:p>
          <a:p>
            <a:pPr marL="356235" indent="-344170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b="1" dirty="0">
                <a:latin typeface="Cambria"/>
                <a:cs typeface="Cambria"/>
              </a:rPr>
              <a:t>Additional</a:t>
            </a:r>
            <a:r>
              <a:rPr sz="1500" b="1" spc="-45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pre-training</a:t>
            </a:r>
            <a:endParaRPr sz="1500">
              <a:latin typeface="Cambria"/>
              <a:cs typeface="Cambria"/>
            </a:endParaRPr>
          </a:p>
          <a:p>
            <a:pPr marL="813435" lvl="1" indent="-321310">
              <a:lnSpc>
                <a:spcPct val="100000"/>
              </a:lnSpc>
              <a:spcBef>
                <a:spcPts val="100"/>
              </a:spcBef>
              <a:buFont typeface="Arial"/>
              <a:buChar char="○"/>
              <a:tabLst>
                <a:tab pos="813435" algn="l"/>
                <a:tab pos="814069" algn="l"/>
              </a:tabLst>
            </a:pPr>
            <a:r>
              <a:rPr sz="1200" dirty="0">
                <a:latin typeface="Times New Roman"/>
                <a:cs typeface="Times New Roman"/>
              </a:rPr>
              <a:t>Salient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Span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Masking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Guu</a:t>
            </a:r>
            <a:r>
              <a:rPr sz="1200" u="heavy" spc="4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200" u="heavy" spc="6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et</a:t>
            </a:r>
            <a:r>
              <a:rPr sz="1200" u="heavy" spc="4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200" u="heavy" spc="5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al.</a:t>
            </a:r>
            <a:r>
              <a:rPr sz="1200" u="heavy" spc="4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200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2020</a:t>
            </a:r>
            <a:r>
              <a:rPr sz="1200" dirty="0">
                <a:latin typeface="Times New Roman"/>
                <a:cs typeface="Times New Roman"/>
              </a:rPr>
              <a:t>),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75" dirty="0">
                <a:latin typeface="Times New Roman"/>
                <a:cs typeface="Times New Roman"/>
              </a:rPr>
              <a:t>mask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salient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spans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75" dirty="0">
                <a:latin typeface="Times New Roman"/>
                <a:cs typeface="Times New Roman"/>
              </a:rPr>
              <a:t>(named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entities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80" dirty="0">
                <a:latin typeface="Times New Roman"/>
                <a:cs typeface="Times New Roman"/>
              </a:rPr>
              <a:t>&amp;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dates)</a:t>
            </a:r>
            <a:endParaRPr sz="1200">
              <a:latin typeface="Times New Roman"/>
              <a:cs typeface="Times New Roman"/>
            </a:endParaRPr>
          </a:p>
          <a:p>
            <a:pPr marL="813435" lvl="1" indent="-321310">
              <a:lnSpc>
                <a:spcPct val="100000"/>
              </a:lnSpc>
              <a:spcBef>
                <a:spcPts val="70"/>
              </a:spcBef>
              <a:buFont typeface="Arial"/>
              <a:buChar char="○"/>
              <a:tabLst>
                <a:tab pos="813435" algn="l"/>
                <a:tab pos="814069" algn="l"/>
              </a:tabLst>
            </a:pPr>
            <a:r>
              <a:rPr sz="1200" spc="55" dirty="0">
                <a:latin typeface="Times New Roman"/>
                <a:cs typeface="Times New Roman"/>
              </a:rPr>
              <a:t>Continue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75" dirty="0">
                <a:latin typeface="Times New Roman"/>
                <a:cs typeface="Times New Roman"/>
              </a:rPr>
              <a:t>pre-</a:t>
            </a:r>
            <a:r>
              <a:rPr sz="1200" spc="55" dirty="0">
                <a:latin typeface="Times New Roman"/>
                <a:cs typeface="Times New Roman"/>
              </a:rPr>
              <a:t>training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8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T5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for</a:t>
            </a:r>
            <a:r>
              <a:rPr sz="1200" dirty="0">
                <a:latin typeface="Times New Roman"/>
                <a:cs typeface="Times New Roman"/>
              </a:rPr>
              <a:t> 100k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steps</a:t>
            </a:r>
            <a:endParaRPr sz="1200">
              <a:latin typeface="Times New Roman"/>
              <a:cs typeface="Times New Roman"/>
            </a:endParaRPr>
          </a:p>
          <a:p>
            <a:pPr marL="1343660">
              <a:lnSpc>
                <a:spcPct val="100000"/>
              </a:lnSpc>
              <a:spcBef>
                <a:spcPts val="610"/>
              </a:spcBef>
              <a:tabLst>
                <a:tab pos="5636260" algn="l"/>
              </a:tabLst>
            </a:pPr>
            <a:r>
              <a:rPr sz="1200" spc="70" dirty="0">
                <a:solidFill>
                  <a:srgbClr val="E69137"/>
                </a:solidFill>
                <a:latin typeface="Times New Roman"/>
                <a:cs typeface="Times New Roman"/>
              </a:rPr>
              <a:t>person</a:t>
            </a:r>
            <a:r>
              <a:rPr sz="1200" dirty="0">
                <a:solidFill>
                  <a:srgbClr val="E69137"/>
                </a:solidFill>
                <a:latin typeface="Times New Roman"/>
                <a:cs typeface="Times New Roman"/>
              </a:rPr>
              <a:t>	</a:t>
            </a:r>
            <a:r>
              <a:rPr sz="1200" spc="45" dirty="0">
                <a:solidFill>
                  <a:srgbClr val="E69137"/>
                </a:solidFill>
                <a:latin typeface="Times New Roman"/>
                <a:cs typeface="Times New Roman"/>
              </a:rPr>
              <a:t>location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1293" y="4430124"/>
            <a:ext cx="975994" cy="213360"/>
          </a:xfrm>
          <a:prstGeom prst="rect">
            <a:avLst/>
          </a:prstGeom>
          <a:solidFill>
            <a:srgbClr val="FCE4C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90" dirty="0">
                <a:latin typeface="Times New Roman"/>
                <a:cs typeface="Times New Roman"/>
              </a:rPr>
              <a:t>Henri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Hutin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2978" y="4410312"/>
            <a:ext cx="28359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latin typeface="Times New Roman"/>
                <a:cs typeface="Times New Roman"/>
              </a:rPr>
              <a:t>invented </a:t>
            </a:r>
            <a:r>
              <a:rPr sz="1400" dirty="0">
                <a:latin typeface="Times New Roman"/>
                <a:cs typeface="Times New Roman"/>
              </a:rPr>
              <a:t>Brie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cheese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while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living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in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5078" y="4430124"/>
            <a:ext cx="1880870" cy="213360"/>
          </a:xfrm>
          <a:prstGeom prst="rect">
            <a:avLst/>
          </a:prstGeom>
          <a:solidFill>
            <a:srgbClr val="FCE4C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80" dirty="0">
                <a:latin typeface="Times New Roman"/>
                <a:cs typeface="Times New Roman"/>
              </a:rPr>
              <a:t>North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Meuse,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France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362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mbria"/>
                <a:cs typeface="Cambria"/>
              </a:rPr>
              <a:t>Results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31899" y="927675"/>
            <a:ext cx="3551554" cy="1957705"/>
            <a:chOff x="2531899" y="927675"/>
            <a:chExt cx="3551554" cy="1957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3250" y="927675"/>
              <a:ext cx="3359874" cy="195724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36662" y="1406525"/>
              <a:ext cx="186690" cy="1405255"/>
            </a:xfrm>
            <a:custGeom>
              <a:avLst/>
              <a:gdLst/>
              <a:ahLst/>
              <a:cxnLst/>
              <a:rect l="l" t="t" r="r" b="b"/>
              <a:pathLst>
                <a:path w="186689" h="1405255">
                  <a:moveTo>
                    <a:pt x="186599" y="1404899"/>
                  </a:moveTo>
                  <a:lnTo>
                    <a:pt x="150283" y="1397568"/>
                  </a:lnTo>
                  <a:lnTo>
                    <a:pt x="120626" y="1377573"/>
                  </a:lnTo>
                  <a:lnTo>
                    <a:pt x="100631" y="1347916"/>
                  </a:lnTo>
                  <a:lnTo>
                    <a:pt x="93299" y="1311599"/>
                  </a:lnTo>
                  <a:lnTo>
                    <a:pt x="93299" y="795749"/>
                  </a:lnTo>
                  <a:lnTo>
                    <a:pt x="85968" y="759433"/>
                  </a:lnTo>
                  <a:lnTo>
                    <a:pt x="65973" y="729776"/>
                  </a:lnTo>
                  <a:lnTo>
                    <a:pt x="36316" y="709781"/>
                  </a:lnTo>
                  <a:lnTo>
                    <a:pt x="0" y="702449"/>
                  </a:lnTo>
                  <a:lnTo>
                    <a:pt x="36316" y="695118"/>
                  </a:lnTo>
                  <a:lnTo>
                    <a:pt x="65973" y="675123"/>
                  </a:lnTo>
                  <a:lnTo>
                    <a:pt x="85968" y="645466"/>
                  </a:lnTo>
                  <a:lnTo>
                    <a:pt x="93299" y="609149"/>
                  </a:lnTo>
                  <a:lnTo>
                    <a:pt x="93299" y="93299"/>
                  </a:lnTo>
                  <a:lnTo>
                    <a:pt x="100631" y="56983"/>
                  </a:lnTo>
                  <a:lnTo>
                    <a:pt x="120626" y="27326"/>
                  </a:lnTo>
                  <a:lnTo>
                    <a:pt x="150283" y="7331"/>
                  </a:lnTo>
                  <a:lnTo>
                    <a:pt x="1865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9308" y="1830408"/>
            <a:ext cx="195516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150" b="1" spc="-140" dirty="0">
                <a:solidFill>
                  <a:srgbClr val="595959"/>
                </a:solidFill>
                <a:latin typeface="Book Antiqua"/>
                <a:cs typeface="Book Antiqua"/>
              </a:rPr>
              <a:t>SOTA</a:t>
            </a:r>
            <a:r>
              <a:rPr sz="1150" b="1" spc="5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150" b="1" spc="-20" dirty="0">
                <a:solidFill>
                  <a:srgbClr val="595959"/>
                </a:solidFill>
                <a:latin typeface="Book Antiqua"/>
                <a:cs typeface="Book Antiqua"/>
              </a:rPr>
              <a:t>Retrieval-</a:t>
            </a:r>
            <a:r>
              <a:rPr sz="1150" b="1" dirty="0">
                <a:solidFill>
                  <a:srgbClr val="595959"/>
                </a:solidFill>
                <a:latin typeface="Book Antiqua"/>
                <a:cs typeface="Book Antiqua"/>
              </a:rPr>
              <a:t>based</a:t>
            </a:r>
            <a:r>
              <a:rPr sz="1150" b="1" spc="5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150" b="1" spc="-40" dirty="0">
                <a:solidFill>
                  <a:srgbClr val="595959"/>
                </a:solidFill>
                <a:latin typeface="Book Antiqua"/>
                <a:cs typeface="Book Antiqua"/>
              </a:rPr>
              <a:t>Models </a:t>
            </a:r>
            <a:r>
              <a:rPr sz="1150" spc="50" dirty="0">
                <a:solidFill>
                  <a:srgbClr val="595959"/>
                </a:solidFill>
                <a:latin typeface="Times New Roman"/>
                <a:cs typeface="Times New Roman"/>
              </a:rPr>
              <a:t>(can</a:t>
            </a:r>
            <a:r>
              <a:rPr sz="115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595959"/>
                </a:solidFill>
                <a:latin typeface="Times New Roman"/>
                <a:cs typeface="Times New Roman"/>
              </a:rPr>
              <a:t>access</a:t>
            </a:r>
            <a:r>
              <a:rPr sz="115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595959"/>
                </a:solidFill>
                <a:latin typeface="Times New Roman"/>
                <a:cs typeface="Times New Roman"/>
              </a:rPr>
              <a:t>external documents)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107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90675" y="960334"/>
            <a:ext cx="1575435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dirty="0">
                <a:solidFill>
                  <a:srgbClr val="595959"/>
                </a:solidFill>
                <a:latin typeface="Book Antiqua"/>
                <a:cs typeface="Book Antiqua"/>
              </a:rPr>
              <a:t>Metric:</a:t>
            </a:r>
            <a:r>
              <a:rPr sz="1350" spc="85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595959"/>
                </a:solidFill>
                <a:latin typeface="Book Antiqua"/>
                <a:cs typeface="Book Antiqua"/>
              </a:rPr>
              <a:t>Exact</a:t>
            </a:r>
            <a:r>
              <a:rPr sz="1350" spc="9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350" spc="-20" dirty="0">
                <a:solidFill>
                  <a:srgbClr val="595959"/>
                </a:solidFill>
                <a:latin typeface="Book Antiqua"/>
                <a:cs typeface="Book Antiqua"/>
              </a:rPr>
              <a:t>Match</a:t>
            </a:r>
            <a:endParaRPr sz="13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9387" y="4754303"/>
            <a:ext cx="3129280" cy="363855"/>
            <a:chOff x="2859387" y="4754303"/>
            <a:chExt cx="3129280" cy="363855"/>
          </a:xfrm>
        </p:grpSpPr>
        <p:sp>
          <p:nvSpPr>
            <p:cNvPr id="3" name="object 3"/>
            <p:cNvSpPr/>
            <p:nvPr/>
          </p:nvSpPr>
          <p:spPr>
            <a:xfrm>
              <a:off x="2864149" y="4759066"/>
              <a:ext cx="3119755" cy="354330"/>
            </a:xfrm>
            <a:custGeom>
              <a:avLst/>
              <a:gdLst/>
              <a:ahLst/>
              <a:cxnLst/>
              <a:rect l="l" t="t" r="r" b="b"/>
              <a:pathLst>
                <a:path w="3119754" h="354329">
                  <a:moveTo>
                    <a:pt x="3060398" y="353999"/>
                  </a:moveTo>
                  <a:lnTo>
                    <a:pt x="59001" y="353999"/>
                  </a:lnTo>
                  <a:lnTo>
                    <a:pt x="36035" y="349363"/>
                  </a:lnTo>
                  <a:lnTo>
                    <a:pt x="17281" y="336719"/>
                  </a:lnTo>
                  <a:lnTo>
                    <a:pt x="4636" y="317964"/>
                  </a:lnTo>
                  <a:lnTo>
                    <a:pt x="0" y="294998"/>
                  </a:lnTo>
                  <a:lnTo>
                    <a:pt x="0" y="59001"/>
                  </a:lnTo>
                  <a:lnTo>
                    <a:pt x="4636" y="36035"/>
                  </a:lnTo>
                  <a:lnTo>
                    <a:pt x="17281" y="17280"/>
                  </a:lnTo>
                  <a:lnTo>
                    <a:pt x="36035" y="4636"/>
                  </a:lnTo>
                  <a:lnTo>
                    <a:pt x="59001" y="0"/>
                  </a:lnTo>
                  <a:lnTo>
                    <a:pt x="3060398" y="0"/>
                  </a:lnTo>
                  <a:lnTo>
                    <a:pt x="3102119" y="17281"/>
                  </a:lnTo>
                  <a:lnTo>
                    <a:pt x="3119399" y="59001"/>
                  </a:lnTo>
                  <a:lnTo>
                    <a:pt x="3119399" y="294998"/>
                  </a:lnTo>
                  <a:lnTo>
                    <a:pt x="3114763" y="317964"/>
                  </a:lnTo>
                  <a:lnTo>
                    <a:pt x="3102119" y="336719"/>
                  </a:lnTo>
                  <a:lnTo>
                    <a:pt x="3083364" y="349363"/>
                  </a:lnTo>
                  <a:lnTo>
                    <a:pt x="3060398" y="353999"/>
                  </a:lnTo>
                  <a:close/>
                </a:path>
              </a:pathLst>
            </a:custGeom>
            <a:solidFill>
              <a:srgbClr val="6AA84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64149" y="4759066"/>
              <a:ext cx="3119755" cy="354330"/>
            </a:xfrm>
            <a:custGeom>
              <a:avLst/>
              <a:gdLst/>
              <a:ahLst/>
              <a:cxnLst/>
              <a:rect l="l" t="t" r="r" b="b"/>
              <a:pathLst>
                <a:path w="3119754" h="354329">
                  <a:moveTo>
                    <a:pt x="0" y="59001"/>
                  </a:moveTo>
                  <a:lnTo>
                    <a:pt x="4636" y="36035"/>
                  </a:lnTo>
                  <a:lnTo>
                    <a:pt x="17281" y="17281"/>
                  </a:lnTo>
                  <a:lnTo>
                    <a:pt x="36035" y="4636"/>
                  </a:lnTo>
                  <a:lnTo>
                    <a:pt x="59001" y="0"/>
                  </a:lnTo>
                  <a:lnTo>
                    <a:pt x="3060398" y="0"/>
                  </a:lnTo>
                  <a:lnTo>
                    <a:pt x="3102119" y="17280"/>
                  </a:lnTo>
                  <a:lnTo>
                    <a:pt x="3119399" y="59001"/>
                  </a:lnTo>
                  <a:lnTo>
                    <a:pt x="3119399" y="294998"/>
                  </a:lnTo>
                  <a:lnTo>
                    <a:pt x="3114763" y="317964"/>
                  </a:lnTo>
                  <a:lnTo>
                    <a:pt x="3102119" y="336719"/>
                  </a:lnTo>
                  <a:lnTo>
                    <a:pt x="3083364" y="349363"/>
                  </a:lnTo>
                  <a:lnTo>
                    <a:pt x="3060398" y="353999"/>
                  </a:lnTo>
                  <a:lnTo>
                    <a:pt x="59001" y="353999"/>
                  </a:lnTo>
                  <a:lnTo>
                    <a:pt x="36035" y="349363"/>
                  </a:lnTo>
                  <a:lnTo>
                    <a:pt x="17281" y="336719"/>
                  </a:lnTo>
                  <a:lnTo>
                    <a:pt x="4636" y="317964"/>
                  </a:lnTo>
                  <a:lnTo>
                    <a:pt x="0" y="294998"/>
                  </a:lnTo>
                  <a:lnTo>
                    <a:pt x="0" y="59001"/>
                  </a:lnTo>
                  <a:close/>
                </a:path>
              </a:pathLst>
            </a:custGeom>
            <a:ln w="9524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7174" y="4742975"/>
            <a:ext cx="9582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Times New Roman"/>
                <a:cs typeface="Times New Roman"/>
              </a:rPr>
              <a:t>GPT-</a:t>
            </a:r>
            <a:r>
              <a:rPr sz="1100" dirty="0">
                <a:latin typeface="Times New Roman"/>
                <a:cs typeface="Times New Roman"/>
              </a:rPr>
              <a:t>3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few-</a:t>
            </a:r>
            <a:r>
              <a:rPr sz="1100" spc="-20" dirty="0">
                <a:latin typeface="Times New Roman"/>
                <a:cs typeface="Times New Roman"/>
              </a:rPr>
              <a:t>shot SOTA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0136" y="4742975"/>
            <a:ext cx="14433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  <a:tabLst>
                <a:tab pos="436880" algn="l"/>
                <a:tab pos="848994" algn="l"/>
                <a:tab pos="1386840" algn="l"/>
              </a:tabLst>
            </a:pPr>
            <a:r>
              <a:rPr sz="1100" spc="-20" dirty="0">
                <a:latin typeface="Times New Roman"/>
                <a:cs typeface="Times New Roman"/>
              </a:rPr>
              <a:t>29.9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0" dirty="0">
                <a:latin typeface="Times New Roman"/>
                <a:cs typeface="Times New Roman"/>
              </a:rPr>
              <a:t>41.5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1" spc="-20" dirty="0">
                <a:latin typeface="Cambria"/>
                <a:cs typeface="Cambria"/>
              </a:rPr>
              <a:t>71.2</a:t>
            </a:r>
            <a:r>
              <a:rPr sz="1100" b="1" dirty="0">
                <a:latin typeface="Cambria"/>
                <a:cs typeface="Cambria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-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23875" algn="l"/>
                <a:tab pos="860425" algn="l"/>
                <a:tab pos="1372870" algn="l"/>
              </a:tabLst>
            </a:pPr>
            <a:r>
              <a:rPr sz="1100" spc="-20" dirty="0">
                <a:latin typeface="Times New Roman"/>
                <a:cs typeface="Times New Roman"/>
              </a:rPr>
              <a:t>51.4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-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0" dirty="0">
                <a:latin typeface="Times New Roman"/>
                <a:cs typeface="Times New Roman"/>
              </a:rPr>
              <a:t>80.1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-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62760" y="505350"/>
            <a:ext cx="74212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mbria"/>
                <a:cs typeface="Cambria"/>
              </a:rPr>
              <a:t>Results</a:t>
            </a:r>
            <a:r>
              <a:rPr dirty="0"/>
              <a:t>:</a:t>
            </a:r>
            <a:r>
              <a:rPr spc="-40" dirty="0"/>
              <a:t> </a:t>
            </a:r>
            <a:r>
              <a:rPr spc="-70" dirty="0"/>
              <a:t>SSM</a:t>
            </a:r>
            <a:r>
              <a:rPr spc="-40" dirty="0"/>
              <a:t> </a:t>
            </a:r>
            <a:r>
              <a:rPr spc="85" dirty="0"/>
              <a:t>clearly</a:t>
            </a:r>
            <a:r>
              <a:rPr spc="-35" dirty="0"/>
              <a:t> </a:t>
            </a:r>
            <a:r>
              <a:rPr spc="120" dirty="0"/>
              <a:t>leads</a:t>
            </a:r>
            <a:r>
              <a:rPr spc="-40" dirty="0"/>
              <a:t> </a:t>
            </a:r>
            <a:r>
              <a:rPr spc="114" dirty="0"/>
              <a:t>to</a:t>
            </a:r>
            <a:r>
              <a:rPr spc="-40" dirty="0"/>
              <a:t> </a:t>
            </a:r>
            <a:r>
              <a:rPr spc="135" dirty="0"/>
              <a:t>improved</a:t>
            </a:r>
            <a:r>
              <a:rPr spc="-35" dirty="0"/>
              <a:t> </a:t>
            </a:r>
            <a:r>
              <a:rPr spc="160" dirty="0"/>
              <a:t>performance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32308" y="4766036"/>
            <a:ext cx="215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108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31899" y="927675"/>
            <a:ext cx="3551554" cy="3821429"/>
            <a:chOff x="2531899" y="927675"/>
            <a:chExt cx="3551554" cy="3821429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3250" y="927675"/>
              <a:ext cx="3359879" cy="38209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864149" y="3780049"/>
              <a:ext cx="3119755" cy="653415"/>
            </a:xfrm>
            <a:custGeom>
              <a:avLst/>
              <a:gdLst/>
              <a:ahLst/>
              <a:cxnLst/>
              <a:rect l="l" t="t" r="r" b="b"/>
              <a:pathLst>
                <a:path w="3119754" h="653414">
                  <a:moveTo>
                    <a:pt x="0" y="108852"/>
                  </a:moveTo>
                  <a:lnTo>
                    <a:pt x="8554" y="66482"/>
                  </a:lnTo>
                  <a:lnTo>
                    <a:pt x="31882" y="31882"/>
                  </a:lnTo>
                  <a:lnTo>
                    <a:pt x="66481" y="8554"/>
                  </a:lnTo>
                  <a:lnTo>
                    <a:pt x="108852" y="0"/>
                  </a:lnTo>
                  <a:lnTo>
                    <a:pt x="3010547" y="0"/>
                  </a:lnTo>
                  <a:lnTo>
                    <a:pt x="3052203" y="8285"/>
                  </a:lnTo>
                  <a:lnTo>
                    <a:pt x="3087517" y="31881"/>
                  </a:lnTo>
                  <a:lnTo>
                    <a:pt x="3111114" y="67196"/>
                  </a:lnTo>
                  <a:lnTo>
                    <a:pt x="3119399" y="108852"/>
                  </a:lnTo>
                  <a:lnTo>
                    <a:pt x="3119399" y="544247"/>
                  </a:lnTo>
                  <a:lnTo>
                    <a:pt x="3110845" y="586617"/>
                  </a:lnTo>
                  <a:lnTo>
                    <a:pt x="3087517" y="621217"/>
                  </a:lnTo>
                  <a:lnTo>
                    <a:pt x="3052917" y="644545"/>
                  </a:lnTo>
                  <a:lnTo>
                    <a:pt x="3010547" y="653099"/>
                  </a:lnTo>
                  <a:lnTo>
                    <a:pt x="108852" y="653099"/>
                  </a:lnTo>
                  <a:lnTo>
                    <a:pt x="66481" y="644545"/>
                  </a:lnTo>
                  <a:lnTo>
                    <a:pt x="31882" y="621217"/>
                  </a:lnTo>
                  <a:lnTo>
                    <a:pt x="8554" y="586617"/>
                  </a:lnTo>
                  <a:lnTo>
                    <a:pt x="0" y="544247"/>
                  </a:lnTo>
                  <a:lnTo>
                    <a:pt x="0" y="108852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64149" y="3552274"/>
              <a:ext cx="3119755" cy="169545"/>
            </a:xfrm>
            <a:custGeom>
              <a:avLst/>
              <a:gdLst/>
              <a:ahLst/>
              <a:cxnLst/>
              <a:rect l="l" t="t" r="r" b="b"/>
              <a:pathLst>
                <a:path w="3119754" h="169545">
                  <a:moveTo>
                    <a:pt x="3091199" y="169199"/>
                  </a:moveTo>
                  <a:lnTo>
                    <a:pt x="28200" y="169199"/>
                  </a:lnTo>
                  <a:lnTo>
                    <a:pt x="17223" y="166983"/>
                  </a:lnTo>
                  <a:lnTo>
                    <a:pt x="8259" y="160940"/>
                  </a:lnTo>
                  <a:lnTo>
                    <a:pt x="2216" y="151976"/>
                  </a:lnTo>
                  <a:lnTo>
                    <a:pt x="0" y="140999"/>
                  </a:lnTo>
                  <a:lnTo>
                    <a:pt x="0" y="28200"/>
                  </a:lnTo>
                  <a:lnTo>
                    <a:pt x="2216" y="17223"/>
                  </a:lnTo>
                  <a:lnTo>
                    <a:pt x="8259" y="8259"/>
                  </a:lnTo>
                  <a:lnTo>
                    <a:pt x="17223" y="2216"/>
                  </a:lnTo>
                  <a:lnTo>
                    <a:pt x="28200" y="0"/>
                  </a:lnTo>
                  <a:lnTo>
                    <a:pt x="3098678" y="0"/>
                  </a:lnTo>
                  <a:lnTo>
                    <a:pt x="3105851" y="2970"/>
                  </a:lnTo>
                  <a:lnTo>
                    <a:pt x="3116428" y="13548"/>
                  </a:lnTo>
                  <a:lnTo>
                    <a:pt x="3119399" y="20721"/>
                  </a:lnTo>
                  <a:lnTo>
                    <a:pt x="3119399" y="140999"/>
                  </a:lnTo>
                  <a:lnTo>
                    <a:pt x="3117183" y="151976"/>
                  </a:lnTo>
                  <a:lnTo>
                    <a:pt x="3111140" y="160940"/>
                  </a:lnTo>
                  <a:lnTo>
                    <a:pt x="3102176" y="166983"/>
                  </a:lnTo>
                  <a:lnTo>
                    <a:pt x="3091199" y="1691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64149" y="3552274"/>
              <a:ext cx="3119755" cy="169545"/>
            </a:xfrm>
            <a:custGeom>
              <a:avLst/>
              <a:gdLst/>
              <a:ahLst/>
              <a:cxnLst/>
              <a:rect l="l" t="t" r="r" b="b"/>
              <a:pathLst>
                <a:path w="3119754" h="169545">
                  <a:moveTo>
                    <a:pt x="0" y="28200"/>
                  </a:moveTo>
                  <a:lnTo>
                    <a:pt x="2216" y="17223"/>
                  </a:lnTo>
                  <a:lnTo>
                    <a:pt x="8259" y="8259"/>
                  </a:lnTo>
                  <a:lnTo>
                    <a:pt x="17223" y="2216"/>
                  </a:lnTo>
                  <a:lnTo>
                    <a:pt x="28200" y="0"/>
                  </a:lnTo>
                  <a:lnTo>
                    <a:pt x="3091199" y="0"/>
                  </a:lnTo>
                  <a:lnTo>
                    <a:pt x="3098678" y="0"/>
                  </a:lnTo>
                  <a:lnTo>
                    <a:pt x="3105851" y="2970"/>
                  </a:lnTo>
                  <a:lnTo>
                    <a:pt x="3111140" y="8259"/>
                  </a:lnTo>
                  <a:lnTo>
                    <a:pt x="3116428" y="13548"/>
                  </a:lnTo>
                  <a:lnTo>
                    <a:pt x="3119399" y="20721"/>
                  </a:lnTo>
                  <a:lnTo>
                    <a:pt x="3119399" y="28200"/>
                  </a:lnTo>
                  <a:lnTo>
                    <a:pt x="3119399" y="140999"/>
                  </a:lnTo>
                  <a:lnTo>
                    <a:pt x="3117183" y="151976"/>
                  </a:lnTo>
                  <a:lnTo>
                    <a:pt x="3111140" y="160940"/>
                  </a:lnTo>
                  <a:lnTo>
                    <a:pt x="3102176" y="166983"/>
                  </a:lnTo>
                  <a:lnTo>
                    <a:pt x="3091199" y="169199"/>
                  </a:lnTo>
                  <a:lnTo>
                    <a:pt x="28200" y="169199"/>
                  </a:lnTo>
                  <a:lnTo>
                    <a:pt x="17223" y="166983"/>
                  </a:lnTo>
                  <a:lnTo>
                    <a:pt x="8259" y="160940"/>
                  </a:lnTo>
                  <a:lnTo>
                    <a:pt x="2216" y="151976"/>
                  </a:lnTo>
                  <a:lnTo>
                    <a:pt x="0" y="140999"/>
                  </a:lnTo>
                  <a:lnTo>
                    <a:pt x="0" y="2820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64149" y="4491724"/>
              <a:ext cx="3119755" cy="169545"/>
            </a:xfrm>
            <a:custGeom>
              <a:avLst/>
              <a:gdLst/>
              <a:ahLst/>
              <a:cxnLst/>
              <a:rect l="l" t="t" r="r" b="b"/>
              <a:pathLst>
                <a:path w="3119754" h="169545">
                  <a:moveTo>
                    <a:pt x="3091199" y="169199"/>
                  </a:moveTo>
                  <a:lnTo>
                    <a:pt x="28200" y="169199"/>
                  </a:lnTo>
                  <a:lnTo>
                    <a:pt x="17223" y="166983"/>
                  </a:lnTo>
                  <a:lnTo>
                    <a:pt x="8259" y="160940"/>
                  </a:lnTo>
                  <a:lnTo>
                    <a:pt x="2216" y="151976"/>
                  </a:lnTo>
                  <a:lnTo>
                    <a:pt x="0" y="140999"/>
                  </a:lnTo>
                  <a:lnTo>
                    <a:pt x="0" y="28200"/>
                  </a:lnTo>
                  <a:lnTo>
                    <a:pt x="2216" y="17223"/>
                  </a:lnTo>
                  <a:lnTo>
                    <a:pt x="8259" y="8259"/>
                  </a:lnTo>
                  <a:lnTo>
                    <a:pt x="17223" y="2216"/>
                  </a:lnTo>
                  <a:lnTo>
                    <a:pt x="28200" y="0"/>
                  </a:lnTo>
                  <a:lnTo>
                    <a:pt x="3098678" y="0"/>
                  </a:lnTo>
                  <a:lnTo>
                    <a:pt x="3105851" y="2970"/>
                  </a:lnTo>
                  <a:lnTo>
                    <a:pt x="3116428" y="13548"/>
                  </a:lnTo>
                  <a:lnTo>
                    <a:pt x="3119399" y="20721"/>
                  </a:lnTo>
                  <a:lnTo>
                    <a:pt x="3119399" y="140999"/>
                  </a:lnTo>
                  <a:lnTo>
                    <a:pt x="3117183" y="151976"/>
                  </a:lnTo>
                  <a:lnTo>
                    <a:pt x="3111140" y="160940"/>
                  </a:lnTo>
                  <a:lnTo>
                    <a:pt x="3102176" y="166983"/>
                  </a:lnTo>
                  <a:lnTo>
                    <a:pt x="3091199" y="1691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64149" y="4491724"/>
              <a:ext cx="3119755" cy="169545"/>
            </a:xfrm>
            <a:custGeom>
              <a:avLst/>
              <a:gdLst/>
              <a:ahLst/>
              <a:cxnLst/>
              <a:rect l="l" t="t" r="r" b="b"/>
              <a:pathLst>
                <a:path w="3119754" h="169545">
                  <a:moveTo>
                    <a:pt x="0" y="28200"/>
                  </a:moveTo>
                  <a:lnTo>
                    <a:pt x="2216" y="17223"/>
                  </a:lnTo>
                  <a:lnTo>
                    <a:pt x="8259" y="8259"/>
                  </a:lnTo>
                  <a:lnTo>
                    <a:pt x="17223" y="2216"/>
                  </a:lnTo>
                  <a:lnTo>
                    <a:pt x="28200" y="0"/>
                  </a:lnTo>
                  <a:lnTo>
                    <a:pt x="3091199" y="0"/>
                  </a:lnTo>
                  <a:lnTo>
                    <a:pt x="3098678" y="0"/>
                  </a:lnTo>
                  <a:lnTo>
                    <a:pt x="3105851" y="2970"/>
                  </a:lnTo>
                  <a:lnTo>
                    <a:pt x="3111140" y="8259"/>
                  </a:lnTo>
                  <a:lnTo>
                    <a:pt x="3116428" y="13548"/>
                  </a:lnTo>
                  <a:lnTo>
                    <a:pt x="3119399" y="20721"/>
                  </a:lnTo>
                  <a:lnTo>
                    <a:pt x="3119399" y="28200"/>
                  </a:lnTo>
                  <a:lnTo>
                    <a:pt x="3119399" y="140999"/>
                  </a:lnTo>
                  <a:lnTo>
                    <a:pt x="3117183" y="151976"/>
                  </a:lnTo>
                  <a:lnTo>
                    <a:pt x="3111140" y="160940"/>
                  </a:lnTo>
                  <a:lnTo>
                    <a:pt x="3102176" y="166983"/>
                  </a:lnTo>
                  <a:lnTo>
                    <a:pt x="3091199" y="169199"/>
                  </a:lnTo>
                  <a:lnTo>
                    <a:pt x="28200" y="169199"/>
                  </a:lnTo>
                  <a:lnTo>
                    <a:pt x="17223" y="166983"/>
                  </a:lnTo>
                  <a:lnTo>
                    <a:pt x="8259" y="160940"/>
                  </a:lnTo>
                  <a:lnTo>
                    <a:pt x="2216" y="151976"/>
                  </a:lnTo>
                  <a:lnTo>
                    <a:pt x="0" y="140999"/>
                  </a:lnTo>
                  <a:lnTo>
                    <a:pt x="0" y="28200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64149" y="2863950"/>
              <a:ext cx="3119755" cy="653415"/>
            </a:xfrm>
            <a:custGeom>
              <a:avLst/>
              <a:gdLst/>
              <a:ahLst/>
              <a:cxnLst/>
              <a:rect l="l" t="t" r="r" b="b"/>
              <a:pathLst>
                <a:path w="3119754" h="653414">
                  <a:moveTo>
                    <a:pt x="0" y="108852"/>
                  </a:moveTo>
                  <a:lnTo>
                    <a:pt x="8554" y="66481"/>
                  </a:lnTo>
                  <a:lnTo>
                    <a:pt x="31882" y="31882"/>
                  </a:lnTo>
                  <a:lnTo>
                    <a:pt x="66481" y="8554"/>
                  </a:lnTo>
                  <a:lnTo>
                    <a:pt x="108852" y="0"/>
                  </a:lnTo>
                  <a:lnTo>
                    <a:pt x="3010547" y="0"/>
                  </a:lnTo>
                  <a:lnTo>
                    <a:pt x="3052203" y="8285"/>
                  </a:lnTo>
                  <a:lnTo>
                    <a:pt x="3087517" y="31881"/>
                  </a:lnTo>
                  <a:lnTo>
                    <a:pt x="3111114" y="67196"/>
                  </a:lnTo>
                  <a:lnTo>
                    <a:pt x="3119399" y="108852"/>
                  </a:lnTo>
                  <a:lnTo>
                    <a:pt x="3119399" y="544247"/>
                  </a:lnTo>
                  <a:lnTo>
                    <a:pt x="3110845" y="586617"/>
                  </a:lnTo>
                  <a:lnTo>
                    <a:pt x="3087517" y="621217"/>
                  </a:lnTo>
                  <a:lnTo>
                    <a:pt x="3052917" y="644545"/>
                  </a:lnTo>
                  <a:lnTo>
                    <a:pt x="3010547" y="653099"/>
                  </a:lnTo>
                  <a:lnTo>
                    <a:pt x="108852" y="653099"/>
                  </a:lnTo>
                  <a:lnTo>
                    <a:pt x="66481" y="644545"/>
                  </a:lnTo>
                  <a:lnTo>
                    <a:pt x="31882" y="621217"/>
                  </a:lnTo>
                  <a:lnTo>
                    <a:pt x="8554" y="586617"/>
                  </a:lnTo>
                  <a:lnTo>
                    <a:pt x="0" y="544247"/>
                  </a:lnTo>
                  <a:lnTo>
                    <a:pt x="0" y="10885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36662" y="1406525"/>
              <a:ext cx="186690" cy="3269615"/>
            </a:xfrm>
            <a:custGeom>
              <a:avLst/>
              <a:gdLst/>
              <a:ahLst/>
              <a:cxnLst/>
              <a:rect l="l" t="t" r="r" b="b"/>
              <a:pathLst>
                <a:path w="186689" h="3269615">
                  <a:moveTo>
                    <a:pt x="186599" y="1404899"/>
                  </a:moveTo>
                  <a:lnTo>
                    <a:pt x="150283" y="1397568"/>
                  </a:lnTo>
                  <a:lnTo>
                    <a:pt x="120626" y="1377573"/>
                  </a:lnTo>
                  <a:lnTo>
                    <a:pt x="100631" y="1347916"/>
                  </a:lnTo>
                  <a:lnTo>
                    <a:pt x="93299" y="1311599"/>
                  </a:lnTo>
                  <a:lnTo>
                    <a:pt x="93299" y="795749"/>
                  </a:lnTo>
                  <a:lnTo>
                    <a:pt x="85968" y="759433"/>
                  </a:lnTo>
                  <a:lnTo>
                    <a:pt x="65973" y="729776"/>
                  </a:lnTo>
                  <a:lnTo>
                    <a:pt x="36316" y="709781"/>
                  </a:lnTo>
                  <a:lnTo>
                    <a:pt x="0" y="702449"/>
                  </a:lnTo>
                  <a:lnTo>
                    <a:pt x="36316" y="695118"/>
                  </a:lnTo>
                  <a:lnTo>
                    <a:pt x="65973" y="675123"/>
                  </a:lnTo>
                  <a:lnTo>
                    <a:pt x="85968" y="645466"/>
                  </a:lnTo>
                  <a:lnTo>
                    <a:pt x="93299" y="609149"/>
                  </a:lnTo>
                  <a:lnTo>
                    <a:pt x="93299" y="93299"/>
                  </a:lnTo>
                  <a:lnTo>
                    <a:pt x="100631" y="56983"/>
                  </a:lnTo>
                  <a:lnTo>
                    <a:pt x="120626" y="27326"/>
                  </a:lnTo>
                  <a:lnTo>
                    <a:pt x="150283" y="7331"/>
                  </a:lnTo>
                  <a:lnTo>
                    <a:pt x="186599" y="0"/>
                  </a:lnTo>
                </a:path>
                <a:path w="186689" h="3269615">
                  <a:moveTo>
                    <a:pt x="186612" y="3269124"/>
                  </a:moveTo>
                  <a:lnTo>
                    <a:pt x="150295" y="3261792"/>
                  </a:lnTo>
                  <a:lnTo>
                    <a:pt x="120639" y="3241797"/>
                  </a:lnTo>
                  <a:lnTo>
                    <a:pt x="100644" y="3212141"/>
                  </a:lnTo>
                  <a:lnTo>
                    <a:pt x="93312" y="3175824"/>
                  </a:lnTo>
                  <a:lnTo>
                    <a:pt x="93312" y="2456574"/>
                  </a:lnTo>
                  <a:lnTo>
                    <a:pt x="85980" y="2420258"/>
                  </a:lnTo>
                  <a:lnTo>
                    <a:pt x="65985" y="2390601"/>
                  </a:lnTo>
                  <a:lnTo>
                    <a:pt x="36329" y="2370606"/>
                  </a:lnTo>
                  <a:lnTo>
                    <a:pt x="12" y="2363274"/>
                  </a:lnTo>
                  <a:lnTo>
                    <a:pt x="36329" y="2355942"/>
                  </a:lnTo>
                  <a:lnTo>
                    <a:pt x="65985" y="2335947"/>
                  </a:lnTo>
                  <a:lnTo>
                    <a:pt x="85980" y="2306291"/>
                  </a:lnTo>
                  <a:lnTo>
                    <a:pt x="93312" y="2269974"/>
                  </a:lnTo>
                  <a:lnTo>
                    <a:pt x="93312" y="1550724"/>
                  </a:lnTo>
                  <a:lnTo>
                    <a:pt x="100644" y="1514408"/>
                  </a:lnTo>
                  <a:lnTo>
                    <a:pt x="120639" y="1484751"/>
                  </a:lnTo>
                  <a:lnTo>
                    <a:pt x="150295" y="1464756"/>
                  </a:lnTo>
                  <a:lnTo>
                    <a:pt x="186612" y="14574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25250" y="3042544"/>
            <a:ext cx="743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E69137"/>
                </a:solidFill>
                <a:latin typeface="Book Antiqua"/>
                <a:cs typeface="Book Antiqua"/>
              </a:rPr>
              <a:t>non-</a:t>
            </a:r>
            <a:r>
              <a:rPr sz="1400" b="1" spc="-114" dirty="0">
                <a:solidFill>
                  <a:srgbClr val="E69137"/>
                </a:solidFill>
                <a:latin typeface="Book Antiqua"/>
                <a:cs typeface="Book Antiqua"/>
              </a:rPr>
              <a:t>SSM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25250" y="3488919"/>
            <a:ext cx="3702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25" dirty="0">
                <a:solidFill>
                  <a:srgbClr val="E69137"/>
                </a:solidFill>
                <a:latin typeface="Book Antiqua"/>
                <a:cs typeface="Book Antiqua"/>
              </a:rPr>
              <a:t>SSM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5250" y="3959694"/>
            <a:ext cx="743585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C78D8"/>
                </a:solidFill>
                <a:latin typeface="Book Antiqua"/>
                <a:cs typeface="Book Antiqua"/>
              </a:rPr>
              <a:t>non-</a:t>
            </a:r>
            <a:r>
              <a:rPr sz="1400" b="1" spc="-114" dirty="0">
                <a:solidFill>
                  <a:srgbClr val="3C78D8"/>
                </a:solidFill>
                <a:latin typeface="Book Antiqua"/>
                <a:cs typeface="Book Antiqua"/>
              </a:rPr>
              <a:t>SSM</a:t>
            </a:r>
            <a:endParaRPr sz="14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3C78D8"/>
                </a:solidFill>
                <a:latin typeface="Book Antiqua"/>
                <a:cs typeface="Book Antiqua"/>
              </a:rPr>
              <a:t>SSM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308" y="1830408"/>
            <a:ext cx="195516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150" b="1" spc="-140" dirty="0">
                <a:solidFill>
                  <a:srgbClr val="595959"/>
                </a:solidFill>
                <a:latin typeface="Book Antiqua"/>
                <a:cs typeface="Book Antiqua"/>
              </a:rPr>
              <a:t>SOTA</a:t>
            </a:r>
            <a:r>
              <a:rPr sz="1150" b="1" spc="5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150" b="1" spc="-20" dirty="0">
                <a:solidFill>
                  <a:srgbClr val="595959"/>
                </a:solidFill>
                <a:latin typeface="Book Antiqua"/>
                <a:cs typeface="Book Antiqua"/>
              </a:rPr>
              <a:t>Retrieval-</a:t>
            </a:r>
            <a:r>
              <a:rPr sz="1150" b="1" dirty="0">
                <a:solidFill>
                  <a:srgbClr val="595959"/>
                </a:solidFill>
                <a:latin typeface="Book Antiqua"/>
                <a:cs typeface="Book Antiqua"/>
              </a:rPr>
              <a:t>based</a:t>
            </a:r>
            <a:r>
              <a:rPr sz="1150" b="1" spc="5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150" b="1" spc="-40" dirty="0">
                <a:solidFill>
                  <a:srgbClr val="595959"/>
                </a:solidFill>
                <a:latin typeface="Book Antiqua"/>
                <a:cs typeface="Book Antiqua"/>
              </a:rPr>
              <a:t>Models </a:t>
            </a:r>
            <a:r>
              <a:rPr sz="1150" spc="50" dirty="0">
                <a:solidFill>
                  <a:srgbClr val="595959"/>
                </a:solidFill>
                <a:latin typeface="Times New Roman"/>
                <a:cs typeface="Times New Roman"/>
              </a:rPr>
              <a:t>(can</a:t>
            </a:r>
            <a:r>
              <a:rPr sz="115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595959"/>
                </a:solidFill>
                <a:latin typeface="Times New Roman"/>
                <a:cs typeface="Times New Roman"/>
              </a:rPr>
              <a:t>access</a:t>
            </a:r>
            <a:r>
              <a:rPr sz="115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50" spc="55" dirty="0">
                <a:solidFill>
                  <a:srgbClr val="595959"/>
                </a:solidFill>
                <a:latin typeface="Times New Roman"/>
                <a:cs typeface="Times New Roman"/>
              </a:rPr>
              <a:t>external documents)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6309" y="3467058"/>
            <a:ext cx="192786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150" b="1" spc="-35" dirty="0">
                <a:solidFill>
                  <a:srgbClr val="595959"/>
                </a:solidFill>
                <a:latin typeface="Book Antiqua"/>
                <a:cs typeface="Book Antiqua"/>
              </a:rPr>
              <a:t>Closed-</a:t>
            </a:r>
            <a:r>
              <a:rPr sz="1150" b="1" spc="-20" dirty="0">
                <a:solidFill>
                  <a:srgbClr val="595959"/>
                </a:solidFill>
                <a:latin typeface="Book Antiqua"/>
                <a:cs typeface="Book Antiqua"/>
              </a:rPr>
              <a:t>Book</a:t>
            </a:r>
            <a:r>
              <a:rPr sz="1150" b="1" spc="-15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150" b="1" spc="-170" dirty="0">
                <a:solidFill>
                  <a:srgbClr val="595959"/>
                </a:solidFill>
                <a:latin typeface="Book Antiqua"/>
                <a:cs typeface="Book Antiqua"/>
              </a:rPr>
              <a:t>QA</a:t>
            </a:r>
            <a:r>
              <a:rPr sz="1150" b="1" spc="-10" dirty="0">
                <a:solidFill>
                  <a:srgbClr val="595959"/>
                </a:solidFill>
                <a:latin typeface="Book Antiqua"/>
                <a:cs typeface="Book Antiqua"/>
              </a:rPr>
              <a:t> models </a:t>
            </a:r>
            <a:r>
              <a:rPr sz="1150" b="1" spc="-20" dirty="0">
                <a:solidFill>
                  <a:srgbClr val="595959"/>
                </a:solidFill>
                <a:latin typeface="Book Antiqua"/>
                <a:cs typeface="Book Antiqua"/>
              </a:rPr>
              <a:t>with </a:t>
            </a:r>
            <a:r>
              <a:rPr sz="1150" b="1" dirty="0">
                <a:solidFill>
                  <a:srgbClr val="595959"/>
                </a:solidFill>
                <a:latin typeface="Book Antiqua"/>
                <a:cs typeface="Book Antiqua"/>
              </a:rPr>
              <a:t>ﬁne-</a:t>
            </a:r>
            <a:r>
              <a:rPr sz="1150" b="1" spc="-20" dirty="0">
                <a:solidFill>
                  <a:srgbClr val="595959"/>
                </a:solidFill>
                <a:latin typeface="Book Antiqua"/>
                <a:cs typeface="Book Antiqua"/>
              </a:rPr>
              <a:t>tuning</a:t>
            </a:r>
            <a:r>
              <a:rPr sz="1150" b="1" spc="13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150" dirty="0">
                <a:solidFill>
                  <a:srgbClr val="595959"/>
                </a:solidFill>
                <a:latin typeface="Times New Roman"/>
                <a:cs typeface="Times New Roman"/>
              </a:rPr>
              <a:t>(relies</a:t>
            </a:r>
            <a:r>
              <a:rPr sz="115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595959"/>
                </a:solidFill>
                <a:latin typeface="Times New Roman"/>
                <a:cs typeface="Times New Roman"/>
              </a:rPr>
              <a:t>only</a:t>
            </a:r>
            <a:r>
              <a:rPr sz="115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50" spc="60" dirty="0">
                <a:solidFill>
                  <a:srgbClr val="595959"/>
                </a:solidFill>
                <a:latin typeface="Times New Roman"/>
                <a:cs typeface="Times New Roman"/>
              </a:rPr>
              <a:t>on </a:t>
            </a:r>
            <a:r>
              <a:rPr sz="1150" spc="70" dirty="0">
                <a:solidFill>
                  <a:srgbClr val="595959"/>
                </a:solidFill>
                <a:latin typeface="Times New Roman"/>
                <a:cs typeface="Times New Roman"/>
              </a:rPr>
              <a:t>internal</a:t>
            </a:r>
            <a:r>
              <a:rPr sz="1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50" spc="60" dirty="0">
                <a:solidFill>
                  <a:srgbClr val="595959"/>
                </a:solidFill>
                <a:latin typeface="Times New Roman"/>
                <a:cs typeface="Times New Roman"/>
              </a:rPr>
              <a:t>parameters)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90675" y="960334"/>
            <a:ext cx="1575435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dirty="0">
                <a:solidFill>
                  <a:srgbClr val="595959"/>
                </a:solidFill>
                <a:latin typeface="Book Antiqua"/>
                <a:cs typeface="Book Antiqua"/>
              </a:rPr>
              <a:t>Metric:</a:t>
            </a:r>
            <a:r>
              <a:rPr sz="1350" spc="85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595959"/>
                </a:solidFill>
                <a:latin typeface="Book Antiqua"/>
                <a:cs typeface="Book Antiqua"/>
              </a:rPr>
              <a:t>Exact</a:t>
            </a:r>
            <a:r>
              <a:rPr sz="1350" spc="9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350" spc="-20" dirty="0">
                <a:solidFill>
                  <a:srgbClr val="595959"/>
                </a:solidFill>
                <a:latin typeface="Book Antiqua"/>
                <a:cs typeface="Book Antiqua"/>
              </a:rPr>
              <a:t>Match</a:t>
            </a:r>
            <a:endParaRPr sz="135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4899" y="4689478"/>
            <a:ext cx="2237740" cy="3797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14"/>
              </a:spcBef>
            </a:pPr>
            <a:r>
              <a:rPr sz="900" b="1" spc="-30" dirty="0">
                <a:solidFill>
                  <a:srgbClr val="666666"/>
                </a:solidFill>
                <a:latin typeface="Book Antiqua"/>
                <a:cs typeface="Book Antiqua"/>
              </a:rPr>
              <a:t>Closed-</a:t>
            </a:r>
            <a:r>
              <a:rPr sz="900" b="1" spc="-20" dirty="0">
                <a:solidFill>
                  <a:srgbClr val="666666"/>
                </a:solidFill>
                <a:latin typeface="Book Antiqua"/>
                <a:cs typeface="Book Antiqua"/>
              </a:rPr>
              <a:t>Book</a:t>
            </a:r>
            <a:r>
              <a:rPr sz="900" b="1" spc="-10" dirty="0">
                <a:solidFill>
                  <a:srgbClr val="666666"/>
                </a:solidFill>
                <a:latin typeface="Book Antiqua"/>
                <a:cs typeface="Book Antiqua"/>
              </a:rPr>
              <a:t> </a:t>
            </a:r>
            <a:r>
              <a:rPr sz="900" b="1" spc="-135" dirty="0">
                <a:solidFill>
                  <a:srgbClr val="666666"/>
                </a:solidFill>
                <a:latin typeface="Book Antiqua"/>
                <a:cs typeface="Book Antiqua"/>
              </a:rPr>
              <a:t>QA</a:t>
            </a:r>
            <a:r>
              <a:rPr sz="900" b="1" spc="-5" dirty="0">
                <a:solidFill>
                  <a:srgbClr val="666666"/>
                </a:solidFill>
                <a:latin typeface="Book Antiqua"/>
                <a:cs typeface="Book Antiqua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Book Antiqua"/>
                <a:cs typeface="Book Antiqua"/>
              </a:rPr>
              <a:t>model</a:t>
            </a:r>
            <a:r>
              <a:rPr sz="900" b="1" spc="-5" dirty="0">
                <a:solidFill>
                  <a:srgbClr val="666666"/>
                </a:solidFill>
                <a:latin typeface="Book Antiqua"/>
                <a:cs typeface="Book Antiqua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Book Antiqua"/>
                <a:cs typeface="Book Antiqua"/>
              </a:rPr>
              <a:t>without</a:t>
            </a:r>
            <a:r>
              <a:rPr sz="900" b="1" spc="-5" dirty="0">
                <a:solidFill>
                  <a:srgbClr val="666666"/>
                </a:solidFill>
                <a:latin typeface="Book Antiqua"/>
                <a:cs typeface="Book Antiqua"/>
              </a:rPr>
              <a:t> </a:t>
            </a:r>
            <a:r>
              <a:rPr sz="900" b="1" dirty="0">
                <a:solidFill>
                  <a:srgbClr val="666666"/>
                </a:solidFill>
                <a:latin typeface="Book Antiqua"/>
                <a:cs typeface="Book Antiqua"/>
              </a:rPr>
              <a:t>ﬁne-</a:t>
            </a:r>
            <a:r>
              <a:rPr sz="900" b="1" spc="-10" dirty="0">
                <a:solidFill>
                  <a:srgbClr val="666666"/>
                </a:solidFill>
                <a:latin typeface="Book Antiqua"/>
                <a:cs typeface="Book Antiqua"/>
              </a:rPr>
              <a:t>tuning</a:t>
            </a:r>
            <a:endParaRPr sz="900">
              <a:latin typeface="Book Antiqua"/>
              <a:cs typeface="Book Antiqua"/>
            </a:endParaRPr>
          </a:p>
          <a:p>
            <a:pPr marR="12065" algn="r">
              <a:lnSpc>
                <a:spcPct val="100000"/>
              </a:lnSpc>
              <a:spcBef>
                <a:spcPts val="310"/>
              </a:spcBef>
            </a:pPr>
            <a:r>
              <a:rPr sz="900" b="1" spc="-114" dirty="0">
                <a:solidFill>
                  <a:srgbClr val="666666"/>
                </a:solidFill>
                <a:latin typeface="Book Antiqua"/>
                <a:cs typeface="Book Antiqua"/>
              </a:rPr>
              <a:t>SOTA</a:t>
            </a:r>
            <a:r>
              <a:rPr sz="900" b="1" spc="25" dirty="0">
                <a:solidFill>
                  <a:srgbClr val="666666"/>
                </a:solidFill>
                <a:latin typeface="Book Antiqua"/>
                <a:cs typeface="Book Antiqua"/>
              </a:rPr>
              <a:t> </a:t>
            </a:r>
            <a:r>
              <a:rPr sz="900" b="1" spc="-20" dirty="0">
                <a:solidFill>
                  <a:srgbClr val="666666"/>
                </a:solidFill>
                <a:latin typeface="Book Antiqua"/>
                <a:cs typeface="Book Antiqua"/>
              </a:rPr>
              <a:t>Retrieval-</a:t>
            </a:r>
            <a:r>
              <a:rPr sz="900" b="1" dirty="0">
                <a:solidFill>
                  <a:srgbClr val="666666"/>
                </a:solidFill>
                <a:latin typeface="Book Antiqua"/>
                <a:cs typeface="Book Antiqua"/>
              </a:rPr>
              <a:t>based</a:t>
            </a:r>
            <a:r>
              <a:rPr sz="900" b="1" spc="25" dirty="0">
                <a:solidFill>
                  <a:srgbClr val="666666"/>
                </a:solidFill>
                <a:latin typeface="Book Antiqua"/>
                <a:cs typeface="Book Antiqua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Book Antiqua"/>
                <a:cs typeface="Book Antiqua"/>
              </a:rPr>
              <a:t>Models</a:t>
            </a:r>
            <a:endParaRPr sz="90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08585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mbria"/>
                <a:cs typeface="Cambria"/>
              </a:rPr>
              <a:t>Results</a:t>
            </a:r>
            <a:r>
              <a:rPr dirty="0"/>
              <a:t>:</a:t>
            </a:r>
            <a:r>
              <a:rPr spc="-35" dirty="0"/>
              <a:t> </a:t>
            </a:r>
            <a:r>
              <a:rPr spc="65" dirty="0"/>
              <a:t>Scale</a:t>
            </a:r>
            <a:r>
              <a:rPr spc="-35" dirty="0"/>
              <a:t> </a:t>
            </a:r>
            <a:r>
              <a:rPr spc="130" dirty="0"/>
              <a:t>correlates</a:t>
            </a:r>
            <a:r>
              <a:rPr spc="-35" dirty="0"/>
              <a:t> </a:t>
            </a:r>
            <a:r>
              <a:rPr spc="120" dirty="0"/>
              <a:t>with</a:t>
            </a:r>
            <a:r>
              <a:rPr spc="-35" dirty="0"/>
              <a:t> </a:t>
            </a:r>
            <a:r>
              <a:rPr spc="160" dirty="0"/>
              <a:t>performance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1987" y="1080075"/>
            <a:ext cx="3642995" cy="3792220"/>
            <a:chOff x="2581987" y="1080075"/>
            <a:chExt cx="3642995" cy="3792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3250" y="1080075"/>
              <a:ext cx="3359879" cy="37919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64150" y="3932449"/>
              <a:ext cx="821055" cy="653415"/>
            </a:xfrm>
            <a:custGeom>
              <a:avLst/>
              <a:gdLst/>
              <a:ahLst/>
              <a:cxnLst/>
              <a:rect l="l" t="t" r="r" b="b"/>
              <a:pathLst>
                <a:path w="821054" h="653414">
                  <a:moveTo>
                    <a:pt x="0" y="108852"/>
                  </a:moveTo>
                  <a:lnTo>
                    <a:pt x="8554" y="66482"/>
                  </a:lnTo>
                  <a:lnTo>
                    <a:pt x="31882" y="31882"/>
                  </a:lnTo>
                  <a:lnTo>
                    <a:pt x="66481" y="8554"/>
                  </a:lnTo>
                  <a:lnTo>
                    <a:pt x="108852" y="0"/>
                  </a:lnTo>
                  <a:lnTo>
                    <a:pt x="711947" y="0"/>
                  </a:lnTo>
                  <a:lnTo>
                    <a:pt x="753603" y="8285"/>
                  </a:lnTo>
                  <a:lnTo>
                    <a:pt x="788917" y="31881"/>
                  </a:lnTo>
                  <a:lnTo>
                    <a:pt x="812514" y="67196"/>
                  </a:lnTo>
                  <a:lnTo>
                    <a:pt x="820799" y="108852"/>
                  </a:lnTo>
                  <a:lnTo>
                    <a:pt x="820799" y="544247"/>
                  </a:lnTo>
                  <a:lnTo>
                    <a:pt x="812245" y="586617"/>
                  </a:lnTo>
                  <a:lnTo>
                    <a:pt x="788917" y="621217"/>
                  </a:lnTo>
                  <a:lnTo>
                    <a:pt x="754317" y="644545"/>
                  </a:lnTo>
                  <a:lnTo>
                    <a:pt x="711947" y="653099"/>
                  </a:lnTo>
                  <a:lnTo>
                    <a:pt x="108852" y="653099"/>
                  </a:lnTo>
                  <a:lnTo>
                    <a:pt x="66481" y="644545"/>
                  </a:lnTo>
                  <a:lnTo>
                    <a:pt x="31882" y="621217"/>
                  </a:lnTo>
                  <a:lnTo>
                    <a:pt x="8554" y="586617"/>
                  </a:lnTo>
                  <a:lnTo>
                    <a:pt x="0" y="544247"/>
                  </a:lnTo>
                  <a:lnTo>
                    <a:pt x="0" y="108852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6750" y="3016350"/>
              <a:ext cx="1607185" cy="653415"/>
            </a:xfrm>
            <a:custGeom>
              <a:avLst/>
              <a:gdLst/>
              <a:ahLst/>
              <a:cxnLst/>
              <a:rect l="l" t="t" r="r" b="b"/>
              <a:pathLst>
                <a:path w="1607185" h="653414">
                  <a:moveTo>
                    <a:pt x="1497947" y="653099"/>
                  </a:moveTo>
                  <a:lnTo>
                    <a:pt x="108852" y="653099"/>
                  </a:lnTo>
                  <a:lnTo>
                    <a:pt x="66482" y="644545"/>
                  </a:lnTo>
                  <a:lnTo>
                    <a:pt x="31882" y="621217"/>
                  </a:lnTo>
                  <a:lnTo>
                    <a:pt x="8554" y="586617"/>
                  </a:lnTo>
                  <a:lnTo>
                    <a:pt x="0" y="544247"/>
                  </a:lnTo>
                  <a:lnTo>
                    <a:pt x="0" y="108852"/>
                  </a:lnTo>
                  <a:lnTo>
                    <a:pt x="8554" y="66481"/>
                  </a:lnTo>
                  <a:lnTo>
                    <a:pt x="31882" y="31881"/>
                  </a:lnTo>
                  <a:lnTo>
                    <a:pt x="66482" y="8554"/>
                  </a:lnTo>
                  <a:lnTo>
                    <a:pt x="108852" y="0"/>
                  </a:lnTo>
                  <a:lnTo>
                    <a:pt x="1497947" y="0"/>
                  </a:lnTo>
                  <a:lnTo>
                    <a:pt x="1539603" y="8285"/>
                  </a:lnTo>
                  <a:lnTo>
                    <a:pt x="1574918" y="31882"/>
                  </a:lnTo>
                  <a:lnTo>
                    <a:pt x="1598514" y="67196"/>
                  </a:lnTo>
                  <a:lnTo>
                    <a:pt x="1606799" y="108852"/>
                  </a:lnTo>
                  <a:lnTo>
                    <a:pt x="1606799" y="544247"/>
                  </a:lnTo>
                  <a:lnTo>
                    <a:pt x="1598245" y="586617"/>
                  </a:lnTo>
                  <a:lnTo>
                    <a:pt x="1574917" y="621217"/>
                  </a:lnTo>
                  <a:lnTo>
                    <a:pt x="1540317" y="644545"/>
                  </a:lnTo>
                  <a:lnTo>
                    <a:pt x="1497947" y="6530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76750" y="3016350"/>
              <a:ext cx="1607185" cy="653415"/>
            </a:xfrm>
            <a:custGeom>
              <a:avLst/>
              <a:gdLst/>
              <a:ahLst/>
              <a:cxnLst/>
              <a:rect l="l" t="t" r="r" b="b"/>
              <a:pathLst>
                <a:path w="1607185" h="653414">
                  <a:moveTo>
                    <a:pt x="0" y="108852"/>
                  </a:moveTo>
                  <a:lnTo>
                    <a:pt x="8554" y="66481"/>
                  </a:lnTo>
                  <a:lnTo>
                    <a:pt x="31882" y="31882"/>
                  </a:lnTo>
                  <a:lnTo>
                    <a:pt x="66482" y="8554"/>
                  </a:lnTo>
                  <a:lnTo>
                    <a:pt x="108852" y="0"/>
                  </a:lnTo>
                  <a:lnTo>
                    <a:pt x="1497947" y="0"/>
                  </a:lnTo>
                  <a:lnTo>
                    <a:pt x="1539603" y="8285"/>
                  </a:lnTo>
                  <a:lnTo>
                    <a:pt x="1574917" y="31881"/>
                  </a:lnTo>
                  <a:lnTo>
                    <a:pt x="1598514" y="67196"/>
                  </a:lnTo>
                  <a:lnTo>
                    <a:pt x="1606799" y="108852"/>
                  </a:lnTo>
                  <a:lnTo>
                    <a:pt x="1606799" y="544247"/>
                  </a:lnTo>
                  <a:lnTo>
                    <a:pt x="1598245" y="586617"/>
                  </a:lnTo>
                  <a:lnTo>
                    <a:pt x="1574917" y="621217"/>
                  </a:lnTo>
                  <a:lnTo>
                    <a:pt x="1540317" y="644545"/>
                  </a:lnTo>
                  <a:lnTo>
                    <a:pt x="1497947" y="653099"/>
                  </a:lnTo>
                  <a:lnTo>
                    <a:pt x="108852" y="653099"/>
                  </a:lnTo>
                  <a:lnTo>
                    <a:pt x="66482" y="644545"/>
                  </a:lnTo>
                  <a:lnTo>
                    <a:pt x="31882" y="621217"/>
                  </a:lnTo>
                  <a:lnTo>
                    <a:pt x="8554" y="586617"/>
                  </a:lnTo>
                  <a:lnTo>
                    <a:pt x="0" y="544247"/>
                  </a:lnTo>
                  <a:lnTo>
                    <a:pt x="0" y="10885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6750" y="3932449"/>
              <a:ext cx="1607185" cy="653415"/>
            </a:xfrm>
            <a:custGeom>
              <a:avLst/>
              <a:gdLst/>
              <a:ahLst/>
              <a:cxnLst/>
              <a:rect l="l" t="t" r="r" b="b"/>
              <a:pathLst>
                <a:path w="1607185" h="653414">
                  <a:moveTo>
                    <a:pt x="1497947" y="653099"/>
                  </a:moveTo>
                  <a:lnTo>
                    <a:pt x="108852" y="653099"/>
                  </a:lnTo>
                  <a:lnTo>
                    <a:pt x="66482" y="644545"/>
                  </a:lnTo>
                  <a:lnTo>
                    <a:pt x="31882" y="621217"/>
                  </a:lnTo>
                  <a:lnTo>
                    <a:pt x="8554" y="586617"/>
                  </a:lnTo>
                  <a:lnTo>
                    <a:pt x="0" y="544247"/>
                  </a:lnTo>
                  <a:lnTo>
                    <a:pt x="0" y="108852"/>
                  </a:lnTo>
                  <a:lnTo>
                    <a:pt x="8554" y="66482"/>
                  </a:lnTo>
                  <a:lnTo>
                    <a:pt x="31882" y="31881"/>
                  </a:lnTo>
                  <a:lnTo>
                    <a:pt x="66482" y="8554"/>
                  </a:lnTo>
                  <a:lnTo>
                    <a:pt x="108852" y="0"/>
                  </a:lnTo>
                  <a:lnTo>
                    <a:pt x="1497947" y="0"/>
                  </a:lnTo>
                  <a:lnTo>
                    <a:pt x="1539603" y="8285"/>
                  </a:lnTo>
                  <a:lnTo>
                    <a:pt x="1574918" y="31882"/>
                  </a:lnTo>
                  <a:lnTo>
                    <a:pt x="1598514" y="67196"/>
                  </a:lnTo>
                  <a:lnTo>
                    <a:pt x="1606799" y="108852"/>
                  </a:lnTo>
                  <a:lnTo>
                    <a:pt x="1606799" y="544247"/>
                  </a:lnTo>
                  <a:lnTo>
                    <a:pt x="1598245" y="586617"/>
                  </a:lnTo>
                  <a:lnTo>
                    <a:pt x="1574917" y="621217"/>
                  </a:lnTo>
                  <a:lnTo>
                    <a:pt x="1540317" y="644545"/>
                  </a:lnTo>
                  <a:lnTo>
                    <a:pt x="1497947" y="6530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6750" y="3932449"/>
              <a:ext cx="1607185" cy="653415"/>
            </a:xfrm>
            <a:custGeom>
              <a:avLst/>
              <a:gdLst/>
              <a:ahLst/>
              <a:cxnLst/>
              <a:rect l="l" t="t" r="r" b="b"/>
              <a:pathLst>
                <a:path w="1607185" h="653414">
                  <a:moveTo>
                    <a:pt x="0" y="108852"/>
                  </a:moveTo>
                  <a:lnTo>
                    <a:pt x="8554" y="66482"/>
                  </a:lnTo>
                  <a:lnTo>
                    <a:pt x="31882" y="31882"/>
                  </a:lnTo>
                  <a:lnTo>
                    <a:pt x="66482" y="8554"/>
                  </a:lnTo>
                  <a:lnTo>
                    <a:pt x="108852" y="0"/>
                  </a:lnTo>
                  <a:lnTo>
                    <a:pt x="1497947" y="0"/>
                  </a:lnTo>
                  <a:lnTo>
                    <a:pt x="1539603" y="8285"/>
                  </a:lnTo>
                  <a:lnTo>
                    <a:pt x="1574917" y="31881"/>
                  </a:lnTo>
                  <a:lnTo>
                    <a:pt x="1598514" y="67196"/>
                  </a:lnTo>
                  <a:lnTo>
                    <a:pt x="1606799" y="108852"/>
                  </a:lnTo>
                  <a:lnTo>
                    <a:pt x="1606799" y="544247"/>
                  </a:lnTo>
                  <a:lnTo>
                    <a:pt x="1598245" y="586617"/>
                  </a:lnTo>
                  <a:lnTo>
                    <a:pt x="1574917" y="621217"/>
                  </a:lnTo>
                  <a:lnTo>
                    <a:pt x="1540317" y="644545"/>
                  </a:lnTo>
                  <a:lnTo>
                    <a:pt x="1497947" y="653099"/>
                  </a:lnTo>
                  <a:lnTo>
                    <a:pt x="108852" y="653099"/>
                  </a:lnTo>
                  <a:lnTo>
                    <a:pt x="66482" y="644545"/>
                  </a:lnTo>
                  <a:lnTo>
                    <a:pt x="31882" y="621217"/>
                  </a:lnTo>
                  <a:lnTo>
                    <a:pt x="8554" y="586617"/>
                  </a:lnTo>
                  <a:lnTo>
                    <a:pt x="0" y="544247"/>
                  </a:lnTo>
                  <a:lnTo>
                    <a:pt x="0" y="108852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64150" y="3016350"/>
              <a:ext cx="635635" cy="653415"/>
            </a:xfrm>
            <a:custGeom>
              <a:avLst/>
              <a:gdLst/>
              <a:ahLst/>
              <a:cxnLst/>
              <a:rect l="l" t="t" r="r" b="b"/>
              <a:pathLst>
                <a:path w="635635" h="653414">
                  <a:moveTo>
                    <a:pt x="0" y="105902"/>
                  </a:moveTo>
                  <a:lnTo>
                    <a:pt x="8322" y="64680"/>
                  </a:lnTo>
                  <a:lnTo>
                    <a:pt x="31018" y="31018"/>
                  </a:lnTo>
                  <a:lnTo>
                    <a:pt x="64680" y="8322"/>
                  </a:lnTo>
                  <a:lnTo>
                    <a:pt x="105902" y="0"/>
                  </a:lnTo>
                  <a:lnTo>
                    <a:pt x="529497" y="0"/>
                  </a:lnTo>
                  <a:lnTo>
                    <a:pt x="570024" y="8061"/>
                  </a:lnTo>
                  <a:lnTo>
                    <a:pt x="604381" y="31017"/>
                  </a:lnTo>
                  <a:lnTo>
                    <a:pt x="627338" y="65375"/>
                  </a:lnTo>
                  <a:lnTo>
                    <a:pt x="635399" y="105902"/>
                  </a:lnTo>
                  <a:lnTo>
                    <a:pt x="635399" y="547197"/>
                  </a:lnTo>
                  <a:lnTo>
                    <a:pt x="627077" y="588419"/>
                  </a:lnTo>
                  <a:lnTo>
                    <a:pt x="604381" y="622081"/>
                  </a:lnTo>
                  <a:lnTo>
                    <a:pt x="570719" y="644777"/>
                  </a:lnTo>
                  <a:lnTo>
                    <a:pt x="529497" y="653099"/>
                  </a:lnTo>
                  <a:lnTo>
                    <a:pt x="105902" y="653099"/>
                  </a:lnTo>
                  <a:lnTo>
                    <a:pt x="64680" y="644777"/>
                  </a:lnTo>
                  <a:lnTo>
                    <a:pt x="31018" y="622081"/>
                  </a:lnTo>
                  <a:lnTo>
                    <a:pt x="8322" y="588419"/>
                  </a:lnTo>
                  <a:lnTo>
                    <a:pt x="0" y="547197"/>
                  </a:lnTo>
                  <a:lnTo>
                    <a:pt x="0" y="105902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83125" y="3016350"/>
              <a:ext cx="136525" cy="653415"/>
            </a:xfrm>
            <a:custGeom>
              <a:avLst/>
              <a:gdLst/>
              <a:ahLst/>
              <a:cxnLst/>
              <a:rect l="l" t="t" r="r" b="b"/>
              <a:pathLst>
                <a:path w="136525" h="653414">
                  <a:moveTo>
                    <a:pt x="68249" y="653099"/>
                  </a:moveTo>
                  <a:lnTo>
                    <a:pt x="0" y="584849"/>
                  </a:lnTo>
                  <a:lnTo>
                    <a:pt x="34124" y="584849"/>
                  </a:lnTo>
                  <a:lnTo>
                    <a:pt x="34124" y="0"/>
                  </a:lnTo>
                  <a:lnTo>
                    <a:pt x="102374" y="0"/>
                  </a:lnTo>
                  <a:lnTo>
                    <a:pt x="102374" y="584849"/>
                  </a:lnTo>
                  <a:lnTo>
                    <a:pt x="136499" y="584849"/>
                  </a:lnTo>
                  <a:lnTo>
                    <a:pt x="68249" y="6530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83125" y="3016350"/>
              <a:ext cx="136525" cy="653415"/>
            </a:xfrm>
            <a:custGeom>
              <a:avLst/>
              <a:gdLst/>
              <a:ahLst/>
              <a:cxnLst/>
              <a:rect l="l" t="t" r="r" b="b"/>
              <a:pathLst>
                <a:path w="136525" h="653414">
                  <a:moveTo>
                    <a:pt x="0" y="584849"/>
                  </a:moveTo>
                  <a:lnTo>
                    <a:pt x="34124" y="584849"/>
                  </a:lnTo>
                  <a:lnTo>
                    <a:pt x="34124" y="0"/>
                  </a:lnTo>
                  <a:lnTo>
                    <a:pt x="102374" y="0"/>
                  </a:lnTo>
                  <a:lnTo>
                    <a:pt x="102374" y="584849"/>
                  </a:lnTo>
                  <a:lnTo>
                    <a:pt x="136499" y="584849"/>
                  </a:lnTo>
                  <a:lnTo>
                    <a:pt x="68249" y="653099"/>
                  </a:lnTo>
                  <a:lnTo>
                    <a:pt x="0" y="58484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83125" y="3932449"/>
              <a:ext cx="136525" cy="653415"/>
            </a:xfrm>
            <a:custGeom>
              <a:avLst/>
              <a:gdLst/>
              <a:ahLst/>
              <a:cxnLst/>
              <a:rect l="l" t="t" r="r" b="b"/>
              <a:pathLst>
                <a:path w="136525" h="653414">
                  <a:moveTo>
                    <a:pt x="68249" y="653099"/>
                  </a:moveTo>
                  <a:lnTo>
                    <a:pt x="0" y="584849"/>
                  </a:lnTo>
                  <a:lnTo>
                    <a:pt x="34124" y="584849"/>
                  </a:lnTo>
                  <a:lnTo>
                    <a:pt x="34124" y="0"/>
                  </a:lnTo>
                  <a:lnTo>
                    <a:pt x="102374" y="0"/>
                  </a:lnTo>
                  <a:lnTo>
                    <a:pt x="102374" y="584849"/>
                  </a:lnTo>
                  <a:lnTo>
                    <a:pt x="136499" y="584849"/>
                  </a:lnTo>
                  <a:lnTo>
                    <a:pt x="68249" y="6530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83125" y="3932449"/>
              <a:ext cx="136525" cy="653415"/>
            </a:xfrm>
            <a:custGeom>
              <a:avLst/>
              <a:gdLst/>
              <a:ahLst/>
              <a:cxnLst/>
              <a:rect l="l" t="t" r="r" b="b"/>
              <a:pathLst>
                <a:path w="136525" h="653414">
                  <a:moveTo>
                    <a:pt x="0" y="584849"/>
                  </a:moveTo>
                  <a:lnTo>
                    <a:pt x="34124" y="584849"/>
                  </a:lnTo>
                  <a:lnTo>
                    <a:pt x="34124" y="0"/>
                  </a:lnTo>
                  <a:lnTo>
                    <a:pt x="102374" y="0"/>
                  </a:lnTo>
                  <a:lnTo>
                    <a:pt x="102374" y="584849"/>
                  </a:lnTo>
                  <a:lnTo>
                    <a:pt x="136499" y="584849"/>
                  </a:lnTo>
                  <a:lnTo>
                    <a:pt x="68249" y="653099"/>
                  </a:lnTo>
                  <a:lnTo>
                    <a:pt x="0" y="584849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86750" y="3016350"/>
              <a:ext cx="136525" cy="653415"/>
            </a:xfrm>
            <a:custGeom>
              <a:avLst/>
              <a:gdLst/>
              <a:ahLst/>
              <a:cxnLst/>
              <a:rect l="l" t="t" r="r" b="b"/>
              <a:pathLst>
                <a:path w="136525" h="653414">
                  <a:moveTo>
                    <a:pt x="68249" y="653099"/>
                  </a:moveTo>
                  <a:lnTo>
                    <a:pt x="0" y="584849"/>
                  </a:lnTo>
                  <a:lnTo>
                    <a:pt x="34124" y="584849"/>
                  </a:lnTo>
                  <a:lnTo>
                    <a:pt x="34124" y="0"/>
                  </a:lnTo>
                  <a:lnTo>
                    <a:pt x="102374" y="0"/>
                  </a:lnTo>
                  <a:lnTo>
                    <a:pt x="102374" y="584849"/>
                  </a:lnTo>
                  <a:lnTo>
                    <a:pt x="136499" y="584849"/>
                  </a:lnTo>
                  <a:lnTo>
                    <a:pt x="68249" y="6530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86750" y="3016350"/>
              <a:ext cx="136525" cy="653415"/>
            </a:xfrm>
            <a:custGeom>
              <a:avLst/>
              <a:gdLst/>
              <a:ahLst/>
              <a:cxnLst/>
              <a:rect l="l" t="t" r="r" b="b"/>
              <a:pathLst>
                <a:path w="136525" h="653414">
                  <a:moveTo>
                    <a:pt x="0" y="584849"/>
                  </a:moveTo>
                  <a:lnTo>
                    <a:pt x="34124" y="584849"/>
                  </a:lnTo>
                  <a:lnTo>
                    <a:pt x="34124" y="0"/>
                  </a:lnTo>
                  <a:lnTo>
                    <a:pt x="102374" y="0"/>
                  </a:lnTo>
                  <a:lnTo>
                    <a:pt x="102374" y="584849"/>
                  </a:lnTo>
                  <a:lnTo>
                    <a:pt x="136499" y="584849"/>
                  </a:lnTo>
                  <a:lnTo>
                    <a:pt x="68249" y="653099"/>
                  </a:lnTo>
                  <a:lnTo>
                    <a:pt x="0" y="584849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86750" y="3932449"/>
              <a:ext cx="136525" cy="653415"/>
            </a:xfrm>
            <a:custGeom>
              <a:avLst/>
              <a:gdLst/>
              <a:ahLst/>
              <a:cxnLst/>
              <a:rect l="l" t="t" r="r" b="b"/>
              <a:pathLst>
                <a:path w="136525" h="653414">
                  <a:moveTo>
                    <a:pt x="68249" y="653099"/>
                  </a:moveTo>
                  <a:lnTo>
                    <a:pt x="0" y="584849"/>
                  </a:lnTo>
                  <a:lnTo>
                    <a:pt x="34124" y="584849"/>
                  </a:lnTo>
                  <a:lnTo>
                    <a:pt x="34124" y="0"/>
                  </a:lnTo>
                  <a:lnTo>
                    <a:pt x="102374" y="0"/>
                  </a:lnTo>
                  <a:lnTo>
                    <a:pt x="102374" y="584849"/>
                  </a:lnTo>
                  <a:lnTo>
                    <a:pt x="136499" y="584849"/>
                  </a:lnTo>
                  <a:lnTo>
                    <a:pt x="68249" y="6530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86750" y="3932449"/>
              <a:ext cx="136525" cy="653415"/>
            </a:xfrm>
            <a:custGeom>
              <a:avLst/>
              <a:gdLst/>
              <a:ahLst/>
              <a:cxnLst/>
              <a:rect l="l" t="t" r="r" b="b"/>
              <a:pathLst>
                <a:path w="136525" h="653414">
                  <a:moveTo>
                    <a:pt x="0" y="584849"/>
                  </a:moveTo>
                  <a:lnTo>
                    <a:pt x="34124" y="584849"/>
                  </a:lnTo>
                  <a:lnTo>
                    <a:pt x="34124" y="0"/>
                  </a:lnTo>
                  <a:lnTo>
                    <a:pt x="102374" y="0"/>
                  </a:lnTo>
                  <a:lnTo>
                    <a:pt x="102374" y="584849"/>
                  </a:lnTo>
                  <a:lnTo>
                    <a:pt x="136499" y="584849"/>
                  </a:lnTo>
                  <a:lnTo>
                    <a:pt x="68249" y="653099"/>
                  </a:lnTo>
                  <a:lnTo>
                    <a:pt x="0" y="584849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590675" y="1112734"/>
            <a:ext cx="1575435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dirty="0">
                <a:solidFill>
                  <a:srgbClr val="595959"/>
                </a:solidFill>
                <a:latin typeface="Book Antiqua"/>
                <a:cs typeface="Book Antiqua"/>
              </a:rPr>
              <a:t>Metric:</a:t>
            </a:r>
            <a:r>
              <a:rPr sz="1350" spc="85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595959"/>
                </a:solidFill>
                <a:latin typeface="Book Antiqua"/>
                <a:cs typeface="Book Antiqua"/>
              </a:rPr>
              <a:t>Exact</a:t>
            </a:r>
            <a:r>
              <a:rPr sz="1350" spc="90" dirty="0">
                <a:solidFill>
                  <a:srgbClr val="595959"/>
                </a:solidFill>
                <a:latin typeface="Book Antiqua"/>
                <a:cs typeface="Book Antiqua"/>
              </a:rPr>
              <a:t> </a:t>
            </a:r>
            <a:r>
              <a:rPr sz="1350" spc="-20" dirty="0">
                <a:solidFill>
                  <a:srgbClr val="595959"/>
                </a:solidFill>
                <a:latin typeface="Book Antiqua"/>
                <a:cs typeface="Book Antiqua"/>
              </a:rPr>
              <a:t>Match</a:t>
            </a:r>
            <a:endParaRPr sz="135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109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6392224" y="3178759"/>
            <a:ext cx="1894839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80" dirty="0">
                <a:solidFill>
                  <a:srgbClr val="E69137"/>
                </a:solidFill>
                <a:latin typeface="Times New Roman"/>
                <a:cs typeface="Times New Roman"/>
              </a:rPr>
              <a:t>increasing</a:t>
            </a:r>
            <a:r>
              <a:rPr sz="1350" spc="-10" dirty="0">
                <a:solidFill>
                  <a:srgbClr val="E69137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E69137"/>
                </a:solidFill>
                <a:latin typeface="Times New Roman"/>
                <a:cs typeface="Times New Roman"/>
              </a:rPr>
              <a:t>performance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92224" y="4094859"/>
            <a:ext cx="1894839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80" dirty="0">
                <a:solidFill>
                  <a:srgbClr val="3C78D8"/>
                </a:solidFill>
                <a:latin typeface="Times New Roman"/>
                <a:cs typeface="Times New Roman"/>
              </a:rPr>
              <a:t>increasing</a:t>
            </a:r>
            <a:r>
              <a:rPr sz="1350" spc="-1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3C78D8"/>
                </a:solidFill>
                <a:latin typeface="Times New Roman"/>
                <a:cs typeface="Times New Roman"/>
              </a:rPr>
              <a:t>performance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0301" y="3178759"/>
            <a:ext cx="117475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80" dirty="0">
                <a:solidFill>
                  <a:srgbClr val="E69137"/>
                </a:solidFill>
                <a:latin typeface="Times New Roman"/>
                <a:cs typeface="Times New Roman"/>
              </a:rPr>
              <a:t>increasing</a:t>
            </a:r>
            <a:r>
              <a:rPr sz="1350" spc="-10" dirty="0">
                <a:solidFill>
                  <a:srgbClr val="E69137"/>
                </a:solidFill>
                <a:latin typeface="Times New Roman"/>
                <a:cs typeface="Times New Roman"/>
              </a:rPr>
              <a:t> </a:t>
            </a:r>
            <a:r>
              <a:rPr sz="1350" spc="30" dirty="0">
                <a:solidFill>
                  <a:srgbClr val="E69137"/>
                </a:solidFill>
                <a:latin typeface="Times New Roman"/>
                <a:cs typeface="Times New Roman"/>
              </a:rPr>
              <a:t>size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0301" y="4094859"/>
            <a:ext cx="117475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80" dirty="0">
                <a:solidFill>
                  <a:srgbClr val="3C78D8"/>
                </a:solidFill>
                <a:latin typeface="Times New Roman"/>
                <a:cs typeface="Times New Roman"/>
              </a:rPr>
              <a:t>increasing</a:t>
            </a:r>
            <a:r>
              <a:rPr sz="1350" spc="-1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350" spc="30" dirty="0">
                <a:solidFill>
                  <a:srgbClr val="3C78D8"/>
                </a:solidFill>
                <a:latin typeface="Times New Roman"/>
                <a:cs typeface="Times New Roman"/>
              </a:rPr>
              <a:t>size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37630" y="1167824"/>
            <a:ext cx="6489065" cy="33978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484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65" dirty="0">
                <a:latin typeface="Times New Roman"/>
                <a:cs typeface="Times New Roman"/>
              </a:rPr>
              <a:t>Previous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results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adopt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evaluation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used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previous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work</a:t>
            </a:r>
            <a:endParaRPr sz="17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spcBef>
                <a:spcPts val="32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spc="50" dirty="0">
                <a:latin typeface="Times New Roman"/>
                <a:cs typeface="Times New Roman"/>
              </a:rPr>
              <a:t>Long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answers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unanswerable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questions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are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not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considered</a:t>
            </a:r>
            <a:endParaRPr sz="14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output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single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answer</a:t>
            </a:r>
            <a:endParaRPr sz="14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dirty="0">
                <a:latin typeface="Times New Roman"/>
                <a:cs typeface="Times New Roman"/>
              </a:rPr>
              <a:t>Only </a:t>
            </a:r>
            <a:r>
              <a:rPr sz="1400" spc="80" dirty="0">
                <a:latin typeface="Times New Roman"/>
                <a:cs typeface="Times New Roman"/>
              </a:rPr>
              <a:t>trained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with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ﬁrst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answer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 </a:t>
            </a:r>
            <a:r>
              <a:rPr sz="1400" spc="85" dirty="0">
                <a:latin typeface="Times New Roman"/>
                <a:cs typeface="Times New Roman"/>
              </a:rPr>
              <a:t>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question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has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multiple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answers</a:t>
            </a:r>
            <a:endParaRPr sz="14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spcBef>
                <a:spcPts val="254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spc="55" dirty="0">
                <a:latin typeface="Times New Roman"/>
                <a:cs typeface="Times New Roman"/>
              </a:rPr>
              <a:t>Answers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longer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than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tokens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are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excluded</a:t>
            </a:r>
            <a:endParaRPr sz="14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spc="55" dirty="0">
                <a:latin typeface="Times New Roman"/>
                <a:cs typeface="Times New Roman"/>
              </a:rPr>
              <a:t>Answers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are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normalized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(lowercased,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strip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articles,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punctuation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etc.)</a:t>
            </a:r>
            <a:endParaRPr sz="1400">
              <a:latin typeface="Times New Roman"/>
              <a:cs typeface="Times New Roman"/>
            </a:endParaRPr>
          </a:p>
          <a:p>
            <a:pPr marL="380365" indent="-359410">
              <a:lnSpc>
                <a:spcPct val="100000"/>
              </a:lnSpc>
              <a:spcBef>
                <a:spcPts val="825"/>
              </a:spcBef>
              <a:buFont typeface="Arial"/>
              <a:buChar char="●"/>
              <a:tabLst>
                <a:tab pos="380365" algn="l"/>
                <a:tab pos="381000" algn="l"/>
              </a:tabLst>
            </a:pPr>
            <a:r>
              <a:rPr sz="1700" b="1" spc="-10" dirty="0">
                <a:latin typeface="Cambria"/>
                <a:cs typeface="Cambria"/>
              </a:rPr>
              <a:t>Leaderboard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evaluation</a:t>
            </a:r>
            <a:endParaRPr sz="1700">
              <a:latin typeface="Cambria"/>
              <a:cs typeface="Cambria"/>
            </a:endParaRPr>
          </a:p>
          <a:p>
            <a:pPr marL="837565" lvl="1" indent="-336550">
              <a:lnSpc>
                <a:spcPct val="100000"/>
              </a:lnSpc>
              <a:spcBef>
                <a:spcPts val="320"/>
              </a:spcBef>
              <a:buFont typeface="Arial"/>
              <a:buChar char="○"/>
              <a:tabLst>
                <a:tab pos="837565" algn="l"/>
                <a:tab pos="838200" algn="l"/>
              </a:tabLst>
            </a:pPr>
            <a:r>
              <a:rPr sz="1400" spc="50" dirty="0">
                <a:latin typeface="Times New Roman"/>
                <a:cs typeface="Times New Roman"/>
              </a:rPr>
              <a:t>Long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answers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unanswerable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questions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are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not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considered</a:t>
            </a:r>
            <a:endParaRPr sz="1400">
              <a:latin typeface="Times New Roman"/>
              <a:cs typeface="Times New Roman"/>
            </a:endParaRPr>
          </a:p>
          <a:p>
            <a:pPr marL="837565" lvl="1" indent="-336550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837565" algn="l"/>
                <a:tab pos="838200" algn="l"/>
              </a:tabLst>
            </a:pPr>
            <a:r>
              <a:rPr sz="1400" dirty="0">
                <a:latin typeface="Times New Roman"/>
                <a:cs typeface="Times New Roman"/>
              </a:rPr>
              <a:t>Models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are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trained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predict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ground-truth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answers</a:t>
            </a:r>
            <a:endParaRPr sz="1400">
              <a:latin typeface="Times New Roman"/>
              <a:cs typeface="Times New Roman"/>
            </a:endParaRPr>
          </a:p>
          <a:p>
            <a:pPr marL="837565" lvl="1" indent="-336550">
              <a:lnSpc>
                <a:spcPct val="100000"/>
              </a:lnSpc>
              <a:spcBef>
                <a:spcPts val="254"/>
              </a:spcBef>
              <a:buFont typeface="Arial"/>
              <a:buChar char="○"/>
              <a:tabLst>
                <a:tab pos="837565" algn="l"/>
                <a:tab pos="838200" algn="l"/>
              </a:tabLst>
            </a:pP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considered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correct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predicts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b="1" i="1" spc="-20" dirty="0">
                <a:latin typeface="Book Antiqua"/>
                <a:cs typeface="Book Antiqua"/>
              </a:rPr>
              <a:t>all</a:t>
            </a:r>
            <a:r>
              <a:rPr sz="1400" b="1" i="1" dirty="0">
                <a:latin typeface="Book Antiqua"/>
                <a:cs typeface="Book Antiqua"/>
              </a:rPr>
              <a:t> </a:t>
            </a:r>
            <a:r>
              <a:rPr sz="1400" b="1" i="1" spc="-10" dirty="0">
                <a:latin typeface="Book Antiqua"/>
                <a:cs typeface="Book Antiqua"/>
              </a:rPr>
              <a:t>answers</a:t>
            </a:r>
            <a:r>
              <a:rPr sz="1400" b="1" i="1" spc="-15" dirty="0">
                <a:latin typeface="Book Antiqua"/>
                <a:cs typeface="Book Antiqua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correctly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/>
              <a:cs typeface="Times New Roman"/>
            </a:endParaRPr>
          </a:p>
          <a:p>
            <a:pPr marL="706755" marR="36195">
              <a:lnSpc>
                <a:spcPct val="100000"/>
              </a:lnSpc>
              <a:spcBef>
                <a:spcPts val="5"/>
              </a:spcBef>
            </a:pPr>
            <a:r>
              <a:rPr sz="1400" spc="-30" dirty="0">
                <a:latin typeface="Times New Roman"/>
                <a:cs typeface="Times New Roman"/>
              </a:rPr>
              <a:t>T5-</a:t>
            </a:r>
            <a:r>
              <a:rPr sz="1400" spc="-10" dirty="0">
                <a:latin typeface="Times New Roman"/>
                <a:cs typeface="Times New Roman"/>
              </a:rPr>
              <a:t>11B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SSM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achieves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recall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E69137"/>
                </a:solidFill>
                <a:latin typeface="Cambria"/>
                <a:cs typeface="Cambria"/>
              </a:rPr>
              <a:t>36.2</a:t>
            </a:r>
            <a:r>
              <a:rPr sz="1400" b="1" spc="2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validation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set,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which</a:t>
            </a:r>
            <a:r>
              <a:rPr sz="1400" spc="-20" dirty="0">
                <a:latin typeface="Times New Roman"/>
                <a:cs typeface="Times New Roman"/>
              </a:rPr>
              <a:t> lags </a:t>
            </a:r>
            <a:r>
              <a:rPr sz="1400" spc="95" dirty="0">
                <a:latin typeface="Times New Roman"/>
                <a:cs typeface="Times New Roman"/>
              </a:rPr>
              <a:t>behind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state-of-</a:t>
            </a:r>
            <a:r>
              <a:rPr sz="1400" spc="75" dirty="0">
                <a:latin typeface="Times New Roman"/>
                <a:cs typeface="Times New Roman"/>
              </a:rPr>
              <a:t>theart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score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E69137"/>
                </a:solidFill>
                <a:latin typeface="Cambria"/>
                <a:cs typeface="Cambria"/>
              </a:rPr>
              <a:t>51.9</a:t>
            </a:r>
            <a:r>
              <a:rPr sz="1400" b="1" spc="2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from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u="heavy" spc="8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Pan</a:t>
            </a:r>
            <a:r>
              <a:rPr sz="1400" u="heavy" spc="-1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400" u="heavy" spc="7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et</a:t>
            </a:r>
            <a:r>
              <a:rPr sz="1400" u="heavy" spc="-1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400" u="heavy" spc="6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al.</a:t>
            </a:r>
            <a:r>
              <a:rPr sz="1400" u="heavy" spc="-1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400" u="heavy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/>
                <a:cs typeface="Times New Roman"/>
                <a:hlinkClick r:id="rId2"/>
              </a:rPr>
              <a:t>(2019)</a:t>
            </a:r>
            <a:r>
              <a:rPr sz="1400" spc="-25" dirty="0">
                <a:solidFill>
                  <a:srgbClr val="3D85C6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at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time.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121535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Additional</a:t>
            </a:r>
            <a:r>
              <a:rPr spc="-30" dirty="0"/>
              <a:t> </a:t>
            </a:r>
            <a:r>
              <a:rPr spc="90" dirty="0"/>
              <a:t>Evaluation</a:t>
            </a:r>
            <a:r>
              <a:rPr spc="-30" dirty="0"/>
              <a:t> </a:t>
            </a:r>
            <a:r>
              <a:rPr spc="185" dirty="0"/>
              <a:t>on</a:t>
            </a:r>
            <a:r>
              <a:rPr spc="-30" dirty="0"/>
              <a:t> </a:t>
            </a:r>
            <a:r>
              <a:rPr spc="-25" dirty="0"/>
              <a:t>NQ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83566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Human</a:t>
            </a:r>
            <a:r>
              <a:rPr spc="-45" dirty="0"/>
              <a:t> </a:t>
            </a:r>
            <a:r>
              <a:rPr spc="90" dirty="0"/>
              <a:t>Evaluation</a:t>
            </a:r>
            <a:r>
              <a:rPr spc="-45" dirty="0"/>
              <a:t> </a:t>
            </a:r>
            <a:r>
              <a:rPr dirty="0"/>
              <a:t>+</a:t>
            </a:r>
            <a:r>
              <a:rPr spc="-45" dirty="0"/>
              <a:t> </a:t>
            </a:r>
            <a:r>
              <a:rPr spc="85" dirty="0"/>
              <a:t>Qualitative</a:t>
            </a:r>
            <a:r>
              <a:rPr spc="-45" dirty="0"/>
              <a:t> </a:t>
            </a:r>
            <a:r>
              <a:rPr spc="140" dirty="0"/>
              <a:t>Error</a:t>
            </a:r>
            <a:r>
              <a:rPr spc="-45" dirty="0"/>
              <a:t> </a:t>
            </a:r>
            <a:r>
              <a:rPr spc="5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30" y="1193277"/>
            <a:ext cx="7437120" cy="13728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405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0" dirty="0">
                <a:latin typeface="Times New Roman"/>
                <a:cs typeface="Times New Roman"/>
              </a:rPr>
              <a:t>Exact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Match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very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harsh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metric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80" dirty="0">
                <a:latin typeface="Times New Roman"/>
                <a:cs typeface="Times New Roman"/>
              </a:rPr>
              <a:t>→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potentially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lots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false</a:t>
            </a:r>
            <a:r>
              <a:rPr sz="1700" b="1" spc="-4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negatives</a:t>
            </a:r>
            <a:endParaRPr sz="1700">
              <a:latin typeface="Book Antiqua"/>
              <a:cs typeface="Book Antiqua"/>
            </a:endParaRPr>
          </a:p>
          <a:p>
            <a:pPr marL="371475" marR="5080" indent="-359410">
              <a:lnSpc>
                <a:spcPct val="114999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50" dirty="0">
                <a:latin typeface="Times New Roman"/>
                <a:cs typeface="Times New Roman"/>
              </a:rPr>
              <a:t>human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evaluation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see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what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percent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predicted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negatives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area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are </a:t>
            </a:r>
            <a:r>
              <a:rPr sz="1700" spc="65" dirty="0">
                <a:latin typeface="Times New Roman"/>
                <a:cs typeface="Times New Roman"/>
              </a:rPr>
              <a:t>actually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true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negatives</a:t>
            </a:r>
            <a:endParaRPr sz="1700">
              <a:latin typeface="Times New Roman"/>
              <a:cs typeface="Times New Roman"/>
            </a:endParaRPr>
          </a:p>
          <a:p>
            <a:pPr marL="290195" algn="ctr">
              <a:lnSpc>
                <a:spcPct val="100000"/>
              </a:lnSpc>
              <a:spcBef>
                <a:spcPts val="1410"/>
              </a:spcBef>
            </a:pPr>
            <a:r>
              <a:rPr sz="1800" b="1" spc="-135" dirty="0">
                <a:solidFill>
                  <a:srgbClr val="E69137"/>
                </a:solidFill>
                <a:latin typeface="Cambria"/>
                <a:cs typeface="Cambria"/>
              </a:rPr>
              <a:t>38%</a:t>
            </a:r>
            <a:r>
              <a:rPr sz="1800" b="1" dirty="0">
                <a:solidFill>
                  <a:srgbClr val="E69137"/>
                </a:solidFill>
                <a:latin typeface="Cambria"/>
                <a:cs typeface="Cambria"/>
              </a:rPr>
              <a:t> of</a:t>
            </a:r>
            <a:r>
              <a:rPr sz="1800" b="1" spc="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00" b="1" spc="-70" dirty="0">
                <a:solidFill>
                  <a:srgbClr val="E69137"/>
                </a:solidFill>
                <a:latin typeface="Cambria"/>
                <a:cs typeface="Cambria"/>
              </a:rPr>
              <a:t>T5ʼs</a:t>
            </a:r>
            <a:r>
              <a:rPr sz="1800" b="1" spc="1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E69137"/>
                </a:solidFill>
                <a:latin typeface="Cambria"/>
                <a:cs typeface="Cambria"/>
              </a:rPr>
              <a:t>“incorrect”</a:t>
            </a:r>
            <a:r>
              <a:rPr sz="1800" b="1" spc="1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E69137"/>
                </a:solidFill>
                <a:latin typeface="Cambria"/>
                <a:cs typeface="Cambria"/>
              </a:rPr>
              <a:t>predictions</a:t>
            </a:r>
            <a:r>
              <a:rPr sz="1800" b="1" spc="1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E69137"/>
                </a:solidFill>
                <a:latin typeface="Cambria"/>
                <a:cs typeface="Cambria"/>
              </a:rPr>
              <a:t>are</a:t>
            </a:r>
            <a:r>
              <a:rPr sz="1800" b="1" spc="1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E69137"/>
                </a:solidFill>
                <a:latin typeface="Cambria"/>
                <a:cs typeface="Cambria"/>
              </a:rPr>
              <a:t>actually</a:t>
            </a:r>
            <a:r>
              <a:rPr sz="1800" b="1" spc="1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E69137"/>
                </a:solidFill>
                <a:latin typeface="Cambria"/>
                <a:cs typeface="Cambria"/>
              </a:rPr>
              <a:t>correct!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9400" y="2716775"/>
            <a:ext cx="7957184" cy="2138680"/>
            <a:chOff x="569400" y="2716775"/>
            <a:chExt cx="7957184" cy="21386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400" y="2716775"/>
              <a:ext cx="7956951" cy="213861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8924" y="3314750"/>
              <a:ext cx="2585720" cy="243840"/>
            </a:xfrm>
            <a:custGeom>
              <a:avLst/>
              <a:gdLst/>
              <a:ahLst/>
              <a:cxnLst/>
              <a:rect l="l" t="t" r="r" b="b"/>
              <a:pathLst>
                <a:path w="2585720" h="243839">
                  <a:moveTo>
                    <a:pt x="2544549" y="243299"/>
                  </a:moveTo>
                  <a:lnTo>
                    <a:pt x="40550" y="243299"/>
                  </a:lnTo>
                  <a:lnTo>
                    <a:pt x="24766" y="240113"/>
                  </a:lnTo>
                  <a:lnTo>
                    <a:pt x="11877" y="231423"/>
                  </a:lnTo>
                  <a:lnTo>
                    <a:pt x="3186" y="218533"/>
                  </a:lnTo>
                  <a:lnTo>
                    <a:pt x="0" y="202749"/>
                  </a:lnTo>
                  <a:lnTo>
                    <a:pt x="0" y="40550"/>
                  </a:lnTo>
                  <a:lnTo>
                    <a:pt x="3186" y="24766"/>
                  </a:lnTo>
                  <a:lnTo>
                    <a:pt x="11877" y="11876"/>
                  </a:lnTo>
                  <a:lnTo>
                    <a:pt x="24766" y="3186"/>
                  </a:lnTo>
                  <a:lnTo>
                    <a:pt x="40550" y="0"/>
                  </a:lnTo>
                  <a:lnTo>
                    <a:pt x="2544549" y="0"/>
                  </a:lnTo>
                  <a:lnTo>
                    <a:pt x="2578286" y="18053"/>
                  </a:lnTo>
                  <a:lnTo>
                    <a:pt x="2585099" y="40550"/>
                  </a:lnTo>
                  <a:lnTo>
                    <a:pt x="2585099" y="202749"/>
                  </a:lnTo>
                  <a:lnTo>
                    <a:pt x="2581913" y="218533"/>
                  </a:lnTo>
                  <a:lnTo>
                    <a:pt x="2573222" y="231423"/>
                  </a:lnTo>
                  <a:lnTo>
                    <a:pt x="2560333" y="240113"/>
                  </a:lnTo>
                  <a:lnTo>
                    <a:pt x="2544549" y="2432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8924" y="3314750"/>
              <a:ext cx="2585720" cy="243840"/>
            </a:xfrm>
            <a:custGeom>
              <a:avLst/>
              <a:gdLst/>
              <a:ahLst/>
              <a:cxnLst/>
              <a:rect l="l" t="t" r="r" b="b"/>
              <a:pathLst>
                <a:path w="2585720" h="243839">
                  <a:moveTo>
                    <a:pt x="0" y="40550"/>
                  </a:moveTo>
                  <a:lnTo>
                    <a:pt x="3186" y="24766"/>
                  </a:lnTo>
                  <a:lnTo>
                    <a:pt x="11877" y="11876"/>
                  </a:lnTo>
                  <a:lnTo>
                    <a:pt x="24766" y="3186"/>
                  </a:lnTo>
                  <a:lnTo>
                    <a:pt x="40550" y="0"/>
                  </a:lnTo>
                  <a:lnTo>
                    <a:pt x="2544549" y="0"/>
                  </a:lnTo>
                  <a:lnTo>
                    <a:pt x="2578286" y="18053"/>
                  </a:lnTo>
                  <a:lnTo>
                    <a:pt x="2585099" y="40550"/>
                  </a:lnTo>
                  <a:lnTo>
                    <a:pt x="2585099" y="202749"/>
                  </a:lnTo>
                  <a:lnTo>
                    <a:pt x="2581913" y="218533"/>
                  </a:lnTo>
                  <a:lnTo>
                    <a:pt x="2573222" y="231423"/>
                  </a:lnTo>
                  <a:lnTo>
                    <a:pt x="2560333" y="240113"/>
                  </a:lnTo>
                  <a:lnTo>
                    <a:pt x="2544549" y="243299"/>
                  </a:lnTo>
                  <a:lnTo>
                    <a:pt x="40550" y="243299"/>
                  </a:lnTo>
                  <a:lnTo>
                    <a:pt x="24766" y="240113"/>
                  </a:lnTo>
                  <a:lnTo>
                    <a:pt x="11877" y="231423"/>
                  </a:lnTo>
                  <a:lnTo>
                    <a:pt x="3186" y="218533"/>
                  </a:lnTo>
                  <a:lnTo>
                    <a:pt x="0" y="202749"/>
                  </a:lnTo>
                  <a:lnTo>
                    <a:pt x="0" y="4055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8924" y="3682125"/>
              <a:ext cx="2585720" cy="243840"/>
            </a:xfrm>
            <a:custGeom>
              <a:avLst/>
              <a:gdLst/>
              <a:ahLst/>
              <a:cxnLst/>
              <a:rect l="l" t="t" r="r" b="b"/>
              <a:pathLst>
                <a:path w="2585720" h="243839">
                  <a:moveTo>
                    <a:pt x="2544549" y="243299"/>
                  </a:moveTo>
                  <a:lnTo>
                    <a:pt x="40550" y="243299"/>
                  </a:lnTo>
                  <a:lnTo>
                    <a:pt x="24766" y="240113"/>
                  </a:lnTo>
                  <a:lnTo>
                    <a:pt x="11877" y="231423"/>
                  </a:lnTo>
                  <a:lnTo>
                    <a:pt x="3186" y="218533"/>
                  </a:lnTo>
                  <a:lnTo>
                    <a:pt x="0" y="202749"/>
                  </a:lnTo>
                  <a:lnTo>
                    <a:pt x="0" y="40550"/>
                  </a:lnTo>
                  <a:lnTo>
                    <a:pt x="3186" y="24766"/>
                  </a:lnTo>
                  <a:lnTo>
                    <a:pt x="11877" y="11876"/>
                  </a:lnTo>
                  <a:lnTo>
                    <a:pt x="24766" y="3186"/>
                  </a:lnTo>
                  <a:lnTo>
                    <a:pt x="40550" y="0"/>
                  </a:lnTo>
                  <a:lnTo>
                    <a:pt x="2544549" y="0"/>
                  </a:lnTo>
                  <a:lnTo>
                    <a:pt x="2578286" y="18053"/>
                  </a:lnTo>
                  <a:lnTo>
                    <a:pt x="2585099" y="40550"/>
                  </a:lnTo>
                  <a:lnTo>
                    <a:pt x="2585099" y="202749"/>
                  </a:lnTo>
                  <a:lnTo>
                    <a:pt x="2581913" y="218533"/>
                  </a:lnTo>
                  <a:lnTo>
                    <a:pt x="2573222" y="231423"/>
                  </a:lnTo>
                  <a:lnTo>
                    <a:pt x="2560333" y="240113"/>
                  </a:lnTo>
                  <a:lnTo>
                    <a:pt x="2544549" y="2432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8924" y="3682125"/>
              <a:ext cx="2585720" cy="243840"/>
            </a:xfrm>
            <a:custGeom>
              <a:avLst/>
              <a:gdLst/>
              <a:ahLst/>
              <a:cxnLst/>
              <a:rect l="l" t="t" r="r" b="b"/>
              <a:pathLst>
                <a:path w="2585720" h="243839">
                  <a:moveTo>
                    <a:pt x="0" y="40550"/>
                  </a:moveTo>
                  <a:lnTo>
                    <a:pt x="3186" y="24766"/>
                  </a:lnTo>
                  <a:lnTo>
                    <a:pt x="11877" y="11876"/>
                  </a:lnTo>
                  <a:lnTo>
                    <a:pt x="24766" y="3186"/>
                  </a:lnTo>
                  <a:lnTo>
                    <a:pt x="40550" y="0"/>
                  </a:lnTo>
                  <a:lnTo>
                    <a:pt x="2544549" y="0"/>
                  </a:lnTo>
                  <a:lnTo>
                    <a:pt x="2578286" y="18053"/>
                  </a:lnTo>
                  <a:lnTo>
                    <a:pt x="2585099" y="40550"/>
                  </a:lnTo>
                  <a:lnTo>
                    <a:pt x="2585099" y="202749"/>
                  </a:lnTo>
                  <a:lnTo>
                    <a:pt x="2581913" y="218533"/>
                  </a:lnTo>
                  <a:lnTo>
                    <a:pt x="2573222" y="231423"/>
                  </a:lnTo>
                  <a:lnTo>
                    <a:pt x="2560333" y="240113"/>
                  </a:lnTo>
                  <a:lnTo>
                    <a:pt x="2544549" y="243299"/>
                  </a:lnTo>
                  <a:lnTo>
                    <a:pt x="40550" y="243299"/>
                  </a:lnTo>
                  <a:lnTo>
                    <a:pt x="24766" y="240113"/>
                  </a:lnTo>
                  <a:lnTo>
                    <a:pt x="11877" y="231423"/>
                  </a:lnTo>
                  <a:lnTo>
                    <a:pt x="3186" y="218533"/>
                  </a:lnTo>
                  <a:lnTo>
                    <a:pt x="0" y="202749"/>
                  </a:lnTo>
                  <a:lnTo>
                    <a:pt x="0" y="40550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8924" y="4029750"/>
              <a:ext cx="2585720" cy="243840"/>
            </a:xfrm>
            <a:custGeom>
              <a:avLst/>
              <a:gdLst/>
              <a:ahLst/>
              <a:cxnLst/>
              <a:rect l="l" t="t" r="r" b="b"/>
              <a:pathLst>
                <a:path w="2585720" h="243839">
                  <a:moveTo>
                    <a:pt x="2544549" y="243299"/>
                  </a:moveTo>
                  <a:lnTo>
                    <a:pt x="40550" y="243299"/>
                  </a:lnTo>
                  <a:lnTo>
                    <a:pt x="24766" y="240113"/>
                  </a:lnTo>
                  <a:lnTo>
                    <a:pt x="11877" y="231423"/>
                  </a:lnTo>
                  <a:lnTo>
                    <a:pt x="3186" y="218533"/>
                  </a:lnTo>
                  <a:lnTo>
                    <a:pt x="0" y="202749"/>
                  </a:lnTo>
                  <a:lnTo>
                    <a:pt x="0" y="40550"/>
                  </a:lnTo>
                  <a:lnTo>
                    <a:pt x="3186" y="24766"/>
                  </a:lnTo>
                  <a:lnTo>
                    <a:pt x="11877" y="11876"/>
                  </a:lnTo>
                  <a:lnTo>
                    <a:pt x="24766" y="3186"/>
                  </a:lnTo>
                  <a:lnTo>
                    <a:pt x="40550" y="0"/>
                  </a:lnTo>
                  <a:lnTo>
                    <a:pt x="2544549" y="0"/>
                  </a:lnTo>
                  <a:lnTo>
                    <a:pt x="2578286" y="18053"/>
                  </a:lnTo>
                  <a:lnTo>
                    <a:pt x="2585099" y="40550"/>
                  </a:lnTo>
                  <a:lnTo>
                    <a:pt x="2585099" y="202749"/>
                  </a:lnTo>
                  <a:lnTo>
                    <a:pt x="2581913" y="218533"/>
                  </a:lnTo>
                  <a:lnTo>
                    <a:pt x="2573222" y="231423"/>
                  </a:lnTo>
                  <a:lnTo>
                    <a:pt x="2560333" y="240113"/>
                  </a:lnTo>
                  <a:lnTo>
                    <a:pt x="2544549" y="2432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8924" y="4029750"/>
              <a:ext cx="2585720" cy="243840"/>
            </a:xfrm>
            <a:custGeom>
              <a:avLst/>
              <a:gdLst/>
              <a:ahLst/>
              <a:cxnLst/>
              <a:rect l="l" t="t" r="r" b="b"/>
              <a:pathLst>
                <a:path w="2585720" h="243839">
                  <a:moveTo>
                    <a:pt x="0" y="40550"/>
                  </a:moveTo>
                  <a:lnTo>
                    <a:pt x="3186" y="24766"/>
                  </a:lnTo>
                  <a:lnTo>
                    <a:pt x="11877" y="11876"/>
                  </a:lnTo>
                  <a:lnTo>
                    <a:pt x="24766" y="3186"/>
                  </a:lnTo>
                  <a:lnTo>
                    <a:pt x="40550" y="0"/>
                  </a:lnTo>
                  <a:lnTo>
                    <a:pt x="2544549" y="0"/>
                  </a:lnTo>
                  <a:lnTo>
                    <a:pt x="2578286" y="18053"/>
                  </a:lnTo>
                  <a:lnTo>
                    <a:pt x="2585099" y="40550"/>
                  </a:lnTo>
                  <a:lnTo>
                    <a:pt x="2585099" y="202749"/>
                  </a:lnTo>
                  <a:lnTo>
                    <a:pt x="2581913" y="218533"/>
                  </a:lnTo>
                  <a:lnTo>
                    <a:pt x="2573222" y="231423"/>
                  </a:lnTo>
                  <a:lnTo>
                    <a:pt x="2560333" y="240113"/>
                  </a:lnTo>
                  <a:lnTo>
                    <a:pt x="2544549" y="243299"/>
                  </a:lnTo>
                  <a:lnTo>
                    <a:pt x="40550" y="243299"/>
                  </a:lnTo>
                  <a:lnTo>
                    <a:pt x="24766" y="240113"/>
                  </a:lnTo>
                  <a:lnTo>
                    <a:pt x="11877" y="231423"/>
                  </a:lnTo>
                  <a:lnTo>
                    <a:pt x="3186" y="218533"/>
                  </a:lnTo>
                  <a:lnTo>
                    <a:pt x="0" y="202749"/>
                  </a:lnTo>
                  <a:lnTo>
                    <a:pt x="0" y="40550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8924" y="4377375"/>
              <a:ext cx="2585720" cy="243840"/>
            </a:xfrm>
            <a:custGeom>
              <a:avLst/>
              <a:gdLst/>
              <a:ahLst/>
              <a:cxnLst/>
              <a:rect l="l" t="t" r="r" b="b"/>
              <a:pathLst>
                <a:path w="2585720" h="243839">
                  <a:moveTo>
                    <a:pt x="2544549" y="243299"/>
                  </a:moveTo>
                  <a:lnTo>
                    <a:pt x="40550" y="243299"/>
                  </a:lnTo>
                  <a:lnTo>
                    <a:pt x="24766" y="240113"/>
                  </a:lnTo>
                  <a:lnTo>
                    <a:pt x="11877" y="231423"/>
                  </a:lnTo>
                  <a:lnTo>
                    <a:pt x="3186" y="218533"/>
                  </a:lnTo>
                  <a:lnTo>
                    <a:pt x="0" y="202749"/>
                  </a:lnTo>
                  <a:lnTo>
                    <a:pt x="0" y="40550"/>
                  </a:lnTo>
                  <a:lnTo>
                    <a:pt x="3186" y="24766"/>
                  </a:lnTo>
                  <a:lnTo>
                    <a:pt x="11877" y="11876"/>
                  </a:lnTo>
                  <a:lnTo>
                    <a:pt x="24766" y="3186"/>
                  </a:lnTo>
                  <a:lnTo>
                    <a:pt x="40550" y="0"/>
                  </a:lnTo>
                  <a:lnTo>
                    <a:pt x="2544549" y="0"/>
                  </a:lnTo>
                  <a:lnTo>
                    <a:pt x="2578286" y="18053"/>
                  </a:lnTo>
                  <a:lnTo>
                    <a:pt x="2585099" y="40550"/>
                  </a:lnTo>
                  <a:lnTo>
                    <a:pt x="2585099" y="202749"/>
                  </a:lnTo>
                  <a:lnTo>
                    <a:pt x="2581913" y="218533"/>
                  </a:lnTo>
                  <a:lnTo>
                    <a:pt x="2573222" y="231423"/>
                  </a:lnTo>
                  <a:lnTo>
                    <a:pt x="2560333" y="240113"/>
                  </a:lnTo>
                  <a:lnTo>
                    <a:pt x="2544549" y="2432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8924" y="4377375"/>
              <a:ext cx="2585720" cy="243840"/>
            </a:xfrm>
            <a:custGeom>
              <a:avLst/>
              <a:gdLst/>
              <a:ahLst/>
              <a:cxnLst/>
              <a:rect l="l" t="t" r="r" b="b"/>
              <a:pathLst>
                <a:path w="2585720" h="243839">
                  <a:moveTo>
                    <a:pt x="0" y="40550"/>
                  </a:moveTo>
                  <a:lnTo>
                    <a:pt x="3186" y="24766"/>
                  </a:lnTo>
                  <a:lnTo>
                    <a:pt x="11877" y="11876"/>
                  </a:lnTo>
                  <a:lnTo>
                    <a:pt x="24766" y="3186"/>
                  </a:lnTo>
                  <a:lnTo>
                    <a:pt x="40550" y="0"/>
                  </a:lnTo>
                  <a:lnTo>
                    <a:pt x="2544549" y="0"/>
                  </a:lnTo>
                  <a:lnTo>
                    <a:pt x="2578286" y="18053"/>
                  </a:lnTo>
                  <a:lnTo>
                    <a:pt x="2585099" y="40550"/>
                  </a:lnTo>
                  <a:lnTo>
                    <a:pt x="2585099" y="202749"/>
                  </a:lnTo>
                  <a:lnTo>
                    <a:pt x="2581913" y="218533"/>
                  </a:lnTo>
                  <a:lnTo>
                    <a:pt x="2573222" y="231423"/>
                  </a:lnTo>
                  <a:lnTo>
                    <a:pt x="2560333" y="240113"/>
                  </a:lnTo>
                  <a:lnTo>
                    <a:pt x="2544549" y="243299"/>
                  </a:lnTo>
                  <a:lnTo>
                    <a:pt x="40550" y="243299"/>
                  </a:lnTo>
                  <a:lnTo>
                    <a:pt x="24766" y="240113"/>
                  </a:lnTo>
                  <a:lnTo>
                    <a:pt x="11877" y="231423"/>
                  </a:lnTo>
                  <a:lnTo>
                    <a:pt x="3186" y="218533"/>
                  </a:lnTo>
                  <a:lnTo>
                    <a:pt x="0" y="202749"/>
                  </a:lnTo>
                  <a:lnTo>
                    <a:pt x="0" y="40550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3629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2252" y="1215847"/>
            <a:ext cx="7656195" cy="263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marR="147955" indent="-37465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86715" algn="l"/>
                <a:tab pos="387350" algn="l"/>
              </a:tabLst>
            </a:pPr>
            <a:r>
              <a:rPr sz="1900" b="1" dirty="0">
                <a:latin typeface="Book Antiqua"/>
                <a:cs typeface="Book Antiqua"/>
              </a:rPr>
              <a:t>Large</a:t>
            </a:r>
            <a:r>
              <a:rPr sz="1900" b="1" spc="-10" dirty="0">
                <a:latin typeface="Book Antiqua"/>
                <a:cs typeface="Book Antiqua"/>
              </a:rPr>
              <a:t> </a:t>
            </a:r>
            <a:r>
              <a:rPr sz="1900" b="1" spc="-20" dirty="0">
                <a:latin typeface="Book Antiqua"/>
                <a:cs typeface="Book Antiqua"/>
              </a:rPr>
              <a:t>language</a:t>
            </a:r>
            <a:r>
              <a:rPr sz="1900" b="1" spc="-10" dirty="0">
                <a:latin typeface="Book Antiqua"/>
                <a:cs typeface="Book Antiqua"/>
              </a:rPr>
              <a:t> models</a:t>
            </a:r>
            <a:r>
              <a:rPr sz="1900" b="1" spc="-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pretrained</a:t>
            </a:r>
            <a:r>
              <a:rPr sz="1900" b="1" spc="-10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on</a:t>
            </a:r>
            <a:r>
              <a:rPr sz="1900" b="1" spc="-10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unstructured</a:t>
            </a:r>
            <a:r>
              <a:rPr sz="1900" b="1" spc="-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text</a:t>
            </a:r>
            <a:r>
              <a:rPr sz="1900" b="1" spc="-10" dirty="0">
                <a:latin typeface="Book Antiqua"/>
                <a:cs typeface="Book Antiqua"/>
              </a:rPr>
              <a:t> perform </a:t>
            </a:r>
            <a:r>
              <a:rPr sz="1900" b="1" spc="-25" dirty="0">
                <a:latin typeface="Book Antiqua"/>
                <a:cs typeface="Book Antiqua"/>
              </a:rPr>
              <a:t>competitively</a:t>
            </a:r>
            <a:r>
              <a:rPr sz="1900" b="1" spc="-40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on</a:t>
            </a:r>
            <a:r>
              <a:rPr sz="1900" b="1" spc="-40" dirty="0">
                <a:latin typeface="Book Antiqua"/>
                <a:cs typeface="Book Antiqua"/>
              </a:rPr>
              <a:t> </a:t>
            </a:r>
            <a:r>
              <a:rPr sz="1900" b="1" spc="-10" dirty="0">
                <a:latin typeface="Book Antiqua"/>
                <a:cs typeface="Book Antiqua"/>
              </a:rPr>
              <a:t>open-domain</a:t>
            </a:r>
            <a:r>
              <a:rPr sz="1900" b="1" spc="-40" dirty="0">
                <a:latin typeface="Book Antiqua"/>
                <a:cs typeface="Book Antiqua"/>
              </a:rPr>
              <a:t> </a:t>
            </a:r>
            <a:r>
              <a:rPr sz="1900" b="1" spc="-160" dirty="0">
                <a:latin typeface="Book Antiqua"/>
                <a:cs typeface="Book Antiqua"/>
              </a:rPr>
              <a:t>QA</a:t>
            </a:r>
            <a:r>
              <a:rPr sz="1900" spc="-160" dirty="0">
                <a:latin typeface="Times New Roman"/>
                <a:cs typeface="Times New Roman"/>
              </a:rPr>
              <a:t>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95" dirty="0">
                <a:latin typeface="Times New Roman"/>
                <a:cs typeface="Times New Roman"/>
              </a:rPr>
              <a:t>even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125" dirty="0">
                <a:latin typeface="Times New Roman"/>
                <a:cs typeface="Times New Roman"/>
              </a:rPr>
              <a:t>compared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95" dirty="0">
                <a:latin typeface="Times New Roman"/>
                <a:cs typeface="Times New Roman"/>
              </a:rPr>
              <a:t>competitors </a:t>
            </a:r>
            <a:r>
              <a:rPr sz="1900" spc="90" dirty="0">
                <a:latin typeface="Times New Roman"/>
                <a:cs typeface="Times New Roman"/>
              </a:rPr>
              <a:t>with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95" dirty="0">
                <a:latin typeface="Times New Roman"/>
                <a:cs typeface="Times New Roman"/>
              </a:rPr>
              <a:t>access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Times New Roman"/>
                <a:cs typeface="Times New Roman"/>
              </a:rPr>
              <a:t>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110" dirty="0">
                <a:latin typeface="Times New Roman"/>
                <a:cs typeface="Times New Roman"/>
              </a:rPr>
              <a:t>external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knowledge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●"/>
            </a:pPr>
            <a:endParaRPr sz="1950">
              <a:latin typeface="Times New Roman"/>
              <a:cs typeface="Times New Roman"/>
            </a:endParaRPr>
          </a:p>
          <a:p>
            <a:pPr marL="386715" marR="398145" indent="-374650">
              <a:lnSpc>
                <a:spcPct val="100000"/>
              </a:lnSpc>
              <a:buFont typeface="Arial"/>
              <a:buChar char="●"/>
              <a:tabLst>
                <a:tab pos="386715" algn="l"/>
                <a:tab pos="387350" algn="l"/>
              </a:tabLst>
            </a:pPr>
            <a:r>
              <a:rPr sz="1900" b="1" spc="-10" dirty="0">
                <a:latin typeface="Book Antiqua"/>
                <a:cs typeface="Book Antiqua"/>
              </a:rPr>
              <a:t>Scale</a:t>
            </a:r>
            <a:r>
              <a:rPr sz="1900" b="1" spc="-20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is</a:t>
            </a:r>
            <a:r>
              <a:rPr sz="1900" b="1" spc="-1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critical</a:t>
            </a:r>
            <a:r>
              <a:rPr sz="1900" b="1" spc="-20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to</a:t>
            </a:r>
            <a:r>
              <a:rPr sz="1900" b="1" spc="-15" dirty="0">
                <a:latin typeface="Book Antiqua"/>
                <a:cs typeface="Book Antiqua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performance</a:t>
            </a:r>
            <a:r>
              <a:rPr sz="1900" b="1" spc="-35" dirty="0">
                <a:latin typeface="Book Antiqua"/>
                <a:cs typeface="Book Antiqua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480" dirty="0">
                <a:latin typeface="Times New Roman"/>
                <a:cs typeface="Times New Roman"/>
              </a:rPr>
              <a:t> </a:t>
            </a:r>
            <a:r>
              <a:rPr sz="1900" spc="130" dirty="0">
                <a:latin typeface="Times New Roman"/>
                <a:cs typeface="Times New Roman"/>
              </a:rPr>
              <a:t>needed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80" dirty="0">
                <a:latin typeface="Times New Roman"/>
                <a:cs typeface="Times New Roman"/>
              </a:rPr>
              <a:t>largest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(11B)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110" dirty="0">
                <a:latin typeface="Times New Roman"/>
                <a:cs typeface="Times New Roman"/>
              </a:rPr>
              <a:t>model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to </a:t>
            </a:r>
            <a:r>
              <a:rPr sz="1900" spc="114" dirty="0">
                <a:latin typeface="Times New Roman"/>
                <a:cs typeface="Times New Roman"/>
              </a:rPr>
              <a:t>compete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140" dirty="0">
                <a:latin typeface="Times New Roman"/>
                <a:cs typeface="Times New Roman"/>
              </a:rPr>
              <a:t>on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140" dirty="0">
                <a:latin typeface="Times New Roman"/>
                <a:cs typeface="Times New Roman"/>
              </a:rPr>
              <a:t>par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with</a:t>
            </a:r>
            <a:r>
              <a:rPr sz="1900" spc="-20" dirty="0">
                <a:latin typeface="Times New Roman"/>
                <a:cs typeface="Times New Roman"/>
              </a:rPr>
              <a:t> SOTA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●"/>
            </a:pPr>
            <a:endParaRPr sz="1950">
              <a:latin typeface="Times New Roman"/>
              <a:cs typeface="Times New Roman"/>
            </a:endParaRPr>
          </a:p>
          <a:p>
            <a:pPr marL="386715" marR="5080" indent="-374650">
              <a:lnSpc>
                <a:spcPct val="100000"/>
              </a:lnSpc>
              <a:buFont typeface="Arial"/>
              <a:buChar char="●"/>
              <a:tabLst>
                <a:tab pos="386715" algn="l"/>
                <a:tab pos="387350" algn="l"/>
              </a:tabLst>
            </a:pPr>
            <a:r>
              <a:rPr sz="1900" spc="50" dirty="0">
                <a:latin typeface="Times New Roman"/>
                <a:cs typeface="Times New Roman"/>
              </a:rPr>
              <a:t>Using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LMs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100" dirty="0">
                <a:latin typeface="Times New Roman"/>
                <a:cs typeface="Times New Roman"/>
              </a:rPr>
              <a:t>as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Times New Roman"/>
                <a:cs typeface="Times New Roman"/>
              </a:rPr>
              <a:t>knowledge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105" dirty="0">
                <a:latin typeface="Times New Roman"/>
                <a:cs typeface="Times New Roman"/>
              </a:rPr>
              <a:t>bases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110" dirty="0">
                <a:latin typeface="Times New Roman"/>
                <a:cs typeface="Times New Roman"/>
              </a:rPr>
              <a:t>suﬀers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120" dirty="0">
                <a:latin typeface="Times New Roman"/>
                <a:cs typeface="Times New Roman"/>
              </a:rPr>
              <a:t>from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Book Antiqua"/>
                <a:cs typeface="Book Antiqua"/>
              </a:rPr>
              <a:t>lack</a:t>
            </a:r>
            <a:r>
              <a:rPr sz="1900" b="1" spc="-55" dirty="0">
                <a:latin typeface="Book Antiqua"/>
                <a:cs typeface="Book Antiqua"/>
              </a:rPr>
              <a:t> </a:t>
            </a:r>
            <a:r>
              <a:rPr sz="1900" b="1" spc="-10" dirty="0">
                <a:latin typeface="Book Antiqua"/>
                <a:cs typeface="Book Antiqua"/>
              </a:rPr>
              <a:t>of</a:t>
            </a:r>
            <a:r>
              <a:rPr sz="1900" b="1" spc="-50" dirty="0">
                <a:latin typeface="Book Antiqua"/>
                <a:cs typeface="Book Antiqua"/>
              </a:rPr>
              <a:t> </a:t>
            </a:r>
            <a:r>
              <a:rPr sz="1900" b="1" spc="-10" dirty="0">
                <a:latin typeface="Book Antiqua"/>
                <a:cs typeface="Book Antiqua"/>
              </a:rPr>
              <a:t>interpretability</a:t>
            </a:r>
            <a:r>
              <a:rPr sz="1900" spc="-10" dirty="0">
                <a:latin typeface="Times New Roman"/>
                <a:cs typeface="Times New Roman"/>
              </a:rPr>
              <a:t>, </a:t>
            </a:r>
            <a:r>
              <a:rPr sz="1900" spc="140" dirty="0">
                <a:latin typeface="Times New Roman"/>
                <a:cs typeface="Times New Roman"/>
              </a:rPr>
              <a:t>and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LMs </a:t>
            </a:r>
            <a:r>
              <a:rPr sz="1900" spc="125" dirty="0">
                <a:latin typeface="Times New Roman"/>
                <a:cs typeface="Times New Roman"/>
              </a:rPr>
              <a:t>are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140" dirty="0">
                <a:latin typeface="Times New Roman"/>
                <a:cs typeface="Times New Roman"/>
              </a:rPr>
              <a:t>prone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E69137"/>
                </a:solidFill>
                <a:latin typeface="Cambria"/>
                <a:cs typeface="Cambria"/>
              </a:rPr>
              <a:t>hallucinating</a:t>
            </a:r>
            <a:r>
              <a:rPr sz="1900" b="1" spc="15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900" spc="55" dirty="0">
                <a:latin typeface="Times New Roman"/>
                <a:cs typeface="Times New Roman"/>
              </a:rPr>
              <a:t>“realistic”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95" dirty="0">
                <a:latin typeface="Times New Roman"/>
                <a:cs typeface="Times New Roman"/>
              </a:rPr>
              <a:t>answers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81375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Question</a:t>
            </a:r>
            <a:r>
              <a:rPr spc="-2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75" y="1216864"/>
            <a:ext cx="807529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ambria"/>
                <a:cs typeface="Cambria"/>
              </a:rPr>
              <a:t>Compared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to</a:t>
            </a:r>
            <a:r>
              <a:rPr sz="1700" b="1" spc="-20" dirty="0">
                <a:latin typeface="Cambria"/>
                <a:cs typeface="Cambria"/>
              </a:rPr>
              <a:t> (Petroni </a:t>
            </a:r>
            <a:r>
              <a:rPr sz="1700" b="1" dirty="0">
                <a:latin typeface="Cambria"/>
                <a:cs typeface="Cambria"/>
              </a:rPr>
              <a:t>et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55" dirty="0">
                <a:latin typeface="Cambria"/>
                <a:cs typeface="Cambria"/>
              </a:rPr>
              <a:t>al.,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70" dirty="0">
                <a:latin typeface="Cambria"/>
                <a:cs typeface="Cambria"/>
              </a:rPr>
              <a:t>2019),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can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you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state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the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key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diﬀerences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(Roberts</a:t>
            </a:r>
            <a:r>
              <a:rPr sz="1700" b="1" spc="-65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et </a:t>
            </a:r>
            <a:r>
              <a:rPr sz="1700" b="1" spc="55" dirty="0">
                <a:latin typeface="Cambria"/>
                <a:cs typeface="Cambria"/>
              </a:rPr>
              <a:t>al.,</a:t>
            </a:r>
            <a:r>
              <a:rPr sz="1700" b="1" spc="-10" dirty="0">
                <a:latin typeface="Cambria"/>
                <a:cs typeface="Cambria"/>
              </a:rPr>
              <a:t> 2021)?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spc="70" dirty="0">
                <a:latin typeface="Times New Roman"/>
                <a:cs typeface="Times New Roman"/>
              </a:rPr>
              <a:t>(Roberts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al.,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2021)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handles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harder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questions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that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may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require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multiple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6575" y="1994103"/>
            <a:ext cx="55429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0" dirty="0">
                <a:latin typeface="Times New Roman"/>
                <a:cs typeface="Times New Roman"/>
              </a:rPr>
              <a:t>tokens.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LAMA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uses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speciﬁc/easier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types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questions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with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3674" y="2015439"/>
            <a:ext cx="2030730" cy="259079"/>
          </a:xfrm>
          <a:prstGeom prst="rect">
            <a:avLst/>
          </a:prstGeom>
          <a:solidFill>
            <a:srgbClr val="FCE4C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1700" spc="60" dirty="0">
                <a:latin typeface="Times New Roman"/>
                <a:cs typeface="Times New Roman"/>
              </a:rPr>
              <a:t>single-</a:t>
            </a:r>
            <a:r>
              <a:rPr sz="1700" spc="80" dirty="0">
                <a:latin typeface="Times New Roman"/>
                <a:cs typeface="Times New Roman"/>
              </a:rPr>
              <a:t>token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answers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8764" y="2274519"/>
            <a:ext cx="2002789" cy="259079"/>
          </a:xfrm>
          <a:prstGeom prst="rect">
            <a:avLst/>
          </a:prstGeom>
          <a:solidFill>
            <a:srgbClr val="FCE4C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1700" spc="105" dirty="0">
                <a:latin typeface="Times New Roman"/>
                <a:cs typeface="Times New Roman"/>
              </a:rPr>
              <a:t>ﬁne-</a:t>
            </a:r>
            <a:r>
              <a:rPr sz="1700" spc="100" dirty="0">
                <a:latin typeface="Times New Roman"/>
                <a:cs typeface="Times New Roman"/>
              </a:rPr>
              <a:t>tunes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model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630" y="2253183"/>
            <a:ext cx="781748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  <a:tab pos="7520940" algn="l"/>
              </a:tabLst>
            </a:pPr>
            <a:r>
              <a:rPr sz="1700" spc="60" dirty="0">
                <a:latin typeface="Times New Roman"/>
                <a:cs typeface="Times New Roman"/>
              </a:rPr>
              <a:t>Since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T5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canʼt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do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zero-</a:t>
            </a:r>
            <a:r>
              <a:rPr sz="1700" spc="75" dirty="0">
                <a:latin typeface="Times New Roman"/>
                <a:cs typeface="Times New Roman"/>
              </a:rPr>
              <a:t>shot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well,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(Roberts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al.,</a:t>
            </a:r>
            <a:r>
              <a:rPr sz="1700" spc="-10" dirty="0">
                <a:latin typeface="Times New Roman"/>
                <a:cs typeface="Times New Roman"/>
              </a:rPr>
              <a:t> 2021)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50" dirty="0">
                <a:latin typeface="Times New Roman"/>
                <a:cs typeface="Times New Roman"/>
              </a:rPr>
              <a:t>for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375" y="2512263"/>
            <a:ext cx="8085455" cy="209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6040">
              <a:lnSpc>
                <a:spcPct val="100000"/>
              </a:lnSpc>
              <a:spcBef>
                <a:spcPts val="100"/>
              </a:spcBef>
            </a:pPr>
            <a:r>
              <a:rPr sz="1700" spc="-114" dirty="0">
                <a:latin typeface="Times New Roman"/>
                <a:cs typeface="Times New Roman"/>
              </a:rPr>
              <a:t>QA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tasks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compares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against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other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retrieval-</a:t>
            </a:r>
            <a:r>
              <a:rPr sz="1700" spc="85" dirty="0">
                <a:latin typeface="Times New Roman"/>
                <a:cs typeface="Times New Roman"/>
              </a:rPr>
              <a:t>based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ﬁne-tuned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models.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LAMA </a:t>
            </a:r>
            <a:r>
              <a:rPr sz="1700" spc="90" dirty="0">
                <a:latin typeface="Times New Roman"/>
                <a:cs typeface="Times New Roman"/>
              </a:rPr>
              <a:t>does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not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ﬁne-</a:t>
            </a:r>
            <a:r>
              <a:rPr sz="1700" spc="100" dirty="0">
                <a:latin typeface="Times New Roman"/>
                <a:cs typeface="Times New Roman"/>
              </a:rPr>
              <a:t>tune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models.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38481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Do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you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think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the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accuracy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answering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these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open-domain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questions reﬂects </a:t>
            </a:r>
            <a:r>
              <a:rPr sz="1700" b="1" dirty="0">
                <a:latin typeface="Cambria"/>
                <a:cs typeface="Cambria"/>
              </a:rPr>
              <a:t>how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much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knowledge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is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already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encoded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LLMs?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some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extent.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(Roberts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al.,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2021)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ﬁne-</a:t>
            </a:r>
            <a:r>
              <a:rPr sz="1700" spc="100" dirty="0">
                <a:latin typeface="Times New Roman"/>
                <a:cs typeface="Times New Roman"/>
              </a:rPr>
              <a:t>tunes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model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on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the</a:t>
            </a:r>
            <a:endParaRPr sz="170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</a:pPr>
            <a:r>
              <a:rPr sz="1700" spc="80" dirty="0">
                <a:latin typeface="Times New Roman"/>
                <a:cs typeface="Times New Roman"/>
              </a:rPr>
              <a:t>question-</a:t>
            </a:r>
            <a:r>
              <a:rPr sz="1700" spc="100" dirty="0">
                <a:latin typeface="Times New Roman"/>
                <a:cs typeface="Times New Roman"/>
              </a:rPr>
              <a:t>answer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datasets,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so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it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could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be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argued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that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it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does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not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100%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accurately </a:t>
            </a:r>
            <a:r>
              <a:rPr sz="1700" spc="80" dirty="0">
                <a:latin typeface="Times New Roman"/>
                <a:cs typeface="Times New Roman"/>
              </a:rPr>
              <a:t>test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how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much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encoded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in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pre-</a:t>
            </a:r>
            <a:r>
              <a:rPr sz="1700" spc="80" dirty="0">
                <a:latin typeface="Times New Roman"/>
                <a:cs typeface="Times New Roman"/>
              </a:rPr>
              <a:t>training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stage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01168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Comparison</a:t>
            </a:r>
            <a:r>
              <a:rPr spc="-25" dirty="0"/>
              <a:t> </a:t>
            </a:r>
            <a:r>
              <a:rPr spc="80" dirty="0"/>
              <a:t>of</a:t>
            </a:r>
            <a:r>
              <a:rPr spc="-25" dirty="0"/>
              <a:t> </a:t>
            </a:r>
            <a:r>
              <a:rPr spc="170" dirty="0"/>
              <a:t>the</a:t>
            </a:r>
            <a:r>
              <a:rPr spc="-75" dirty="0"/>
              <a:t> </a:t>
            </a:r>
            <a:r>
              <a:rPr dirty="0"/>
              <a:t>Two</a:t>
            </a:r>
            <a:r>
              <a:rPr spc="-100" dirty="0"/>
              <a:t> </a:t>
            </a:r>
            <a:r>
              <a:rPr spc="45" dirty="0"/>
              <a:t>Works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88500" y="1397412"/>
          <a:ext cx="5358130" cy="245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3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191770" algn="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500" b="1" spc="-10" dirty="0">
                          <a:latin typeface="Cambria"/>
                          <a:cs typeface="Cambria"/>
                        </a:rPr>
                        <a:t>Petroni</a:t>
                      </a:r>
                      <a:r>
                        <a:rPr sz="15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et</a:t>
                      </a:r>
                      <a:r>
                        <a:rPr sz="1500" b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spc="50" dirty="0">
                          <a:latin typeface="Cambria"/>
                          <a:cs typeface="Cambria"/>
                        </a:rPr>
                        <a:t>al.,</a:t>
                      </a:r>
                      <a:r>
                        <a:rPr sz="15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spc="-20" dirty="0">
                          <a:latin typeface="Cambria"/>
                          <a:cs typeface="Cambria"/>
                        </a:rPr>
                        <a:t>2019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500" b="1" dirty="0">
                          <a:latin typeface="Cambria"/>
                          <a:cs typeface="Cambria"/>
                        </a:rPr>
                        <a:t>Roberts</a:t>
                      </a:r>
                      <a:r>
                        <a:rPr sz="1500" b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et</a:t>
                      </a:r>
                      <a:r>
                        <a:rPr sz="1500" b="1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spc="50" dirty="0">
                          <a:latin typeface="Cambria"/>
                          <a:cs typeface="Cambria"/>
                        </a:rPr>
                        <a:t>al.,</a:t>
                      </a:r>
                      <a:r>
                        <a:rPr sz="1500" b="1" spc="-20" dirty="0">
                          <a:latin typeface="Cambria"/>
                          <a:cs typeface="Cambria"/>
                        </a:rPr>
                        <a:t> 2020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500" b="1" spc="-10" dirty="0">
                          <a:latin typeface="Cambria"/>
                          <a:cs typeface="Cambria"/>
                        </a:rPr>
                        <a:t>Objective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MLM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60" dirty="0">
                          <a:latin typeface="Times New Roman"/>
                          <a:cs typeface="Times New Roman"/>
                        </a:rPr>
                        <a:t>seq2seq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b="1" spc="-10" dirty="0">
                          <a:latin typeface="Cambria"/>
                          <a:cs typeface="Cambria"/>
                        </a:rPr>
                        <a:t>Format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695" algn="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spc="55" dirty="0">
                          <a:latin typeface="Times New Roman"/>
                          <a:cs typeface="Times New Roman"/>
                        </a:rPr>
                        <a:t>ﬁlling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9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70" dirty="0">
                          <a:latin typeface="Times New Roman"/>
                          <a:cs typeface="Times New Roman"/>
                        </a:rPr>
                        <a:t>blank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spc="75" dirty="0">
                          <a:latin typeface="Times New Roman"/>
                          <a:cs typeface="Times New Roman"/>
                        </a:rPr>
                        <a:t>generation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b="1" spc="-10" dirty="0">
                          <a:latin typeface="Cambria"/>
                          <a:cs typeface="Cambria"/>
                        </a:rPr>
                        <a:t>Finetune?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spc="8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b="1" dirty="0">
                          <a:latin typeface="Cambria"/>
                          <a:cs typeface="Cambria"/>
                        </a:rPr>
                        <a:t>Answer</a:t>
                      </a:r>
                      <a:r>
                        <a:rPr sz="1500" b="1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spc="-10" dirty="0">
                          <a:latin typeface="Cambria"/>
                          <a:cs typeface="Cambria"/>
                        </a:rPr>
                        <a:t>length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5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6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292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How</a:t>
            </a:r>
            <a:r>
              <a:rPr spc="-30" dirty="0"/>
              <a:t> </a:t>
            </a:r>
            <a:r>
              <a:rPr spc="190" dirty="0"/>
              <a:t>much</a:t>
            </a:r>
            <a:r>
              <a:rPr spc="-30" dirty="0"/>
              <a:t> </a:t>
            </a:r>
            <a:r>
              <a:rPr spc="135" dirty="0"/>
              <a:t>does</a:t>
            </a:r>
            <a:r>
              <a:rPr spc="-25" dirty="0"/>
              <a:t> </a:t>
            </a:r>
            <a:r>
              <a:rPr spc="125" dirty="0"/>
              <a:t>train-</a:t>
            </a:r>
            <a:r>
              <a:rPr spc="100" dirty="0"/>
              <a:t>test</a:t>
            </a:r>
            <a:r>
              <a:rPr spc="-30" dirty="0"/>
              <a:t> </a:t>
            </a:r>
            <a:r>
              <a:rPr spc="105" dirty="0"/>
              <a:t>overlap</a:t>
            </a:r>
            <a:r>
              <a:rPr spc="-30" dirty="0"/>
              <a:t> </a:t>
            </a:r>
            <a:r>
              <a:rPr spc="125" dirty="0"/>
              <a:t>aﬀect</a:t>
            </a:r>
            <a:r>
              <a:rPr spc="-25" dirty="0"/>
              <a:t> </a:t>
            </a:r>
            <a:r>
              <a:rPr spc="140" dirty="0"/>
              <a:t>performance?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945755" cy="209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5" dirty="0">
                <a:latin typeface="Times New Roman"/>
                <a:cs typeface="Times New Roman"/>
              </a:rPr>
              <a:t>Many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sources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weʼve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discussed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were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extracted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from</a:t>
            </a:r>
            <a:endParaRPr sz="1700">
              <a:latin typeface="Times New Roman"/>
              <a:cs typeface="Times New Roman"/>
            </a:endParaRPr>
          </a:p>
          <a:p>
            <a:pPr marL="371475">
              <a:lnSpc>
                <a:spcPct val="100000"/>
              </a:lnSpc>
            </a:pPr>
            <a:r>
              <a:rPr sz="1700" b="1" spc="-10" dirty="0">
                <a:latin typeface="Cambria"/>
                <a:cs typeface="Cambria"/>
              </a:rPr>
              <a:t>Wikipedia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mbria"/>
              <a:cs typeface="Cambria"/>
            </a:endParaRPr>
          </a:p>
          <a:p>
            <a:pPr marL="371475" marR="5080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50" dirty="0">
                <a:latin typeface="Times New Roman"/>
                <a:cs typeface="Times New Roman"/>
              </a:rPr>
              <a:t>However,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pre-</a:t>
            </a:r>
            <a:r>
              <a:rPr sz="1700" spc="80" dirty="0">
                <a:latin typeface="Times New Roman"/>
                <a:cs typeface="Times New Roman"/>
              </a:rPr>
              <a:t>training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corpora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language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models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almost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always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contain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data </a:t>
            </a:r>
            <a:r>
              <a:rPr sz="1700" spc="110" dirty="0">
                <a:latin typeface="Times New Roman"/>
                <a:cs typeface="Times New Roman"/>
              </a:rPr>
              <a:t>from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Wikipedia…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●"/>
            </a:pPr>
            <a:endParaRPr sz="1750">
              <a:latin typeface="Times New Roman"/>
              <a:cs typeface="Times New Roman"/>
            </a:endParaRPr>
          </a:p>
          <a:p>
            <a:pPr marL="371475" marR="227329" indent="-359410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70" dirty="0">
                <a:latin typeface="Times New Roman"/>
                <a:cs typeface="Times New Roman"/>
              </a:rPr>
              <a:t>How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much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amazing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retrieval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due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train-</a:t>
            </a:r>
            <a:r>
              <a:rPr sz="1700" b="1" dirty="0">
                <a:latin typeface="Cambria"/>
                <a:cs typeface="Cambria"/>
              </a:rPr>
              <a:t>test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overlap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in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probing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benchmarks?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6414" y="505350"/>
            <a:ext cx="751332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8375" marR="5080" indent="-955675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Train-</a:t>
            </a:r>
            <a:r>
              <a:rPr spc="100" dirty="0"/>
              <a:t>test</a:t>
            </a:r>
            <a:r>
              <a:rPr spc="-30" dirty="0"/>
              <a:t> </a:t>
            </a:r>
            <a:r>
              <a:rPr spc="105" dirty="0"/>
              <a:t>overlap</a:t>
            </a:r>
            <a:r>
              <a:rPr spc="-30" dirty="0"/>
              <a:t> </a:t>
            </a:r>
            <a:r>
              <a:rPr spc="75" dirty="0"/>
              <a:t>is</a:t>
            </a:r>
            <a:r>
              <a:rPr spc="-30" dirty="0"/>
              <a:t> </a:t>
            </a:r>
            <a:r>
              <a:rPr spc="140" dirty="0"/>
              <a:t>responsible</a:t>
            </a:r>
            <a:r>
              <a:rPr spc="-30" dirty="0"/>
              <a:t> </a:t>
            </a:r>
            <a:r>
              <a:rPr spc="110" dirty="0"/>
              <a:t>for</a:t>
            </a:r>
            <a:r>
              <a:rPr spc="-30" dirty="0"/>
              <a:t> </a:t>
            </a:r>
            <a:r>
              <a:rPr spc="-120" dirty="0"/>
              <a:t>LMʼs</a:t>
            </a:r>
            <a:r>
              <a:rPr spc="-25" dirty="0"/>
              <a:t> </a:t>
            </a:r>
            <a:r>
              <a:rPr spc="90" dirty="0"/>
              <a:t>ability</a:t>
            </a:r>
            <a:r>
              <a:rPr spc="-30" dirty="0"/>
              <a:t> </a:t>
            </a:r>
            <a:r>
              <a:rPr spc="114" dirty="0"/>
              <a:t>to</a:t>
            </a:r>
            <a:r>
              <a:rPr spc="-30" dirty="0"/>
              <a:t> </a:t>
            </a:r>
            <a:r>
              <a:rPr spc="110" dirty="0"/>
              <a:t>do knowledge</a:t>
            </a:r>
            <a:r>
              <a:rPr spc="-30" dirty="0"/>
              <a:t> </a:t>
            </a:r>
            <a:r>
              <a:rPr spc="90" dirty="0"/>
              <a:t>retrieval!</a:t>
            </a:r>
            <a:r>
              <a:rPr spc="-25" dirty="0"/>
              <a:t> </a:t>
            </a:r>
            <a:r>
              <a:rPr spc="50" dirty="0"/>
              <a:t>(</a:t>
            </a:r>
            <a:r>
              <a:rPr u="heavy" spc="5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Lewis</a:t>
            </a:r>
            <a:r>
              <a:rPr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 </a:t>
            </a:r>
            <a:r>
              <a:rPr u="heavy" spc="13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et</a:t>
            </a:r>
            <a:r>
              <a:rPr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 </a:t>
            </a:r>
            <a:r>
              <a:rPr u="heavy" spc="1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al.,</a:t>
            </a:r>
            <a:r>
              <a:rPr u="heavy" spc="-3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 </a:t>
            </a:r>
            <a:r>
              <a:rPr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2020</a:t>
            </a:r>
            <a:r>
              <a:rPr spc="-10" dirty="0"/>
              <a:t>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485" y="1487929"/>
            <a:ext cx="8872220" cy="2669540"/>
            <a:chOff x="153485" y="1487929"/>
            <a:chExt cx="8872220" cy="26695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485" y="1487929"/>
              <a:ext cx="8872097" cy="26695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35274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35274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63249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1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1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8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63249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1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8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1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91225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5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91225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5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15256" y="4371637"/>
            <a:ext cx="76034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Book Antiqua"/>
                <a:cs typeface="Book Antiqua"/>
              </a:rPr>
              <a:t>When</a:t>
            </a:r>
            <a:r>
              <a:rPr sz="1700" b="1" spc="-4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there</a:t>
            </a:r>
            <a:r>
              <a:rPr sz="1700" b="1" spc="-4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is</a:t>
            </a:r>
            <a:r>
              <a:rPr sz="1700" b="1" spc="-50" dirty="0">
                <a:latin typeface="Book Antiqua"/>
                <a:cs typeface="Book Antiqua"/>
              </a:rPr>
              <a:t> </a:t>
            </a:r>
            <a:r>
              <a:rPr sz="1700" b="1" spc="-20" dirty="0">
                <a:solidFill>
                  <a:srgbClr val="E69137"/>
                </a:solidFill>
                <a:latin typeface="Book Antiqua"/>
                <a:cs typeface="Book Antiqua"/>
              </a:rPr>
              <a:t>question</a:t>
            </a:r>
            <a:r>
              <a:rPr sz="1700" b="1" spc="-45" dirty="0">
                <a:solidFill>
                  <a:srgbClr val="E69137"/>
                </a:solidFill>
                <a:latin typeface="Book Antiqua"/>
                <a:cs typeface="Book Antiqua"/>
              </a:rPr>
              <a:t> </a:t>
            </a:r>
            <a:r>
              <a:rPr sz="1700" b="1" spc="-10" dirty="0">
                <a:solidFill>
                  <a:srgbClr val="E69137"/>
                </a:solidFill>
                <a:latin typeface="Book Antiqua"/>
                <a:cs typeface="Book Antiqua"/>
              </a:rPr>
              <a:t>overlap</a:t>
            </a:r>
            <a:r>
              <a:rPr sz="1700" b="1" spc="-10" dirty="0">
                <a:latin typeface="Book Antiqua"/>
                <a:cs typeface="Book Antiqua"/>
              </a:rPr>
              <a:t>,</a:t>
            </a:r>
            <a:r>
              <a:rPr sz="1700" b="1" spc="-4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both</a:t>
            </a:r>
            <a:r>
              <a:rPr sz="1700" b="1" spc="-40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open</a:t>
            </a:r>
            <a:r>
              <a:rPr sz="1700" b="1" spc="-4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and</a:t>
            </a:r>
            <a:r>
              <a:rPr sz="1700" b="1" spc="-45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closed-</a:t>
            </a:r>
            <a:r>
              <a:rPr sz="1700" b="1" spc="-20" dirty="0">
                <a:latin typeface="Book Antiqua"/>
                <a:cs typeface="Book Antiqua"/>
              </a:rPr>
              <a:t>book</a:t>
            </a:r>
            <a:r>
              <a:rPr sz="1700" b="1" spc="-45" dirty="0">
                <a:latin typeface="Book Antiqua"/>
                <a:cs typeface="Book Antiqua"/>
              </a:rPr>
              <a:t> </a:t>
            </a:r>
            <a:r>
              <a:rPr sz="1700" b="1" spc="-95" dirty="0">
                <a:latin typeface="Book Antiqua"/>
                <a:cs typeface="Book Antiqua"/>
              </a:rPr>
              <a:t>LMs</a:t>
            </a:r>
            <a:r>
              <a:rPr sz="1700" b="1" spc="-4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perform</a:t>
            </a:r>
            <a:r>
              <a:rPr sz="1700" b="1" spc="-40" dirty="0">
                <a:latin typeface="Book Antiqua"/>
                <a:cs typeface="Book Antiqua"/>
              </a:rPr>
              <a:t> </a:t>
            </a:r>
            <a:r>
              <a:rPr sz="1700" b="1" spc="-20" dirty="0">
                <a:latin typeface="Book Antiqua"/>
                <a:cs typeface="Book Antiqua"/>
              </a:rPr>
              <a:t>well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116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710754" y="67029"/>
            <a:ext cx="136080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Table</a:t>
            </a:r>
            <a:r>
              <a:rPr sz="850" i="1" spc="8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3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Lewis</a:t>
            </a:r>
            <a:r>
              <a:rPr sz="850" i="1" u="sng" spc="9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et</a:t>
            </a:r>
            <a:r>
              <a:rPr sz="850" i="1" u="sng" spc="9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al.,</a:t>
            </a:r>
            <a:r>
              <a:rPr sz="850" i="1" u="sng" spc="9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6414" y="505350"/>
            <a:ext cx="751332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8375" marR="5080" indent="-955675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Train-</a:t>
            </a:r>
            <a:r>
              <a:rPr spc="100" dirty="0"/>
              <a:t>test</a:t>
            </a:r>
            <a:r>
              <a:rPr spc="-30" dirty="0"/>
              <a:t> </a:t>
            </a:r>
            <a:r>
              <a:rPr spc="105" dirty="0"/>
              <a:t>overlap</a:t>
            </a:r>
            <a:r>
              <a:rPr spc="-30" dirty="0"/>
              <a:t> </a:t>
            </a:r>
            <a:r>
              <a:rPr spc="75" dirty="0"/>
              <a:t>is</a:t>
            </a:r>
            <a:r>
              <a:rPr spc="-30" dirty="0"/>
              <a:t> </a:t>
            </a:r>
            <a:r>
              <a:rPr spc="140" dirty="0"/>
              <a:t>responsible</a:t>
            </a:r>
            <a:r>
              <a:rPr spc="-30" dirty="0"/>
              <a:t> </a:t>
            </a:r>
            <a:r>
              <a:rPr spc="110" dirty="0"/>
              <a:t>for</a:t>
            </a:r>
            <a:r>
              <a:rPr spc="-30" dirty="0"/>
              <a:t> </a:t>
            </a:r>
            <a:r>
              <a:rPr spc="-120" dirty="0"/>
              <a:t>LMʼs</a:t>
            </a:r>
            <a:r>
              <a:rPr spc="-25" dirty="0"/>
              <a:t> </a:t>
            </a:r>
            <a:r>
              <a:rPr spc="90" dirty="0"/>
              <a:t>ability</a:t>
            </a:r>
            <a:r>
              <a:rPr spc="-30" dirty="0"/>
              <a:t> </a:t>
            </a:r>
            <a:r>
              <a:rPr spc="114" dirty="0"/>
              <a:t>to</a:t>
            </a:r>
            <a:r>
              <a:rPr spc="-30" dirty="0"/>
              <a:t> </a:t>
            </a:r>
            <a:r>
              <a:rPr spc="110" dirty="0"/>
              <a:t>do knowledge</a:t>
            </a:r>
            <a:r>
              <a:rPr spc="-30" dirty="0"/>
              <a:t> </a:t>
            </a:r>
            <a:r>
              <a:rPr spc="90" dirty="0"/>
              <a:t>retrieval!</a:t>
            </a:r>
            <a:r>
              <a:rPr spc="-25" dirty="0"/>
              <a:t> </a:t>
            </a:r>
            <a:r>
              <a:rPr spc="50" dirty="0"/>
              <a:t>(</a:t>
            </a:r>
            <a:r>
              <a:rPr u="heavy" spc="5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Lewis</a:t>
            </a:r>
            <a:r>
              <a:rPr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 </a:t>
            </a:r>
            <a:r>
              <a:rPr u="heavy" spc="13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et</a:t>
            </a:r>
            <a:r>
              <a:rPr u="heavy" spc="-25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 </a:t>
            </a:r>
            <a:r>
              <a:rPr u="heavy" spc="1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al.,</a:t>
            </a:r>
            <a:r>
              <a:rPr u="heavy" spc="-3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 </a:t>
            </a:r>
            <a:r>
              <a:rPr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hlinkClick r:id="rId2"/>
              </a:rPr>
              <a:t>2020</a:t>
            </a:r>
            <a:r>
              <a:rPr spc="-10" dirty="0"/>
              <a:t>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485" y="1487929"/>
            <a:ext cx="8872220" cy="2669540"/>
            <a:chOff x="153485" y="1487929"/>
            <a:chExt cx="8872220" cy="26695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485" y="1487929"/>
              <a:ext cx="8872097" cy="26695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35274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35274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63249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1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1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8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63249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1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8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1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91225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5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91225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5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9174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1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1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8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9174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4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1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8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1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17150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5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1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1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8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7150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5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1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8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1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45124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5" h="2176145">
                  <a:moveTo>
                    <a:pt x="594915" y="2175599"/>
                  </a:move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45124" y="1842150"/>
              <a:ext cx="640715" cy="2176145"/>
            </a:xfrm>
            <a:custGeom>
              <a:avLst/>
              <a:gdLst/>
              <a:ahLst/>
              <a:cxnLst/>
              <a:rect l="l" t="t" r="r" b="b"/>
              <a:pathLst>
                <a:path w="640715" h="2176145">
                  <a:moveTo>
                    <a:pt x="0" y="45584"/>
                  </a:moveTo>
                  <a:lnTo>
                    <a:pt x="3582" y="27840"/>
                  </a:lnTo>
                  <a:lnTo>
                    <a:pt x="13351" y="13351"/>
                  </a:lnTo>
                  <a:lnTo>
                    <a:pt x="27840" y="3582"/>
                  </a:lnTo>
                  <a:lnTo>
                    <a:pt x="45584" y="0"/>
                  </a:lnTo>
                  <a:lnTo>
                    <a:pt x="594915" y="0"/>
                  </a:lnTo>
                  <a:lnTo>
                    <a:pt x="632841" y="20294"/>
                  </a:lnTo>
                  <a:lnTo>
                    <a:pt x="640499" y="45584"/>
                  </a:lnTo>
                  <a:lnTo>
                    <a:pt x="640499" y="2130015"/>
                  </a:lnTo>
                  <a:lnTo>
                    <a:pt x="636917" y="2147758"/>
                  </a:lnTo>
                  <a:lnTo>
                    <a:pt x="627148" y="2162248"/>
                  </a:lnTo>
                  <a:lnTo>
                    <a:pt x="612659" y="2172017"/>
                  </a:lnTo>
                  <a:lnTo>
                    <a:pt x="594915" y="2175599"/>
                  </a:lnTo>
                  <a:lnTo>
                    <a:pt x="45584" y="2175599"/>
                  </a:lnTo>
                  <a:lnTo>
                    <a:pt x="27840" y="2172017"/>
                  </a:lnTo>
                  <a:lnTo>
                    <a:pt x="13351" y="2162248"/>
                  </a:lnTo>
                  <a:lnTo>
                    <a:pt x="3582" y="2147758"/>
                  </a:lnTo>
                  <a:lnTo>
                    <a:pt x="0" y="2130015"/>
                  </a:lnTo>
                  <a:lnTo>
                    <a:pt x="0" y="45584"/>
                  </a:lnTo>
                  <a:close/>
                </a:path>
              </a:pathLst>
            </a:custGeom>
            <a:ln w="19049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83775" y="2451707"/>
              <a:ext cx="391795" cy="951865"/>
            </a:xfrm>
            <a:custGeom>
              <a:avLst/>
              <a:gdLst/>
              <a:ahLst/>
              <a:cxnLst/>
              <a:rect l="l" t="t" r="r" b="b"/>
              <a:pathLst>
                <a:path w="391795" h="951864">
                  <a:moveTo>
                    <a:pt x="170124" y="951600"/>
                  </a:moveTo>
                  <a:lnTo>
                    <a:pt x="170124" y="732808"/>
                  </a:lnTo>
                  <a:lnTo>
                    <a:pt x="0" y="732808"/>
                  </a:lnTo>
                  <a:lnTo>
                    <a:pt x="0" y="218791"/>
                  </a:lnTo>
                  <a:lnTo>
                    <a:pt x="170124" y="218791"/>
                  </a:lnTo>
                  <a:lnTo>
                    <a:pt x="170124" y="0"/>
                  </a:lnTo>
                  <a:lnTo>
                    <a:pt x="391199" y="475799"/>
                  </a:lnTo>
                  <a:lnTo>
                    <a:pt x="170124" y="951600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83775" y="2451707"/>
              <a:ext cx="391795" cy="951865"/>
            </a:xfrm>
            <a:custGeom>
              <a:avLst/>
              <a:gdLst/>
              <a:ahLst/>
              <a:cxnLst/>
              <a:rect l="l" t="t" r="r" b="b"/>
              <a:pathLst>
                <a:path w="391795" h="951864">
                  <a:moveTo>
                    <a:pt x="0" y="218791"/>
                  </a:moveTo>
                  <a:lnTo>
                    <a:pt x="170124" y="218791"/>
                  </a:lnTo>
                  <a:lnTo>
                    <a:pt x="170124" y="0"/>
                  </a:lnTo>
                  <a:lnTo>
                    <a:pt x="391199" y="475799"/>
                  </a:lnTo>
                  <a:lnTo>
                    <a:pt x="170124" y="951600"/>
                  </a:lnTo>
                  <a:lnTo>
                    <a:pt x="170124" y="732808"/>
                  </a:lnTo>
                  <a:lnTo>
                    <a:pt x="0" y="732808"/>
                  </a:lnTo>
                  <a:lnTo>
                    <a:pt x="0" y="218791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17949" y="2451697"/>
              <a:ext cx="391795" cy="951865"/>
            </a:xfrm>
            <a:custGeom>
              <a:avLst/>
              <a:gdLst/>
              <a:ahLst/>
              <a:cxnLst/>
              <a:rect l="l" t="t" r="r" b="b"/>
              <a:pathLst>
                <a:path w="391795" h="951864">
                  <a:moveTo>
                    <a:pt x="170124" y="951599"/>
                  </a:moveTo>
                  <a:lnTo>
                    <a:pt x="170124" y="732808"/>
                  </a:lnTo>
                  <a:lnTo>
                    <a:pt x="0" y="732808"/>
                  </a:lnTo>
                  <a:lnTo>
                    <a:pt x="0" y="218791"/>
                  </a:lnTo>
                  <a:lnTo>
                    <a:pt x="170124" y="218791"/>
                  </a:lnTo>
                  <a:lnTo>
                    <a:pt x="170124" y="0"/>
                  </a:lnTo>
                  <a:lnTo>
                    <a:pt x="391199" y="475799"/>
                  </a:lnTo>
                  <a:lnTo>
                    <a:pt x="170124" y="9515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17949" y="2451697"/>
              <a:ext cx="391795" cy="951865"/>
            </a:xfrm>
            <a:custGeom>
              <a:avLst/>
              <a:gdLst/>
              <a:ahLst/>
              <a:cxnLst/>
              <a:rect l="l" t="t" r="r" b="b"/>
              <a:pathLst>
                <a:path w="391795" h="951864">
                  <a:moveTo>
                    <a:pt x="0" y="218791"/>
                  </a:moveTo>
                  <a:lnTo>
                    <a:pt x="170124" y="218791"/>
                  </a:lnTo>
                  <a:lnTo>
                    <a:pt x="170124" y="0"/>
                  </a:lnTo>
                  <a:lnTo>
                    <a:pt x="391199" y="475799"/>
                  </a:lnTo>
                  <a:lnTo>
                    <a:pt x="170124" y="951599"/>
                  </a:lnTo>
                  <a:lnTo>
                    <a:pt x="170124" y="732808"/>
                  </a:lnTo>
                  <a:lnTo>
                    <a:pt x="0" y="732808"/>
                  </a:lnTo>
                  <a:lnTo>
                    <a:pt x="0" y="218791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45924" y="2456588"/>
              <a:ext cx="391795" cy="951865"/>
            </a:xfrm>
            <a:custGeom>
              <a:avLst/>
              <a:gdLst/>
              <a:ahLst/>
              <a:cxnLst/>
              <a:rect l="l" t="t" r="r" b="b"/>
              <a:pathLst>
                <a:path w="391795" h="951864">
                  <a:moveTo>
                    <a:pt x="170124" y="951600"/>
                  </a:moveTo>
                  <a:lnTo>
                    <a:pt x="170124" y="732808"/>
                  </a:lnTo>
                  <a:lnTo>
                    <a:pt x="0" y="732808"/>
                  </a:lnTo>
                  <a:lnTo>
                    <a:pt x="0" y="218791"/>
                  </a:lnTo>
                  <a:lnTo>
                    <a:pt x="170124" y="218791"/>
                  </a:lnTo>
                  <a:lnTo>
                    <a:pt x="170124" y="0"/>
                  </a:lnTo>
                  <a:lnTo>
                    <a:pt x="391199" y="475799"/>
                  </a:lnTo>
                  <a:lnTo>
                    <a:pt x="170124" y="951600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45924" y="2456588"/>
              <a:ext cx="391795" cy="951865"/>
            </a:xfrm>
            <a:custGeom>
              <a:avLst/>
              <a:gdLst/>
              <a:ahLst/>
              <a:cxnLst/>
              <a:rect l="l" t="t" r="r" b="b"/>
              <a:pathLst>
                <a:path w="391795" h="951864">
                  <a:moveTo>
                    <a:pt x="0" y="218791"/>
                  </a:moveTo>
                  <a:lnTo>
                    <a:pt x="170124" y="218791"/>
                  </a:lnTo>
                  <a:lnTo>
                    <a:pt x="170124" y="0"/>
                  </a:lnTo>
                  <a:lnTo>
                    <a:pt x="391199" y="475799"/>
                  </a:lnTo>
                  <a:lnTo>
                    <a:pt x="170124" y="951600"/>
                  </a:lnTo>
                  <a:lnTo>
                    <a:pt x="170124" y="732808"/>
                  </a:lnTo>
                  <a:lnTo>
                    <a:pt x="0" y="732808"/>
                  </a:lnTo>
                  <a:lnTo>
                    <a:pt x="0" y="218791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65416" y="4371637"/>
            <a:ext cx="67024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30" dirty="0">
                <a:latin typeface="Book Antiqua"/>
                <a:cs typeface="Book Antiqua"/>
              </a:rPr>
              <a:t>But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spc="-30" dirty="0">
                <a:latin typeface="Book Antiqua"/>
                <a:cs typeface="Book Antiqua"/>
              </a:rPr>
              <a:t>with </a:t>
            </a:r>
            <a:r>
              <a:rPr sz="1700" b="1" dirty="0">
                <a:solidFill>
                  <a:srgbClr val="3C78D8"/>
                </a:solidFill>
                <a:latin typeface="Book Antiqua"/>
                <a:cs typeface="Book Antiqua"/>
              </a:rPr>
              <a:t>no</a:t>
            </a:r>
            <a:r>
              <a:rPr sz="1700" b="1" spc="-2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20" dirty="0">
                <a:solidFill>
                  <a:srgbClr val="3C78D8"/>
                </a:solidFill>
                <a:latin typeface="Book Antiqua"/>
                <a:cs typeface="Book Antiqua"/>
              </a:rPr>
              <a:t>question</a:t>
            </a:r>
            <a:r>
              <a:rPr sz="1700" b="1" spc="-2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3C78D8"/>
                </a:solidFill>
                <a:latin typeface="Book Antiqua"/>
                <a:cs typeface="Book Antiqua"/>
              </a:rPr>
              <a:t>or</a:t>
            </a:r>
            <a:r>
              <a:rPr sz="1700" b="1" spc="-2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dirty="0">
                <a:solidFill>
                  <a:srgbClr val="3C78D8"/>
                </a:solidFill>
                <a:latin typeface="Book Antiqua"/>
                <a:cs typeface="Book Antiqua"/>
              </a:rPr>
              <a:t>answer</a:t>
            </a:r>
            <a:r>
              <a:rPr sz="1700" b="1" spc="-25" dirty="0">
                <a:solidFill>
                  <a:srgbClr val="3C78D8"/>
                </a:solidFill>
                <a:latin typeface="Book Antiqua"/>
                <a:cs typeface="Book Antiqua"/>
              </a:rPr>
              <a:t> </a:t>
            </a:r>
            <a:r>
              <a:rPr sz="1700" b="1" spc="-10" dirty="0">
                <a:solidFill>
                  <a:srgbClr val="3C78D8"/>
                </a:solidFill>
                <a:latin typeface="Book Antiqua"/>
                <a:cs typeface="Book Antiqua"/>
              </a:rPr>
              <a:t>overlap</a:t>
            </a:r>
            <a:r>
              <a:rPr sz="1700" b="1" spc="-10" dirty="0">
                <a:latin typeface="Book Antiqua"/>
                <a:cs typeface="Book Antiqua"/>
              </a:rPr>
              <a:t>,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performance</a:t>
            </a:r>
            <a:r>
              <a:rPr sz="1700" b="1" spc="-25" dirty="0">
                <a:latin typeface="Book Antiqua"/>
                <a:cs typeface="Book Antiqua"/>
              </a:rPr>
              <a:t> </a:t>
            </a:r>
            <a:r>
              <a:rPr sz="1700" b="1" dirty="0">
                <a:latin typeface="Book Antiqua"/>
                <a:cs typeface="Book Antiqua"/>
              </a:rPr>
              <a:t>drops</a:t>
            </a:r>
            <a:r>
              <a:rPr sz="1700" b="1" spc="-20" dirty="0">
                <a:latin typeface="Book Antiqua"/>
                <a:cs typeface="Book Antiqua"/>
              </a:rPr>
              <a:t> </a:t>
            </a:r>
            <a:r>
              <a:rPr sz="1700" b="1" spc="-10" dirty="0">
                <a:latin typeface="Book Antiqua"/>
                <a:cs typeface="Book Antiqua"/>
              </a:rPr>
              <a:t>sharply!</a:t>
            </a:r>
            <a:endParaRPr sz="1700"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117</a:t>
            </a:fld>
            <a:endParaRPr spc="-25" dirty="0"/>
          </a:p>
        </p:txBody>
      </p:sp>
      <p:sp>
        <p:nvSpPr>
          <p:cNvPr id="24" name="object 24"/>
          <p:cNvSpPr txBox="1"/>
          <p:nvPr/>
        </p:nvSpPr>
        <p:spPr>
          <a:xfrm>
            <a:off x="7710754" y="67029"/>
            <a:ext cx="1360805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i="1" dirty="0">
                <a:latin typeface="Book Antiqua"/>
                <a:cs typeface="Book Antiqua"/>
              </a:rPr>
              <a:t>Table</a:t>
            </a:r>
            <a:r>
              <a:rPr sz="850" i="1" spc="85" dirty="0">
                <a:latin typeface="Book Antiqua"/>
                <a:cs typeface="Book Antiqua"/>
              </a:rPr>
              <a:t> </a:t>
            </a:r>
            <a:r>
              <a:rPr sz="850" i="1" dirty="0">
                <a:latin typeface="Book Antiqua"/>
                <a:cs typeface="Book Antiqua"/>
              </a:rPr>
              <a:t>from</a:t>
            </a:r>
            <a:r>
              <a:rPr sz="850" i="1" spc="130" dirty="0">
                <a:latin typeface="Book Antiqua"/>
                <a:cs typeface="Book Antiqua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Lewis</a:t>
            </a:r>
            <a:r>
              <a:rPr sz="850" i="1" u="sng" spc="9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et</a:t>
            </a:r>
            <a:r>
              <a:rPr sz="850" i="1" u="sng" spc="9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al.,</a:t>
            </a:r>
            <a:r>
              <a:rPr sz="850" i="1" u="sng" spc="9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 </a:t>
            </a:r>
            <a:r>
              <a:rPr sz="850" i="1" u="sng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Book Antiqua"/>
                <a:cs typeface="Book Antiqua"/>
                <a:hlinkClick r:id="rId2"/>
              </a:rPr>
              <a:t>2020</a:t>
            </a:r>
            <a:endParaRPr sz="850">
              <a:latin typeface="Book Antiqua"/>
              <a:cs typeface="Book Antiq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5461" y="2080801"/>
            <a:ext cx="45345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6275" marR="5080" indent="-664210">
              <a:lnSpc>
                <a:spcPct val="100000"/>
              </a:lnSpc>
              <a:spcBef>
                <a:spcPts val="100"/>
              </a:spcBef>
            </a:pPr>
            <a:r>
              <a:rPr sz="2800" spc="120" dirty="0"/>
              <a:t>How</a:t>
            </a:r>
            <a:r>
              <a:rPr sz="2800" spc="-45" dirty="0"/>
              <a:t> </a:t>
            </a:r>
            <a:r>
              <a:rPr sz="2800" spc="130" dirty="0"/>
              <a:t>to</a:t>
            </a:r>
            <a:r>
              <a:rPr sz="2800" spc="-40" dirty="0"/>
              <a:t> </a:t>
            </a:r>
            <a:r>
              <a:rPr sz="2800" spc="175" dirty="0"/>
              <a:t>update</a:t>
            </a:r>
            <a:r>
              <a:rPr sz="2800" spc="-45" dirty="0"/>
              <a:t> </a:t>
            </a:r>
            <a:r>
              <a:rPr sz="2800" spc="125" dirty="0"/>
              <a:t>knowledge</a:t>
            </a:r>
            <a:r>
              <a:rPr sz="2800" spc="-40" dirty="0"/>
              <a:t> </a:t>
            </a:r>
            <a:r>
              <a:rPr sz="2800" spc="145" dirty="0"/>
              <a:t>in </a:t>
            </a:r>
            <a:r>
              <a:rPr sz="2800" spc="175" dirty="0"/>
              <a:t>pre-</a:t>
            </a:r>
            <a:r>
              <a:rPr sz="2800" spc="145" dirty="0"/>
              <a:t>trained</a:t>
            </a:r>
            <a:r>
              <a:rPr sz="2800" spc="-5" dirty="0"/>
              <a:t> </a:t>
            </a:r>
            <a:r>
              <a:rPr sz="2800" spc="110" dirty="0"/>
              <a:t>models?</a:t>
            </a: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2572" y="122162"/>
            <a:ext cx="7532370" cy="4690110"/>
            <a:chOff x="532572" y="122162"/>
            <a:chExt cx="7532370" cy="4690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572" y="292682"/>
              <a:ext cx="7531900" cy="45190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8924" y="126925"/>
              <a:ext cx="3783329" cy="1071880"/>
            </a:xfrm>
            <a:custGeom>
              <a:avLst/>
              <a:gdLst/>
              <a:ahLst/>
              <a:cxnLst/>
              <a:rect l="l" t="t" r="r" b="b"/>
              <a:pathLst>
                <a:path w="3783329" h="1071880">
                  <a:moveTo>
                    <a:pt x="3783299" y="1071299"/>
                  </a:moveTo>
                  <a:lnTo>
                    <a:pt x="0" y="1071299"/>
                  </a:lnTo>
                  <a:lnTo>
                    <a:pt x="0" y="0"/>
                  </a:lnTo>
                  <a:lnTo>
                    <a:pt x="3783299" y="0"/>
                  </a:lnTo>
                  <a:lnTo>
                    <a:pt x="3783299" y="1071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24" y="126925"/>
              <a:ext cx="3783329" cy="1071880"/>
            </a:xfrm>
            <a:custGeom>
              <a:avLst/>
              <a:gdLst/>
              <a:ahLst/>
              <a:cxnLst/>
              <a:rect l="l" t="t" r="r" b="b"/>
              <a:pathLst>
                <a:path w="3783329" h="1071880">
                  <a:moveTo>
                    <a:pt x="0" y="0"/>
                  </a:moveTo>
                  <a:lnTo>
                    <a:pt x="3783299" y="0"/>
                  </a:lnTo>
                  <a:lnTo>
                    <a:pt x="3783299" y="1071299"/>
                  </a:lnTo>
                  <a:lnTo>
                    <a:pt x="0" y="1071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Edit</a:t>
            </a:r>
            <a:r>
              <a:rPr sz="2400" b="1" spc="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What,</a:t>
            </a:r>
            <a:r>
              <a:rPr sz="2400" b="1" spc="8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Exactly?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14" dirty="0"/>
              <a:t>Deﬁning</a:t>
            </a:r>
            <a:r>
              <a:rPr sz="2400" spc="-40" dirty="0"/>
              <a:t> </a:t>
            </a:r>
            <a:r>
              <a:rPr sz="2400" spc="165" dirty="0"/>
              <a:t>the</a:t>
            </a:r>
            <a:r>
              <a:rPr sz="2400" spc="-40" dirty="0"/>
              <a:t> </a:t>
            </a:r>
            <a:r>
              <a:rPr sz="2400" spc="140" dirty="0"/>
              <a:t>problem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513187" y="410712"/>
            <a:ext cx="7685405" cy="4295775"/>
            <a:chOff x="513187" y="410712"/>
            <a:chExt cx="7685405" cy="4295775"/>
          </a:xfrm>
        </p:grpSpPr>
        <p:sp>
          <p:nvSpPr>
            <p:cNvPr id="8" name="object 8"/>
            <p:cNvSpPr/>
            <p:nvPr/>
          </p:nvSpPr>
          <p:spPr>
            <a:xfrm>
              <a:off x="4106299" y="4225324"/>
              <a:ext cx="3834765" cy="476884"/>
            </a:xfrm>
            <a:custGeom>
              <a:avLst/>
              <a:gdLst/>
              <a:ahLst/>
              <a:cxnLst/>
              <a:rect l="l" t="t" r="r" b="b"/>
              <a:pathLst>
                <a:path w="3834765" h="476885">
                  <a:moveTo>
                    <a:pt x="3834299" y="476399"/>
                  </a:moveTo>
                  <a:lnTo>
                    <a:pt x="0" y="476399"/>
                  </a:lnTo>
                  <a:lnTo>
                    <a:pt x="0" y="0"/>
                  </a:lnTo>
                  <a:lnTo>
                    <a:pt x="3834299" y="0"/>
                  </a:lnTo>
                  <a:lnTo>
                    <a:pt x="3834299" y="476399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06299" y="4225324"/>
              <a:ext cx="3834765" cy="476884"/>
            </a:xfrm>
            <a:custGeom>
              <a:avLst/>
              <a:gdLst/>
              <a:ahLst/>
              <a:cxnLst/>
              <a:rect l="l" t="t" r="r" b="b"/>
              <a:pathLst>
                <a:path w="3834765" h="476885">
                  <a:moveTo>
                    <a:pt x="0" y="0"/>
                  </a:moveTo>
                  <a:lnTo>
                    <a:pt x="3834299" y="0"/>
                  </a:lnTo>
                  <a:lnTo>
                    <a:pt x="3834299" y="476399"/>
                  </a:lnTo>
                  <a:lnTo>
                    <a:pt x="0" y="47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1E1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5224" y="1368774"/>
              <a:ext cx="1428750" cy="842010"/>
            </a:xfrm>
            <a:custGeom>
              <a:avLst/>
              <a:gdLst/>
              <a:ahLst/>
              <a:cxnLst/>
              <a:rect l="l" t="t" r="r" b="b"/>
              <a:pathLst>
                <a:path w="1428750" h="842010">
                  <a:moveTo>
                    <a:pt x="1428299" y="841799"/>
                  </a:moveTo>
                  <a:lnTo>
                    <a:pt x="0" y="8417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841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05224" y="1368774"/>
              <a:ext cx="1428750" cy="842010"/>
            </a:xfrm>
            <a:custGeom>
              <a:avLst/>
              <a:gdLst/>
              <a:ahLst/>
              <a:cxnLst/>
              <a:rect l="l" t="t" r="r" b="b"/>
              <a:pathLst>
                <a:path w="1428750" h="842010">
                  <a:moveTo>
                    <a:pt x="0" y="0"/>
                  </a:moveTo>
                  <a:lnTo>
                    <a:pt x="1428299" y="0"/>
                  </a:lnTo>
                  <a:lnTo>
                    <a:pt x="1428299" y="841799"/>
                  </a:lnTo>
                  <a:lnTo>
                    <a:pt x="0" y="841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64424" y="23747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14282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92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64424" y="23747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0" y="0"/>
                  </a:moveTo>
                  <a:lnTo>
                    <a:pt x="1428299" y="0"/>
                  </a:lnTo>
                  <a:lnTo>
                    <a:pt x="1428299" y="923399"/>
                  </a:lnTo>
                  <a:lnTo>
                    <a:pt x="0" y="923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62200" y="2159424"/>
              <a:ext cx="417195" cy="393700"/>
            </a:xfrm>
            <a:custGeom>
              <a:avLst/>
              <a:gdLst/>
              <a:ahLst/>
              <a:cxnLst/>
              <a:rect l="l" t="t" r="r" b="b"/>
              <a:pathLst>
                <a:path w="417195" h="393700">
                  <a:moveTo>
                    <a:pt x="416699" y="393599"/>
                  </a:moveTo>
                  <a:lnTo>
                    <a:pt x="0" y="393599"/>
                  </a:lnTo>
                  <a:lnTo>
                    <a:pt x="0" y="0"/>
                  </a:lnTo>
                  <a:lnTo>
                    <a:pt x="416699" y="0"/>
                  </a:lnTo>
                  <a:lnTo>
                    <a:pt x="416699" y="393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62200" y="2159424"/>
              <a:ext cx="417195" cy="393700"/>
            </a:xfrm>
            <a:custGeom>
              <a:avLst/>
              <a:gdLst/>
              <a:ahLst/>
              <a:cxnLst/>
              <a:rect l="l" t="t" r="r" b="b"/>
              <a:pathLst>
                <a:path w="417195" h="393700">
                  <a:moveTo>
                    <a:pt x="0" y="0"/>
                  </a:moveTo>
                  <a:lnTo>
                    <a:pt x="416699" y="0"/>
                  </a:lnTo>
                  <a:lnTo>
                    <a:pt x="416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3249" y="3434674"/>
              <a:ext cx="2390140" cy="586105"/>
            </a:xfrm>
            <a:custGeom>
              <a:avLst/>
              <a:gdLst/>
              <a:ahLst/>
              <a:cxnLst/>
              <a:rect l="l" t="t" r="r" b="b"/>
              <a:pathLst>
                <a:path w="2390140" h="586104">
                  <a:moveTo>
                    <a:pt x="2390099" y="585599"/>
                  </a:moveTo>
                  <a:lnTo>
                    <a:pt x="0" y="585599"/>
                  </a:lnTo>
                  <a:lnTo>
                    <a:pt x="0" y="0"/>
                  </a:lnTo>
                  <a:lnTo>
                    <a:pt x="2390099" y="0"/>
                  </a:lnTo>
                  <a:lnTo>
                    <a:pt x="2390099" y="585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93249" y="3434674"/>
              <a:ext cx="2390140" cy="586105"/>
            </a:xfrm>
            <a:custGeom>
              <a:avLst/>
              <a:gdLst/>
              <a:ahLst/>
              <a:cxnLst/>
              <a:rect l="l" t="t" r="r" b="b"/>
              <a:pathLst>
                <a:path w="2390140" h="586104">
                  <a:moveTo>
                    <a:pt x="0" y="0"/>
                  </a:moveTo>
                  <a:lnTo>
                    <a:pt x="2390099" y="0"/>
                  </a:lnTo>
                  <a:lnTo>
                    <a:pt x="2390099" y="585599"/>
                  </a:lnTo>
                  <a:lnTo>
                    <a:pt x="0" y="585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3824" y="3366024"/>
              <a:ext cx="1056005" cy="586105"/>
            </a:xfrm>
            <a:custGeom>
              <a:avLst/>
              <a:gdLst/>
              <a:ahLst/>
              <a:cxnLst/>
              <a:rect l="l" t="t" r="r" b="b"/>
              <a:pathLst>
                <a:path w="1056004" h="586104">
                  <a:moveTo>
                    <a:pt x="1055999" y="585599"/>
                  </a:moveTo>
                  <a:lnTo>
                    <a:pt x="0" y="585599"/>
                  </a:lnTo>
                  <a:lnTo>
                    <a:pt x="0" y="0"/>
                  </a:lnTo>
                  <a:lnTo>
                    <a:pt x="1055999" y="0"/>
                  </a:lnTo>
                  <a:lnTo>
                    <a:pt x="1055999" y="585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3824" y="3366024"/>
              <a:ext cx="1056005" cy="586105"/>
            </a:xfrm>
            <a:custGeom>
              <a:avLst/>
              <a:gdLst/>
              <a:ahLst/>
              <a:cxnLst/>
              <a:rect l="l" t="t" r="r" b="b"/>
              <a:pathLst>
                <a:path w="1056004" h="586104">
                  <a:moveTo>
                    <a:pt x="0" y="0"/>
                  </a:moveTo>
                  <a:lnTo>
                    <a:pt x="1055999" y="0"/>
                  </a:lnTo>
                  <a:lnTo>
                    <a:pt x="1055999" y="585599"/>
                  </a:lnTo>
                  <a:lnTo>
                    <a:pt x="0" y="585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52524" y="1666324"/>
              <a:ext cx="204470" cy="289560"/>
            </a:xfrm>
            <a:custGeom>
              <a:avLst/>
              <a:gdLst/>
              <a:ahLst/>
              <a:cxnLst/>
              <a:rect l="l" t="t" r="r" b="b"/>
              <a:pathLst>
                <a:path w="204469" h="289560">
                  <a:moveTo>
                    <a:pt x="203999" y="289199"/>
                  </a:moveTo>
                  <a:lnTo>
                    <a:pt x="0" y="289199"/>
                  </a:lnTo>
                  <a:lnTo>
                    <a:pt x="0" y="0"/>
                  </a:lnTo>
                  <a:lnTo>
                    <a:pt x="203999" y="0"/>
                  </a:lnTo>
                  <a:lnTo>
                    <a:pt x="203999" y="289199"/>
                  </a:lnTo>
                  <a:close/>
                </a:path>
              </a:pathLst>
            </a:custGeom>
            <a:solidFill>
              <a:srgbClr val="DCE7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2524" y="1666324"/>
              <a:ext cx="204470" cy="289560"/>
            </a:xfrm>
            <a:custGeom>
              <a:avLst/>
              <a:gdLst/>
              <a:ahLst/>
              <a:cxnLst/>
              <a:rect l="l" t="t" r="r" b="b"/>
              <a:pathLst>
                <a:path w="204469" h="289560">
                  <a:moveTo>
                    <a:pt x="0" y="0"/>
                  </a:moveTo>
                  <a:lnTo>
                    <a:pt x="203999" y="0"/>
                  </a:lnTo>
                  <a:lnTo>
                    <a:pt x="203999" y="289199"/>
                  </a:lnTo>
                  <a:lnTo>
                    <a:pt x="0" y="28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CE7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949" y="29528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14282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92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7949" y="415474"/>
              <a:ext cx="6369050" cy="3461385"/>
            </a:xfrm>
            <a:custGeom>
              <a:avLst/>
              <a:gdLst/>
              <a:ahLst/>
              <a:cxnLst/>
              <a:rect l="l" t="t" r="r" b="b"/>
              <a:pathLst>
                <a:path w="6369050" h="3461385">
                  <a:moveTo>
                    <a:pt x="0" y="2537399"/>
                  </a:moveTo>
                  <a:lnTo>
                    <a:pt x="1428299" y="2537399"/>
                  </a:lnTo>
                  <a:lnTo>
                    <a:pt x="1428299" y="3460799"/>
                  </a:lnTo>
                  <a:lnTo>
                    <a:pt x="0" y="3460799"/>
                  </a:lnTo>
                  <a:lnTo>
                    <a:pt x="0" y="2537399"/>
                  </a:lnTo>
                  <a:close/>
                </a:path>
                <a:path w="6369050" h="3461385">
                  <a:moveTo>
                    <a:pt x="4242924" y="0"/>
                  </a:moveTo>
                  <a:lnTo>
                    <a:pt x="6368424" y="0"/>
                  </a:lnTo>
                  <a:lnTo>
                    <a:pt x="6368424" y="923399"/>
                  </a:lnTo>
                  <a:lnTo>
                    <a:pt x="4242924" y="923399"/>
                  </a:lnTo>
                  <a:lnTo>
                    <a:pt x="4242924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5424" y="13279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14282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92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65424" y="13279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0" y="0"/>
                  </a:moveTo>
                  <a:lnTo>
                    <a:pt x="1428299" y="0"/>
                  </a:lnTo>
                  <a:lnTo>
                    <a:pt x="1428299" y="923399"/>
                  </a:lnTo>
                  <a:lnTo>
                    <a:pt x="0" y="923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2724" y="1555824"/>
              <a:ext cx="1428750" cy="400050"/>
            </a:xfrm>
            <a:custGeom>
              <a:avLst/>
              <a:gdLst/>
              <a:ahLst/>
              <a:cxnLst/>
              <a:rect l="l" t="t" r="r" b="b"/>
              <a:pathLst>
                <a:path w="1428750" h="400050">
                  <a:moveTo>
                    <a:pt x="1428299" y="399599"/>
                  </a:moveTo>
                  <a:lnTo>
                    <a:pt x="0" y="3995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399599"/>
                  </a:lnTo>
                  <a:close/>
                </a:path>
              </a:pathLst>
            </a:custGeom>
            <a:solidFill>
              <a:srgbClr val="DCE7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2724" y="1555824"/>
              <a:ext cx="1428750" cy="400050"/>
            </a:xfrm>
            <a:custGeom>
              <a:avLst/>
              <a:gdLst/>
              <a:ahLst/>
              <a:cxnLst/>
              <a:rect l="l" t="t" r="r" b="b"/>
              <a:pathLst>
                <a:path w="1428750" h="400050">
                  <a:moveTo>
                    <a:pt x="0" y="0"/>
                  </a:moveTo>
                  <a:lnTo>
                    <a:pt x="1428299" y="0"/>
                  </a:lnTo>
                  <a:lnTo>
                    <a:pt x="1428299" y="399599"/>
                  </a:lnTo>
                  <a:lnTo>
                    <a:pt x="0" y="39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CE7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60875" y="1725224"/>
              <a:ext cx="663575" cy="400050"/>
            </a:xfrm>
            <a:custGeom>
              <a:avLst/>
              <a:gdLst/>
              <a:ahLst/>
              <a:cxnLst/>
              <a:rect l="l" t="t" r="r" b="b"/>
              <a:pathLst>
                <a:path w="663575" h="400050">
                  <a:moveTo>
                    <a:pt x="663299" y="399599"/>
                  </a:moveTo>
                  <a:lnTo>
                    <a:pt x="0" y="399599"/>
                  </a:lnTo>
                  <a:lnTo>
                    <a:pt x="0" y="0"/>
                  </a:lnTo>
                  <a:lnTo>
                    <a:pt x="663299" y="0"/>
                  </a:lnTo>
                  <a:lnTo>
                    <a:pt x="663299" y="399599"/>
                  </a:lnTo>
                  <a:close/>
                </a:path>
              </a:pathLst>
            </a:custGeom>
            <a:solidFill>
              <a:srgbClr val="DCE7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60875" y="1725224"/>
              <a:ext cx="663575" cy="400050"/>
            </a:xfrm>
            <a:custGeom>
              <a:avLst/>
              <a:gdLst/>
              <a:ahLst/>
              <a:cxnLst/>
              <a:rect l="l" t="t" r="r" b="b"/>
              <a:pathLst>
                <a:path w="663575" h="400050">
                  <a:moveTo>
                    <a:pt x="0" y="0"/>
                  </a:moveTo>
                  <a:lnTo>
                    <a:pt x="663299" y="0"/>
                  </a:lnTo>
                  <a:lnTo>
                    <a:pt x="663299" y="399599"/>
                  </a:lnTo>
                  <a:lnTo>
                    <a:pt x="0" y="39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CE7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2572" y="122162"/>
            <a:ext cx="7532370" cy="4690110"/>
            <a:chOff x="532572" y="122162"/>
            <a:chExt cx="7532370" cy="4690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572" y="292682"/>
              <a:ext cx="7531900" cy="45190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8924" y="126925"/>
              <a:ext cx="3783329" cy="1071880"/>
            </a:xfrm>
            <a:custGeom>
              <a:avLst/>
              <a:gdLst/>
              <a:ahLst/>
              <a:cxnLst/>
              <a:rect l="l" t="t" r="r" b="b"/>
              <a:pathLst>
                <a:path w="3783329" h="1071880">
                  <a:moveTo>
                    <a:pt x="3783299" y="1071299"/>
                  </a:moveTo>
                  <a:lnTo>
                    <a:pt x="0" y="1071299"/>
                  </a:lnTo>
                  <a:lnTo>
                    <a:pt x="0" y="0"/>
                  </a:lnTo>
                  <a:lnTo>
                    <a:pt x="3783299" y="0"/>
                  </a:lnTo>
                  <a:lnTo>
                    <a:pt x="3783299" y="1071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24" y="126925"/>
              <a:ext cx="3783329" cy="1071880"/>
            </a:xfrm>
            <a:custGeom>
              <a:avLst/>
              <a:gdLst/>
              <a:ahLst/>
              <a:cxnLst/>
              <a:rect l="l" t="t" r="r" b="b"/>
              <a:pathLst>
                <a:path w="3783329" h="1071880">
                  <a:moveTo>
                    <a:pt x="0" y="0"/>
                  </a:moveTo>
                  <a:lnTo>
                    <a:pt x="3783299" y="0"/>
                  </a:lnTo>
                  <a:lnTo>
                    <a:pt x="3783299" y="1071299"/>
                  </a:lnTo>
                  <a:lnTo>
                    <a:pt x="0" y="1071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Edit</a:t>
            </a:r>
            <a:r>
              <a:rPr sz="2400" b="1" spc="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What,</a:t>
            </a:r>
            <a:r>
              <a:rPr sz="2400" b="1" spc="8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Exactly?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14" dirty="0"/>
              <a:t>Deﬁning</a:t>
            </a:r>
            <a:r>
              <a:rPr sz="2400" spc="-40" dirty="0"/>
              <a:t> </a:t>
            </a:r>
            <a:r>
              <a:rPr sz="2400" spc="165" dirty="0"/>
              <a:t>the</a:t>
            </a:r>
            <a:r>
              <a:rPr sz="2400" spc="-40" dirty="0"/>
              <a:t> </a:t>
            </a:r>
            <a:r>
              <a:rPr sz="2400" spc="140" dirty="0"/>
              <a:t>problem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513187" y="410712"/>
            <a:ext cx="7685405" cy="4295775"/>
            <a:chOff x="513187" y="410712"/>
            <a:chExt cx="7685405" cy="4295775"/>
          </a:xfrm>
        </p:grpSpPr>
        <p:sp>
          <p:nvSpPr>
            <p:cNvPr id="8" name="object 8"/>
            <p:cNvSpPr/>
            <p:nvPr/>
          </p:nvSpPr>
          <p:spPr>
            <a:xfrm>
              <a:off x="4998974" y="4225324"/>
              <a:ext cx="2941955" cy="476884"/>
            </a:xfrm>
            <a:custGeom>
              <a:avLst/>
              <a:gdLst/>
              <a:ahLst/>
              <a:cxnLst/>
              <a:rect l="l" t="t" r="r" b="b"/>
              <a:pathLst>
                <a:path w="2941954" h="476885">
                  <a:moveTo>
                    <a:pt x="2941499" y="476399"/>
                  </a:moveTo>
                  <a:lnTo>
                    <a:pt x="0" y="476399"/>
                  </a:lnTo>
                  <a:lnTo>
                    <a:pt x="0" y="0"/>
                  </a:lnTo>
                  <a:lnTo>
                    <a:pt x="2941499" y="0"/>
                  </a:lnTo>
                  <a:lnTo>
                    <a:pt x="2941499" y="476399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98974" y="4225324"/>
              <a:ext cx="2941955" cy="476884"/>
            </a:xfrm>
            <a:custGeom>
              <a:avLst/>
              <a:gdLst/>
              <a:ahLst/>
              <a:cxnLst/>
              <a:rect l="l" t="t" r="r" b="b"/>
              <a:pathLst>
                <a:path w="2941954" h="476885">
                  <a:moveTo>
                    <a:pt x="0" y="0"/>
                  </a:moveTo>
                  <a:lnTo>
                    <a:pt x="2941499" y="0"/>
                  </a:lnTo>
                  <a:lnTo>
                    <a:pt x="2941499" y="476399"/>
                  </a:lnTo>
                  <a:lnTo>
                    <a:pt x="0" y="47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1E1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5224" y="1368774"/>
              <a:ext cx="1428750" cy="842010"/>
            </a:xfrm>
            <a:custGeom>
              <a:avLst/>
              <a:gdLst/>
              <a:ahLst/>
              <a:cxnLst/>
              <a:rect l="l" t="t" r="r" b="b"/>
              <a:pathLst>
                <a:path w="1428750" h="842010">
                  <a:moveTo>
                    <a:pt x="1428299" y="841799"/>
                  </a:moveTo>
                  <a:lnTo>
                    <a:pt x="0" y="8417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841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05224" y="1368774"/>
              <a:ext cx="1428750" cy="842010"/>
            </a:xfrm>
            <a:custGeom>
              <a:avLst/>
              <a:gdLst/>
              <a:ahLst/>
              <a:cxnLst/>
              <a:rect l="l" t="t" r="r" b="b"/>
              <a:pathLst>
                <a:path w="1428750" h="842010">
                  <a:moveTo>
                    <a:pt x="0" y="0"/>
                  </a:moveTo>
                  <a:lnTo>
                    <a:pt x="1428299" y="0"/>
                  </a:lnTo>
                  <a:lnTo>
                    <a:pt x="1428299" y="841799"/>
                  </a:lnTo>
                  <a:lnTo>
                    <a:pt x="0" y="841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64424" y="23747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14282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92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64424" y="23747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0" y="0"/>
                  </a:moveTo>
                  <a:lnTo>
                    <a:pt x="1428299" y="0"/>
                  </a:lnTo>
                  <a:lnTo>
                    <a:pt x="1428299" y="923399"/>
                  </a:lnTo>
                  <a:lnTo>
                    <a:pt x="0" y="923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62200" y="2159424"/>
              <a:ext cx="417195" cy="393700"/>
            </a:xfrm>
            <a:custGeom>
              <a:avLst/>
              <a:gdLst/>
              <a:ahLst/>
              <a:cxnLst/>
              <a:rect l="l" t="t" r="r" b="b"/>
              <a:pathLst>
                <a:path w="417195" h="393700">
                  <a:moveTo>
                    <a:pt x="416699" y="393599"/>
                  </a:moveTo>
                  <a:lnTo>
                    <a:pt x="0" y="393599"/>
                  </a:lnTo>
                  <a:lnTo>
                    <a:pt x="0" y="0"/>
                  </a:lnTo>
                  <a:lnTo>
                    <a:pt x="416699" y="0"/>
                  </a:lnTo>
                  <a:lnTo>
                    <a:pt x="416699" y="393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62200" y="2159424"/>
              <a:ext cx="417195" cy="393700"/>
            </a:xfrm>
            <a:custGeom>
              <a:avLst/>
              <a:gdLst/>
              <a:ahLst/>
              <a:cxnLst/>
              <a:rect l="l" t="t" r="r" b="b"/>
              <a:pathLst>
                <a:path w="417195" h="393700">
                  <a:moveTo>
                    <a:pt x="0" y="0"/>
                  </a:moveTo>
                  <a:lnTo>
                    <a:pt x="416699" y="0"/>
                  </a:lnTo>
                  <a:lnTo>
                    <a:pt x="416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3249" y="3434674"/>
              <a:ext cx="2390140" cy="586105"/>
            </a:xfrm>
            <a:custGeom>
              <a:avLst/>
              <a:gdLst/>
              <a:ahLst/>
              <a:cxnLst/>
              <a:rect l="l" t="t" r="r" b="b"/>
              <a:pathLst>
                <a:path w="2390140" h="586104">
                  <a:moveTo>
                    <a:pt x="2390099" y="585599"/>
                  </a:moveTo>
                  <a:lnTo>
                    <a:pt x="0" y="585599"/>
                  </a:lnTo>
                  <a:lnTo>
                    <a:pt x="0" y="0"/>
                  </a:lnTo>
                  <a:lnTo>
                    <a:pt x="2390099" y="0"/>
                  </a:lnTo>
                  <a:lnTo>
                    <a:pt x="2390099" y="585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93249" y="3434674"/>
              <a:ext cx="2390140" cy="586105"/>
            </a:xfrm>
            <a:custGeom>
              <a:avLst/>
              <a:gdLst/>
              <a:ahLst/>
              <a:cxnLst/>
              <a:rect l="l" t="t" r="r" b="b"/>
              <a:pathLst>
                <a:path w="2390140" h="586104">
                  <a:moveTo>
                    <a:pt x="0" y="0"/>
                  </a:moveTo>
                  <a:lnTo>
                    <a:pt x="2390099" y="0"/>
                  </a:lnTo>
                  <a:lnTo>
                    <a:pt x="2390099" y="585599"/>
                  </a:lnTo>
                  <a:lnTo>
                    <a:pt x="0" y="585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3824" y="3366024"/>
              <a:ext cx="1056005" cy="586105"/>
            </a:xfrm>
            <a:custGeom>
              <a:avLst/>
              <a:gdLst/>
              <a:ahLst/>
              <a:cxnLst/>
              <a:rect l="l" t="t" r="r" b="b"/>
              <a:pathLst>
                <a:path w="1056004" h="586104">
                  <a:moveTo>
                    <a:pt x="1055999" y="585599"/>
                  </a:moveTo>
                  <a:lnTo>
                    <a:pt x="0" y="585599"/>
                  </a:lnTo>
                  <a:lnTo>
                    <a:pt x="0" y="0"/>
                  </a:lnTo>
                  <a:lnTo>
                    <a:pt x="1055999" y="0"/>
                  </a:lnTo>
                  <a:lnTo>
                    <a:pt x="1055999" y="585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3824" y="3366024"/>
              <a:ext cx="1056005" cy="586105"/>
            </a:xfrm>
            <a:custGeom>
              <a:avLst/>
              <a:gdLst/>
              <a:ahLst/>
              <a:cxnLst/>
              <a:rect l="l" t="t" r="r" b="b"/>
              <a:pathLst>
                <a:path w="1056004" h="586104">
                  <a:moveTo>
                    <a:pt x="0" y="0"/>
                  </a:moveTo>
                  <a:lnTo>
                    <a:pt x="1055999" y="0"/>
                  </a:lnTo>
                  <a:lnTo>
                    <a:pt x="1055999" y="585599"/>
                  </a:lnTo>
                  <a:lnTo>
                    <a:pt x="0" y="585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52524" y="1666324"/>
              <a:ext cx="204470" cy="289560"/>
            </a:xfrm>
            <a:custGeom>
              <a:avLst/>
              <a:gdLst/>
              <a:ahLst/>
              <a:cxnLst/>
              <a:rect l="l" t="t" r="r" b="b"/>
              <a:pathLst>
                <a:path w="204469" h="289560">
                  <a:moveTo>
                    <a:pt x="203999" y="289199"/>
                  </a:moveTo>
                  <a:lnTo>
                    <a:pt x="0" y="289199"/>
                  </a:lnTo>
                  <a:lnTo>
                    <a:pt x="0" y="0"/>
                  </a:lnTo>
                  <a:lnTo>
                    <a:pt x="203999" y="0"/>
                  </a:lnTo>
                  <a:lnTo>
                    <a:pt x="203999" y="289199"/>
                  </a:lnTo>
                  <a:close/>
                </a:path>
              </a:pathLst>
            </a:custGeom>
            <a:solidFill>
              <a:srgbClr val="DCE7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2524" y="1666324"/>
              <a:ext cx="204470" cy="289560"/>
            </a:xfrm>
            <a:custGeom>
              <a:avLst/>
              <a:gdLst/>
              <a:ahLst/>
              <a:cxnLst/>
              <a:rect l="l" t="t" r="r" b="b"/>
              <a:pathLst>
                <a:path w="204469" h="289560">
                  <a:moveTo>
                    <a:pt x="0" y="0"/>
                  </a:moveTo>
                  <a:lnTo>
                    <a:pt x="203999" y="0"/>
                  </a:lnTo>
                  <a:lnTo>
                    <a:pt x="203999" y="289199"/>
                  </a:lnTo>
                  <a:lnTo>
                    <a:pt x="0" y="28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CE7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949" y="29528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14282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92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7949" y="415474"/>
              <a:ext cx="6369050" cy="3461385"/>
            </a:xfrm>
            <a:custGeom>
              <a:avLst/>
              <a:gdLst/>
              <a:ahLst/>
              <a:cxnLst/>
              <a:rect l="l" t="t" r="r" b="b"/>
              <a:pathLst>
                <a:path w="6369050" h="3461385">
                  <a:moveTo>
                    <a:pt x="0" y="2537399"/>
                  </a:moveTo>
                  <a:lnTo>
                    <a:pt x="1428299" y="2537399"/>
                  </a:lnTo>
                  <a:lnTo>
                    <a:pt x="1428299" y="3460799"/>
                  </a:lnTo>
                  <a:lnTo>
                    <a:pt x="0" y="3460799"/>
                  </a:lnTo>
                  <a:lnTo>
                    <a:pt x="0" y="2537399"/>
                  </a:lnTo>
                  <a:close/>
                </a:path>
                <a:path w="6369050" h="3461385">
                  <a:moveTo>
                    <a:pt x="4242924" y="0"/>
                  </a:moveTo>
                  <a:lnTo>
                    <a:pt x="6368424" y="0"/>
                  </a:lnTo>
                  <a:lnTo>
                    <a:pt x="6368424" y="923399"/>
                  </a:lnTo>
                  <a:lnTo>
                    <a:pt x="4242924" y="923399"/>
                  </a:lnTo>
                  <a:lnTo>
                    <a:pt x="4242924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5424" y="13279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14282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92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65424" y="1327974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0" y="0"/>
                  </a:moveTo>
                  <a:lnTo>
                    <a:pt x="1428299" y="0"/>
                  </a:lnTo>
                  <a:lnTo>
                    <a:pt x="1428299" y="923399"/>
                  </a:lnTo>
                  <a:lnTo>
                    <a:pt x="0" y="923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2572" y="122162"/>
            <a:ext cx="7532370" cy="4690110"/>
            <a:chOff x="532572" y="122162"/>
            <a:chExt cx="7532370" cy="4690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572" y="292682"/>
              <a:ext cx="7531900" cy="45190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8924" y="126925"/>
              <a:ext cx="3783329" cy="1071880"/>
            </a:xfrm>
            <a:custGeom>
              <a:avLst/>
              <a:gdLst/>
              <a:ahLst/>
              <a:cxnLst/>
              <a:rect l="l" t="t" r="r" b="b"/>
              <a:pathLst>
                <a:path w="3783329" h="1071880">
                  <a:moveTo>
                    <a:pt x="3783299" y="1071299"/>
                  </a:moveTo>
                  <a:lnTo>
                    <a:pt x="0" y="1071299"/>
                  </a:lnTo>
                  <a:lnTo>
                    <a:pt x="0" y="0"/>
                  </a:lnTo>
                  <a:lnTo>
                    <a:pt x="3783299" y="0"/>
                  </a:lnTo>
                  <a:lnTo>
                    <a:pt x="3783299" y="1071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24" y="126925"/>
              <a:ext cx="3783329" cy="1071880"/>
            </a:xfrm>
            <a:custGeom>
              <a:avLst/>
              <a:gdLst/>
              <a:ahLst/>
              <a:cxnLst/>
              <a:rect l="l" t="t" r="r" b="b"/>
              <a:pathLst>
                <a:path w="3783329" h="1071880">
                  <a:moveTo>
                    <a:pt x="0" y="0"/>
                  </a:moveTo>
                  <a:lnTo>
                    <a:pt x="3783299" y="0"/>
                  </a:lnTo>
                  <a:lnTo>
                    <a:pt x="3783299" y="1071299"/>
                  </a:lnTo>
                  <a:lnTo>
                    <a:pt x="0" y="1071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Edit</a:t>
            </a:r>
            <a:r>
              <a:rPr sz="2400" b="1" spc="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What,</a:t>
            </a:r>
            <a:r>
              <a:rPr sz="2400" b="1" spc="8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Exactly?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14" dirty="0"/>
              <a:t>Deﬁning</a:t>
            </a:r>
            <a:r>
              <a:rPr sz="2400" spc="-40" dirty="0"/>
              <a:t> </a:t>
            </a:r>
            <a:r>
              <a:rPr sz="2400" spc="165" dirty="0"/>
              <a:t>the</a:t>
            </a:r>
            <a:r>
              <a:rPr sz="2400" spc="-40" dirty="0"/>
              <a:t> </a:t>
            </a:r>
            <a:r>
              <a:rPr sz="2400" spc="140" dirty="0"/>
              <a:t>problem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1100462" y="1364012"/>
            <a:ext cx="6845300" cy="3342640"/>
            <a:chOff x="1100462" y="1364012"/>
            <a:chExt cx="6845300" cy="3342640"/>
          </a:xfrm>
        </p:grpSpPr>
        <p:sp>
          <p:nvSpPr>
            <p:cNvPr id="8" name="object 8"/>
            <p:cNvSpPr/>
            <p:nvPr/>
          </p:nvSpPr>
          <p:spPr>
            <a:xfrm>
              <a:off x="6189175" y="4225325"/>
              <a:ext cx="1751964" cy="476884"/>
            </a:xfrm>
            <a:custGeom>
              <a:avLst/>
              <a:gdLst/>
              <a:ahLst/>
              <a:cxnLst/>
              <a:rect l="l" t="t" r="r" b="b"/>
              <a:pathLst>
                <a:path w="1751965" h="476885">
                  <a:moveTo>
                    <a:pt x="1751399" y="476399"/>
                  </a:moveTo>
                  <a:lnTo>
                    <a:pt x="0" y="476399"/>
                  </a:lnTo>
                  <a:lnTo>
                    <a:pt x="0" y="0"/>
                  </a:lnTo>
                  <a:lnTo>
                    <a:pt x="1751399" y="0"/>
                  </a:lnTo>
                  <a:lnTo>
                    <a:pt x="1751399" y="476399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89175" y="4225325"/>
              <a:ext cx="1751964" cy="476884"/>
            </a:xfrm>
            <a:custGeom>
              <a:avLst/>
              <a:gdLst/>
              <a:ahLst/>
              <a:cxnLst/>
              <a:rect l="l" t="t" r="r" b="b"/>
              <a:pathLst>
                <a:path w="1751965" h="476885">
                  <a:moveTo>
                    <a:pt x="0" y="0"/>
                  </a:moveTo>
                  <a:lnTo>
                    <a:pt x="1751399" y="0"/>
                  </a:lnTo>
                  <a:lnTo>
                    <a:pt x="1751399" y="476399"/>
                  </a:lnTo>
                  <a:lnTo>
                    <a:pt x="0" y="47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1E1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5224" y="1368774"/>
              <a:ext cx="1428750" cy="842010"/>
            </a:xfrm>
            <a:custGeom>
              <a:avLst/>
              <a:gdLst/>
              <a:ahLst/>
              <a:cxnLst/>
              <a:rect l="l" t="t" r="r" b="b"/>
              <a:pathLst>
                <a:path w="1428750" h="842010">
                  <a:moveTo>
                    <a:pt x="1428299" y="841799"/>
                  </a:moveTo>
                  <a:lnTo>
                    <a:pt x="0" y="8417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841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05224" y="1368774"/>
              <a:ext cx="1428750" cy="842010"/>
            </a:xfrm>
            <a:custGeom>
              <a:avLst/>
              <a:gdLst/>
              <a:ahLst/>
              <a:cxnLst/>
              <a:rect l="l" t="t" r="r" b="b"/>
              <a:pathLst>
                <a:path w="1428750" h="842010">
                  <a:moveTo>
                    <a:pt x="0" y="0"/>
                  </a:moveTo>
                  <a:lnTo>
                    <a:pt x="1428299" y="0"/>
                  </a:lnTo>
                  <a:lnTo>
                    <a:pt x="1428299" y="841799"/>
                  </a:lnTo>
                  <a:lnTo>
                    <a:pt x="0" y="841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64424" y="2374775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14282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1428299" y="0"/>
                  </a:lnTo>
                  <a:lnTo>
                    <a:pt x="1428299" y="92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64424" y="2374775"/>
              <a:ext cx="1428750" cy="923925"/>
            </a:xfrm>
            <a:custGeom>
              <a:avLst/>
              <a:gdLst/>
              <a:ahLst/>
              <a:cxnLst/>
              <a:rect l="l" t="t" r="r" b="b"/>
              <a:pathLst>
                <a:path w="1428750" h="923925">
                  <a:moveTo>
                    <a:pt x="0" y="0"/>
                  </a:moveTo>
                  <a:lnTo>
                    <a:pt x="1428299" y="0"/>
                  </a:lnTo>
                  <a:lnTo>
                    <a:pt x="1428299" y="923399"/>
                  </a:lnTo>
                  <a:lnTo>
                    <a:pt x="0" y="923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62200" y="2159424"/>
              <a:ext cx="417195" cy="393700"/>
            </a:xfrm>
            <a:custGeom>
              <a:avLst/>
              <a:gdLst/>
              <a:ahLst/>
              <a:cxnLst/>
              <a:rect l="l" t="t" r="r" b="b"/>
              <a:pathLst>
                <a:path w="417195" h="393700">
                  <a:moveTo>
                    <a:pt x="416699" y="393599"/>
                  </a:moveTo>
                  <a:lnTo>
                    <a:pt x="0" y="393599"/>
                  </a:lnTo>
                  <a:lnTo>
                    <a:pt x="0" y="0"/>
                  </a:lnTo>
                  <a:lnTo>
                    <a:pt x="416699" y="0"/>
                  </a:lnTo>
                  <a:lnTo>
                    <a:pt x="416699" y="393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62200" y="2159424"/>
              <a:ext cx="417195" cy="393700"/>
            </a:xfrm>
            <a:custGeom>
              <a:avLst/>
              <a:gdLst/>
              <a:ahLst/>
              <a:cxnLst/>
              <a:rect l="l" t="t" r="r" b="b"/>
              <a:pathLst>
                <a:path w="417195" h="393700">
                  <a:moveTo>
                    <a:pt x="0" y="0"/>
                  </a:moveTo>
                  <a:lnTo>
                    <a:pt x="416699" y="0"/>
                  </a:lnTo>
                  <a:lnTo>
                    <a:pt x="416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3249" y="3434675"/>
              <a:ext cx="2390140" cy="586105"/>
            </a:xfrm>
            <a:custGeom>
              <a:avLst/>
              <a:gdLst/>
              <a:ahLst/>
              <a:cxnLst/>
              <a:rect l="l" t="t" r="r" b="b"/>
              <a:pathLst>
                <a:path w="2390140" h="586104">
                  <a:moveTo>
                    <a:pt x="2390099" y="585599"/>
                  </a:moveTo>
                  <a:lnTo>
                    <a:pt x="0" y="585599"/>
                  </a:lnTo>
                  <a:lnTo>
                    <a:pt x="0" y="0"/>
                  </a:lnTo>
                  <a:lnTo>
                    <a:pt x="2390099" y="0"/>
                  </a:lnTo>
                  <a:lnTo>
                    <a:pt x="2390099" y="585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93249" y="3434675"/>
              <a:ext cx="2390140" cy="586105"/>
            </a:xfrm>
            <a:custGeom>
              <a:avLst/>
              <a:gdLst/>
              <a:ahLst/>
              <a:cxnLst/>
              <a:rect l="l" t="t" r="r" b="b"/>
              <a:pathLst>
                <a:path w="2390140" h="586104">
                  <a:moveTo>
                    <a:pt x="0" y="0"/>
                  </a:moveTo>
                  <a:lnTo>
                    <a:pt x="2390099" y="0"/>
                  </a:lnTo>
                  <a:lnTo>
                    <a:pt x="2390099" y="585599"/>
                  </a:lnTo>
                  <a:lnTo>
                    <a:pt x="0" y="585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3824" y="3366024"/>
              <a:ext cx="1056005" cy="586105"/>
            </a:xfrm>
            <a:custGeom>
              <a:avLst/>
              <a:gdLst/>
              <a:ahLst/>
              <a:cxnLst/>
              <a:rect l="l" t="t" r="r" b="b"/>
              <a:pathLst>
                <a:path w="1056004" h="586104">
                  <a:moveTo>
                    <a:pt x="1055999" y="585599"/>
                  </a:moveTo>
                  <a:lnTo>
                    <a:pt x="0" y="585599"/>
                  </a:lnTo>
                  <a:lnTo>
                    <a:pt x="0" y="0"/>
                  </a:lnTo>
                  <a:lnTo>
                    <a:pt x="1055999" y="0"/>
                  </a:lnTo>
                  <a:lnTo>
                    <a:pt x="1055999" y="585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3824" y="3366024"/>
              <a:ext cx="1056005" cy="586105"/>
            </a:xfrm>
            <a:custGeom>
              <a:avLst/>
              <a:gdLst/>
              <a:ahLst/>
              <a:cxnLst/>
              <a:rect l="l" t="t" r="r" b="b"/>
              <a:pathLst>
                <a:path w="1056004" h="586104">
                  <a:moveTo>
                    <a:pt x="0" y="0"/>
                  </a:moveTo>
                  <a:lnTo>
                    <a:pt x="1055999" y="0"/>
                  </a:lnTo>
                  <a:lnTo>
                    <a:pt x="1055999" y="585599"/>
                  </a:lnTo>
                  <a:lnTo>
                    <a:pt x="0" y="585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52525" y="1666324"/>
              <a:ext cx="204470" cy="289560"/>
            </a:xfrm>
            <a:custGeom>
              <a:avLst/>
              <a:gdLst/>
              <a:ahLst/>
              <a:cxnLst/>
              <a:rect l="l" t="t" r="r" b="b"/>
              <a:pathLst>
                <a:path w="204469" h="289560">
                  <a:moveTo>
                    <a:pt x="203999" y="289199"/>
                  </a:moveTo>
                  <a:lnTo>
                    <a:pt x="0" y="289199"/>
                  </a:lnTo>
                  <a:lnTo>
                    <a:pt x="0" y="0"/>
                  </a:lnTo>
                  <a:lnTo>
                    <a:pt x="203999" y="0"/>
                  </a:lnTo>
                  <a:lnTo>
                    <a:pt x="203999" y="289199"/>
                  </a:lnTo>
                  <a:close/>
                </a:path>
              </a:pathLst>
            </a:custGeom>
            <a:solidFill>
              <a:srgbClr val="DCE7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2525" y="1666324"/>
              <a:ext cx="204470" cy="289560"/>
            </a:xfrm>
            <a:custGeom>
              <a:avLst/>
              <a:gdLst/>
              <a:ahLst/>
              <a:cxnLst/>
              <a:rect l="l" t="t" r="r" b="b"/>
              <a:pathLst>
                <a:path w="204469" h="289560">
                  <a:moveTo>
                    <a:pt x="0" y="0"/>
                  </a:moveTo>
                  <a:lnTo>
                    <a:pt x="203999" y="0"/>
                  </a:lnTo>
                  <a:lnTo>
                    <a:pt x="203999" y="289199"/>
                  </a:lnTo>
                  <a:lnTo>
                    <a:pt x="0" y="28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CE7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2572" y="122162"/>
            <a:ext cx="7532370" cy="4690110"/>
            <a:chOff x="532572" y="122162"/>
            <a:chExt cx="7532370" cy="4690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572" y="292682"/>
              <a:ext cx="7531900" cy="45190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8924" y="126925"/>
              <a:ext cx="3783329" cy="1071880"/>
            </a:xfrm>
            <a:custGeom>
              <a:avLst/>
              <a:gdLst/>
              <a:ahLst/>
              <a:cxnLst/>
              <a:rect l="l" t="t" r="r" b="b"/>
              <a:pathLst>
                <a:path w="3783329" h="1071880">
                  <a:moveTo>
                    <a:pt x="3783299" y="1071299"/>
                  </a:moveTo>
                  <a:lnTo>
                    <a:pt x="0" y="1071299"/>
                  </a:lnTo>
                  <a:lnTo>
                    <a:pt x="0" y="0"/>
                  </a:lnTo>
                  <a:lnTo>
                    <a:pt x="3783299" y="0"/>
                  </a:lnTo>
                  <a:lnTo>
                    <a:pt x="3783299" y="1071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24" y="126925"/>
              <a:ext cx="3783329" cy="1071880"/>
            </a:xfrm>
            <a:custGeom>
              <a:avLst/>
              <a:gdLst/>
              <a:ahLst/>
              <a:cxnLst/>
              <a:rect l="l" t="t" r="r" b="b"/>
              <a:pathLst>
                <a:path w="3783329" h="1071880">
                  <a:moveTo>
                    <a:pt x="0" y="0"/>
                  </a:moveTo>
                  <a:lnTo>
                    <a:pt x="3783299" y="0"/>
                  </a:lnTo>
                  <a:lnTo>
                    <a:pt x="3783299" y="1071299"/>
                  </a:lnTo>
                  <a:lnTo>
                    <a:pt x="0" y="1071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Edit</a:t>
            </a:r>
            <a:r>
              <a:rPr sz="2400" b="1" spc="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What,</a:t>
            </a:r>
            <a:r>
              <a:rPr sz="2400" b="1" spc="8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Exactly?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14" dirty="0"/>
              <a:t>Deﬁning</a:t>
            </a:r>
            <a:r>
              <a:rPr sz="2400" spc="-40" dirty="0"/>
              <a:t> </a:t>
            </a:r>
            <a:r>
              <a:rPr sz="2400" spc="165" dirty="0"/>
              <a:t>the</a:t>
            </a:r>
            <a:r>
              <a:rPr sz="2400" spc="-40" dirty="0"/>
              <a:t> </a:t>
            </a:r>
            <a:r>
              <a:rPr sz="2400" spc="140" dirty="0"/>
              <a:t>problem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269" y="2086610"/>
            <a:ext cx="81845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8285" marR="5080" indent="-2776220">
              <a:lnSpc>
                <a:spcPct val="100000"/>
              </a:lnSpc>
              <a:spcBef>
                <a:spcPts val="100"/>
              </a:spcBef>
            </a:pPr>
            <a:r>
              <a:rPr sz="3000" spc="100" dirty="0"/>
              <a:t>Knowledge</a:t>
            </a:r>
            <a:r>
              <a:rPr sz="3000" spc="-45" dirty="0"/>
              <a:t> </a:t>
            </a:r>
            <a:r>
              <a:rPr sz="3000" spc="175" dirty="0"/>
              <a:t>Neurons</a:t>
            </a:r>
            <a:r>
              <a:rPr sz="3000" spc="-45" dirty="0"/>
              <a:t> </a:t>
            </a:r>
            <a:r>
              <a:rPr sz="3000" spc="185" dirty="0"/>
              <a:t>in</a:t>
            </a:r>
            <a:r>
              <a:rPr sz="3000" spc="-45" dirty="0"/>
              <a:t> </a:t>
            </a:r>
            <a:r>
              <a:rPr sz="3000" spc="175" dirty="0"/>
              <a:t>Pretrained</a:t>
            </a:r>
            <a:r>
              <a:rPr sz="3000" spc="-100" dirty="0"/>
              <a:t> </a:t>
            </a:r>
            <a:r>
              <a:rPr sz="3000" spc="155" dirty="0"/>
              <a:t>Transformers </a:t>
            </a:r>
            <a:r>
              <a:rPr sz="3000" spc="50" dirty="0"/>
              <a:t>(Dai</a:t>
            </a:r>
            <a:r>
              <a:rPr sz="3000" spc="-50" dirty="0"/>
              <a:t> </a:t>
            </a:r>
            <a:r>
              <a:rPr sz="3000" spc="160" dirty="0"/>
              <a:t>et</a:t>
            </a:r>
            <a:r>
              <a:rPr sz="3000" spc="-50" dirty="0"/>
              <a:t> </a:t>
            </a:r>
            <a:r>
              <a:rPr sz="3000" spc="125" dirty="0"/>
              <a:t>al.</a:t>
            </a:r>
            <a:r>
              <a:rPr sz="3000" spc="-45" dirty="0"/>
              <a:t> </a:t>
            </a:r>
            <a:r>
              <a:rPr sz="3000" spc="-10" dirty="0"/>
              <a:t>2021)</a:t>
            </a:r>
            <a:endParaRPr sz="3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704465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Knowledge</a:t>
            </a:r>
            <a:r>
              <a:rPr spc="-50" dirty="0"/>
              <a:t> </a:t>
            </a:r>
            <a:r>
              <a:rPr spc="1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66430" y="1311214"/>
            <a:ext cx="3683000" cy="293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90" dirty="0">
                <a:latin typeface="Times New Roman"/>
                <a:cs typeface="Times New Roman"/>
              </a:rPr>
              <a:t>What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a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20" dirty="0">
                <a:latin typeface="Times New Roman"/>
                <a:cs typeface="Times New Roman"/>
              </a:rPr>
              <a:t>neuron</a:t>
            </a:r>
            <a:endParaRPr sz="1700">
              <a:latin typeface="Times New Roman"/>
              <a:cs typeface="Times New Roman"/>
            </a:endParaRPr>
          </a:p>
          <a:p>
            <a:pPr marL="828675" marR="859155" lvl="1" indent="-336550">
              <a:lnSpc>
                <a:spcPct val="100000"/>
              </a:lnSpc>
              <a:spcBef>
                <a:spcPts val="10"/>
              </a:spcBef>
              <a:buClr>
                <a:srgbClr val="000000"/>
              </a:buClr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b="1" dirty="0">
                <a:solidFill>
                  <a:srgbClr val="E69137"/>
                </a:solidFill>
                <a:latin typeface="Cambria"/>
                <a:cs typeface="Cambria"/>
              </a:rPr>
              <a:t>Activations</a:t>
            </a:r>
            <a:r>
              <a:rPr sz="1400" b="1" spc="-1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after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ﬁrst </a:t>
            </a:r>
            <a:r>
              <a:rPr sz="1400" dirty="0">
                <a:latin typeface="Times New Roman"/>
                <a:cs typeface="Times New Roman"/>
              </a:rPr>
              <a:t>feed-</a:t>
            </a:r>
            <a:r>
              <a:rPr sz="1400" spc="70" dirty="0">
                <a:latin typeface="Times New Roman"/>
                <a:cs typeface="Times New Roman"/>
              </a:rPr>
              <a:t>forward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35" dirty="0">
                <a:latin typeface="Times New Roman"/>
                <a:cs typeface="Times New Roman"/>
              </a:rPr>
              <a:t>layer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Arial"/>
              <a:buChar char="○"/>
            </a:pPr>
            <a:endParaRPr sz="145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70" dirty="0">
                <a:latin typeface="Times New Roman"/>
                <a:cs typeface="Times New Roman"/>
              </a:rPr>
              <a:t>Assumption</a:t>
            </a:r>
            <a:endParaRPr sz="1700">
              <a:latin typeface="Times New Roman"/>
              <a:cs typeface="Times New Roman"/>
            </a:endParaRPr>
          </a:p>
          <a:p>
            <a:pPr marL="828675" marR="184785" lvl="1" indent="-336550">
              <a:lnSpc>
                <a:spcPct val="100000"/>
              </a:lnSpc>
              <a:spcBef>
                <a:spcPts val="15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spc="45" dirty="0">
                <a:latin typeface="Times New Roman"/>
                <a:cs typeface="Times New Roman"/>
              </a:rPr>
              <a:t>Knowledge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110" dirty="0">
                <a:latin typeface="Times New Roman"/>
                <a:cs typeface="Times New Roman"/>
              </a:rPr>
              <a:t>neuron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are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associated </a:t>
            </a:r>
            <a:r>
              <a:rPr sz="1400" spc="65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factual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knowledge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Arial"/>
              <a:buChar char="○"/>
            </a:pPr>
            <a:endParaRPr sz="1450">
              <a:latin typeface="Times New Roman"/>
              <a:cs typeface="Times New Roman"/>
            </a:endParaRPr>
          </a:p>
          <a:p>
            <a:pPr marL="371475" indent="-359410">
              <a:lnSpc>
                <a:spcPct val="100000"/>
              </a:lnSpc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75" dirty="0">
                <a:latin typeface="Times New Roman"/>
                <a:cs typeface="Times New Roman"/>
              </a:rPr>
              <a:t>Implications</a:t>
            </a:r>
            <a:endParaRPr sz="1700">
              <a:latin typeface="Times New Roman"/>
              <a:cs typeface="Times New Roman"/>
            </a:endParaRPr>
          </a:p>
          <a:p>
            <a:pPr marL="828675" marR="5080" lvl="1" indent="-336550">
              <a:lnSpc>
                <a:spcPct val="100000"/>
              </a:lnSpc>
              <a:spcBef>
                <a:spcPts val="10"/>
              </a:spcBef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we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can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identifying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these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neurons, </a:t>
            </a:r>
            <a:r>
              <a:rPr sz="1400" spc="50" dirty="0">
                <a:latin typeface="Times New Roman"/>
                <a:cs typeface="Times New Roman"/>
              </a:rPr>
              <a:t>we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can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alter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110" dirty="0">
                <a:latin typeface="Times New Roman"/>
                <a:cs typeface="Times New Roman"/>
              </a:rPr>
              <a:t>them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edit </a:t>
            </a:r>
            <a:r>
              <a:rPr sz="1400" spc="65" dirty="0">
                <a:latin typeface="Times New Roman"/>
                <a:cs typeface="Times New Roman"/>
              </a:rPr>
              <a:t>(update/erase)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knowledge.</a:t>
            </a:r>
            <a:endParaRPr sz="1400">
              <a:latin typeface="Times New Roman"/>
              <a:cs typeface="Times New Roman"/>
            </a:endParaRPr>
          </a:p>
          <a:p>
            <a:pPr marL="828675" lvl="1" indent="-336550">
              <a:lnSpc>
                <a:spcPct val="100000"/>
              </a:lnSpc>
              <a:buFont typeface="Arial"/>
              <a:buChar char="○"/>
              <a:tabLst>
                <a:tab pos="828675" algn="l"/>
                <a:tab pos="829310" algn="l"/>
              </a:tabLst>
            </a:pPr>
            <a:r>
              <a:rPr sz="1400" dirty="0">
                <a:latin typeface="Times New Roman"/>
                <a:cs typeface="Times New Roman"/>
              </a:rPr>
              <a:t>No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additional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training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involved.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416" y="1338505"/>
            <a:ext cx="2792740" cy="30946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779145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Suppressing</a:t>
            </a:r>
            <a:r>
              <a:rPr spc="-25" dirty="0"/>
              <a:t> </a:t>
            </a:r>
            <a:r>
              <a:rPr spc="165" dirty="0"/>
              <a:t>or</a:t>
            </a:r>
            <a:r>
              <a:rPr spc="-25" dirty="0"/>
              <a:t> </a:t>
            </a:r>
            <a:r>
              <a:rPr spc="75" dirty="0"/>
              <a:t>Amplifying</a:t>
            </a:r>
            <a:r>
              <a:rPr spc="-20" dirty="0"/>
              <a:t> </a:t>
            </a:r>
            <a:r>
              <a:rPr spc="85" dirty="0"/>
              <a:t>Knowledge</a:t>
            </a:r>
            <a:r>
              <a:rPr spc="-25" dirty="0"/>
              <a:t> </a:t>
            </a:r>
            <a:r>
              <a:rPr spc="1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2308" y="4766036"/>
            <a:ext cx="215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B7B7B7"/>
                </a:solidFill>
                <a:latin typeface="Times New Roman"/>
                <a:cs typeface="Times New Roman"/>
              </a:rPr>
              <a:t>125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964" y="1119821"/>
            <a:ext cx="6189428" cy="15027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3349" y="2929473"/>
            <a:ext cx="6164146" cy="149735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46725" y="4541938"/>
            <a:ext cx="6233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Suppressing</a:t>
            </a:r>
            <a:r>
              <a:rPr sz="1400" b="1" spc="30" dirty="0">
                <a:latin typeface="Cambria"/>
                <a:cs typeface="Cambria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100" dirty="0">
                <a:latin typeface="Times New Roman"/>
                <a:cs typeface="Times New Roman"/>
              </a:rPr>
              <a:t>neurons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ambria"/>
                <a:cs typeface="Cambria"/>
              </a:rPr>
              <a:t>hurt</a:t>
            </a:r>
            <a:r>
              <a:rPr sz="1400" b="1" spc="45" dirty="0">
                <a:latin typeface="Cambria"/>
                <a:cs typeface="Cambria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performance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ambria"/>
                <a:cs typeface="Cambria"/>
              </a:rPr>
              <a:t>amplifying</a:t>
            </a:r>
            <a:r>
              <a:rPr sz="1400" b="1" spc="40" dirty="0">
                <a:latin typeface="Cambria"/>
                <a:cs typeface="Cambria"/>
              </a:rPr>
              <a:t> </a:t>
            </a:r>
            <a:r>
              <a:rPr sz="1400" spc="100" dirty="0">
                <a:latin typeface="Times New Roman"/>
                <a:cs typeface="Times New Roman"/>
              </a:rPr>
              <a:t>neurons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increase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95" dirty="0">
                <a:latin typeface="Times New Roman"/>
                <a:cs typeface="Times New Roman"/>
              </a:rPr>
              <a:t>performance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by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100" dirty="0">
                <a:latin typeface="Times New Roman"/>
                <a:cs typeface="Times New Roman"/>
              </a:rPr>
              <a:t>up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to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30%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40" dirty="0">
                <a:latin typeface="Times New Roman"/>
                <a:cs typeface="Times New Roman"/>
              </a:rPr>
              <a:t>average.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220091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Case</a:t>
            </a:r>
            <a:r>
              <a:rPr spc="-55" dirty="0"/>
              <a:t> </a:t>
            </a:r>
            <a:r>
              <a:rPr spc="60" dirty="0"/>
              <a:t>Study</a:t>
            </a:r>
            <a:r>
              <a:rPr spc="-55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105" dirty="0"/>
              <a:t>Updating</a:t>
            </a:r>
            <a:r>
              <a:rPr spc="-55" dirty="0"/>
              <a:t> </a:t>
            </a:r>
            <a:r>
              <a:rPr spc="70" dirty="0"/>
              <a:t>Facts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24" y="1216864"/>
            <a:ext cx="7439659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75" dirty="0">
                <a:latin typeface="Times New Roman"/>
                <a:cs typeface="Times New Roman"/>
              </a:rPr>
              <a:t>Update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neuron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values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by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subtracting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word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embedding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previous </a:t>
            </a:r>
            <a:r>
              <a:rPr sz="1700" spc="100" dirty="0">
                <a:latin typeface="Times New Roman"/>
                <a:cs typeface="Times New Roman"/>
              </a:rPr>
              <a:t>answer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adding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updated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answer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943" y="2321858"/>
            <a:ext cx="4513312" cy="10127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1943" y="3837988"/>
            <a:ext cx="67970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spc="50" dirty="0">
                <a:latin typeface="Times New Roman"/>
                <a:cs typeface="Times New Roman"/>
              </a:rPr>
              <a:t>They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achieved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change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rate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65" dirty="0">
                <a:latin typeface="Times New Roman"/>
                <a:cs typeface="Times New Roman"/>
              </a:rPr>
              <a:t>success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rate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that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better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105" dirty="0">
                <a:latin typeface="Times New Roman"/>
                <a:cs typeface="Times New Roman"/>
              </a:rPr>
              <a:t>than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110" dirty="0">
                <a:latin typeface="Times New Roman"/>
                <a:cs typeface="Times New Roman"/>
              </a:rPr>
              <a:t>random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neurons.</a:t>
            </a:r>
            <a:endParaRPr sz="140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this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good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enough?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8955" y="1801622"/>
            <a:ext cx="5466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1195" marR="5080" indent="-659130">
              <a:lnSpc>
                <a:spcPct val="100000"/>
              </a:lnSpc>
              <a:spcBef>
                <a:spcPts val="100"/>
              </a:spcBef>
            </a:pPr>
            <a:r>
              <a:rPr sz="3600" spc="120" dirty="0"/>
              <a:t>Fast</a:t>
            </a:r>
            <a:r>
              <a:rPr sz="3600" spc="-55" dirty="0"/>
              <a:t> </a:t>
            </a:r>
            <a:r>
              <a:rPr sz="3600" spc="120" dirty="0"/>
              <a:t>Model</a:t>
            </a:r>
            <a:r>
              <a:rPr sz="3600" spc="-55" dirty="0"/>
              <a:t> </a:t>
            </a:r>
            <a:r>
              <a:rPr sz="3600" spc="135" dirty="0"/>
              <a:t>Editing</a:t>
            </a:r>
            <a:r>
              <a:rPr sz="3600" spc="-55" dirty="0"/>
              <a:t> </a:t>
            </a:r>
            <a:r>
              <a:rPr sz="3600" spc="190" dirty="0"/>
              <a:t>at</a:t>
            </a:r>
            <a:r>
              <a:rPr sz="3600" spc="-55" dirty="0"/>
              <a:t> </a:t>
            </a:r>
            <a:r>
              <a:rPr sz="3600" spc="80" dirty="0"/>
              <a:t>Scale </a:t>
            </a:r>
            <a:r>
              <a:rPr sz="3600" spc="114" dirty="0"/>
              <a:t>(Mitchell</a:t>
            </a:r>
            <a:r>
              <a:rPr sz="3600" spc="-60" dirty="0"/>
              <a:t> </a:t>
            </a:r>
            <a:r>
              <a:rPr sz="3600" spc="190" dirty="0"/>
              <a:t>et</a:t>
            </a:r>
            <a:r>
              <a:rPr sz="3600" spc="-60" dirty="0"/>
              <a:t> </a:t>
            </a:r>
            <a:r>
              <a:rPr sz="3600" spc="150" dirty="0"/>
              <a:t>al.</a:t>
            </a:r>
            <a:r>
              <a:rPr sz="3600" spc="-55" dirty="0"/>
              <a:t> </a:t>
            </a:r>
            <a:r>
              <a:rPr sz="3600" spc="-10" dirty="0"/>
              <a:t>2022)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3096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Editing</a:t>
            </a:r>
            <a:r>
              <a:rPr spc="-30" dirty="0"/>
              <a:t> </a:t>
            </a:r>
            <a:r>
              <a:rPr spc="155" dirty="0"/>
              <a:t>a</a:t>
            </a:r>
            <a:r>
              <a:rPr spc="-30" dirty="0"/>
              <a:t> </a:t>
            </a:r>
            <a:r>
              <a:rPr spc="120" dirty="0"/>
              <a:t>Pre-</a:t>
            </a:r>
            <a:r>
              <a:rPr spc="130" dirty="0"/>
              <a:t>trained</a:t>
            </a:r>
            <a:r>
              <a:rPr spc="-30" dirty="0"/>
              <a:t> </a:t>
            </a:r>
            <a:r>
              <a:rPr spc="85" dirty="0"/>
              <a:t>Model</a:t>
            </a:r>
            <a:r>
              <a:rPr spc="-30" dirty="0"/>
              <a:t> </a:t>
            </a:r>
            <a:r>
              <a:rPr spc="120" dirty="0"/>
              <a:t>with</a:t>
            </a:r>
            <a:r>
              <a:rPr spc="-30" dirty="0"/>
              <a:t> </a:t>
            </a:r>
            <a:r>
              <a:rPr spc="-20" dirty="0"/>
              <a:t>MEND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841" y="1803708"/>
            <a:ext cx="1606107" cy="17750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3096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Editing</a:t>
            </a:r>
            <a:r>
              <a:rPr spc="-30" dirty="0"/>
              <a:t> </a:t>
            </a:r>
            <a:r>
              <a:rPr spc="155" dirty="0"/>
              <a:t>a</a:t>
            </a:r>
            <a:r>
              <a:rPr spc="-30" dirty="0"/>
              <a:t> </a:t>
            </a:r>
            <a:r>
              <a:rPr spc="120" dirty="0"/>
              <a:t>Pre-</a:t>
            </a:r>
            <a:r>
              <a:rPr spc="130" dirty="0"/>
              <a:t>trained</a:t>
            </a:r>
            <a:r>
              <a:rPr spc="-30" dirty="0"/>
              <a:t> </a:t>
            </a:r>
            <a:r>
              <a:rPr spc="85" dirty="0"/>
              <a:t>Model</a:t>
            </a:r>
            <a:r>
              <a:rPr spc="-30" dirty="0"/>
              <a:t> </a:t>
            </a:r>
            <a:r>
              <a:rPr spc="120" dirty="0"/>
              <a:t>with</a:t>
            </a:r>
            <a:r>
              <a:rPr spc="-30" dirty="0"/>
              <a:t> </a:t>
            </a:r>
            <a:r>
              <a:rPr spc="-20" dirty="0"/>
              <a:t>MEND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0466" y="1466012"/>
            <a:ext cx="2963545" cy="2113280"/>
            <a:chOff x="680466" y="1466012"/>
            <a:chExt cx="2963545" cy="2113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466" y="1810856"/>
              <a:ext cx="2541659" cy="17683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54525" y="1470774"/>
              <a:ext cx="884555" cy="706120"/>
            </a:xfrm>
            <a:custGeom>
              <a:avLst/>
              <a:gdLst/>
              <a:ahLst/>
              <a:cxnLst/>
              <a:rect l="l" t="t" r="r" b="b"/>
              <a:pathLst>
                <a:path w="884554" h="706119">
                  <a:moveTo>
                    <a:pt x="0" y="0"/>
                  </a:moveTo>
                  <a:lnTo>
                    <a:pt x="884099" y="0"/>
                  </a:lnTo>
                  <a:lnTo>
                    <a:pt x="884099" y="705599"/>
                  </a:lnTo>
                  <a:lnTo>
                    <a:pt x="0" y="705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3096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Editing</a:t>
            </a:r>
            <a:r>
              <a:rPr spc="-30" dirty="0"/>
              <a:t> </a:t>
            </a:r>
            <a:r>
              <a:rPr spc="155" dirty="0"/>
              <a:t>a</a:t>
            </a:r>
            <a:r>
              <a:rPr spc="-30" dirty="0"/>
              <a:t> </a:t>
            </a:r>
            <a:r>
              <a:rPr spc="120" dirty="0"/>
              <a:t>Pre-</a:t>
            </a:r>
            <a:r>
              <a:rPr spc="130" dirty="0"/>
              <a:t>trained</a:t>
            </a:r>
            <a:r>
              <a:rPr spc="-30" dirty="0"/>
              <a:t> </a:t>
            </a:r>
            <a:r>
              <a:rPr spc="85" dirty="0"/>
              <a:t>Model</a:t>
            </a:r>
            <a:r>
              <a:rPr spc="-30" dirty="0"/>
              <a:t> </a:t>
            </a:r>
            <a:r>
              <a:rPr spc="120" dirty="0"/>
              <a:t>with</a:t>
            </a:r>
            <a:r>
              <a:rPr spc="-30" dirty="0"/>
              <a:t> </a:t>
            </a:r>
            <a:r>
              <a:rPr spc="-20" dirty="0"/>
              <a:t>MEND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492" y="1808082"/>
            <a:ext cx="4998606" cy="1816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5468" y="4112713"/>
            <a:ext cx="6268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spc="7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network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80" dirty="0">
                <a:latin typeface="Times New Roman"/>
                <a:cs typeface="Times New Roman"/>
              </a:rPr>
              <a:t>produces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ambria"/>
                <a:cs typeface="Cambria"/>
              </a:rPr>
              <a:t>gradient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updates </a:t>
            </a:r>
            <a:r>
              <a:rPr sz="1400" spc="60" dirty="0">
                <a:latin typeface="Times New Roman"/>
                <a:cs typeface="Times New Roman"/>
              </a:rPr>
              <a:t>for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90" dirty="0">
                <a:latin typeface="Times New Roman"/>
                <a:cs typeface="Times New Roman"/>
              </a:rPr>
              <a:t>pretrained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model.</a:t>
            </a:r>
            <a:endParaRPr sz="140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spc="-20" dirty="0">
                <a:latin typeface="Times New Roman"/>
                <a:cs typeface="Times New Roman"/>
              </a:rPr>
              <a:t>Itʼs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not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gradient</a:t>
            </a:r>
            <a:r>
              <a:rPr sz="1400" dirty="0">
                <a:latin typeface="Times New Roman"/>
                <a:cs typeface="Times New Roman"/>
              </a:rPr>
              <a:t> of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weights,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itʼs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E69137"/>
                </a:solidFill>
                <a:latin typeface="Cambria"/>
                <a:cs typeface="Cambria"/>
              </a:rPr>
              <a:t>transformation</a:t>
            </a:r>
            <a:r>
              <a:rPr sz="1400" b="1" spc="30" dirty="0">
                <a:solidFill>
                  <a:srgbClr val="E69137"/>
                </a:solidFill>
                <a:latin typeface="Cambria"/>
                <a:cs typeface="Cambria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95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45" dirty="0">
                <a:latin typeface="Times New Roman"/>
                <a:cs typeface="Times New Roman"/>
              </a:rPr>
              <a:t>gradient!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3096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Editing</a:t>
            </a:r>
            <a:r>
              <a:rPr spc="-30" dirty="0"/>
              <a:t> </a:t>
            </a:r>
            <a:r>
              <a:rPr spc="155" dirty="0"/>
              <a:t>a</a:t>
            </a:r>
            <a:r>
              <a:rPr spc="-30" dirty="0"/>
              <a:t> </a:t>
            </a:r>
            <a:r>
              <a:rPr spc="120" dirty="0"/>
              <a:t>Pre-</a:t>
            </a:r>
            <a:r>
              <a:rPr spc="130" dirty="0"/>
              <a:t>trained</a:t>
            </a:r>
            <a:r>
              <a:rPr spc="-30" dirty="0"/>
              <a:t> </a:t>
            </a:r>
            <a:r>
              <a:rPr spc="85" dirty="0"/>
              <a:t>Model</a:t>
            </a:r>
            <a:r>
              <a:rPr spc="-30" dirty="0"/>
              <a:t> </a:t>
            </a:r>
            <a:r>
              <a:rPr spc="120" dirty="0"/>
              <a:t>with</a:t>
            </a:r>
            <a:r>
              <a:rPr spc="-30" dirty="0"/>
              <a:t> </a:t>
            </a:r>
            <a:r>
              <a:rPr spc="-20" dirty="0"/>
              <a:t>MEND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577" y="1808082"/>
            <a:ext cx="6775374" cy="18163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3096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Editing</a:t>
            </a:r>
            <a:r>
              <a:rPr spc="-30" dirty="0"/>
              <a:t> </a:t>
            </a:r>
            <a:r>
              <a:rPr spc="155" dirty="0"/>
              <a:t>a</a:t>
            </a:r>
            <a:r>
              <a:rPr spc="-30" dirty="0"/>
              <a:t> </a:t>
            </a:r>
            <a:r>
              <a:rPr spc="120" dirty="0"/>
              <a:t>Pre-</a:t>
            </a:r>
            <a:r>
              <a:rPr spc="130" dirty="0"/>
              <a:t>trained</a:t>
            </a:r>
            <a:r>
              <a:rPr spc="-30" dirty="0"/>
              <a:t> </a:t>
            </a:r>
            <a:r>
              <a:rPr spc="85" dirty="0"/>
              <a:t>Model</a:t>
            </a:r>
            <a:r>
              <a:rPr spc="-30" dirty="0"/>
              <a:t> </a:t>
            </a:r>
            <a:r>
              <a:rPr spc="120" dirty="0"/>
              <a:t>with</a:t>
            </a:r>
            <a:r>
              <a:rPr spc="-30" dirty="0"/>
              <a:t> </a:t>
            </a:r>
            <a:r>
              <a:rPr spc="-20" dirty="0"/>
              <a:t>MEND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581" y="1808082"/>
            <a:ext cx="7782435" cy="1816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63325" y="4053188"/>
            <a:ext cx="2139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knowledge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60" dirty="0">
                <a:latin typeface="Times New Roman"/>
                <a:cs typeface="Times New Roman"/>
              </a:rPr>
              <a:t>updated!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133096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Editing</a:t>
            </a:r>
            <a:r>
              <a:rPr spc="-30" dirty="0"/>
              <a:t> </a:t>
            </a:r>
            <a:r>
              <a:rPr spc="155" dirty="0"/>
              <a:t>a</a:t>
            </a:r>
            <a:r>
              <a:rPr spc="-30" dirty="0"/>
              <a:t> </a:t>
            </a:r>
            <a:r>
              <a:rPr spc="120" dirty="0"/>
              <a:t>Pre-</a:t>
            </a:r>
            <a:r>
              <a:rPr spc="130" dirty="0"/>
              <a:t>trained</a:t>
            </a:r>
            <a:r>
              <a:rPr spc="-30" dirty="0"/>
              <a:t> </a:t>
            </a:r>
            <a:r>
              <a:rPr spc="85" dirty="0"/>
              <a:t>Model</a:t>
            </a:r>
            <a:r>
              <a:rPr spc="-30" dirty="0"/>
              <a:t> </a:t>
            </a:r>
            <a:r>
              <a:rPr spc="120" dirty="0"/>
              <a:t>with</a:t>
            </a:r>
            <a:r>
              <a:rPr spc="-30" dirty="0"/>
              <a:t> </a:t>
            </a:r>
            <a:r>
              <a:rPr spc="-20" dirty="0"/>
              <a:t>MEND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781" y="1289482"/>
            <a:ext cx="7782435" cy="1816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21271" y="3488496"/>
            <a:ext cx="5839460" cy="11474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Involves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spc="75" dirty="0">
                <a:latin typeface="Times New Roman"/>
                <a:cs typeface="Times New Roman"/>
              </a:rPr>
              <a:t>training</a:t>
            </a:r>
            <a:endParaRPr sz="1600">
              <a:latin typeface="Times New Roman"/>
              <a:cs typeface="Times New Roman"/>
            </a:endParaRPr>
          </a:p>
          <a:p>
            <a:pPr marL="821055" lvl="1" indent="-35242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821055" algn="l"/>
                <a:tab pos="821690" algn="l"/>
              </a:tabLst>
            </a:pPr>
            <a:r>
              <a:rPr sz="1600" spc="75" dirty="0">
                <a:latin typeface="Times New Roman"/>
                <a:cs typeface="Times New Roman"/>
              </a:rPr>
              <a:t>correctly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95" dirty="0">
                <a:latin typeface="Times New Roman"/>
                <a:cs typeface="Times New Roman"/>
              </a:rPr>
              <a:t>updates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11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65" dirty="0">
                <a:latin typeface="Times New Roman"/>
                <a:cs typeface="Times New Roman"/>
              </a:rPr>
              <a:t>fact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12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11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related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Times New Roman"/>
                <a:cs typeface="Times New Roman"/>
              </a:rPr>
              <a:t>facts</a:t>
            </a:r>
            <a:endParaRPr sz="1600">
              <a:latin typeface="Times New Roman"/>
              <a:cs typeface="Times New Roman"/>
            </a:endParaRPr>
          </a:p>
          <a:p>
            <a:pPr marL="821055" lvl="1" indent="-352425">
              <a:lnSpc>
                <a:spcPct val="100000"/>
              </a:lnSpc>
              <a:spcBef>
                <a:spcPts val="285"/>
              </a:spcBef>
              <a:buFont typeface="Arial"/>
              <a:buChar char="○"/>
              <a:tabLst>
                <a:tab pos="821055" algn="l"/>
                <a:tab pos="821690" algn="l"/>
              </a:tabLst>
            </a:pPr>
            <a:r>
              <a:rPr sz="1600" spc="100" dirty="0">
                <a:latin typeface="Times New Roman"/>
                <a:cs typeface="Times New Roman"/>
              </a:rPr>
              <a:t>maintain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90" dirty="0">
                <a:latin typeface="Times New Roman"/>
                <a:cs typeface="Times New Roman"/>
              </a:rPr>
              <a:t>answers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7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11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75" dirty="0">
                <a:latin typeface="Times New Roman"/>
                <a:cs typeface="Times New Roman"/>
              </a:rPr>
              <a:t>irrelevant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Times New Roman"/>
                <a:cs typeface="Times New Roman"/>
              </a:rPr>
              <a:t>facts</a:t>
            </a:r>
            <a:endParaRPr sz="160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MEND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90" dirty="0">
                <a:latin typeface="Times New Roman"/>
                <a:cs typeface="Times New Roman"/>
              </a:rPr>
              <a:t>network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95" dirty="0">
                <a:latin typeface="Times New Roman"/>
                <a:cs typeface="Times New Roman"/>
              </a:rPr>
              <a:t>learns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Cambria"/>
                <a:cs typeface="Cambria"/>
              </a:rPr>
              <a:t>how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to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edit</a:t>
            </a:r>
            <a:r>
              <a:rPr sz="1600" b="1" spc="5" dirty="0">
                <a:latin typeface="Cambria"/>
                <a:cs typeface="Cambria"/>
              </a:rPr>
              <a:t> </a:t>
            </a:r>
            <a:r>
              <a:rPr sz="1600" spc="7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114" dirty="0">
                <a:latin typeface="Times New Roman"/>
                <a:cs typeface="Times New Roman"/>
              </a:rPr>
              <a:t>one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65" dirty="0">
                <a:latin typeface="Times New Roman"/>
                <a:cs typeface="Times New Roman"/>
              </a:rPr>
              <a:t>single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65" dirty="0">
                <a:latin typeface="Times New Roman"/>
                <a:cs typeface="Times New Roman"/>
              </a:rPr>
              <a:t>fact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change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7413" y="505350"/>
            <a:ext cx="10496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900" y="4145871"/>
            <a:ext cx="7896225" cy="4845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484"/>
              </a:spcBef>
            </a:pPr>
            <a:r>
              <a:rPr sz="1650" dirty="0">
                <a:latin typeface="Times New Roman"/>
                <a:cs typeface="Times New Roman"/>
              </a:rPr>
              <a:t>MEND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90" dirty="0">
                <a:latin typeface="Times New Roman"/>
                <a:cs typeface="Times New Roman"/>
              </a:rPr>
              <a:t>shows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125" dirty="0">
                <a:latin typeface="Times New Roman"/>
                <a:cs typeface="Times New Roman"/>
              </a:rPr>
              <a:t>the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105" dirty="0">
                <a:latin typeface="Times New Roman"/>
                <a:cs typeface="Times New Roman"/>
              </a:rPr>
              <a:t>best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Cambria"/>
                <a:cs typeface="Cambria"/>
              </a:rPr>
              <a:t>Edit</a:t>
            </a:r>
            <a:r>
              <a:rPr sz="1650" b="1" spc="1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success</a:t>
            </a:r>
            <a:r>
              <a:rPr sz="1650" b="1" spc="1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rate</a:t>
            </a:r>
            <a:r>
              <a:rPr sz="1650" b="1" spc="1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(ES)</a:t>
            </a:r>
            <a:r>
              <a:rPr sz="1650" b="1" spc="35" dirty="0">
                <a:latin typeface="Cambria"/>
                <a:cs typeface="Cambria"/>
              </a:rPr>
              <a:t> </a:t>
            </a:r>
            <a:r>
              <a:rPr sz="1650" spc="130" dirty="0">
                <a:latin typeface="Times New Roman"/>
                <a:cs typeface="Times New Roman"/>
              </a:rPr>
              <a:t>and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80" dirty="0">
                <a:latin typeface="Times New Roman"/>
                <a:cs typeface="Times New Roman"/>
              </a:rPr>
              <a:t>least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105" dirty="0">
                <a:latin typeface="Times New Roman"/>
                <a:cs typeface="Times New Roman"/>
              </a:rPr>
              <a:t>interference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80" dirty="0">
                <a:latin typeface="Times New Roman"/>
                <a:cs typeface="Times New Roman"/>
              </a:rPr>
              <a:t>to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70" dirty="0">
                <a:latin typeface="Times New Roman"/>
                <a:cs typeface="Times New Roman"/>
              </a:rPr>
              <a:t>overall</a:t>
            </a:r>
            <a:r>
              <a:rPr sz="1650" dirty="0">
                <a:latin typeface="Times New Roman"/>
                <a:cs typeface="Times New Roman"/>
              </a:rPr>
              <a:t> </a:t>
            </a:r>
            <a:r>
              <a:rPr sz="1650" spc="100" dirty="0">
                <a:latin typeface="Times New Roman"/>
                <a:cs typeface="Times New Roman"/>
              </a:rPr>
              <a:t>model </a:t>
            </a:r>
            <a:r>
              <a:rPr sz="1650" spc="85" dirty="0">
                <a:latin typeface="Times New Roman"/>
                <a:cs typeface="Times New Roman"/>
              </a:rPr>
              <a:t>perplexity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spc="120" dirty="0">
                <a:latin typeface="Times New Roman"/>
                <a:cs typeface="Times New Roman"/>
              </a:rPr>
              <a:t>or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spc="75" dirty="0">
                <a:latin typeface="Times New Roman"/>
                <a:cs typeface="Times New Roman"/>
              </a:rPr>
              <a:t>accuracy,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spc="60" dirty="0">
                <a:latin typeface="Times New Roman"/>
                <a:cs typeface="Times New Roman"/>
              </a:rPr>
              <a:t>i.e.,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Cambria"/>
                <a:cs typeface="Cambria"/>
              </a:rPr>
              <a:t>ppl.</a:t>
            </a:r>
            <a:r>
              <a:rPr sz="1650" b="1" spc="35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DD,</a:t>
            </a:r>
            <a:r>
              <a:rPr sz="1650" b="1" spc="30" dirty="0">
                <a:latin typeface="Cambria"/>
                <a:cs typeface="Cambria"/>
              </a:rPr>
              <a:t> </a:t>
            </a:r>
            <a:r>
              <a:rPr sz="1650" b="1" spc="-10" dirty="0">
                <a:latin typeface="Cambria"/>
                <a:cs typeface="Cambria"/>
              </a:rPr>
              <a:t>acc.DD</a:t>
            </a:r>
            <a:r>
              <a:rPr sz="1650" spc="-10" dirty="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3947" y="1148132"/>
            <a:ext cx="5637530" cy="6121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68935" algn="l"/>
                <a:tab pos="370205" algn="l"/>
              </a:tabLst>
            </a:pPr>
            <a:r>
              <a:rPr sz="1650" dirty="0">
                <a:latin typeface="Times New Roman"/>
                <a:cs typeface="Times New Roman"/>
              </a:rPr>
              <a:t>FT: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spc="110" dirty="0">
                <a:latin typeface="Times New Roman"/>
                <a:cs typeface="Times New Roman"/>
              </a:rPr>
              <a:t>ﬁne-</a:t>
            </a:r>
            <a:r>
              <a:rPr sz="1650" spc="105" dirty="0">
                <a:latin typeface="Times New Roman"/>
                <a:cs typeface="Times New Roman"/>
              </a:rPr>
              <a:t>tuning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spc="95" dirty="0">
                <a:latin typeface="Times New Roman"/>
                <a:cs typeface="Times New Roman"/>
              </a:rPr>
              <a:t>with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114" dirty="0">
                <a:latin typeface="Times New Roman"/>
                <a:cs typeface="Times New Roman"/>
              </a:rPr>
              <a:t>updated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spc="70" dirty="0">
                <a:latin typeface="Times New Roman"/>
                <a:cs typeface="Times New Roman"/>
              </a:rPr>
              <a:t>facts</a:t>
            </a:r>
            <a:endParaRPr sz="1650">
              <a:latin typeface="Times New Roman"/>
              <a:cs typeface="Times New Roman"/>
            </a:endParaRPr>
          </a:p>
          <a:p>
            <a:pPr marL="368935" indent="-356870">
              <a:lnSpc>
                <a:spcPct val="100000"/>
              </a:lnSpc>
              <a:spcBef>
                <a:spcPts val="330"/>
              </a:spcBef>
              <a:buFont typeface="Arial"/>
              <a:buChar char="●"/>
              <a:tabLst>
                <a:tab pos="368935" algn="l"/>
                <a:tab pos="370205" algn="l"/>
              </a:tabLst>
            </a:pPr>
            <a:r>
              <a:rPr sz="1650" dirty="0">
                <a:latin typeface="Times New Roman"/>
                <a:cs typeface="Times New Roman"/>
              </a:rPr>
              <a:t>FT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+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KL: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spc="110" dirty="0">
                <a:latin typeface="Times New Roman"/>
                <a:cs typeface="Times New Roman"/>
              </a:rPr>
              <a:t>ﬁne-</a:t>
            </a:r>
            <a:r>
              <a:rPr sz="1650" spc="105" dirty="0">
                <a:latin typeface="Times New Roman"/>
                <a:cs typeface="Times New Roman"/>
              </a:rPr>
              <a:t>tuning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95" dirty="0">
                <a:latin typeface="Times New Roman"/>
                <a:cs typeface="Times New Roman"/>
              </a:rPr>
              <a:t>with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spc="114" dirty="0">
                <a:latin typeface="Times New Roman"/>
                <a:cs typeface="Times New Roman"/>
              </a:rPr>
              <a:t>updated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80" dirty="0">
                <a:latin typeface="Times New Roman"/>
                <a:cs typeface="Times New Roman"/>
              </a:rPr>
              <a:t>facts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spc="130" dirty="0">
                <a:latin typeface="Times New Roman"/>
                <a:cs typeface="Times New Roman"/>
              </a:rPr>
              <a:t>and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60" dirty="0">
                <a:latin typeface="Times New Roman"/>
                <a:cs typeface="Times New Roman"/>
              </a:rPr>
              <a:t>locality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50" dirty="0">
                <a:latin typeface="Times New Roman"/>
                <a:cs typeface="Times New Roman"/>
              </a:rPr>
              <a:t>loss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07724" y="1828924"/>
            <a:ext cx="4669790" cy="2159000"/>
            <a:chOff x="2207724" y="1828924"/>
            <a:chExt cx="4669790" cy="2159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9025" y="2105884"/>
              <a:ext cx="3415351" cy="14463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1650" y="3541124"/>
              <a:ext cx="3635522" cy="4466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55074" y="3119899"/>
              <a:ext cx="591185" cy="653415"/>
            </a:xfrm>
            <a:custGeom>
              <a:avLst/>
              <a:gdLst/>
              <a:ahLst/>
              <a:cxnLst/>
              <a:rect l="l" t="t" r="r" b="b"/>
              <a:pathLst>
                <a:path w="591185" h="653414">
                  <a:moveTo>
                    <a:pt x="492497" y="653099"/>
                  </a:moveTo>
                  <a:lnTo>
                    <a:pt x="98501" y="653099"/>
                  </a:lnTo>
                  <a:lnTo>
                    <a:pt x="60160" y="645359"/>
                  </a:lnTo>
                  <a:lnTo>
                    <a:pt x="28850" y="624249"/>
                  </a:lnTo>
                  <a:lnTo>
                    <a:pt x="7740" y="592939"/>
                  </a:lnTo>
                  <a:lnTo>
                    <a:pt x="0" y="554597"/>
                  </a:lnTo>
                  <a:lnTo>
                    <a:pt x="0" y="98501"/>
                  </a:lnTo>
                  <a:lnTo>
                    <a:pt x="7740" y="60160"/>
                  </a:lnTo>
                  <a:lnTo>
                    <a:pt x="28850" y="28850"/>
                  </a:lnTo>
                  <a:lnTo>
                    <a:pt x="60160" y="7740"/>
                  </a:lnTo>
                  <a:lnTo>
                    <a:pt x="98501" y="0"/>
                  </a:lnTo>
                  <a:lnTo>
                    <a:pt x="492497" y="0"/>
                  </a:lnTo>
                  <a:lnTo>
                    <a:pt x="530192" y="7498"/>
                  </a:lnTo>
                  <a:lnTo>
                    <a:pt x="562149" y="28850"/>
                  </a:lnTo>
                  <a:lnTo>
                    <a:pt x="583502" y="60806"/>
                  </a:lnTo>
                  <a:lnTo>
                    <a:pt x="590999" y="98501"/>
                  </a:lnTo>
                  <a:lnTo>
                    <a:pt x="590999" y="554597"/>
                  </a:lnTo>
                  <a:lnTo>
                    <a:pt x="583259" y="592939"/>
                  </a:lnTo>
                  <a:lnTo>
                    <a:pt x="562149" y="624249"/>
                  </a:lnTo>
                  <a:lnTo>
                    <a:pt x="530839" y="645359"/>
                  </a:lnTo>
                  <a:lnTo>
                    <a:pt x="492497" y="6530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55075" y="3119899"/>
              <a:ext cx="591185" cy="653415"/>
            </a:xfrm>
            <a:custGeom>
              <a:avLst/>
              <a:gdLst/>
              <a:ahLst/>
              <a:cxnLst/>
              <a:rect l="l" t="t" r="r" b="b"/>
              <a:pathLst>
                <a:path w="591185" h="653414">
                  <a:moveTo>
                    <a:pt x="0" y="98501"/>
                  </a:moveTo>
                  <a:lnTo>
                    <a:pt x="7740" y="60160"/>
                  </a:lnTo>
                  <a:lnTo>
                    <a:pt x="28850" y="28850"/>
                  </a:lnTo>
                  <a:lnTo>
                    <a:pt x="60160" y="7740"/>
                  </a:lnTo>
                  <a:lnTo>
                    <a:pt x="98501" y="0"/>
                  </a:lnTo>
                  <a:lnTo>
                    <a:pt x="492497" y="0"/>
                  </a:lnTo>
                  <a:lnTo>
                    <a:pt x="530192" y="7498"/>
                  </a:lnTo>
                  <a:lnTo>
                    <a:pt x="562149" y="28850"/>
                  </a:lnTo>
                  <a:lnTo>
                    <a:pt x="583502" y="60806"/>
                  </a:lnTo>
                  <a:lnTo>
                    <a:pt x="590999" y="98501"/>
                  </a:lnTo>
                  <a:lnTo>
                    <a:pt x="590999" y="554597"/>
                  </a:lnTo>
                  <a:lnTo>
                    <a:pt x="583259" y="592939"/>
                  </a:lnTo>
                  <a:lnTo>
                    <a:pt x="562149" y="624249"/>
                  </a:lnTo>
                  <a:lnTo>
                    <a:pt x="530839" y="645359"/>
                  </a:lnTo>
                  <a:lnTo>
                    <a:pt x="492497" y="653099"/>
                  </a:lnTo>
                  <a:lnTo>
                    <a:pt x="98501" y="653099"/>
                  </a:lnTo>
                  <a:lnTo>
                    <a:pt x="60160" y="645359"/>
                  </a:lnTo>
                  <a:lnTo>
                    <a:pt x="28850" y="624249"/>
                  </a:lnTo>
                  <a:lnTo>
                    <a:pt x="7740" y="592939"/>
                  </a:lnTo>
                  <a:lnTo>
                    <a:pt x="0" y="554597"/>
                  </a:lnTo>
                  <a:lnTo>
                    <a:pt x="0" y="98501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16800" y="3119899"/>
              <a:ext cx="591185" cy="653415"/>
            </a:xfrm>
            <a:custGeom>
              <a:avLst/>
              <a:gdLst/>
              <a:ahLst/>
              <a:cxnLst/>
              <a:rect l="l" t="t" r="r" b="b"/>
              <a:pathLst>
                <a:path w="591185" h="653414">
                  <a:moveTo>
                    <a:pt x="492497" y="653099"/>
                  </a:moveTo>
                  <a:lnTo>
                    <a:pt x="98501" y="653099"/>
                  </a:lnTo>
                  <a:lnTo>
                    <a:pt x="60160" y="645359"/>
                  </a:lnTo>
                  <a:lnTo>
                    <a:pt x="28850" y="624249"/>
                  </a:lnTo>
                  <a:lnTo>
                    <a:pt x="7740" y="592939"/>
                  </a:lnTo>
                  <a:lnTo>
                    <a:pt x="0" y="554597"/>
                  </a:lnTo>
                  <a:lnTo>
                    <a:pt x="0" y="98501"/>
                  </a:lnTo>
                  <a:lnTo>
                    <a:pt x="7740" y="60160"/>
                  </a:lnTo>
                  <a:lnTo>
                    <a:pt x="28850" y="28850"/>
                  </a:lnTo>
                  <a:lnTo>
                    <a:pt x="60160" y="7740"/>
                  </a:lnTo>
                  <a:lnTo>
                    <a:pt x="98501" y="0"/>
                  </a:lnTo>
                  <a:lnTo>
                    <a:pt x="492497" y="0"/>
                  </a:lnTo>
                  <a:lnTo>
                    <a:pt x="530192" y="7498"/>
                  </a:lnTo>
                  <a:lnTo>
                    <a:pt x="562149" y="28850"/>
                  </a:lnTo>
                  <a:lnTo>
                    <a:pt x="583502" y="60806"/>
                  </a:lnTo>
                  <a:lnTo>
                    <a:pt x="590999" y="98501"/>
                  </a:lnTo>
                  <a:lnTo>
                    <a:pt x="590999" y="554597"/>
                  </a:lnTo>
                  <a:lnTo>
                    <a:pt x="583259" y="592939"/>
                  </a:lnTo>
                  <a:lnTo>
                    <a:pt x="562149" y="624249"/>
                  </a:lnTo>
                  <a:lnTo>
                    <a:pt x="530839" y="645359"/>
                  </a:lnTo>
                  <a:lnTo>
                    <a:pt x="492497" y="653099"/>
                  </a:lnTo>
                  <a:close/>
                </a:path>
              </a:pathLst>
            </a:custGeom>
            <a:solidFill>
              <a:srgbClr val="E69137">
                <a:alpha val="23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16800" y="3119899"/>
              <a:ext cx="591185" cy="653415"/>
            </a:xfrm>
            <a:custGeom>
              <a:avLst/>
              <a:gdLst/>
              <a:ahLst/>
              <a:cxnLst/>
              <a:rect l="l" t="t" r="r" b="b"/>
              <a:pathLst>
                <a:path w="591185" h="653414">
                  <a:moveTo>
                    <a:pt x="0" y="98501"/>
                  </a:moveTo>
                  <a:lnTo>
                    <a:pt x="7740" y="60160"/>
                  </a:lnTo>
                  <a:lnTo>
                    <a:pt x="28850" y="28850"/>
                  </a:lnTo>
                  <a:lnTo>
                    <a:pt x="60160" y="7740"/>
                  </a:lnTo>
                  <a:lnTo>
                    <a:pt x="98501" y="0"/>
                  </a:lnTo>
                  <a:lnTo>
                    <a:pt x="492497" y="0"/>
                  </a:lnTo>
                  <a:lnTo>
                    <a:pt x="530192" y="7498"/>
                  </a:lnTo>
                  <a:lnTo>
                    <a:pt x="562149" y="28850"/>
                  </a:lnTo>
                  <a:lnTo>
                    <a:pt x="583502" y="60806"/>
                  </a:lnTo>
                  <a:lnTo>
                    <a:pt x="590999" y="98501"/>
                  </a:lnTo>
                  <a:lnTo>
                    <a:pt x="590999" y="554597"/>
                  </a:lnTo>
                  <a:lnTo>
                    <a:pt x="583259" y="592939"/>
                  </a:lnTo>
                  <a:lnTo>
                    <a:pt x="562149" y="624249"/>
                  </a:lnTo>
                  <a:lnTo>
                    <a:pt x="530839" y="645359"/>
                  </a:lnTo>
                  <a:lnTo>
                    <a:pt x="492497" y="653099"/>
                  </a:lnTo>
                  <a:lnTo>
                    <a:pt x="98501" y="653099"/>
                  </a:lnTo>
                  <a:lnTo>
                    <a:pt x="60160" y="645359"/>
                  </a:lnTo>
                  <a:lnTo>
                    <a:pt x="28850" y="624249"/>
                  </a:lnTo>
                  <a:lnTo>
                    <a:pt x="7740" y="592939"/>
                  </a:lnTo>
                  <a:lnTo>
                    <a:pt x="0" y="554597"/>
                  </a:lnTo>
                  <a:lnTo>
                    <a:pt x="0" y="98501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95299" y="3119899"/>
              <a:ext cx="652780" cy="653415"/>
            </a:xfrm>
            <a:custGeom>
              <a:avLst/>
              <a:gdLst/>
              <a:ahLst/>
              <a:cxnLst/>
              <a:rect l="l" t="t" r="r" b="b"/>
              <a:pathLst>
                <a:path w="652779" h="653414">
                  <a:moveTo>
                    <a:pt x="543497" y="653099"/>
                  </a:moveTo>
                  <a:lnTo>
                    <a:pt x="108702" y="653099"/>
                  </a:lnTo>
                  <a:lnTo>
                    <a:pt x="66390" y="644557"/>
                  </a:lnTo>
                  <a:lnTo>
                    <a:pt x="31838" y="621261"/>
                  </a:lnTo>
                  <a:lnTo>
                    <a:pt x="8542" y="586709"/>
                  </a:lnTo>
                  <a:lnTo>
                    <a:pt x="0" y="544397"/>
                  </a:lnTo>
                  <a:lnTo>
                    <a:pt x="0" y="108702"/>
                  </a:lnTo>
                  <a:lnTo>
                    <a:pt x="8542" y="66390"/>
                  </a:lnTo>
                  <a:lnTo>
                    <a:pt x="31838" y="31837"/>
                  </a:lnTo>
                  <a:lnTo>
                    <a:pt x="66390" y="8542"/>
                  </a:lnTo>
                  <a:lnTo>
                    <a:pt x="108702" y="0"/>
                  </a:lnTo>
                  <a:lnTo>
                    <a:pt x="543497" y="0"/>
                  </a:lnTo>
                  <a:lnTo>
                    <a:pt x="585096" y="8274"/>
                  </a:lnTo>
                  <a:lnTo>
                    <a:pt x="620361" y="31838"/>
                  </a:lnTo>
                  <a:lnTo>
                    <a:pt x="643925" y="67103"/>
                  </a:lnTo>
                  <a:lnTo>
                    <a:pt x="652199" y="108702"/>
                  </a:lnTo>
                  <a:lnTo>
                    <a:pt x="652199" y="544397"/>
                  </a:lnTo>
                  <a:lnTo>
                    <a:pt x="643657" y="586709"/>
                  </a:lnTo>
                  <a:lnTo>
                    <a:pt x="620361" y="621261"/>
                  </a:lnTo>
                  <a:lnTo>
                    <a:pt x="585809" y="644557"/>
                  </a:lnTo>
                  <a:lnTo>
                    <a:pt x="543497" y="6530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95299" y="3119899"/>
              <a:ext cx="652780" cy="653415"/>
            </a:xfrm>
            <a:custGeom>
              <a:avLst/>
              <a:gdLst/>
              <a:ahLst/>
              <a:cxnLst/>
              <a:rect l="l" t="t" r="r" b="b"/>
              <a:pathLst>
                <a:path w="652779" h="653414">
                  <a:moveTo>
                    <a:pt x="0" y="108702"/>
                  </a:moveTo>
                  <a:lnTo>
                    <a:pt x="8542" y="66390"/>
                  </a:lnTo>
                  <a:lnTo>
                    <a:pt x="31838" y="31838"/>
                  </a:lnTo>
                  <a:lnTo>
                    <a:pt x="66390" y="8542"/>
                  </a:lnTo>
                  <a:lnTo>
                    <a:pt x="108702" y="0"/>
                  </a:lnTo>
                  <a:lnTo>
                    <a:pt x="543497" y="0"/>
                  </a:lnTo>
                  <a:lnTo>
                    <a:pt x="585096" y="8274"/>
                  </a:lnTo>
                  <a:lnTo>
                    <a:pt x="620361" y="31837"/>
                  </a:lnTo>
                  <a:lnTo>
                    <a:pt x="643925" y="67103"/>
                  </a:lnTo>
                  <a:lnTo>
                    <a:pt x="652199" y="108702"/>
                  </a:lnTo>
                  <a:lnTo>
                    <a:pt x="652199" y="544397"/>
                  </a:lnTo>
                  <a:lnTo>
                    <a:pt x="643657" y="586709"/>
                  </a:lnTo>
                  <a:lnTo>
                    <a:pt x="620361" y="621261"/>
                  </a:lnTo>
                  <a:lnTo>
                    <a:pt x="585809" y="644557"/>
                  </a:lnTo>
                  <a:lnTo>
                    <a:pt x="543497" y="653099"/>
                  </a:lnTo>
                  <a:lnTo>
                    <a:pt x="108702" y="653099"/>
                  </a:lnTo>
                  <a:lnTo>
                    <a:pt x="66390" y="644557"/>
                  </a:lnTo>
                  <a:lnTo>
                    <a:pt x="31838" y="621261"/>
                  </a:lnTo>
                  <a:lnTo>
                    <a:pt x="8542" y="586709"/>
                  </a:lnTo>
                  <a:lnTo>
                    <a:pt x="0" y="544397"/>
                  </a:lnTo>
                  <a:lnTo>
                    <a:pt x="0" y="108702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35049" y="3119899"/>
              <a:ext cx="652780" cy="653415"/>
            </a:xfrm>
            <a:custGeom>
              <a:avLst/>
              <a:gdLst/>
              <a:ahLst/>
              <a:cxnLst/>
              <a:rect l="l" t="t" r="r" b="b"/>
              <a:pathLst>
                <a:path w="652779" h="653414">
                  <a:moveTo>
                    <a:pt x="543497" y="653099"/>
                  </a:moveTo>
                  <a:lnTo>
                    <a:pt x="108702" y="653099"/>
                  </a:lnTo>
                  <a:lnTo>
                    <a:pt x="66390" y="644557"/>
                  </a:lnTo>
                  <a:lnTo>
                    <a:pt x="31838" y="621261"/>
                  </a:lnTo>
                  <a:lnTo>
                    <a:pt x="8542" y="586709"/>
                  </a:lnTo>
                  <a:lnTo>
                    <a:pt x="0" y="544397"/>
                  </a:lnTo>
                  <a:lnTo>
                    <a:pt x="0" y="108702"/>
                  </a:lnTo>
                  <a:lnTo>
                    <a:pt x="8542" y="66390"/>
                  </a:lnTo>
                  <a:lnTo>
                    <a:pt x="31838" y="31837"/>
                  </a:lnTo>
                  <a:lnTo>
                    <a:pt x="66390" y="8542"/>
                  </a:lnTo>
                  <a:lnTo>
                    <a:pt x="108702" y="0"/>
                  </a:lnTo>
                  <a:lnTo>
                    <a:pt x="543497" y="0"/>
                  </a:lnTo>
                  <a:lnTo>
                    <a:pt x="585096" y="8274"/>
                  </a:lnTo>
                  <a:lnTo>
                    <a:pt x="620361" y="31838"/>
                  </a:lnTo>
                  <a:lnTo>
                    <a:pt x="643925" y="67103"/>
                  </a:lnTo>
                  <a:lnTo>
                    <a:pt x="652199" y="108702"/>
                  </a:lnTo>
                  <a:lnTo>
                    <a:pt x="652199" y="544397"/>
                  </a:lnTo>
                  <a:lnTo>
                    <a:pt x="643657" y="586709"/>
                  </a:lnTo>
                  <a:lnTo>
                    <a:pt x="620361" y="621261"/>
                  </a:lnTo>
                  <a:lnTo>
                    <a:pt x="585809" y="644557"/>
                  </a:lnTo>
                  <a:lnTo>
                    <a:pt x="543497" y="653099"/>
                  </a:lnTo>
                  <a:close/>
                </a:path>
              </a:pathLst>
            </a:custGeom>
            <a:solidFill>
              <a:srgbClr val="3C78D8">
                <a:alpha val="166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35049" y="3119899"/>
              <a:ext cx="652780" cy="653415"/>
            </a:xfrm>
            <a:custGeom>
              <a:avLst/>
              <a:gdLst/>
              <a:ahLst/>
              <a:cxnLst/>
              <a:rect l="l" t="t" r="r" b="b"/>
              <a:pathLst>
                <a:path w="652779" h="653414">
                  <a:moveTo>
                    <a:pt x="0" y="108702"/>
                  </a:moveTo>
                  <a:lnTo>
                    <a:pt x="8542" y="66390"/>
                  </a:lnTo>
                  <a:lnTo>
                    <a:pt x="31838" y="31838"/>
                  </a:lnTo>
                  <a:lnTo>
                    <a:pt x="66390" y="8542"/>
                  </a:lnTo>
                  <a:lnTo>
                    <a:pt x="108702" y="0"/>
                  </a:lnTo>
                  <a:lnTo>
                    <a:pt x="543497" y="0"/>
                  </a:lnTo>
                  <a:lnTo>
                    <a:pt x="585096" y="8274"/>
                  </a:lnTo>
                  <a:lnTo>
                    <a:pt x="620361" y="31837"/>
                  </a:lnTo>
                  <a:lnTo>
                    <a:pt x="643925" y="67103"/>
                  </a:lnTo>
                  <a:lnTo>
                    <a:pt x="652199" y="108702"/>
                  </a:lnTo>
                  <a:lnTo>
                    <a:pt x="652199" y="544397"/>
                  </a:lnTo>
                  <a:lnTo>
                    <a:pt x="643657" y="586709"/>
                  </a:lnTo>
                  <a:lnTo>
                    <a:pt x="620361" y="621261"/>
                  </a:lnTo>
                  <a:lnTo>
                    <a:pt x="585809" y="644557"/>
                  </a:lnTo>
                  <a:lnTo>
                    <a:pt x="543497" y="653099"/>
                  </a:lnTo>
                  <a:lnTo>
                    <a:pt x="108702" y="653099"/>
                  </a:lnTo>
                  <a:lnTo>
                    <a:pt x="66390" y="644557"/>
                  </a:lnTo>
                  <a:lnTo>
                    <a:pt x="31838" y="621261"/>
                  </a:lnTo>
                  <a:lnTo>
                    <a:pt x="8542" y="586709"/>
                  </a:lnTo>
                  <a:lnTo>
                    <a:pt x="0" y="544397"/>
                  </a:lnTo>
                  <a:lnTo>
                    <a:pt x="0" y="108702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7724" y="1828924"/>
              <a:ext cx="1152424" cy="17540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33031" y="3558420"/>
              <a:ext cx="1033922" cy="420895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7058987" y="577287"/>
            <a:ext cx="1418590" cy="936625"/>
            <a:chOff x="7058987" y="577287"/>
            <a:chExt cx="1418590" cy="936625"/>
          </a:xfrm>
        </p:grpSpPr>
        <p:sp>
          <p:nvSpPr>
            <p:cNvPr id="19" name="object 19"/>
            <p:cNvSpPr/>
            <p:nvPr/>
          </p:nvSpPr>
          <p:spPr>
            <a:xfrm>
              <a:off x="7063750" y="582049"/>
              <a:ext cx="1409065" cy="927100"/>
            </a:xfrm>
            <a:custGeom>
              <a:avLst/>
              <a:gdLst/>
              <a:ahLst/>
              <a:cxnLst/>
              <a:rect l="l" t="t" r="r" b="b"/>
              <a:pathLst>
                <a:path w="1409065" h="927100">
                  <a:moveTo>
                    <a:pt x="1408699" y="185394"/>
                  </a:moveTo>
                  <a:lnTo>
                    <a:pt x="352174" y="185394"/>
                  </a:lnTo>
                  <a:lnTo>
                    <a:pt x="423150" y="183511"/>
                  </a:lnTo>
                  <a:lnTo>
                    <a:pt x="489257" y="178110"/>
                  </a:lnTo>
                  <a:lnTo>
                    <a:pt x="549079" y="169563"/>
                  </a:lnTo>
                  <a:lnTo>
                    <a:pt x="601200" y="158244"/>
                  </a:lnTo>
                  <a:lnTo>
                    <a:pt x="644204" y="144525"/>
                  </a:lnTo>
                  <a:lnTo>
                    <a:pt x="697195" y="111379"/>
                  </a:lnTo>
                  <a:lnTo>
                    <a:pt x="711504" y="74015"/>
                  </a:lnTo>
                  <a:lnTo>
                    <a:pt x="732025" y="56615"/>
                  </a:lnTo>
                  <a:lnTo>
                    <a:pt x="807499" y="27150"/>
                  </a:lnTo>
                  <a:lnTo>
                    <a:pt x="859620" y="15831"/>
                  </a:lnTo>
                  <a:lnTo>
                    <a:pt x="919442" y="7284"/>
                  </a:lnTo>
                  <a:lnTo>
                    <a:pt x="985549" y="1883"/>
                  </a:lnTo>
                  <a:lnTo>
                    <a:pt x="1056524" y="0"/>
                  </a:lnTo>
                  <a:lnTo>
                    <a:pt x="1127500" y="1883"/>
                  </a:lnTo>
                  <a:lnTo>
                    <a:pt x="1193607" y="7284"/>
                  </a:lnTo>
                  <a:lnTo>
                    <a:pt x="1253429" y="15831"/>
                  </a:lnTo>
                  <a:lnTo>
                    <a:pt x="1305550" y="27150"/>
                  </a:lnTo>
                  <a:lnTo>
                    <a:pt x="1348553" y="40869"/>
                  </a:lnTo>
                  <a:lnTo>
                    <a:pt x="1401545" y="74015"/>
                  </a:lnTo>
                  <a:lnTo>
                    <a:pt x="1408699" y="92697"/>
                  </a:lnTo>
                  <a:lnTo>
                    <a:pt x="1408699" y="185394"/>
                  </a:lnTo>
                  <a:close/>
                </a:path>
                <a:path w="1409065" h="927100">
                  <a:moveTo>
                    <a:pt x="352174" y="926974"/>
                  </a:moveTo>
                  <a:lnTo>
                    <a:pt x="281199" y="925091"/>
                  </a:lnTo>
                  <a:lnTo>
                    <a:pt x="215092" y="919690"/>
                  </a:lnTo>
                  <a:lnTo>
                    <a:pt x="155270" y="911143"/>
                  </a:lnTo>
                  <a:lnTo>
                    <a:pt x="103149" y="899824"/>
                  </a:lnTo>
                  <a:lnTo>
                    <a:pt x="60145" y="886105"/>
                  </a:lnTo>
                  <a:lnTo>
                    <a:pt x="7154" y="852959"/>
                  </a:lnTo>
                  <a:lnTo>
                    <a:pt x="0" y="834277"/>
                  </a:lnTo>
                  <a:lnTo>
                    <a:pt x="0" y="92697"/>
                  </a:lnTo>
                  <a:lnTo>
                    <a:pt x="7154" y="111379"/>
                  </a:lnTo>
                  <a:lnTo>
                    <a:pt x="27675" y="128779"/>
                  </a:lnTo>
                  <a:lnTo>
                    <a:pt x="103149" y="158244"/>
                  </a:lnTo>
                  <a:lnTo>
                    <a:pt x="155270" y="169563"/>
                  </a:lnTo>
                  <a:lnTo>
                    <a:pt x="215092" y="178110"/>
                  </a:lnTo>
                  <a:lnTo>
                    <a:pt x="281199" y="183511"/>
                  </a:lnTo>
                  <a:lnTo>
                    <a:pt x="352174" y="185394"/>
                  </a:lnTo>
                  <a:lnTo>
                    <a:pt x="1408699" y="185394"/>
                  </a:lnTo>
                  <a:lnTo>
                    <a:pt x="1408699" y="741579"/>
                  </a:lnTo>
                  <a:lnTo>
                    <a:pt x="1056524" y="741579"/>
                  </a:lnTo>
                  <a:lnTo>
                    <a:pt x="985549" y="743463"/>
                  </a:lnTo>
                  <a:lnTo>
                    <a:pt x="919442" y="748864"/>
                  </a:lnTo>
                  <a:lnTo>
                    <a:pt x="859620" y="757411"/>
                  </a:lnTo>
                  <a:lnTo>
                    <a:pt x="807499" y="768730"/>
                  </a:lnTo>
                  <a:lnTo>
                    <a:pt x="764495" y="782449"/>
                  </a:lnTo>
                  <a:lnTo>
                    <a:pt x="711504" y="815595"/>
                  </a:lnTo>
                  <a:lnTo>
                    <a:pt x="697195" y="852959"/>
                  </a:lnTo>
                  <a:lnTo>
                    <a:pt x="676674" y="870359"/>
                  </a:lnTo>
                  <a:lnTo>
                    <a:pt x="601200" y="899824"/>
                  </a:lnTo>
                  <a:lnTo>
                    <a:pt x="549079" y="911143"/>
                  </a:lnTo>
                  <a:lnTo>
                    <a:pt x="489257" y="919690"/>
                  </a:lnTo>
                  <a:lnTo>
                    <a:pt x="423150" y="925091"/>
                  </a:lnTo>
                  <a:lnTo>
                    <a:pt x="352174" y="926974"/>
                  </a:lnTo>
                  <a:close/>
                </a:path>
                <a:path w="1409065" h="927100">
                  <a:moveTo>
                    <a:pt x="1408699" y="834277"/>
                  </a:moveTo>
                  <a:lnTo>
                    <a:pt x="1381024" y="798195"/>
                  </a:lnTo>
                  <a:lnTo>
                    <a:pt x="1305550" y="768730"/>
                  </a:lnTo>
                  <a:lnTo>
                    <a:pt x="1253429" y="757411"/>
                  </a:lnTo>
                  <a:lnTo>
                    <a:pt x="1193607" y="748864"/>
                  </a:lnTo>
                  <a:lnTo>
                    <a:pt x="1127500" y="743463"/>
                  </a:lnTo>
                  <a:lnTo>
                    <a:pt x="1056524" y="741579"/>
                  </a:lnTo>
                  <a:lnTo>
                    <a:pt x="1408699" y="741579"/>
                  </a:lnTo>
                  <a:lnTo>
                    <a:pt x="1408699" y="834277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63750" y="582049"/>
              <a:ext cx="1409065" cy="927100"/>
            </a:xfrm>
            <a:custGeom>
              <a:avLst/>
              <a:gdLst/>
              <a:ahLst/>
              <a:cxnLst/>
              <a:rect l="l" t="t" r="r" b="b"/>
              <a:pathLst>
                <a:path w="1409065" h="927100">
                  <a:moveTo>
                    <a:pt x="0" y="92697"/>
                  </a:moveTo>
                  <a:lnTo>
                    <a:pt x="7154" y="111379"/>
                  </a:lnTo>
                  <a:lnTo>
                    <a:pt x="27675" y="128779"/>
                  </a:lnTo>
                  <a:lnTo>
                    <a:pt x="103149" y="158244"/>
                  </a:lnTo>
                  <a:lnTo>
                    <a:pt x="155270" y="169563"/>
                  </a:lnTo>
                  <a:lnTo>
                    <a:pt x="215092" y="178110"/>
                  </a:lnTo>
                  <a:lnTo>
                    <a:pt x="281199" y="183511"/>
                  </a:lnTo>
                  <a:lnTo>
                    <a:pt x="352174" y="185394"/>
                  </a:lnTo>
                  <a:lnTo>
                    <a:pt x="423150" y="183511"/>
                  </a:lnTo>
                  <a:lnTo>
                    <a:pt x="489257" y="178110"/>
                  </a:lnTo>
                  <a:lnTo>
                    <a:pt x="549079" y="169563"/>
                  </a:lnTo>
                  <a:lnTo>
                    <a:pt x="601200" y="158244"/>
                  </a:lnTo>
                  <a:lnTo>
                    <a:pt x="644204" y="144525"/>
                  </a:lnTo>
                  <a:lnTo>
                    <a:pt x="697195" y="111379"/>
                  </a:lnTo>
                  <a:lnTo>
                    <a:pt x="704349" y="92697"/>
                  </a:lnTo>
                  <a:lnTo>
                    <a:pt x="732025" y="56615"/>
                  </a:lnTo>
                  <a:lnTo>
                    <a:pt x="807499" y="27150"/>
                  </a:lnTo>
                  <a:lnTo>
                    <a:pt x="859620" y="15831"/>
                  </a:lnTo>
                  <a:lnTo>
                    <a:pt x="919442" y="7284"/>
                  </a:lnTo>
                  <a:lnTo>
                    <a:pt x="985549" y="1883"/>
                  </a:lnTo>
                  <a:lnTo>
                    <a:pt x="1056524" y="0"/>
                  </a:lnTo>
                  <a:lnTo>
                    <a:pt x="1127500" y="1883"/>
                  </a:lnTo>
                  <a:lnTo>
                    <a:pt x="1193607" y="7284"/>
                  </a:lnTo>
                  <a:lnTo>
                    <a:pt x="1253429" y="15831"/>
                  </a:lnTo>
                  <a:lnTo>
                    <a:pt x="1305550" y="27150"/>
                  </a:lnTo>
                  <a:lnTo>
                    <a:pt x="1348554" y="40869"/>
                  </a:lnTo>
                  <a:lnTo>
                    <a:pt x="1401545" y="74015"/>
                  </a:lnTo>
                  <a:lnTo>
                    <a:pt x="1408699" y="92697"/>
                  </a:lnTo>
                  <a:lnTo>
                    <a:pt x="1408699" y="834277"/>
                  </a:lnTo>
                  <a:lnTo>
                    <a:pt x="1401545" y="815595"/>
                  </a:lnTo>
                  <a:lnTo>
                    <a:pt x="1381024" y="798195"/>
                  </a:lnTo>
                  <a:lnTo>
                    <a:pt x="1305550" y="768730"/>
                  </a:lnTo>
                  <a:lnTo>
                    <a:pt x="1253429" y="757411"/>
                  </a:lnTo>
                  <a:lnTo>
                    <a:pt x="1193607" y="748864"/>
                  </a:lnTo>
                  <a:lnTo>
                    <a:pt x="1127500" y="743463"/>
                  </a:lnTo>
                  <a:lnTo>
                    <a:pt x="1056524" y="741579"/>
                  </a:lnTo>
                  <a:lnTo>
                    <a:pt x="985549" y="743463"/>
                  </a:lnTo>
                  <a:lnTo>
                    <a:pt x="919442" y="748864"/>
                  </a:lnTo>
                  <a:lnTo>
                    <a:pt x="859620" y="757411"/>
                  </a:lnTo>
                  <a:lnTo>
                    <a:pt x="807499" y="768730"/>
                  </a:lnTo>
                  <a:lnTo>
                    <a:pt x="764495" y="782449"/>
                  </a:lnTo>
                  <a:lnTo>
                    <a:pt x="711504" y="815595"/>
                  </a:lnTo>
                  <a:lnTo>
                    <a:pt x="697195" y="852959"/>
                  </a:lnTo>
                  <a:lnTo>
                    <a:pt x="676674" y="870359"/>
                  </a:lnTo>
                  <a:lnTo>
                    <a:pt x="601200" y="899824"/>
                  </a:lnTo>
                  <a:lnTo>
                    <a:pt x="549079" y="911143"/>
                  </a:lnTo>
                  <a:lnTo>
                    <a:pt x="489257" y="919690"/>
                  </a:lnTo>
                  <a:lnTo>
                    <a:pt x="423150" y="925091"/>
                  </a:lnTo>
                  <a:lnTo>
                    <a:pt x="352174" y="926974"/>
                  </a:lnTo>
                  <a:lnTo>
                    <a:pt x="281199" y="925091"/>
                  </a:lnTo>
                  <a:lnTo>
                    <a:pt x="215092" y="919690"/>
                  </a:lnTo>
                  <a:lnTo>
                    <a:pt x="155270" y="911143"/>
                  </a:lnTo>
                  <a:lnTo>
                    <a:pt x="103149" y="899824"/>
                  </a:lnTo>
                  <a:lnTo>
                    <a:pt x="60145" y="886105"/>
                  </a:lnTo>
                  <a:lnTo>
                    <a:pt x="7154" y="852959"/>
                  </a:lnTo>
                  <a:lnTo>
                    <a:pt x="0" y="834277"/>
                  </a:lnTo>
                  <a:lnTo>
                    <a:pt x="0" y="9269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136776" y="799157"/>
            <a:ext cx="1236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Cambria"/>
                <a:cs typeface="Cambria"/>
              </a:rPr>
              <a:t>Locality</a:t>
            </a:r>
            <a:r>
              <a:rPr sz="1000" b="1" spc="45" dirty="0">
                <a:latin typeface="Cambria"/>
                <a:cs typeface="Cambria"/>
              </a:rPr>
              <a:t> </a:t>
            </a:r>
            <a:r>
              <a:rPr sz="1000" b="1" spc="-10" dirty="0">
                <a:latin typeface="Cambria"/>
                <a:cs typeface="Cambria"/>
              </a:rPr>
              <a:t>Loss: </a:t>
            </a:r>
            <a:r>
              <a:rPr sz="1000" dirty="0">
                <a:latin typeface="Times New Roman"/>
                <a:cs typeface="Times New Roman"/>
              </a:rPr>
              <a:t>Minimize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changes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on irrelevant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40" dirty="0">
                <a:latin typeface="Times New Roman"/>
                <a:cs typeface="Times New Roman"/>
              </a:rPr>
              <a:t>examples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947" y="810150"/>
            <a:ext cx="42697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Comparison</a:t>
            </a:r>
            <a:r>
              <a:rPr spc="-25" dirty="0"/>
              <a:t> </a:t>
            </a:r>
            <a:r>
              <a:rPr spc="80" dirty="0"/>
              <a:t>of</a:t>
            </a:r>
            <a:r>
              <a:rPr spc="-25" dirty="0"/>
              <a:t> </a:t>
            </a:r>
            <a:r>
              <a:rPr spc="170" dirty="0"/>
              <a:t>the</a:t>
            </a:r>
            <a:r>
              <a:rPr spc="-75" dirty="0"/>
              <a:t> </a:t>
            </a:r>
            <a:r>
              <a:rPr dirty="0"/>
              <a:t>Two</a:t>
            </a:r>
            <a:r>
              <a:rPr spc="-100" dirty="0"/>
              <a:t> </a:t>
            </a:r>
            <a:r>
              <a:rPr spc="45" dirty="0"/>
              <a:t>Works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50787" y="1688325"/>
          <a:ext cx="6432550" cy="2091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500" b="1" dirty="0">
                          <a:latin typeface="Cambria"/>
                          <a:cs typeface="Cambria"/>
                        </a:rPr>
                        <a:t>Knowledge</a:t>
                      </a:r>
                      <a:r>
                        <a:rPr sz="1500" b="1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spc="-10" dirty="0">
                          <a:latin typeface="Cambria"/>
                          <a:cs typeface="Cambria"/>
                        </a:rPr>
                        <a:t>Neurons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500" b="1" spc="-20" dirty="0">
                          <a:latin typeface="Cambria"/>
                          <a:cs typeface="Cambria"/>
                        </a:rPr>
                        <a:t>MEND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500" b="1" spc="-10" dirty="0">
                          <a:latin typeface="Cambria"/>
                          <a:cs typeface="Cambria"/>
                        </a:rPr>
                        <a:t>Method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111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spc="60" dirty="0">
                          <a:latin typeface="Times New Roman"/>
                          <a:cs typeface="Times New Roman"/>
                        </a:rPr>
                        <a:t>Attribution-</a:t>
                      </a:r>
                      <a:r>
                        <a:rPr sz="1600" spc="75" dirty="0">
                          <a:latin typeface="Times New Roman"/>
                          <a:cs typeface="Times New Roman"/>
                        </a:rPr>
                        <a:t>based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spc="70" dirty="0">
                          <a:latin typeface="Times New Roman"/>
                          <a:cs typeface="Times New Roman"/>
                        </a:rPr>
                        <a:t>Learning-</a:t>
                      </a:r>
                      <a:r>
                        <a:rPr sz="1600" spc="80" dirty="0">
                          <a:latin typeface="Times New Roman"/>
                          <a:cs typeface="Times New Roman"/>
                        </a:rPr>
                        <a:t>based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b="1" spc="-10" dirty="0">
                          <a:latin typeface="Cambria"/>
                          <a:cs typeface="Cambria"/>
                        </a:rPr>
                        <a:t>Training?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9017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500" b="1" dirty="0">
                          <a:latin typeface="Cambria"/>
                          <a:cs typeface="Cambria"/>
                        </a:rPr>
                        <a:t>Restricted</a:t>
                      </a:r>
                      <a:r>
                        <a:rPr sz="1500" b="1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spc="-25" dirty="0">
                          <a:latin typeface="Cambria"/>
                          <a:cs typeface="Cambria"/>
                        </a:rPr>
                        <a:t>by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500" spc="60" dirty="0">
                          <a:latin typeface="Times New Roman"/>
                          <a:cs typeface="Times New Roman"/>
                        </a:rPr>
                        <a:t>Attribution</a:t>
                      </a:r>
                      <a:r>
                        <a:rPr sz="15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70" dirty="0">
                          <a:latin typeface="Times New Roman"/>
                          <a:cs typeface="Times New Roman"/>
                        </a:rPr>
                        <a:t>algorithm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500" spc="7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9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5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lot </a:t>
                      </a:r>
                      <a:r>
                        <a:rPr sz="15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5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65" dirty="0">
                          <a:latin typeface="Times New Roman"/>
                          <a:cs typeface="Times New Roman"/>
                        </a:rPr>
                        <a:t>edits</a:t>
                      </a:r>
                      <a:r>
                        <a:rPr sz="15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65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1497" y="2266442"/>
            <a:ext cx="2322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40" dirty="0"/>
              <a:t>Conclusion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67" rIns="0" bIns="0" rtlCol="0">
            <a:spAutoFit/>
          </a:bodyPr>
          <a:lstStyle/>
          <a:p>
            <a:pPr marL="3381375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Question</a:t>
            </a:r>
            <a:r>
              <a:rPr spc="-25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69" y="1216864"/>
            <a:ext cx="7892415" cy="235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139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ambria"/>
                <a:cs typeface="Cambria"/>
              </a:rPr>
              <a:t>The </a:t>
            </a:r>
            <a:r>
              <a:rPr sz="1700" b="1" spc="-20" dirty="0">
                <a:latin typeface="Cambria"/>
                <a:cs typeface="Cambria"/>
              </a:rPr>
              <a:t>world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knowledge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is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constantly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changing;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instance,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the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president</a:t>
            </a:r>
            <a:r>
              <a:rPr sz="1700" b="1" spc="5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was </a:t>
            </a:r>
            <a:r>
              <a:rPr sz="1700" b="1" dirty="0">
                <a:latin typeface="Cambria"/>
                <a:cs typeface="Cambria"/>
              </a:rPr>
              <a:t>Donald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Trump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95" dirty="0">
                <a:latin typeface="Cambria"/>
                <a:cs typeface="Cambria"/>
              </a:rPr>
              <a:t>2020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now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is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Joe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Biden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55" dirty="0">
                <a:latin typeface="Cambria"/>
                <a:cs typeface="Cambria"/>
              </a:rPr>
              <a:t>2022.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However,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LLMs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are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always trained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static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corpus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ﬁxed</a:t>
            </a:r>
            <a:r>
              <a:rPr sz="1700" b="1" spc="-10" dirty="0">
                <a:latin typeface="Cambria"/>
                <a:cs typeface="Cambria"/>
              </a:rPr>
              <a:t> period.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mbria"/>
              <a:cs typeface="Cambria"/>
            </a:endParaRPr>
          </a:p>
          <a:p>
            <a:pPr marL="469265" marR="352425" indent="-409575">
              <a:lnSpc>
                <a:spcPct val="100000"/>
              </a:lnSpc>
              <a:buAutoNum type="arabicParenR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Do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you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have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any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ideas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about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how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update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edit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LLMs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with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real-</a:t>
            </a:r>
            <a:r>
              <a:rPr sz="1700" spc="65" dirty="0">
                <a:latin typeface="Times New Roman"/>
                <a:cs typeface="Times New Roman"/>
              </a:rPr>
              <a:t>world </a:t>
            </a:r>
            <a:r>
              <a:rPr sz="1700" spc="50" dirty="0">
                <a:latin typeface="Times New Roman"/>
                <a:cs typeface="Times New Roman"/>
              </a:rPr>
              <a:t>knowledge?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arenR"/>
            </a:pPr>
            <a:endParaRPr sz="1750">
              <a:latin typeface="Times New Roman"/>
              <a:cs typeface="Times New Roman"/>
            </a:endParaRPr>
          </a:p>
          <a:p>
            <a:pPr marL="469265" marR="5080" indent="-409575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469265" algn="l"/>
                <a:tab pos="469900" algn="l"/>
              </a:tabLst>
            </a:pPr>
            <a:r>
              <a:rPr sz="1700" dirty="0">
                <a:latin typeface="Times New Roman"/>
                <a:cs typeface="Times New Roman"/>
              </a:rPr>
              <a:t>Do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you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think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it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possible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decouple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world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knowledge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125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other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knowledge </a:t>
            </a:r>
            <a:r>
              <a:rPr sz="1700" spc="105" dirty="0">
                <a:latin typeface="Times New Roman"/>
                <a:cs typeface="Times New Roman"/>
              </a:rPr>
              <a:t>encoded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in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LLMs?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D85C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5964</Words>
  <Application>Microsoft Office PowerPoint</Application>
  <PresentationFormat>全屏显示(16:9)</PresentationFormat>
  <Paragraphs>1249</Paragraphs>
  <Slides>137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137</vt:i4>
      </vt:variant>
    </vt:vector>
  </HeadingPairs>
  <TitlesOfParts>
    <vt:vector size="143" baseType="lpstr">
      <vt:lpstr>Arial</vt:lpstr>
      <vt:lpstr>Book Antiqua</vt:lpstr>
      <vt:lpstr>Cambria</vt:lpstr>
      <vt:lpstr>Courier New</vt:lpstr>
      <vt:lpstr>Times New Roman</vt:lpstr>
      <vt:lpstr>Office Theme</vt:lpstr>
      <vt:lpstr>Language Models and Knowledge</vt:lpstr>
      <vt:lpstr>Outline</vt:lpstr>
      <vt:lpstr>Introduction</vt:lpstr>
      <vt:lpstr>Motivation</vt:lpstr>
      <vt:lpstr>Motivation</vt:lpstr>
      <vt:lpstr>Motivation</vt:lpstr>
      <vt:lpstr>Motivation</vt:lpstr>
      <vt:lpstr>Motivation</vt:lpstr>
      <vt:lpstr>Pretraining and knowledge</vt:lpstr>
      <vt:lpstr>Pretraining and knowledge</vt:lpstr>
      <vt:lpstr>Pretraining and knowledge</vt:lpstr>
      <vt:lpstr>Today, we take LLMsʼ ability to “store” knowledge for granted</vt:lpstr>
      <vt:lpstr>Today, we take LLMsʼ ability to “store” knowledge for granted</vt:lpstr>
      <vt:lpstr>What is a knowledge base?</vt:lpstr>
      <vt:lpstr>What is a knowledge base?</vt:lpstr>
      <vt:lpstr>What is a knowledge base?</vt:lpstr>
      <vt:lpstr>What is a knowledge base?</vt:lpstr>
      <vt:lpstr>What is a knowledge base?</vt:lpstr>
      <vt:lpstr>How were knowledge bases formed?</vt:lpstr>
      <vt:lpstr>How were knowledge bases formed?</vt:lpstr>
      <vt:lpstr>How were knowledge bases formed?</vt:lpstr>
      <vt:lpstr>Downsides of using knowledge bases</vt:lpstr>
      <vt:lpstr>Downsides of using knowledge bases</vt:lpstr>
      <vt:lpstr>Downsides of using knowledge bases</vt:lpstr>
      <vt:lpstr>Downsides of using knowledge bases</vt:lpstr>
      <vt:lpstr>Downsides of using knowledge bases</vt:lpstr>
      <vt:lpstr>Downsides of using knowledge bases</vt:lpstr>
      <vt:lpstr>Downsides of using knowledge bases</vt:lpstr>
      <vt:lpstr>Downsides of using knowledge bases</vt:lpstr>
      <vt:lpstr>Downsides of using knowledge bases</vt:lpstr>
      <vt:lpstr>Downsides of using knowledge bases</vt:lpstr>
      <vt:lpstr>PowerPoint 演示文稿</vt:lpstr>
      <vt:lpstr>Language Models as Knowledge Bases? (Petroni et al., 2019)</vt:lpstr>
      <vt:lpstr>Language models as knowledge bases?</vt:lpstr>
      <vt:lpstr>Language models as knowledge bases?</vt:lpstr>
      <vt:lpstr>Language models as knowledge bases?</vt:lpstr>
      <vt:lpstr>Language models as knowledge bases?</vt:lpstr>
      <vt:lpstr>LAMA Probe</vt:lpstr>
      <vt:lpstr>LAMA Probe</vt:lpstr>
      <vt:lpstr>LAMA Probe</vt:lpstr>
      <vt:lpstr>LAMA Probe</vt:lpstr>
      <vt:lpstr>Evaluation of LM via LAMA</vt:lpstr>
      <vt:lpstr>Evaluation of LM via LAMA</vt:lpstr>
      <vt:lpstr>Evaluation of LM via LAMA</vt:lpstr>
      <vt:lpstr>Evaluation of LM via LAMA</vt:lpstr>
      <vt:lpstr>Evaluation of LM via LAMA</vt:lpstr>
      <vt:lpstr>Evaluation of LM via LAMA</vt:lpstr>
      <vt:lpstr>Evaluation of LM via LAMA</vt:lpstr>
      <vt:lpstr>Evaluation of LM via LAMA</vt:lpstr>
      <vt:lpstr>Evaluation of LM via LAMA</vt:lpstr>
      <vt:lpstr>Evaluation of LM via LAMA</vt:lpstr>
      <vt:lpstr>Evaluation of LM via LAMA</vt:lpstr>
      <vt:lpstr>Architecture of the LAMA probe</vt:lpstr>
      <vt:lpstr>Architecture of the LAMA probe</vt:lpstr>
      <vt:lpstr>Architecture of the LAMA probe</vt:lpstr>
      <vt:lpstr>Architecture of the LAMA probe</vt:lpstr>
      <vt:lpstr>Architecture of the LAMA probe</vt:lpstr>
      <vt:lpstr>Architecture of the LAMA probe</vt:lpstr>
      <vt:lpstr>Architecture of the LAMA probe</vt:lpstr>
      <vt:lpstr>Architecture of the LAMA probe</vt:lpstr>
      <vt:lpstr>Architecture of the LAMA probe</vt:lpstr>
      <vt:lpstr>Architecture of the LAMA probe</vt:lpstr>
      <vt:lpstr>Architecture of the LAMA probe</vt:lpstr>
      <vt:lpstr>Architecture of the LAMA probe</vt:lpstr>
      <vt:lpstr>LAMAʼs Knowledge Sources: Google-RE</vt:lpstr>
      <vt:lpstr>LAMAʼs Knowledge Sources: Google-RE</vt:lpstr>
      <vt:lpstr>LAMAʼs Knowledge Sources: Google-RE</vt:lpstr>
      <vt:lpstr>LAMAʼs Knowledge Sources: T-REx</vt:lpstr>
      <vt:lpstr>LAMAʼs Knowledge Sources: T-REx</vt:lpstr>
      <vt:lpstr>LAMAʼs Knowledge Sources: T-REx</vt:lpstr>
      <vt:lpstr>LAMAʼs Knowledge Sources: T-REx</vt:lpstr>
      <vt:lpstr>LAMAʼs Knowledge Sources: ConceptNet</vt:lpstr>
      <vt:lpstr>LAMAʼs Knowledge Sources: ConceptNet</vt:lpstr>
      <vt:lpstr>LAMAʼs Knowledge Sources: ConceptNet</vt:lpstr>
      <vt:lpstr>LAMAʼs Knowledge Sources: SQuAD</vt:lpstr>
      <vt:lpstr>LAMAʼs Knowledge Sources: SQuAD</vt:lpstr>
      <vt:lpstr>LAMAʼs Knowledge Sources: SQuAD</vt:lpstr>
      <vt:lpstr>Dataset Statistics</vt:lpstr>
      <vt:lpstr>Dataset Statistics</vt:lpstr>
      <vt:lpstr>Baselines</vt:lpstr>
      <vt:lpstr>Baselines</vt:lpstr>
      <vt:lpstr>Baselines</vt:lpstr>
      <vt:lpstr>Baselines</vt:lpstr>
      <vt:lpstr>Baselines</vt:lpstr>
      <vt:lpstr>Baselines</vt:lpstr>
      <vt:lpstr>Pre-trained language models</vt:lpstr>
      <vt:lpstr>Results: both BERT models outperform other models on Google-RE</vt:lpstr>
      <vt:lpstr>Results: BERT models does better on T-REx when thereʼs only one correct answer…</vt:lpstr>
      <vt:lpstr>Results: …but when there are multiple answers, REo is best</vt:lpstr>
      <vt:lpstr>Results: BERT models outperform other LMs on T-REx</vt:lpstr>
      <vt:lpstr>Results: BERT models outperform other LMs on T-REx</vt:lpstr>
      <vt:lpstr>Results: BERT models outperform other LMs on T-REx</vt:lpstr>
      <vt:lpstr>Results: BERT models are less sensitive to query variations than other LMs</vt:lpstr>
      <vt:lpstr>Results: BERT models are less sensitive to query variations than other LMs</vt:lpstr>
      <vt:lpstr>Results: What factors correlate with better performance for BERT on T-REx?</vt:lpstr>
      <vt:lpstr>Conclusion</vt:lpstr>
      <vt:lpstr>Question 1</vt:lpstr>
      <vt:lpstr>Is there a better alternative to manual templates?</vt:lpstr>
      <vt:lpstr>Is there a better alternative to manual templates?</vt:lpstr>
      <vt:lpstr>Is there a better alternative to manual templates?</vt:lpstr>
      <vt:lpstr>Is there a better alternative to manual templates?</vt:lpstr>
      <vt:lpstr>How Much Knowledge Can You Pack Into the Parameters of a Language Model? (Roberts et al., 2020)</vt:lpstr>
      <vt:lpstr>Motivation</vt:lpstr>
      <vt:lpstr>To solve open-domain QA: Two approaches</vt:lpstr>
      <vt:lpstr>Experimental Setup - Datasets</vt:lpstr>
      <vt:lpstr>Experimental Setup - Models</vt:lpstr>
      <vt:lpstr>Results</vt:lpstr>
      <vt:lpstr>Results: SSM clearly leads to improved performance</vt:lpstr>
      <vt:lpstr>Results: Scale correlates with performance</vt:lpstr>
      <vt:lpstr>Additional Evaluation on NQ</vt:lpstr>
      <vt:lpstr>Human Evaluation + Qualitative Error Analysis</vt:lpstr>
      <vt:lpstr>Conclusion</vt:lpstr>
      <vt:lpstr>Question 2</vt:lpstr>
      <vt:lpstr>Comparison of the Two Works</vt:lpstr>
      <vt:lpstr>How much does train-test overlap aﬀect performance?</vt:lpstr>
      <vt:lpstr>Train-test overlap is responsible for LMʼs ability to do knowledge retrieval! (Lewis et al., 2020)</vt:lpstr>
      <vt:lpstr>Train-test overlap is responsible for LMʼs ability to do knowledge retrieval! (Lewis et al., 2020)</vt:lpstr>
      <vt:lpstr>How to update knowledge in pre-trained models?</vt:lpstr>
      <vt:lpstr>Edit What, Exactly? Deﬁning the problem</vt:lpstr>
      <vt:lpstr>Edit What, Exactly? Deﬁning the problem</vt:lpstr>
      <vt:lpstr>Edit What, Exactly? Deﬁning the problem</vt:lpstr>
      <vt:lpstr>Edit What, Exactly? Deﬁning the problem</vt:lpstr>
      <vt:lpstr>Knowledge Neurons in Pretrained Transformers (Dai et al. 2021)</vt:lpstr>
      <vt:lpstr>Knowledge Neurons</vt:lpstr>
      <vt:lpstr>Suppressing or Amplifying Knowledge Neurons</vt:lpstr>
      <vt:lpstr>Case Study - Updating Facts</vt:lpstr>
      <vt:lpstr>Fast Model Editing at Scale (Mitchell et al. 2022)</vt:lpstr>
      <vt:lpstr>Editing a Pre-trained Model with MEND</vt:lpstr>
      <vt:lpstr>Editing a Pre-trained Model with MEND</vt:lpstr>
      <vt:lpstr>Editing a Pre-trained Model with MEND</vt:lpstr>
      <vt:lpstr>Editing a Pre-trained Model with MEND</vt:lpstr>
      <vt:lpstr>Editing a Pre-trained Model with MEND</vt:lpstr>
      <vt:lpstr>Editing a Pre-trained Model with MEND</vt:lpstr>
      <vt:lpstr>Results</vt:lpstr>
      <vt:lpstr>Comparison of the Two Works</vt:lpstr>
      <vt:lpstr>Conclusion</vt:lpstr>
      <vt:lpstr>Question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[10/10] Retrieval</dc:title>
  <cp:lastModifiedBy>leo</cp:lastModifiedBy>
  <cp:revision>2</cp:revision>
  <dcterms:created xsi:type="dcterms:W3CDTF">2023-11-12T02:07:48Z</dcterms:created>
  <dcterms:modified xsi:type="dcterms:W3CDTF">2023-11-12T02:09:24Z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2023-11-12T00:00:00Z</vt:filetime>
  </property>
  <property fmtid="{D5CDD505-2E9C-101B-9397-08002B2CF9AE}" pid="3" name="Creator">
    <vt:lpwstr>Google</vt:lpwstr>
  </property>
  <property fmtid="{D5CDD505-2E9C-101B-9397-08002B2CF9AE}" pid="4" name="LastSaved">
    <vt:filetime>2023-11-12T00:00:00Z</vt:filetime>
  </property>
</Properties>
</file>