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212690"/>
            <a:ext cx="7757159" cy="7285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27698" y="1337561"/>
            <a:ext cx="2859404" cy="2753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349723" y="1337561"/>
            <a:ext cx="2716529" cy="2962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180923"/>
            <a:ext cx="8161655" cy="760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921" y="1269846"/>
            <a:ext cx="4452620" cy="3195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433" y="1021168"/>
            <a:ext cx="8243570" cy="1452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50825">
              <a:lnSpc>
                <a:spcPct val="100600"/>
              </a:lnSpc>
              <a:spcBef>
                <a:spcPts val="95"/>
              </a:spcBef>
            </a:pPr>
            <a:r>
              <a:rPr sz="4650" dirty="0"/>
              <a:t>Chain</a:t>
            </a:r>
            <a:r>
              <a:rPr sz="4650" spc="-20" dirty="0"/>
              <a:t> </a:t>
            </a:r>
            <a:r>
              <a:rPr sz="4650" dirty="0"/>
              <a:t>of</a:t>
            </a:r>
            <a:r>
              <a:rPr sz="4650" spc="-75" dirty="0"/>
              <a:t> </a:t>
            </a:r>
            <a:r>
              <a:rPr sz="4650" dirty="0"/>
              <a:t>Thought</a:t>
            </a:r>
            <a:r>
              <a:rPr sz="4650" spc="-15" dirty="0"/>
              <a:t> </a:t>
            </a:r>
            <a:r>
              <a:rPr sz="4650" dirty="0"/>
              <a:t>Prompting</a:t>
            </a:r>
            <a:r>
              <a:rPr sz="4650" spc="-5" dirty="0"/>
              <a:t> </a:t>
            </a:r>
            <a:r>
              <a:rPr sz="4650" spc="-25" dirty="0"/>
              <a:t>for </a:t>
            </a:r>
            <a:r>
              <a:rPr sz="4650" dirty="0"/>
              <a:t>Large</a:t>
            </a:r>
            <a:r>
              <a:rPr sz="4650" spc="-55" dirty="0"/>
              <a:t> </a:t>
            </a:r>
            <a:r>
              <a:rPr sz="4650" dirty="0"/>
              <a:t>Language</a:t>
            </a:r>
            <a:r>
              <a:rPr sz="4650" spc="-45" dirty="0"/>
              <a:t> </a:t>
            </a:r>
            <a:r>
              <a:rPr sz="4650" dirty="0"/>
              <a:t>Model</a:t>
            </a:r>
            <a:r>
              <a:rPr sz="4650" spc="-40" dirty="0"/>
              <a:t> </a:t>
            </a:r>
            <a:r>
              <a:rPr sz="4650" spc="-10" dirty="0"/>
              <a:t>Reasoning</a:t>
            </a:r>
            <a:endParaRPr sz="46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7822" y="2266442"/>
            <a:ext cx="6163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Hard</a:t>
            </a:r>
            <a:r>
              <a:rPr sz="3600" spc="-65" dirty="0"/>
              <a:t> </a:t>
            </a:r>
            <a:r>
              <a:rPr sz="3600" dirty="0"/>
              <a:t>Language</a:t>
            </a:r>
            <a:r>
              <a:rPr sz="3600" spc="-130" dirty="0"/>
              <a:t> </a:t>
            </a:r>
            <a:r>
              <a:rPr sz="3600" spc="-20" dirty="0"/>
              <a:t>Tasks:</a:t>
            </a:r>
            <a:r>
              <a:rPr sz="3600" spc="-65" dirty="0"/>
              <a:t> </a:t>
            </a:r>
            <a:r>
              <a:rPr sz="3600" spc="-10" dirty="0"/>
              <a:t>Reasoning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Reasoning</a:t>
            </a:r>
            <a:r>
              <a:rPr spc="-35" dirty="0"/>
              <a:t> </a:t>
            </a:r>
            <a:r>
              <a:rPr spc="-10" dirty="0"/>
              <a:t>Problems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7337" y="1248487"/>
            <a:ext cx="2844165" cy="1718310"/>
            <a:chOff x="147337" y="1248487"/>
            <a:chExt cx="2844165" cy="1718310"/>
          </a:xfrm>
        </p:grpSpPr>
        <p:sp>
          <p:nvSpPr>
            <p:cNvPr id="4" name="object 4"/>
            <p:cNvSpPr/>
            <p:nvPr/>
          </p:nvSpPr>
          <p:spPr>
            <a:xfrm>
              <a:off x="152099" y="1253249"/>
              <a:ext cx="2834640" cy="1708785"/>
            </a:xfrm>
            <a:custGeom>
              <a:avLst/>
              <a:gdLst/>
              <a:ahLst/>
              <a:cxnLst/>
              <a:rect l="l" t="t" r="r" b="b"/>
              <a:pathLst>
                <a:path w="2834640" h="1708785">
                  <a:moveTo>
                    <a:pt x="2549644" y="1708499"/>
                  </a:moveTo>
                  <a:lnTo>
                    <a:pt x="284755" y="1708499"/>
                  </a:lnTo>
                  <a:lnTo>
                    <a:pt x="238566" y="1704773"/>
                  </a:lnTo>
                  <a:lnTo>
                    <a:pt x="194750" y="1693982"/>
                  </a:lnTo>
                  <a:lnTo>
                    <a:pt x="153894" y="1676716"/>
                  </a:lnTo>
                  <a:lnTo>
                    <a:pt x="116582" y="1653558"/>
                  </a:lnTo>
                  <a:lnTo>
                    <a:pt x="83403" y="1625096"/>
                  </a:lnTo>
                  <a:lnTo>
                    <a:pt x="54941" y="1591917"/>
                  </a:lnTo>
                  <a:lnTo>
                    <a:pt x="31783" y="1554605"/>
                  </a:lnTo>
                  <a:lnTo>
                    <a:pt x="14517" y="1513749"/>
                  </a:lnTo>
                  <a:lnTo>
                    <a:pt x="3726" y="1469933"/>
                  </a:lnTo>
                  <a:lnTo>
                    <a:pt x="0" y="1423744"/>
                  </a:lnTo>
                  <a:lnTo>
                    <a:pt x="0" y="284755"/>
                  </a:lnTo>
                  <a:lnTo>
                    <a:pt x="3726" y="238566"/>
                  </a:lnTo>
                  <a:lnTo>
                    <a:pt x="14517" y="194750"/>
                  </a:lnTo>
                  <a:lnTo>
                    <a:pt x="31783" y="153894"/>
                  </a:lnTo>
                  <a:lnTo>
                    <a:pt x="54941" y="116582"/>
                  </a:lnTo>
                  <a:lnTo>
                    <a:pt x="83403" y="83403"/>
                  </a:lnTo>
                  <a:lnTo>
                    <a:pt x="116582" y="54941"/>
                  </a:lnTo>
                  <a:lnTo>
                    <a:pt x="153894" y="31783"/>
                  </a:lnTo>
                  <a:lnTo>
                    <a:pt x="194750" y="14517"/>
                  </a:lnTo>
                  <a:lnTo>
                    <a:pt x="238566" y="3726"/>
                  </a:lnTo>
                  <a:lnTo>
                    <a:pt x="284755" y="0"/>
                  </a:lnTo>
                  <a:lnTo>
                    <a:pt x="2549644" y="0"/>
                  </a:lnTo>
                  <a:lnTo>
                    <a:pt x="2594458" y="3547"/>
                  </a:lnTo>
                  <a:lnTo>
                    <a:pt x="2637766" y="13978"/>
                  </a:lnTo>
                  <a:lnTo>
                    <a:pt x="2678801" y="30975"/>
                  </a:lnTo>
                  <a:lnTo>
                    <a:pt x="2716800" y="54222"/>
                  </a:lnTo>
                  <a:lnTo>
                    <a:pt x="2750996" y="83402"/>
                  </a:lnTo>
                  <a:lnTo>
                    <a:pt x="2780177" y="117599"/>
                  </a:lnTo>
                  <a:lnTo>
                    <a:pt x="2803424" y="155598"/>
                  </a:lnTo>
                  <a:lnTo>
                    <a:pt x="2820421" y="196633"/>
                  </a:lnTo>
                  <a:lnTo>
                    <a:pt x="2830852" y="239941"/>
                  </a:lnTo>
                  <a:lnTo>
                    <a:pt x="2834399" y="284755"/>
                  </a:lnTo>
                  <a:lnTo>
                    <a:pt x="2834399" y="1423744"/>
                  </a:lnTo>
                  <a:lnTo>
                    <a:pt x="2830673" y="1469933"/>
                  </a:lnTo>
                  <a:lnTo>
                    <a:pt x="2819882" y="1513749"/>
                  </a:lnTo>
                  <a:lnTo>
                    <a:pt x="2802616" y="1554605"/>
                  </a:lnTo>
                  <a:lnTo>
                    <a:pt x="2779458" y="1591917"/>
                  </a:lnTo>
                  <a:lnTo>
                    <a:pt x="2750996" y="1625096"/>
                  </a:lnTo>
                  <a:lnTo>
                    <a:pt x="2717817" y="1653558"/>
                  </a:lnTo>
                  <a:lnTo>
                    <a:pt x="2680505" y="1676716"/>
                  </a:lnTo>
                  <a:lnTo>
                    <a:pt x="2639649" y="1693982"/>
                  </a:lnTo>
                  <a:lnTo>
                    <a:pt x="2595833" y="1704773"/>
                  </a:lnTo>
                  <a:lnTo>
                    <a:pt x="2549644" y="170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099" y="1253249"/>
              <a:ext cx="2834640" cy="1708785"/>
            </a:xfrm>
            <a:custGeom>
              <a:avLst/>
              <a:gdLst/>
              <a:ahLst/>
              <a:cxnLst/>
              <a:rect l="l" t="t" r="r" b="b"/>
              <a:pathLst>
                <a:path w="2834640" h="1708785">
                  <a:moveTo>
                    <a:pt x="0" y="284755"/>
                  </a:moveTo>
                  <a:lnTo>
                    <a:pt x="3726" y="238566"/>
                  </a:lnTo>
                  <a:lnTo>
                    <a:pt x="14517" y="194750"/>
                  </a:lnTo>
                  <a:lnTo>
                    <a:pt x="31783" y="153894"/>
                  </a:lnTo>
                  <a:lnTo>
                    <a:pt x="54941" y="116582"/>
                  </a:lnTo>
                  <a:lnTo>
                    <a:pt x="83403" y="83403"/>
                  </a:lnTo>
                  <a:lnTo>
                    <a:pt x="116582" y="54941"/>
                  </a:lnTo>
                  <a:lnTo>
                    <a:pt x="153894" y="31783"/>
                  </a:lnTo>
                  <a:lnTo>
                    <a:pt x="194750" y="14517"/>
                  </a:lnTo>
                  <a:lnTo>
                    <a:pt x="238566" y="3726"/>
                  </a:lnTo>
                  <a:lnTo>
                    <a:pt x="284755" y="0"/>
                  </a:lnTo>
                  <a:lnTo>
                    <a:pt x="2549644" y="0"/>
                  </a:lnTo>
                  <a:lnTo>
                    <a:pt x="2594458" y="3547"/>
                  </a:lnTo>
                  <a:lnTo>
                    <a:pt x="2637766" y="13978"/>
                  </a:lnTo>
                  <a:lnTo>
                    <a:pt x="2678801" y="30975"/>
                  </a:lnTo>
                  <a:lnTo>
                    <a:pt x="2716800" y="54222"/>
                  </a:lnTo>
                  <a:lnTo>
                    <a:pt x="2750996" y="83402"/>
                  </a:lnTo>
                  <a:lnTo>
                    <a:pt x="2780177" y="117599"/>
                  </a:lnTo>
                  <a:lnTo>
                    <a:pt x="2803424" y="155598"/>
                  </a:lnTo>
                  <a:lnTo>
                    <a:pt x="2820421" y="196633"/>
                  </a:lnTo>
                  <a:lnTo>
                    <a:pt x="2830852" y="239941"/>
                  </a:lnTo>
                  <a:lnTo>
                    <a:pt x="2834399" y="284755"/>
                  </a:lnTo>
                  <a:lnTo>
                    <a:pt x="2834399" y="1423744"/>
                  </a:lnTo>
                  <a:lnTo>
                    <a:pt x="2830673" y="1469933"/>
                  </a:lnTo>
                  <a:lnTo>
                    <a:pt x="2819882" y="1513749"/>
                  </a:lnTo>
                  <a:lnTo>
                    <a:pt x="2802616" y="1554605"/>
                  </a:lnTo>
                  <a:lnTo>
                    <a:pt x="2779458" y="1591917"/>
                  </a:lnTo>
                  <a:lnTo>
                    <a:pt x="2750996" y="1625096"/>
                  </a:lnTo>
                  <a:lnTo>
                    <a:pt x="2717817" y="1653558"/>
                  </a:lnTo>
                  <a:lnTo>
                    <a:pt x="2680505" y="1676716"/>
                  </a:lnTo>
                  <a:lnTo>
                    <a:pt x="2639649" y="1693982"/>
                  </a:lnTo>
                  <a:lnTo>
                    <a:pt x="2595833" y="1704773"/>
                  </a:lnTo>
                  <a:lnTo>
                    <a:pt x="2549644" y="1708499"/>
                  </a:lnTo>
                  <a:lnTo>
                    <a:pt x="284755" y="1708499"/>
                  </a:lnTo>
                  <a:lnTo>
                    <a:pt x="238566" y="1704773"/>
                  </a:lnTo>
                  <a:lnTo>
                    <a:pt x="194750" y="1693982"/>
                  </a:lnTo>
                  <a:lnTo>
                    <a:pt x="153894" y="1676716"/>
                  </a:lnTo>
                  <a:lnTo>
                    <a:pt x="116582" y="1653558"/>
                  </a:lnTo>
                  <a:lnTo>
                    <a:pt x="83403" y="1625096"/>
                  </a:lnTo>
                  <a:lnTo>
                    <a:pt x="54941" y="1591917"/>
                  </a:lnTo>
                  <a:lnTo>
                    <a:pt x="31783" y="1554605"/>
                  </a:lnTo>
                  <a:lnTo>
                    <a:pt x="14517" y="1513749"/>
                  </a:lnTo>
                  <a:lnTo>
                    <a:pt x="3726" y="1469933"/>
                  </a:lnTo>
                  <a:lnTo>
                    <a:pt x="0" y="1423744"/>
                  </a:lnTo>
                  <a:lnTo>
                    <a:pt x="0" y="28475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8527" y="1402565"/>
            <a:ext cx="2257425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parking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cars </a:t>
            </a:r>
            <a:r>
              <a:rPr sz="1400" dirty="0">
                <a:latin typeface="Arial"/>
                <a:cs typeface="Arial"/>
              </a:rPr>
              <a:t>arrive,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many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in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parking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lot?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527" y="2450315"/>
            <a:ext cx="1494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A61B00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649" y="3379196"/>
            <a:ext cx="2331720" cy="469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Arithmetic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(AR)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300" dirty="0">
                <a:latin typeface="Arial"/>
                <a:cs typeface="Arial"/>
              </a:rPr>
              <a:t>(+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−</a:t>
            </a:r>
            <a:r>
              <a:rPr sz="1300" spc="-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×÷…)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89137" y="1248487"/>
            <a:ext cx="2982595" cy="1718310"/>
            <a:chOff x="6089137" y="1248487"/>
            <a:chExt cx="2982595" cy="1718310"/>
          </a:xfrm>
        </p:grpSpPr>
        <p:sp>
          <p:nvSpPr>
            <p:cNvPr id="10" name="object 10"/>
            <p:cNvSpPr/>
            <p:nvPr/>
          </p:nvSpPr>
          <p:spPr>
            <a:xfrm>
              <a:off x="6093900" y="1253249"/>
              <a:ext cx="2973070" cy="1708785"/>
            </a:xfrm>
            <a:custGeom>
              <a:avLst/>
              <a:gdLst/>
              <a:ahLst/>
              <a:cxnLst/>
              <a:rect l="l" t="t" r="r" b="b"/>
              <a:pathLst>
                <a:path w="2973070" h="1708785">
                  <a:moveTo>
                    <a:pt x="2688244" y="1708499"/>
                  </a:moveTo>
                  <a:lnTo>
                    <a:pt x="284755" y="1708499"/>
                  </a:lnTo>
                  <a:lnTo>
                    <a:pt x="238566" y="1704773"/>
                  </a:lnTo>
                  <a:lnTo>
                    <a:pt x="194750" y="1693982"/>
                  </a:lnTo>
                  <a:lnTo>
                    <a:pt x="153894" y="1676716"/>
                  </a:lnTo>
                  <a:lnTo>
                    <a:pt x="116582" y="1653558"/>
                  </a:lnTo>
                  <a:lnTo>
                    <a:pt x="83403" y="1625096"/>
                  </a:lnTo>
                  <a:lnTo>
                    <a:pt x="54941" y="1591917"/>
                  </a:lnTo>
                  <a:lnTo>
                    <a:pt x="31783" y="1554605"/>
                  </a:lnTo>
                  <a:lnTo>
                    <a:pt x="14517" y="1513749"/>
                  </a:lnTo>
                  <a:lnTo>
                    <a:pt x="3726" y="1469933"/>
                  </a:lnTo>
                  <a:lnTo>
                    <a:pt x="0" y="1423744"/>
                  </a:lnTo>
                  <a:lnTo>
                    <a:pt x="0" y="284755"/>
                  </a:lnTo>
                  <a:lnTo>
                    <a:pt x="3726" y="238566"/>
                  </a:lnTo>
                  <a:lnTo>
                    <a:pt x="14517" y="194750"/>
                  </a:lnTo>
                  <a:lnTo>
                    <a:pt x="31783" y="153894"/>
                  </a:lnTo>
                  <a:lnTo>
                    <a:pt x="54941" y="116582"/>
                  </a:lnTo>
                  <a:lnTo>
                    <a:pt x="83403" y="83403"/>
                  </a:lnTo>
                  <a:lnTo>
                    <a:pt x="116582" y="54941"/>
                  </a:lnTo>
                  <a:lnTo>
                    <a:pt x="153894" y="31783"/>
                  </a:lnTo>
                  <a:lnTo>
                    <a:pt x="194750" y="14517"/>
                  </a:lnTo>
                  <a:lnTo>
                    <a:pt x="238566" y="3726"/>
                  </a:lnTo>
                  <a:lnTo>
                    <a:pt x="284755" y="0"/>
                  </a:lnTo>
                  <a:lnTo>
                    <a:pt x="2688244" y="0"/>
                  </a:lnTo>
                  <a:lnTo>
                    <a:pt x="2733059" y="3547"/>
                  </a:lnTo>
                  <a:lnTo>
                    <a:pt x="2776366" y="13978"/>
                  </a:lnTo>
                  <a:lnTo>
                    <a:pt x="2817401" y="30975"/>
                  </a:lnTo>
                  <a:lnTo>
                    <a:pt x="2855400" y="54222"/>
                  </a:lnTo>
                  <a:lnTo>
                    <a:pt x="2889596" y="83402"/>
                  </a:lnTo>
                  <a:lnTo>
                    <a:pt x="2918777" y="117599"/>
                  </a:lnTo>
                  <a:lnTo>
                    <a:pt x="2942024" y="155598"/>
                  </a:lnTo>
                  <a:lnTo>
                    <a:pt x="2959021" y="196633"/>
                  </a:lnTo>
                  <a:lnTo>
                    <a:pt x="2969452" y="239941"/>
                  </a:lnTo>
                  <a:lnTo>
                    <a:pt x="2972999" y="284755"/>
                  </a:lnTo>
                  <a:lnTo>
                    <a:pt x="2972999" y="1423744"/>
                  </a:lnTo>
                  <a:lnTo>
                    <a:pt x="2969273" y="1469933"/>
                  </a:lnTo>
                  <a:lnTo>
                    <a:pt x="2958482" y="1513749"/>
                  </a:lnTo>
                  <a:lnTo>
                    <a:pt x="2941215" y="1554605"/>
                  </a:lnTo>
                  <a:lnTo>
                    <a:pt x="2918058" y="1591917"/>
                  </a:lnTo>
                  <a:lnTo>
                    <a:pt x="2889596" y="1625096"/>
                  </a:lnTo>
                  <a:lnTo>
                    <a:pt x="2856417" y="1653558"/>
                  </a:lnTo>
                  <a:lnTo>
                    <a:pt x="2819105" y="1676716"/>
                  </a:lnTo>
                  <a:lnTo>
                    <a:pt x="2778249" y="1693982"/>
                  </a:lnTo>
                  <a:lnTo>
                    <a:pt x="2734433" y="1704773"/>
                  </a:lnTo>
                  <a:lnTo>
                    <a:pt x="2688244" y="170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3900" y="1253249"/>
              <a:ext cx="2973070" cy="1708785"/>
            </a:xfrm>
            <a:custGeom>
              <a:avLst/>
              <a:gdLst/>
              <a:ahLst/>
              <a:cxnLst/>
              <a:rect l="l" t="t" r="r" b="b"/>
              <a:pathLst>
                <a:path w="2973070" h="1708785">
                  <a:moveTo>
                    <a:pt x="0" y="284755"/>
                  </a:moveTo>
                  <a:lnTo>
                    <a:pt x="3726" y="238566"/>
                  </a:lnTo>
                  <a:lnTo>
                    <a:pt x="14517" y="194750"/>
                  </a:lnTo>
                  <a:lnTo>
                    <a:pt x="31783" y="153894"/>
                  </a:lnTo>
                  <a:lnTo>
                    <a:pt x="54941" y="116582"/>
                  </a:lnTo>
                  <a:lnTo>
                    <a:pt x="83403" y="83403"/>
                  </a:lnTo>
                  <a:lnTo>
                    <a:pt x="116582" y="54941"/>
                  </a:lnTo>
                  <a:lnTo>
                    <a:pt x="153894" y="31783"/>
                  </a:lnTo>
                  <a:lnTo>
                    <a:pt x="194750" y="14517"/>
                  </a:lnTo>
                  <a:lnTo>
                    <a:pt x="238566" y="3726"/>
                  </a:lnTo>
                  <a:lnTo>
                    <a:pt x="284755" y="0"/>
                  </a:lnTo>
                  <a:lnTo>
                    <a:pt x="2688244" y="0"/>
                  </a:lnTo>
                  <a:lnTo>
                    <a:pt x="2733059" y="3547"/>
                  </a:lnTo>
                  <a:lnTo>
                    <a:pt x="2776366" y="13978"/>
                  </a:lnTo>
                  <a:lnTo>
                    <a:pt x="2817401" y="30975"/>
                  </a:lnTo>
                  <a:lnTo>
                    <a:pt x="2855400" y="54222"/>
                  </a:lnTo>
                  <a:lnTo>
                    <a:pt x="2889596" y="83402"/>
                  </a:lnTo>
                  <a:lnTo>
                    <a:pt x="2918777" y="117599"/>
                  </a:lnTo>
                  <a:lnTo>
                    <a:pt x="2942024" y="155598"/>
                  </a:lnTo>
                  <a:lnTo>
                    <a:pt x="2959021" y="196633"/>
                  </a:lnTo>
                  <a:lnTo>
                    <a:pt x="2969452" y="239941"/>
                  </a:lnTo>
                  <a:lnTo>
                    <a:pt x="2972999" y="284755"/>
                  </a:lnTo>
                  <a:lnTo>
                    <a:pt x="2972999" y="1423744"/>
                  </a:lnTo>
                  <a:lnTo>
                    <a:pt x="2969273" y="1469933"/>
                  </a:lnTo>
                  <a:lnTo>
                    <a:pt x="2958482" y="1513749"/>
                  </a:lnTo>
                  <a:lnTo>
                    <a:pt x="2941215" y="1554605"/>
                  </a:lnTo>
                  <a:lnTo>
                    <a:pt x="2918058" y="1591917"/>
                  </a:lnTo>
                  <a:lnTo>
                    <a:pt x="2889596" y="1625096"/>
                  </a:lnTo>
                  <a:lnTo>
                    <a:pt x="2856417" y="1653558"/>
                  </a:lnTo>
                  <a:lnTo>
                    <a:pt x="2819105" y="1676716"/>
                  </a:lnTo>
                  <a:lnTo>
                    <a:pt x="2778249" y="1693982"/>
                  </a:lnTo>
                  <a:lnTo>
                    <a:pt x="2734433" y="1704773"/>
                  </a:lnTo>
                  <a:lnTo>
                    <a:pt x="2688244" y="1708499"/>
                  </a:lnTo>
                  <a:lnTo>
                    <a:pt x="284755" y="1708499"/>
                  </a:lnTo>
                  <a:lnTo>
                    <a:pt x="238566" y="1704773"/>
                  </a:lnTo>
                  <a:lnTo>
                    <a:pt x="194750" y="1693982"/>
                  </a:lnTo>
                  <a:lnTo>
                    <a:pt x="153894" y="1676716"/>
                  </a:lnTo>
                  <a:lnTo>
                    <a:pt x="116582" y="1653558"/>
                  </a:lnTo>
                  <a:lnTo>
                    <a:pt x="83403" y="1625096"/>
                  </a:lnTo>
                  <a:lnTo>
                    <a:pt x="54941" y="1591917"/>
                  </a:lnTo>
                  <a:lnTo>
                    <a:pt x="31783" y="1554605"/>
                  </a:lnTo>
                  <a:lnTo>
                    <a:pt x="14517" y="1513749"/>
                  </a:lnTo>
                  <a:lnTo>
                    <a:pt x="3726" y="1469933"/>
                  </a:lnTo>
                  <a:lnTo>
                    <a:pt x="0" y="1423744"/>
                  </a:lnTo>
                  <a:lnTo>
                    <a:pt x="0" y="28475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50327" y="1402565"/>
            <a:ext cx="2583815" cy="10769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8194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What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home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entertainment </a:t>
            </a:r>
            <a:r>
              <a:rPr sz="1400" dirty="0">
                <a:latin typeface="Arial"/>
                <a:cs typeface="Arial"/>
              </a:rPr>
              <a:t>equipment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requires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cable?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85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Choices: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(a)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radio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shack</a:t>
            </a:r>
            <a:endParaRPr sz="1400">
              <a:latin typeface="Arial"/>
              <a:cs typeface="Arial"/>
            </a:endParaRPr>
          </a:p>
          <a:p>
            <a:pPr marL="12700" marR="173990">
              <a:lnSpc>
                <a:spcPts val="1650"/>
              </a:lnSpc>
              <a:spcBef>
                <a:spcPts val="65"/>
              </a:spcBef>
            </a:pPr>
            <a:r>
              <a:rPr sz="1400" dirty="0">
                <a:latin typeface="Arial"/>
                <a:cs typeface="Arial"/>
              </a:rPr>
              <a:t>(b)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substation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(c)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television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(d) </a:t>
            </a:r>
            <a:r>
              <a:rPr sz="1400" spc="-10" dirty="0">
                <a:latin typeface="Arial"/>
                <a:cs typeface="Arial"/>
              </a:rPr>
              <a:t>cabinet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0327" y="2659865"/>
            <a:ext cx="16617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(c).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44025" y="3394647"/>
            <a:ext cx="25857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Commonsense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(CR)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22212" y="1248487"/>
            <a:ext cx="2604135" cy="1718310"/>
            <a:chOff x="3222212" y="1248487"/>
            <a:chExt cx="2604135" cy="1718310"/>
          </a:xfrm>
        </p:grpSpPr>
        <p:sp>
          <p:nvSpPr>
            <p:cNvPr id="16" name="object 16"/>
            <p:cNvSpPr/>
            <p:nvPr/>
          </p:nvSpPr>
          <p:spPr>
            <a:xfrm>
              <a:off x="3226974" y="1253249"/>
              <a:ext cx="2594610" cy="1708785"/>
            </a:xfrm>
            <a:custGeom>
              <a:avLst/>
              <a:gdLst/>
              <a:ahLst/>
              <a:cxnLst/>
              <a:rect l="l" t="t" r="r" b="b"/>
              <a:pathLst>
                <a:path w="2594610" h="1708785">
                  <a:moveTo>
                    <a:pt x="2309644" y="1708499"/>
                  </a:moveTo>
                  <a:lnTo>
                    <a:pt x="284755" y="1708499"/>
                  </a:lnTo>
                  <a:lnTo>
                    <a:pt x="238566" y="1704773"/>
                  </a:lnTo>
                  <a:lnTo>
                    <a:pt x="194750" y="1693982"/>
                  </a:lnTo>
                  <a:lnTo>
                    <a:pt x="153894" y="1676716"/>
                  </a:lnTo>
                  <a:lnTo>
                    <a:pt x="116582" y="1653558"/>
                  </a:lnTo>
                  <a:lnTo>
                    <a:pt x="83403" y="1625096"/>
                  </a:lnTo>
                  <a:lnTo>
                    <a:pt x="54941" y="1591917"/>
                  </a:lnTo>
                  <a:lnTo>
                    <a:pt x="31783" y="1554605"/>
                  </a:lnTo>
                  <a:lnTo>
                    <a:pt x="14517" y="1513749"/>
                  </a:lnTo>
                  <a:lnTo>
                    <a:pt x="3726" y="1469933"/>
                  </a:lnTo>
                  <a:lnTo>
                    <a:pt x="0" y="1423744"/>
                  </a:lnTo>
                  <a:lnTo>
                    <a:pt x="0" y="284755"/>
                  </a:lnTo>
                  <a:lnTo>
                    <a:pt x="3726" y="238566"/>
                  </a:lnTo>
                  <a:lnTo>
                    <a:pt x="14517" y="194750"/>
                  </a:lnTo>
                  <a:lnTo>
                    <a:pt x="31783" y="153894"/>
                  </a:lnTo>
                  <a:lnTo>
                    <a:pt x="54941" y="116582"/>
                  </a:lnTo>
                  <a:lnTo>
                    <a:pt x="83403" y="83403"/>
                  </a:lnTo>
                  <a:lnTo>
                    <a:pt x="116582" y="54941"/>
                  </a:lnTo>
                  <a:lnTo>
                    <a:pt x="153894" y="31783"/>
                  </a:lnTo>
                  <a:lnTo>
                    <a:pt x="194750" y="14517"/>
                  </a:lnTo>
                  <a:lnTo>
                    <a:pt x="238566" y="3726"/>
                  </a:lnTo>
                  <a:lnTo>
                    <a:pt x="284755" y="0"/>
                  </a:lnTo>
                  <a:lnTo>
                    <a:pt x="2309644" y="0"/>
                  </a:lnTo>
                  <a:lnTo>
                    <a:pt x="2354458" y="3547"/>
                  </a:lnTo>
                  <a:lnTo>
                    <a:pt x="2397766" y="13978"/>
                  </a:lnTo>
                  <a:lnTo>
                    <a:pt x="2438801" y="30975"/>
                  </a:lnTo>
                  <a:lnTo>
                    <a:pt x="2476800" y="54222"/>
                  </a:lnTo>
                  <a:lnTo>
                    <a:pt x="2510996" y="83402"/>
                  </a:lnTo>
                  <a:lnTo>
                    <a:pt x="2540177" y="117599"/>
                  </a:lnTo>
                  <a:lnTo>
                    <a:pt x="2563424" y="155598"/>
                  </a:lnTo>
                  <a:lnTo>
                    <a:pt x="2580421" y="196633"/>
                  </a:lnTo>
                  <a:lnTo>
                    <a:pt x="2590852" y="239941"/>
                  </a:lnTo>
                  <a:lnTo>
                    <a:pt x="2594399" y="284755"/>
                  </a:lnTo>
                  <a:lnTo>
                    <a:pt x="2594399" y="1423744"/>
                  </a:lnTo>
                  <a:lnTo>
                    <a:pt x="2590673" y="1469933"/>
                  </a:lnTo>
                  <a:lnTo>
                    <a:pt x="2579882" y="1513749"/>
                  </a:lnTo>
                  <a:lnTo>
                    <a:pt x="2562616" y="1554605"/>
                  </a:lnTo>
                  <a:lnTo>
                    <a:pt x="2539458" y="1591917"/>
                  </a:lnTo>
                  <a:lnTo>
                    <a:pt x="2510996" y="1625096"/>
                  </a:lnTo>
                  <a:lnTo>
                    <a:pt x="2477817" y="1653558"/>
                  </a:lnTo>
                  <a:lnTo>
                    <a:pt x="2440505" y="1676716"/>
                  </a:lnTo>
                  <a:lnTo>
                    <a:pt x="2399649" y="1693982"/>
                  </a:lnTo>
                  <a:lnTo>
                    <a:pt x="2355833" y="1704773"/>
                  </a:lnTo>
                  <a:lnTo>
                    <a:pt x="2309644" y="170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26974" y="1253249"/>
              <a:ext cx="2594610" cy="1708785"/>
            </a:xfrm>
            <a:custGeom>
              <a:avLst/>
              <a:gdLst/>
              <a:ahLst/>
              <a:cxnLst/>
              <a:rect l="l" t="t" r="r" b="b"/>
              <a:pathLst>
                <a:path w="2594610" h="1708785">
                  <a:moveTo>
                    <a:pt x="0" y="284755"/>
                  </a:moveTo>
                  <a:lnTo>
                    <a:pt x="3726" y="238566"/>
                  </a:lnTo>
                  <a:lnTo>
                    <a:pt x="14517" y="194750"/>
                  </a:lnTo>
                  <a:lnTo>
                    <a:pt x="31783" y="153894"/>
                  </a:lnTo>
                  <a:lnTo>
                    <a:pt x="54941" y="116582"/>
                  </a:lnTo>
                  <a:lnTo>
                    <a:pt x="83403" y="83403"/>
                  </a:lnTo>
                  <a:lnTo>
                    <a:pt x="116582" y="54941"/>
                  </a:lnTo>
                  <a:lnTo>
                    <a:pt x="153894" y="31783"/>
                  </a:lnTo>
                  <a:lnTo>
                    <a:pt x="194750" y="14517"/>
                  </a:lnTo>
                  <a:lnTo>
                    <a:pt x="238566" y="3726"/>
                  </a:lnTo>
                  <a:lnTo>
                    <a:pt x="284755" y="0"/>
                  </a:lnTo>
                  <a:lnTo>
                    <a:pt x="2309644" y="0"/>
                  </a:lnTo>
                  <a:lnTo>
                    <a:pt x="2354458" y="3547"/>
                  </a:lnTo>
                  <a:lnTo>
                    <a:pt x="2397766" y="13978"/>
                  </a:lnTo>
                  <a:lnTo>
                    <a:pt x="2438801" y="30975"/>
                  </a:lnTo>
                  <a:lnTo>
                    <a:pt x="2476800" y="54222"/>
                  </a:lnTo>
                  <a:lnTo>
                    <a:pt x="2510996" y="83402"/>
                  </a:lnTo>
                  <a:lnTo>
                    <a:pt x="2540177" y="117599"/>
                  </a:lnTo>
                  <a:lnTo>
                    <a:pt x="2563424" y="155598"/>
                  </a:lnTo>
                  <a:lnTo>
                    <a:pt x="2580421" y="196633"/>
                  </a:lnTo>
                  <a:lnTo>
                    <a:pt x="2590852" y="239941"/>
                  </a:lnTo>
                  <a:lnTo>
                    <a:pt x="2594399" y="284755"/>
                  </a:lnTo>
                  <a:lnTo>
                    <a:pt x="2594399" y="1423744"/>
                  </a:lnTo>
                  <a:lnTo>
                    <a:pt x="2590673" y="1469933"/>
                  </a:lnTo>
                  <a:lnTo>
                    <a:pt x="2579882" y="1513749"/>
                  </a:lnTo>
                  <a:lnTo>
                    <a:pt x="2562616" y="1554605"/>
                  </a:lnTo>
                  <a:lnTo>
                    <a:pt x="2539458" y="1591917"/>
                  </a:lnTo>
                  <a:lnTo>
                    <a:pt x="2510996" y="1625096"/>
                  </a:lnTo>
                  <a:lnTo>
                    <a:pt x="2477817" y="1653558"/>
                  </a:lnTo>
                  <a:lnTo>
                    <a:pt x="2440505" y="1676716"/>
                  </a:lnTo>
                  <a:lnTo>
                    <a:pt x="2399649" y="1693982"/>
                  </a:lnTo>
                  <a:lnTo>
                    <a:pt x="2355833" y="1704773"/>
                  </a:lnTo>
                  <a:lnTo>
                    <a:pt x="2309644" y="1708499"/>
                  </a:lnTo>
                  <a:lnTo>
                    <a:pt x="284755" y="1708499"/>
                  </a:lnTo>
                  <a:lnTo>
                    <a:pt x="238566" y="1704773"/>
                  </a:lnTo>
                  <a:lnTo>
                    <a:pt x="194750" y="1693982"/>
                  </a:lnTo>
                  <a:lnTo>
                    <a:pt x="153894" y="1676716"/>
                  </a:lnTo>
                  <a:lnTo>
                    <a:pt x="116582" y="1653558"/>
                  </a:lnTo>
                  <a:lnTo>
                    <a:pt x="83403" y="1625096"/>
                  </a:lnTo>
                  <a:lnTo>
                    <a:pt x="54941" y="1591917"/>
                  </a:lnTo>
                  <a:lnTo>
                    <a:pt x="31783" y="1554605"/>
                  </a:lnTo>
                  <a:lnTo>
                    <a:pt x="14517" y="1513749"/>
                  </a:lnTo>
                  <a:lnTo>
                    <a:pt x="3726" y="1469933"/>
                  </a:lnTo>
                  <a:lnTo>
                    <a:pt x="0" y="1423744"/>
                  </a:lnTo>
                  <a:lnTo>
                    <a:pt x="0" y="28475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383402" y="1402565"/>
            <a:ext cx="198818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just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Take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last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letters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of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words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"Elon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Musk"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concatenate</a:t>
            </a:r>
            <a:r>
              <a:rPr sz="1400" spc="-20" dirty="0">
                <a:latin typeface="Arial"/>
                <a:cs typeface="Arial"/>
              </a:rPr>
              <a:t> them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3383402" y="2240765"/>
            <a:ext cx="16522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nk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81000" y="3394647"/>
            <a:ext cx="2146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Symbolic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(SR)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Reasoning</a:t>
            </a:r>
            <a:r>
              <a:rPr spc="-35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149" y="1731037"/>
            <a:ext cx="2818291" cy="28182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6700" y="1155222"/>
            <a:ext cx="50653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Fine-</a:t>
            </a:r>
            <a:r>
              <a:rPr sz="1600" dirty="0">
                <a:latin typeface="Times New Roman"/>
                <a:cs typeface="Times New Roman"/>
              </a:rPr>
              <a:t>tune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GSM8K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(arithmetic):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(Cobbe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2021)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645025" y="2636647"/>
            <a:ext cx="361187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Conjecture:</a:t>
            </a:r>
            <a:r>
              <a:rPr sz="1600" spc="3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achieve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&gt;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80%,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needs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100 </a:t>
            </a:r>
            <a:r>
              <a:rPr sz="1600" dirty="0">
                <a:latin typeface="Times New Roman"/>
                <a:cs typeface="Times New Roman"/>
              </a:rPr>
              <a:t>times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fine-</a:t>
            </a:r>
            <a:r>
              <a:rPr sz="1600" dirty="0">
                <a:latin typeface="Times New Roman"/>
                <a:cs typeface="Times New Roman"/>
              </a:rPr>
              <a:t>tuning data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175B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model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Reasoning</a:t>
            </a:r>
            <a:r>
              <a:rPr spc="-3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7300" y="1155222"/>
            <a:ext cx="17792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GSM8K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(arithmetic):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5025" y="2636647"/>
            <a:ext cx="39839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imes New Roman"/>
                <a:cs typeface="Times New Roman"/>
              </a:rPr>
              <a:t>Few-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standard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prompting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larger </a:t>
            </a:r>
            <a:r>
              <a:rPr sz="1600" dirty="0">
                <a:latin typeface="Times New Roman"/>
                <a:cs typeface="Times New Roman"/>
              </a:rPr>
              <a:t>model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(PaLM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540B)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work</a:t>
            </a:r>
            <a:r>
              <a:rPr sz="1600" spc="-10" dirty="0">
                <a:latin typeface="Times New Roman"/>
                <a:cs typeface="Times New Roman"/>
              </a:rPr>
              <a:t> well.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44840" y="1743581"/>
            <a:ext cx="3187065" cy="3134995"/>
            <a:chOff x="844840" y="1743581"/>
            <a:chExt cx="3187065" cy="31349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840" y="1743581"/>
              <a:ext cx="3186673" cy="313443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04600" y="3881174"/>
              <a:ext cx="549275" cy="677545"/>
            </a:xfrm>
            <a:custGeom>
              <a:avLst/>
              <a:gdLst/>
              <a:ahLst/>
              <a:cxnLst/>
              <a:rect l="l" t="t" r="r" b="b"/>
              <a:pathLst>
                <a:path w="549275" h="677545">
                  <a:moveTo>
                    <a:pt x="0" y="0"/>
                  </a:moveTo>
                  <a:lnTo>
                    <a:pt x="548699" y="0"/>
                  </a:lnTo>
                  <a:lnTo>
                    <a:pt x="548699" y="677099"/>
                  </a:lnTo>
                  <a:lnTo>
                    <a:pt x="0" y="6770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Reasoning</a:t>
            </a:r>
            <a:r>
              <a:rPr spc="-3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4025" y="1681897"/>
            <a:ext cx="68160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Scaling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language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size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efficiently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achieve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performances,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for </a:t>
            </a:r>
            <a:r>
              <a:rPr sz="1600" dirty="0">
                <a:latin typeface="Times New Roman"/>
                <a:cs typeface="Times New Roman"/>
              </a:rPr>
              <a:t>Arithmetic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AR</a:t>
            </a:r>
            <a:r>
              <a:rPr sz="1600" dirty="0">
                <a:latin typeface="Times New Roman"/>
                <a:cs typeface="Times New Roman"/>
              </a:rPr>
              <a:t>),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CommonSense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CR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Symbolic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SR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tasks.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Reasoning</a:t>
            </a:r>
            <a:r>
              <a:rPr spc="-3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4025" y="1681897"/>
            <a:ext cx="68160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Scaling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language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size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efficiently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achieve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performances,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for </a:t>
            </a:r>
            <a:r>
              <a:rPr sz="1600" dirty="0">
                <a:latin typeface="Times New Roman"/>
                <a:cs typeface="Times New Roman"/>
              </a:rPr>
              <a:t>Arithmetic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AR</a:t>
            </a:r>
            <a:r>
              <a:rPr sz="1600" dirty="0">
                <a:latin typeface="Times New Roman"/>
                <a:cs typeface="Times New Roman"/>
              </a:rPr>
              <a:t>),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CommonSense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CR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Symbolic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i="1" dirty="0">
                <a:latin typeface="Times New Roman"/>
                <a:cs typeface="Times New Roman"/>
              </a:rPr>
              <a:t>SR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tasks.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9250" y="3220422"/>
            <a:ext cx="39890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Proposed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solution: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chain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thought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prompting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5554" y="2266442"/>
            <a:ext cx="530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Chain</a:t>
            </a:r>
            <a:r>
              <a:rPr sz="3600" spc="-20" dirty="0"/>
              <a:t> </a:t>
            </a:r>
            <a:r>
              <a:rPr sz="3600" dirty="0"/>
              <a:t>of</a:t>
            </a:r>
            <a:r>
              <a:rPr sz="3600" spc="-70" dirty="0"/>
              <a:t> </a:t>
            </a:r>
            <a:r>
              <a:rPr sz="3600" dirty="0"/>
              <a:t>Thought</a:t>
            </a:r>
            <a:r>
              <a:rPr sz="3600" spc="-10" dirty="0"/>
              <a:t> Prompting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Chain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Thought</a:t>
            </a:r>
            <a:r>
              <a:rPr spc="-10" dirty="0"/>
              <a:t> (CoT)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5969" y="976354"/>
            <a:ext cx="4893663" cy="17610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7325" y="1929197"/>
            <a:ext cx="12833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imes New Roman"/>
                <a:cs typeface="Times New Roman"/>
              </a:rPr>
              <a:t>Few-</a:t>
            </a:r>
            <a:r>
              <a:rPr sz="1600" b="1" dirty="0">
                <a:latin typeface="Times New Roman"/>
                <a:cs typeface="Times New Roman"/>
              </a:rPr>
              <a:t>Shot </a:t>
            </a:r>
            <a:r>
              <a:rPr sz="1600" b="1" spc="-25" dirty="0">
                <a:latin typeface="Times New Roman"/>
                <a:cs typeface="Times New Roman"/>
              </a:rPr>
              <a:t>CoT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Chain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Thought</a:t>
            </a:r>
            <a:r>
              <a:rPr spc="-10" dirty="0"/>
              <a:t> (CoT)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5969" y="976354"/>
            <a:ext cx="4893663" cy="17610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5025" y="3166753"/>
            <a:ext cx="4759100" cy="16443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7325" y="1929197"/>
            <a:ext cx="12833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imes New Roman"/>
                <a:cs typeface="Times New Roman"/>
              </a:rPr>
              <a:t>Few-</a:t>
            </a:r>
            <a:r>
              <a:rPr sz="1600" b="1" dirty="0">
                <a:latin typeface="Times New Roman"/>
                <a:cs typeface="Times New Roman"/>
              </a:rPr>
              <a:t>Shot </a:t>
            </a:r>
            <a:r>
              <a:rPr sz="1600" b="1" spc="-25" dirty="0">
                <a:latin typeface="Times New Roman"/>
                <a:cs typeface="Times New Roman"/>
              </a:rPr>
              <a:t>CoT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14200" y="3786872"/>
            <a:ext cx="13366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imes New Roman"/>
                <a:cs typeface="Times New Roman"/>
              </a:rPr>
              <a:t>Zero-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CoT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7800" y="2401599"/>
            <a:ext cx="2014855" cy="615950"/>
          </a:xfrm>
          <a:prstGeom prst="rect">
            <a:avLst/>
          </a:prstGeom>
          <a:ln w="28574">
            <a:solidFill>
              <a:srgbClr val="FF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 marR="228600">
              <a:lnSpc>
                <a:spcPct val="100000"/>
              </a:lnSpc>
              <a:spcBef>
                <a:spcPts val="620"/>
              </a:spcBef>
            </a:pPr>
            <a:r>
              <a:rPr sz="1400" dirty="0">
                <a:latin typeface="Times New Roman"/>
                <a:cs typeface="Times New Roman"/>
              </a:rPr>
              <a:t>Both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papers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will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appear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NeurIPS’22</a:t>
            </a:r>
            <a:r>
              <a:rPr sz="1400" spc="-10" dirty="0">
                <a:latin typeface="Times New Roman"/>
                <a:cs typeface="Times New Roman"/>
              </a:rPr>
              <a:t>!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Chain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Thought</a:t>
            </a:r>
            <a:r>
              <a:rPr spc="-10" dirty="0"/>
              <a:t> (CoT)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150" y="1032481"/>
            <a:ext cx="7435215" cy="106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Definition: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thought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series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intermediate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natural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language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reasoning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steps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lead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final</a:t>
            </a:r>
            <a:r>
              <a:rPr sz="1600" spc="-10" dirty="0">
                <a:latin typeface="Times New Roman"/>
                <a:cs typeface="Times New Roman"/>
              </a:rPr>
              <a:t> output.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Chain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Thought</a:t>
            </a:r>
            <a:r>
              <a:rPr spc="-10" dirty="0"/>
              <a:t> (CoT)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150" y="1032481"/>
            <a:ext cx="7437120" cy="210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Definition: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635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thought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series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intermediate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natural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language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reasoning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steps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lead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final</a:t>
            </a:r>
            <a:r>
              <a:rPr sz="1600" spc="-10" dirty="0">
                <a:latin typeface="Times New Roman"/>
                <a:cs typeface="Times New Roman"/>
              </a:rPr>
              <a:t> output.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Intuition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(from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neural-</a:t>
            </a:r>
            <a:r>
              <a:rPr sz="1800" b="1" dirty="0">
                <a:latin typeface="Times New Roman"/>
                <a:cs typeface="Times New Roman"/>
              </a:rPr>
              <a:t>symbolic</a:t>
            </a:r>
            <a:r>
              <a:rPr sz="1800" b="1" spc="-10" dirty="0">
                <a:latin typeface="Times New Roman"/>
                <a:cs typeface="Times New Roman"/>
              </a:rPr>
              <a:t> computing):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use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&lt;input,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intermediate</a:t>
            </a:r>
            <a:r>
              <a:rPr sz="1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results</a:t>
            </a:r>
            <a:r>
              <a:rPr sz="1600" b="1" dirty="0">
                <a:latin typeface="Times New Roman"/>
                <a:cs typeface="Times New Roman"/>
              </a:rPr>
              <a:t>,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output&gt;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triples,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rather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simple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&lt;input,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output&gt;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pairs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Chain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Thought</a:t>
            </a:r>
            <a:r>
              <a:rPr spc="-10" dirty="0"/>
              <a:t> (CoT)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150" y="1032481"/>
            <a:ext cx="7437120" cy="36658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Definition: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635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thought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series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intermediate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natural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language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reasoning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steps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lead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final</a:t>
            </a:r>
            <a:r>
              <a:rPr sz="1600" spc="-10" dirty="0">
                <a:latin typeface="Times New Roman"/>
                <a:cs typeface="Times New Roman"/>
              </a:rPr>
              <a:t> output.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Intuition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(from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neural-</a:t>
            </a:r>
            <a:r>
              <a:rPr sz="1800" b="1" dirty="0">
                <a:latin typeface="Times New Roman"/>
                <a:cs typeface="Times New Roman"/>
              </a:rPr>
              <a:t>symbolic</a:t>
            </a:r>
            <a:r>
              <a:rPr sz="1800" b="1" spc="-10" dirty="0">
                <a:latin typeface="Times New Roman"/>
                <a:cs typeface="Times New Roman"/>
              </a:rPr>
              <a:t> computing):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use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&lt;input,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intermediate</a:t>
            </a:r>
            <a:r>
              <a:rPr sz="1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results</a:t>
            </a:r>
            <a:r>
              <a:rPr sz="1600" b="1" dirty="0">
                <a:latin typeface="Times New Roman"/>
                <a:cs typeface="Times New Roman"/>
              </a:rPr>
              <a:t>,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output&gt;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triples,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rather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simple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&lt;input,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output&gt;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pairs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Times New Roman"/>
                <a:cs typeface="Times New Roman"/>
              </a:rPr>
              <a:t>Benefits:</a:t>
            </a:r>
            <a:endParaRPr sz="18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spcBef>
                <a:spcPts val="1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dirty="0">
                <a:latin typeface="Times New Roman"/>
                <a:cs typeface="Times New Roman"/>
              </a:rPr>
              <a:t>Decomposition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-&gt;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easier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intermediate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problems</a:t>
            </a:r>
            <a:endParaRPr sz="16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spc="-10" dirty="0">
                <a:latin typeface="Times New Roman"/>
                <a:cs typeface="Times New Roman"/>
              </a:rPr>
              <a:t>Interpretable</a:t>
            </a:r>
            <a:endParaRPr sz="16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general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neural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symbolic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computing</a:t>
            </a:r>
            <a:endParaRPr sz="1600">
              <a:latin typeface="Times New Roman"/>
              <a:cs typeface="Times New Roman"/>
            </a:endParaRPr>
          </a:p>
          <a:p>
            <a:pPr marL="469265" indent="-351155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600" dirty="0">
                <a:latin typeface="Times New Roman"/>
                <a:cs typeface="Times New Roman"/>
              </a:rPr>
              <a:t>Leveraging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prompting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LLM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Chain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Thought</a:t>
            </a:r>
            <a:r>
              <a:rPr spc="-10" dirty="0"/>
              <a:t> (CoT)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467" y="867802"/>
            <a:ext cx="3298235" cy="20891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8975" y="1295453"/>
            <a:ext cx="660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212690"/>
            <a:ext cx="37515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Chain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Thought</a:t>
            </a:r>
            <a:r>
              <a:rPr sz="3000" spc="-10" dirty="0">
                <a:latin typeface="Times New Roman"/>
                <a:cs typeface="Times New Roman"/>
              </a:rPr>
              <a:t> (CoT)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36467" y="838094"/>
            <a:ext cx="6765290" cy="2118995"/>
            <a:chOff x="1036467" y="838094"/>
            <a:chExt cx="6765290" cy="2118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467" y="867802"/>
              <a:ext cx="3298235" cy="208919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7574" y="838094"/>
              <a:ext cx="3423974" cy="207395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38975" y="1295453"/>
            <a:ext cx="660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4575" y="1310754"/>
            <a:ext cx="983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7761C"/>
                </a:solidFill>
                <a:latin typeface="Times New Roman"/>
                <a:cs typeface="Times New Roman"/>
              </a:rPr>
              <a:t>CoT</a:t>
            </a:r>
            <a:r>
              <a:rPr sz="1200" b="1" spc="-35" dirty="0">
                <a:solidFill>
                  <a:srgbClr val="37761C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4350" y="2403279"/>
            <a:ext cx="1366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Step-by-step</a:t>
            </a:r>
            <a:r>
              <a:rPr sz="1200" b="1" spc="-5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Answer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3825" y="755575"/>
            <a:ext cx="1152525" cy="262890"/>
          </a:xfrm>
          <a:custGeom>
            <a:avLst/>
            <a:gdLst/>
            <a:ahLst/>
            <a:cxnLst/>
            <a:rect l="l" t="t" r="r" b="b"/>
            <a:pathLst>
              <a:path w="1152525" h="262890">
                <a:moveTo>
                  <a:pt x="0" y="0"/>
                </a:moveTo>
                <a:lnTo>
                  <a:pt x="1152299" y="0"/>
                </a:lnTo>
                <a:lnTo>
                  <a:pt x="1152299" y="262799"/>
                </a:lnTo>
                <a:lnTo>
                  <a:pt x="0" y="2627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58799" y="769254"/>
            <a:ext cx="1134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85" dirty="0">
                <a:latin typeface="Malgun Gothic"/>
                <a:cs typeface="Malgun Gothic"/>
              </a:rPr>
              <a:t>（</a:t>
            </a:r>
            <a:r>
              <a:rPr sz="1200" spc="-185" dirty="0">
                <a:latin typeface="Times New Roman"/>
                <a:cs typeface="Times New Roman"/>
              </a:rPr>
              <a:t>Wei</a:t>
            </a:r>
            <a:r>
              <a:rPr sz="1200" dirty="0">
                <a:latin typeface="Times New Roman"/>
                <a:cs typeface="Times New Roman"/>
              </a:rPr>
              <a:t> et al.,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2022</a:t>
            </a:r>
            <a:r>
              <a:rPr sz="1200" spc="-110" dirty="0">
                <a:latin typeface="Malgun Gothic"/>
                <a:cs typeface="Malgun Gothic"/>
              </a:rPr>
              <a:t>）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70000" y="1491675"/>
            <a:ext cx="3218180" cy="262890"/>
          </a:xfrm>
          <a:custGeom>
            <a:avLst/>
            <a:gdLst/>
            <a:ahLst/>
            <a:cxnLst/>
            <a:rect l="l" t="t" r="r" b="b"/>
            <a:pathLst>
              <a:path w="3218179" h="262889">
                <a:moveTo>
                  <a:pt x="3217799" y="262799"/>
                </a:moveTo>
                <a:lnTo>
                  <a:pt x="0" y="262799"/>
                </a:lnTo>
                <a:lnTo>
                  <a:pt x="0" y="0"/>
                </a:lnTo>
                <a:lnTo>
                  <a:pt x="3217799" y="0"/>
                </a:lnTo>
                <a:lnTo>
                  <a:pt x="3217799" y="262799"/>
                </a:lnTo>
                <a:close/>
              </a:path>
            </a:pathLst>
          </a:custGeom>
          <a:solidFill>
            <a:srgbClr val="FF0000">
              <a:alpha val="121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212690"/>
            <a:ext cx="37515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Chain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Thought</a:t>
            </a:r>
            <a:r>
              <a:rPr sz="3000" spc="-10" dirty="0">
                <a:latin typeface="Times New Roman"/>
                <a:cs typeface="Times New Roman"/>
              </a:rPr>
              <a:t> (CoT)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36467" y="838094"/>
            <a:ext cx="6765290" cy="2118995"/>
            <a:chOff x="1036467" y="838094"/>
            <a:chExt cx="6765290" cy="2118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467" y="867802"/>
              <a:ext cx="3298235" cy="208919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7574" y="838094"/>
              <a:ext cx="3423974" cy="2073954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0139" y="3121140"/>
            <a:ext cx="3255756" cy="12946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8975" y="1295453"/>
            <a:ext cx="660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4575" y="1310754"/>
            <a:ext cx="983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7761C"/>
                </a:solidFill>
                <a:latin typeface="Times New Roman"/>
                <a:cs typeface="Times New Roman"/>
              </a:rPr>
              <a:t>CoT</a:t>
            </a:r>
            <a:r>
              <a:rPr sz="1200" b="1" spc="-35" dirty="0">
                <a:solidFill>
                  <a:srgbClr val="37761C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4350" y="2403279"/>
            <a:ext cx="1366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Step-by-step</a:t>
            </a:r>
            <a:r>
              <a:rPr sz="1200" b="1" spc="-5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Answer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33825" y="755575"/>
            <a:ext cx="1152525" cy="262890"/>
          </a:xfrm>
          <a:custGeom>
            <a:avLst/>
            <a:gdLst/>
            <a:ahLst/>
            <a:cxnLst/>
            <a:rect l="l" t="t" r="r" b="b"/>
            <a:pathLst>
              <a:path w="1152525" h="262890">
                <a:moveTo>
                  <a:pt x="0" y="0"/>
                </a:moveTo>
                <a:lnTo>
                  <a:pt x="1152299" y="0"/>
                </a:lnTo>
                <a:lnTo>
                  <a:pt x="1152299" y="262799"/>
                </a:lnTo>
                <a:lnTo>
                  <a:pt x="0" y="2627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58799" y="769254"/>
            <a:ext cx="1134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85" dirty="0">
                <a:latin typeface="Malgun Gothic"/>
                <a:cs typeface="Malgun Gothic"/>
              </a:rPr>
              <a:t>（</a:t>
            </a:r>
            <a:r>
              <a:rPr sz="1200" spc="-185" dirty="0">
                <a:latin typeface="Times New Roman"/>
                <a:cs typeface="Times New Roman"/>
              </a:rPr>
              <a:t>Wei</a:t>
            </a:r>
            <a:r>
              <a:rPr sz="1200" dirty="0">
                <a:latin typeface="Times New Roman"/>
                <a:cs typeface="Times New Roman"/>
              </a:rPr>
              <a:t> et al.,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2022</a:t>
            </a:r>
            <a:r>
              <a:rPr sz="1200" spc="-110" dirty="0">
                <a:latin typeface="Malgun Gothic"/>
                <a:cs typeface="Malgun Gothic"/>
              </a:rPr>
              <a:t>）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70000" y="1491675"/>
            <a:ext cx="3218180" cy="262890"/>
          </a:xfrm>
          <a:custGeom>
            <a:avLst/>
            <a:gdLst/>
            <a:ahLst/>
            <a:cxnLst/>
            <a:rect l="l" t="t" r="r" b="b"/>
            <a:pathLst>
              <a:path w="3218179" h="262889">
                <a:moveTo>
                  <a:pt x="3217799" y="262799"/>
                </a:moveTo>
                <a:lnTo>
                  <a:pt x="0" y="262799"/>
                </a:lnTo>
                <a:lnTo>
                  <a:pt x="0" y="0"/>
                </a:lnTo>
                <a:lnTo>
                  <a:pt x="3217799" y="0"/>
                </a:lnTo>
                <a:lnTo>
                  <a:pt x="3217799" y="262799"/>
                </a:lnTo>
                <a:close/>
              </a:path>
            </a:pathLst>
          </a:custGeom>
          <a:solidFill>
            <a:srgbClr val="FF0000">
              <a:alpha val="121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2690"/>
            <a:ext cx="37515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Chain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Thought</a:t>
            </a:r>
            <a:r>
              <a:rPr spc="-10" dirty="0"/>
              <a:t> (CoT)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6467" y="838094"/>
            <a:ext cx="6765290" cy="2118995"/>
            <a:chOff x="1036467" y="838094"/>
            <a:chExt cx="6765290" cy="2118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467" y="867802"/>
              <a:ext cx="3298235" cy="208919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7574" y="838094"/>
              <a:ext cx="3423974" cy="207395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453992" y="3051987"/>
            <a:ext cx="3362960" cy="1385570"/>
            <a:chOff x="4453992" y="3051987"/>
            <a:chExt cx="3362960" cy="138557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3992" y="3147734"/>
              <a:ext cx="3362375" cy="128955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70924" y="3056750"/>
              <a:ext cx="652780" cy="208279"/>
            </a:xfrm>
            <a:custGeom>
              <a:avLst/>
              <a:gdLst/>
              <a:ahLst/>
              <a:cxnLst/>
              <a:rect l="l" t="t" r="r" b="b"/>
              <a:pathLst>
                <a:path w="652779" h="208279">
                  <a:moveTo>
                    <a:pt x="652499" y="208199"/>
                  </a:moveTo>
                  <a:lnTo>
                    <a:pt x="0" y="208199"/>
                  </a:lnTo>
                  <a:lnTo>
                    <a:pt x="0" y="0"/>
                  </a:lnTo>
                  <a:lnTo>
                    <a:pt x="652499" y="0"/>
                  </a:lnTo>
                  <a:lnTo>
                    <a:pt x="652499" y="208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70924" y="3056750"/>
              <a:ext cx="652780" cy="208279"/>
            </a:xfrm>
            <a:custGeom>
              <a:avLst/>
              <a:gdLst/>
              <a:ahLst/>
              <a:cxnLst/>
              <a:rect l="l" t="t" r="r" b="b"/>
              <a:pathLst>
                <a:path w="652779" h="208279">
                  <a:moveTo>
                    <a:pt x="0" y="0"/>
                  </a:moveTo>
                  <a:lnTo>
                    <a:pt x="652499" y="0"/>
                  </a:lnTo>
                  <a:lnTo>
                    <a:pt x="652499" y="208199"/>
                  </a:lnTo>
                  <a:lnTo>
                    <a:pt x="0" y="20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0139" y="3121140"/>
            <a:ext cx="3255756" cy="129467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38975" y="1295453"/>
            <a:ext cx="660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4575" y="1365653"/>
            <a:ext cx="983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7761C"/>
                </a:solidFill>
                <a:latin typeface="Times New Roman"/>
                <a:cs typeface="Times New Roman"/>
              </a:rPr>
              <a:t>CoT</a:t>
            </a:r>
            <a:r>
              <a:rPr sz="1200" b="1" spc="-35" dirty="0">
                <a:solidFill>
                  <a:srgbClr val="37761C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7761C"/>
                </a:solidFill>
                <a:latin typeface="Times New Roman"/>
                <a:cs typeface="Times New Roman"/>
              </a:rPr>
              <a:t>Examples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4350" y="2403279"/>
            <a:ext cx="1366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Step-by-step</a:t>
            </a:r>
            <a:r>
              <a:rPr sz="1200" b="1" spc="-5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Answer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29475" y="3943929"/>
            <a:ext cx="1420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latin typeface="Times New Roman"/>
                <a:cs typeface="Times New Roman"/>
              </a:rPr>
              <a:t>Two-</a:t>
            </a:r>
            <a:r>
              <a:rPr sz="1200" b="1" dirty="0">
                <a:latin typeface="Times New Roman"/>
                <a:cs typeface="Times New Roman"/>
              </a:rPr>
              <a:t>stage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Prompting </a:t>
            </a:r>
            <a:r>
              <a:rPr sz="12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Step-by-step</a:t>
            </a:r>
            <a:r>
              <a:rPr sz="1200" b="1" spc="-5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Answer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33825" y="755575"/>
            <a:ext cx="1152525" cy="262890"/>
          </a:xfrm>
          <a:custGeom>
            <a:avLst/>
            <a:gdLst/>
            <a:ahLst/>
            <a:cxnLst/>
            <a:rect l="l" t="t" r="r" b="b"/>
            <a:pathLst>
              <a:path w="1152525" h="262890">
                <a:moveTo>
                  <a:pt x="0" y="0"/>
                </a:moveTo>
                <a:lnTo>
                  <a:pt x="1152299" y="0"/>
                </a:lnTo>
                <a:lnTo>
                  <a:pt x="1152299" y="262799"/>
                </a:lnTo>
                <a:lnTo>
                  <a:pt x="0" y="2627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46524" y="3029449"/>
            <a:ext cx="1124585" cy="262890"/>
          </a:xfrm>
          <a:custGeom>
            <a:avLst/>
            <a:gdLst/>
            <a:ahLst/>
            <a:cxnLst/>
            <a:rect l="l" t="t" r="r" b="b"/>
            <a:pathLst>
              <a:path w="1124585" h="262889">
                <a:moveTo>
                  <a:pt x="0" y="0"/>
                </a:moveTo>
                <a:lnTo>
                  <a:pt x="1124399" y="0"/>
                </a:lnTo>
                <a:lnTo>
                  <a:pt x="1124399" y="262799"/>
                </a:lnTo>
                <a:lnTo>
                  <a:pt x="0" y="2627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58799" y="769254"/>
            <a:ext cx="1134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85" dirty="0">
                <a:latin typeface="Malgun Gothic"/>
                <a:cs typeface="Malgun Gothic"/>
              </a:rPr>
              <a:t>（</a:t>
            </a:r>
            <a:r>
              <a:rPr sz="1200" spc="-185" dirty="0">
                <a:latin typeface="Times New Roman"/>
                <a:cs typeface="Times New Roman"/>
              </a:rPr>
              <a:t>Wei</a:t>
            </a:r>
            <a:r>
              <a:rPr sz="1200" dirty="0">
                <a:latin typeface="Times New Roman"/>
                <a:cs typeface="Times New Roman"/>
              </a:rPr>
              <a:t> et al.,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2022</a:t>
            </a:r>
            <a:r>
              <a:rPr sz="1200" spc="-110" dirty="0">
                <a:latin typeface="Malgun Gothic"/>
                <a:cs typeface="Malgun Gothic"/>
              </a:rPr>
              <a:t>）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53725" y="3096379"/>
            <a:ext cx="1367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latin typeface="Malgun Gothic"/>
                <a:cs typeface="Malgun Gothic"/>
              </a:rPr>
              <a:t>（</a:t>
            </a:r>
            <a:r>
              <a:rPr sz="1200" spc="-95" dirty="0">
                <a:latin typeface="Times New Roman"/>
                <a:cs typeface="Times New Roman"/>
              </a:rPr>
              <a:t>KoJima</a:t>
            </a:r>
            <a:r>
              <a:rPr sz="1200" dirty="0">
                <a:latin typeface="Times New Roman"/>
                <a:cs typeface="Times New Roman"/>
              </a:rPr>
              <a:t> et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2022</a:t>
            </a:r>
            <a:r>
              <a:rPr sz="1200" spc="-110" dirty="0">
                <a:latin typeface="Malgun Gothic"/>
                <a:cs typeface="Malgun Gothic"/>
              </a:rPr>
              <a:t>）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70000" y="1491675"/>
            <a:ext cx="3218180" cy="262890"/>
          </a:xfrm>
          <a:custGeom>
            <a:avLst/>
            <a:gdLst/>
            <a:ahLst/>
            <a:cxnLst/>
            <a:rect l="l" t="t" r="r" b="b"/>
            <a:pathLst>
              <a:path w="3218179" h="262889">
                <a:moveTo>
                  <a:pt x="3217799" y="262799"/>
                </a:moveTo>
                <a:lnTo>
                  <a:pt x="0" y="262799"/>
                </a:lnTo>
                <a:lnTo>
                  <a:pt x="0" y="0"/>
                </a:lnTo>
                <a:lnTo>
                  <a:pt x="3217799" y="0"/>
                </a:lnTo>
                <a:lnTo>
                  <a:pt x="3217799" y="262799"/>
                </a:lnTo>
                <a:close/>
              </a:path>
            </a:pathLst>
          </a:custGeom>
          <a:solidFill>
            <a:srgbClr val="FF0000">
              <a:alpha val="121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Zero-</a:t>
            </a:r>
            <a:r>
              <a:rPr dirty="0"/>
              <a:t>Shot</a:t>
            </a:r>
            <a:r>
              <a:rPr spc="-10" dirty="0"/>
              <a:t> </a:t>
            </a:r>
            <a:r>
              <a:rPr dirty="0"/>
              <a:t>Chain</a:t>
            </a:r>
            <a:r>
              <a:rPr spc="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Thought</a:t>
            </a:r>
            <a:r>
              <a:rPr spc="5" dirty="0"/>
              <a:t> </a:t>
            </a:r>
            <a:r>
              <a:rPr spc="-10" dirty="0"/>
              <a:t>(CoT)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150" y="1033496"/>
            <a:ext cx="45199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zero-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CoT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two-stage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prompting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0" dirty="0">
                <a:latin typeface="Times New Roman"/>
                <a:cs typeface="Times New Roman"/>
              </a:rPr>
              <a:t> applied: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219" y="1737978"/>
            <a:ext cx="3267030" cy="27122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025" y="2273009"/>
            <a:ext cx="608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Question 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Trigger1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3550" y="3939278"/>
            <a:ext cx="70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Reasoning </a:t>
            </a:r>
            <a:r>
              <a:rPr sz="1200" b="1" spc="-20" dirty="0">
                <a:latin typeface="Times New Roman"/>
                <a:cs typeface="Times New Roman"/>
              </a:rPr>
              <a:t>Path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Zero-</a:t>
            </a:r>
            <a:r>
              <a:rPr dirty="0"/>
              <a:t>Shot</a:t>
            </a:r>
            <a:r>
              <a:rPr spc="-10" dirty="0"/>
              <a:t> </a:t>
            </a:r>
            <a:r>
              <a:rPr dirty="0"/>
              <a:t>Chain</a:t>
            </a:r>
            <a:r>
              <a:rPr spc="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Thought</a:t>
            </a:r>
            <a:r>
              <a:rPr spc="5" dirty="0"/>
              <a:t> </a:t>
            </a:r>
            <a:r>
              <a:rPr spc="-10" dirty="0"/>
              <a:t>(CoT)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150" y="1033496"/>
            <a:ext cx="45199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zero-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CoT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two-stage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prompting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0" dirty="0">
                <a:latin typeface="Times New Roman"/>
                <a:cs typeface="Times New Roman"/>
              </a:rPr>
              <a:t> applied: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4219" y="1737978"/>
            <a:ext cx="6988809" cy="2712720"/>
            <a:chOff x="924219" y="1737978"/>
            <a:chExt cx="6988809" cy="27127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219" y="1737978"/>
              <a:ext cx="3267030" cy="27122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3450" y="2089849"/>
              <a:ext cx="548699" cy="22116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2150" y="1747860"/>
              <a:ext cx="3200701" cy="262915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3025" y="2273009"/>
            <a:ext cx="608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Question 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Trigger1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33550" y="3979178"/>
            <a:ext cx="70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Reasoning </a:t>
            </a:r>
            <a:r>
              <a:rPr sz="1200" b="1" spc="-20" dirty="0">
                <a:latin typeface="Times New Roman"/>
                <a:cs typeface="Times New Roman"/>
              </a:rPr>
              <a:t>Path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54174" y="2857783"/>
            <a:ext cx="1056005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160">
              <a:lnSpc>
                <a:spcPct val="1475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Reasoning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Path 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Trigger2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54174" y="2364404"/>
            <a:ext cx="676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Question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+Trigger1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14450" y="4116554"/>
            <a:ext cx="524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Answer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3910" y="2266442"/>
            <a:ext cx="2334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Experiments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2690"/>
            <a:ext cx="1167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700" y="914172"/>
            <a:ext cx="7999730" cy="700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Pre-</a:t>
            </a:r>
            <a:r>
              <a:rPr sz="1600" dirty="0">
                <a:latin typeface="Times New Roman"/>
                <a:cs typeface="Times New Roman"/>
              </a:rPr>
              <a:t>trained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LLMs:</a:t>
            </a:r>
            <a:endParaRPr sz="1600">
              <a:latin typeface="Times New Roman"/>
              <a:cs typeface="Times New Roman"/>
            </a:endParaRPr>
          </a:p>
          <a:p>
            <a:pPr marL="574675" indent="-351790">
              <a:lnSpc>
                <a:spcPct val="100000"/>
              </a:lnSpc>
              <a:spcBef>
                <a:spcPts val="1475"/>
              </a:spcBef>
              <a:buFont typeface="Arial"/>
              <a:buChar char="●"/>
              <a:tabLst>
                <a:tab pos="574675" algn="l"/>
                <a:tab pos="575310" algn="l"/>
              </a:tabLst>
            </a:pPr>
            <a:r>
              <a:rPr sz="1600" dirty="0">
                <a:latin typeface="Times New Roman"/>
                <a:cs typeface="Times New Roman"/>
              </a:rPr>
              <a:t>Instruct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500" dirty="0">
                <a:latin typeface="Times New Roman"/>
                <a:cs typeface="Times New Roman"/>
              </a:rPr>
              <a:t>ada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350M,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babbage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1.3B,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curie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6.7B,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davinci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175B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(Ouyang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2022)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2690"/>
            <a:ext cx="1167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700" y="914172"/>
            <a:ext cx="7999730" cy="1431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Pre-</a:t>
            </a:r>
            <a:r>
              <a:rPr sz="1600" dirty="0">
                <a:latin typeface="Times New Roman"/>
                <a:cs typeface="Times New Roman"/>
              </a:rPr>
              <a:t>trained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LLMs:</a:t>
            </a:r>
            <a:endParaRPr sz="1600">
              <a:latin typeface="Times New Roman"/>
              <a:cs typeface="Times New Roman"/>
            </a:endParaRPr>
          </a:p>
          <a:p>
            <a:pPr marL="574675" indent="-351790">
              <a:lnSpc>
                <a:spcPct val="100000"/>
              </a:lnSpc>
              <a:spcBef>
                <a:spcPts val="1475"/>
              </a:spcBef>
              <a:buFont typeface="Arial"/>
              <a:buChar char="●"/>
              <a:tabLst>
                <a:tab pos="574675" algn="l"/>
                <a:tab pos="575310" algn="l"/>
              </a:tabLst>
            </a:pPr>
            <a:r>
              <a:rPr sz="1600" dirty="0">
                <a:latin typeface="Times New Roman"/>
                <a:cs typeface="Times New Roman"/>
              </a:rPr>
              <a:t>Instruct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500" dirty="0">
                <a:latin typeface="Times New Roman"/>
                <a:cs typeface="Times New Roman"/>
              </a:rPr>
              <a:t>ada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350M,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babbage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1.3B,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curie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6.7B,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davinci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175B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(Ouyang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2022)</a:t>
            </a:r>
            <a:endParaRPr sz="1600">
              <a:latin typeface="Times New Roman"/>
              <a:cs typeface="Times New Roman"/>
            </a:endParaRPr>
          </a:p>
          <a:p>
            <a:pPr marL="1031875" lvl="1" indent="-351790">
              <a:lnSpc>
                <a:spcPct val="100000"/>
              </a:lnSpc>
              <a:buFont typeface="Arial"/>
              <a:buChar char="○"/>
              <a:tabLst>
                <a:tab pos="1031875" algn="l"/>
                <a:tab pos="1032510" algn="l"/>
              </a:tabLst>
            </a:pP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familiar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(Brown,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2020)</a:t>
            </a:r>
            <a:endParaRPr sz="1600">
              <a:latin typeface="Times New Roman"/>
              <a:cs typeface="Times New Roman"/>
            </a:endParaRPr>
          </a:p>
          <a:p>
            <a:pPr marL="1031875" lvl="1" indent="-351790">
              <a:lnSpc>
                <a:spcPct val="100000"/>
              </a:lnSpc>
              <a:buFont typeface="Arial"/>
              <a:buChar char="○"/>
              <a:tabLst>
                <a:tab pos="1031875" algn="l"/>
                <a:tab pos="1032510" algn="l"/>
              </a:tabLst>
            </a:pPr>
            <a:r>
              <a:rPr sz="1600" spc="-10" dirty="0">
                <a:latin typeface="Times New Roman"/>
                <a:cs typeface="Times New Roman"/>
              </a:rPr>
              <a:t>Fine-</a:t>
            </a:r>
            <a:r>
              <a:rPr sz="1600" dirty="0">
                <a:latin typeface="Times New Roman"/>
                <a:cs typeface="Times New Roman"/>
              </a:rPr>
              <a:t>tuned with human </a:t>
            </a:r>
            <a:r>
              <a:rPr sz="1600" spc="-10" dirty="0">
                <a:latin typeface="Times New Roman"/>
                <a:cs typeface="Times New Roman"/>
              </a:rPr>
              <a:t>feedback</a:t>
            </a:r>
            <a:endParaRPr sz="1600">
              <a:latin typeface="Times New Roman"/>
              <a:cs typeface="Times New Roman"/>
            </a:endParaRPr>
          </a:p>
          <a:p>
            <a:pPr marL="1031875" lvl="1" indent="-351790">
              <a:lnSpc>
                <a:spcPct val="100000"/>
              </a:lnSpc>
              <a:buFont typeface="Arial"/>
              <a:buChar char="○"/>
              <a:tabLst>
                <a:tab pos="1031875" algn="l"/>
                <a:tab pos="1032510" algn="l"/>
              </a:tabLst>
            </a:pPr>
            <a:r>
              <a:rPr sz="1600" dirty="0">
                <a:latin typeface="Times New Roman"/>
                <a:cs typeface="Times New Roman"/>
              </a:rPr>
              <a:t>Stay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tuned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lecture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Nov.</a:t>
            </a:r>
            <a:r>
              <a:rPr sz="1600" b="1" spc="-20" dirty="0">
                <a:latin typeface="Times New Roman"/>
                <a:cs typeface="Times New Roman"/>
              </a:rPr>
              <a:t> 14!!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2690"/>
            <a:ext cx="1167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6535" y="2047629"/>
            <a:ext cx="252946" cy="2380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8700" y="914172"/>
            <a:ext cx="7999730" cy="1375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Pre-</a:t>
            </a:r>
            <a:r>
              <a:rPr sz="1600" dirty="0">
                <a:latin typeface="Times New Roman"/>
                <a:cs typeface="Times New Roman"/>
              </a:rPr>
              <a:t>trained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LLMs:</a:t>
            </a:r>
            <a:endParaRPr sz="1600">
              <a:latin typeface="Times New Roman"/>
              <a:cs typeface="Times New Roman"/>
            </a:endParaRPr>
          </a:p>
          <a:p>
            <a:pPr marL="574675" indent="-351790">
              <a:lnSpc>
                <a:spcPct val="100000"/>
              </a:lnSpc>
              <a:spcBef>
                <a:spcPts val="1475"/>
              </a:spcBef>
              <a:buFont typeface="Arial"/>
              <a:buChar char="●"/>
              <a:tabLst>
                <a:tab pos="574675" algn="l"/>
                <a:tab pos="575310" algn="l"/>
              </a:tabLst>
            </a:pPr>
            <a:r>
              <a:rPr sz="1600" dirty="0">
                <a:latin typeface="Times New Roman"/>
                <a:cs typeface="Times New Roman"/>
              </a:rPr>
              <a:t>Instruct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500" dirty="0">
                <a:latin typeface="Times New Roman"/>
                <a:cs typeface="Times New Roman"/>
              </a:rPr>
              <a:t>ada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350M,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babbage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1.3B,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curie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6.7B,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davinci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175B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(Ouyang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2022)</a:t>
            </a:r>
            <a:endParaRPr sz="1600">
              <a:latin typeface="Times New Roman"/>
              <a:cs typeface="Times New Roman"/>
            </a:endParaRPr>
          </a:p>
          <a:p>
            <a:pPr marL="574675" indent="-351790">
              <a:lnSpc>
                <a:spcPct val="100000"/>
              </a:lnSpc>
              <a:spcBef>
                <a:spcPts val="1470"/>
              </a:spcBef>
              <a:buFont typeface="Arial"/>
              <a:buChar char="●"/>
              <a:tabLst>
                <a:tab pos="574675" algn="l"/>
                <a:tab pos="575310" algn="l"/>
              </a:tabLst>
            </a:pPr>
            <a:r>
              <a:rPr sz="1600" dirty="0">
                <a:latin typeface="Times New Roman"/>
                <a:cs typeface="Times New Roman"/>
              </a:rPr>
              <a:t>PaLM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(8B,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62B,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540B)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(Chowdhery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2022)</a:t>
            </a:r>
            <a:endParaRPr sz="1600">
              <a:latin typeface="Times New Roman"/>
              <a:cs typeface="Times New Roman"/>
            </a:endParaRPr>
          </a:p>
          <a:p>
            <a:pPr marL="1031875" lvl="1" indent="-351790">
              <a:lnSpc>
                <a:spcPct val="100000"/>
              </a:lnSpc>
              <a:buFont typeface="Arial"/>
              <a:buChar char="○"/>
              <a:tabLst>
                <a:tab pos="1031875" algn="l"/>
                <a:tab pos="1032510" algn="l"/>
                <a:tab pos="3620135" algn="l"/>
              </a:tabLst>
            </a:pPr>
            <a:r>
              <a:rPr sz="1600" dirty="0">
                <a:latin typeface="Times New Roman"/>
                <a:cs typeface="Times New Roman"/>
              </a:rPr>
              <a:t>Only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accessible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Googlers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2690"/>
            <a:ext cx="1167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700" y="914172"/>
            <a:ext cx="7999730" cy="2087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Pre-</a:t>
            </a:r>
            <a:r>
              <a:rPr sz="1600" dirty="0">
                <a:latin typeface="Times New Roman"/>
                <a:cs typeface="Times New Roman"/>
              </a:rPr>
              <a:t>trained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LLMs:</a:t>
            </a:r>
            <a:endParaRPr sz="1600">
              <a:latin typeface="Times New Roman"/>
              <a:cs typeface="Times New Roman"/>
            </a:endParaRPr>
          </a:p>
          <a:p>
            <a:pPr marL="574675" indent="-351790">
              <a:lnSpc>
                <a:spcPct val="100000"/>
              </a:lnSpc>
              <a:spcBef>
                <a:spcPts val="1475"/>
              </a:spcBef>
              <a:buFont typeface="Arial"/>
              <a:buChar char="●"/>
              <a:tabLst>
                <a:tab pos="574675" algn="l"/>
                <a:tab pos="575310" algn="l"/>
              </a:tabLst>
            </a:pPr>
            <a:r>
              <a:rPr sz="1600" dirty="0">
                <a:latin typeface="Times New Roman"/>
                <a:cs typeface="Times New Roman"/>
              </a:rPr>
              <a:t>Instruct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500" dirty="0">
                <a:latin typeface="Times New Roman"/>
                <a:cs typeface="Times New Roman"/>
              </a:rPr>
              <a:t>ada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350M,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babbage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1.3B,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curie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6.7B,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davinci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175B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(Ouyang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2022)</a:t>
            </a:r>
            <a:endParaRPr sz="1600">
              <a:latin typeface="Times New Roman"/>
              <a:cs typeface="Times New Roman"/>
            </a:endParaRPr>
          </a:p>
          <a:p>
            <a:pPr marL="574675" indent="-351790">
              <a:lnSpc>
                <a:spcPct val="100000"/>
              </a:lnSpc>
              <a:spcBef>
                <a:spcPts val="1470"/>
              </a:spcBef>
              <a:buFont typeface="Arial"/>
              <a:buChar char="●"/>
              <a:tabLst>
                <a:tab pos="574675" algn="l"/>
                <a:tab pos="575310" algn="l"/>
              </a:tabLst>
            </a:pPr>
            <a:r>
              <a:rPr sz="1600" dirty="0">
                <a:latin typeface="Times New Roman"/>
                <a:cs typeface="Times New Roman"/>
              </a:rPr>
              <a:t>PaLM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(8B,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62B,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540B)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(Chowdhery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2022)</a:t>
            </a:r>
            <a:endParaRPr sz="1600">
              <a:latin typeface="Times New Roman"/>
              <a:cs typeface="Times New Roman"/>
            </a:endParaRPr>
          </a:p>
          <a:p>
            <a:pPr marL="574675" indent="-351790">
              <a:lnSpc>
                <a:spcPct val="100000"/>
              </a:lnSpc>
              <a:spcBef>
                <a:spcPts val="1475"/>
              </a:spcBef>
              <a:buFont typeface="Arial"/>
              <a:buChar char="●"/>
              <a:tabLst>
                <a:tab pos="574675" algn="l"/>
                <a:tab pos="575310" algn="l"/>
              </a:tabLst>
            </a:pPr>
            <a:r>
              <a:rPr sz="1600" spc="-10" dirty="0">
                <a:latin typeface="Times New Roman"/>
                <a:cs typeface="Times New Roman"/>
              </a:rPr>
              <a:t>LaMDA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(422M,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2B, 8B,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68B, 137B)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(Thoppilan et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 </a:t>
            </a:r>
            <a:r>
              <a:rPr sz="1600" spc="-10" dirty="0">
                <a:latin typeface="Times New Roman"/>
                <a:cs typeface="Times New Roman"/>
              </a:rPr>
              <a:t>2022)</a:t>
            </a:r>
            <a:endParaRPr sz="1600">
              <a:latin typeface="Times New Roman"/>
              <a:cs typeface="Times New Roman"/>
            </a:endParaRPr>
          </a:p>
          <a:p>
            <a:pPr marL="1031875" lvl="1" indent="-351790">
              <a:lnSpc>
                <a:spcPct val="100000"/>
              </a:lnSpc>
              <a:buFont typeface="Arial"/>
              <a:buChar char="○"/>
              <a:tabLst>
                <a:tab pos="1031875" algn="l"/>
                <a:tab pos="1032510" algn="l"/>
              </a:tabLst>
            </a:pPr>
            <a:r>
              <a:rPr sz="1600" spc="-10" dirty="0">
                <a:latin typeface="Times New Roman"/>
                <a:cs typeface="Times New Roman"/>
              </a:rPr>
              <a:t>Dialogue-</a:t>
            </a:r>
            <a:r>
              <a:rPr sz="1600" dirty="0">
                <a:latin typeface="Times New Roman"/>
                <a:cs typeface="Times New Roman"/>
              </a:rPr>
              <a:t>oriented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LM.</a:t>
            </a:r>
            <a:endParaRPr sz="1600">
              <a:latin typeface="Times New Roman"/>
              <a:cs typeface="Times New Roman"/>
            </a:endParaRPr>
          </a:p>
          <a:p>
            <a:pPr marL="1031875" lvl="1" indent="-351790">
              <a:lnSpc>
                <a:spcPct val="100000"/>
              </a:lnSpc>
              <a:spcBef>
                <a:spcPts val="290"/>
              </a:spcBef>
              <a:buFont typeface="Arial"/>
              <a:buChar char="○"/>
              <a:tabLst>
                <a:tab pos="1031875" algn="l"/>
                <a:tab pos="1032510" algn="l"/>
              </a:tabLst>
            </a:pPr>
            <a:r>
              <a:rPr sz="1600" spc="-10" dirty="0">
                <a:latin typeface="Times New Roman"/>
                <a:cs typeface="Times New Roman"/>
              </a:rPr>
              <a:t>Fine-</a:t>
            </a:r>
            <a:r>
              <a:rPr sz="1600" dirty="0">
                <a:latin typeface="Times New Roman"/>
                <a:cs typeface="Times New Roman"/>
              </a:rPr>
              <a:t>tuned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human-</a:t>
            </a:r>
            <a:r>
              <a:rPr sz="1600" dirty="0">
                <a:latin typeface="Times New Roman"/>
                <a:cs typeface="Times New Roman"/>
              </a:rPr>
              <a:t>annotated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2690"/>
            <a:ext cx="1167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700" y="914172"/>
            <a:ext cx="8023859" cy="2856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Pre-</a:t>
            </a:r>
            <a:r>
              <a:rPr sz="1600" dirty="0">
                <a:latin typeface="Times New Roman"/>
                <a:cs typeface="Times New Roman"/>
              </a:rPr>
              <a:t>trained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LLMs:</a:t>
            </a:r>
            <a:endParaRPr sz="1600">
              <a:latin typeface="Times New Roman"/>
              <a:cs typeface="Times New Roman"/>
            </a:endParaRPr>
          </a:p>
          <a:p>
            <a:pPr marL="574675" indent="-351790">
              <a:lnSpc>
                <a:spcPct val="100000"/>
              </a:lnSpc>
              <a:spcBef>
                <a:spcPts val="1475"/>
              </a:spcBef>
              <a:buFont typeface="Arial"/>
              <a:buChar char="●"/>
              <a:tabLst>
                <a:tab pos="574675" algn="l"/>
                <a:tab pos="575310" algn="l"/>
              </a:tabLst>
            </a:pPr>
            <a:r>
              <a:rPr sz="1600" dirty="0">
                <a:latin typeface="Times New Roman"/>
                <a:cs typeface="Times New Roman"/>
              </a:rPr>
              <a:t>Instruct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500" dirty="0">
                <a:latin typeface="Times New Roman"/>
                <a:cs typeface="Times New Roman"/>
              </a:rPr>
              <a:t>ada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350M,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babbage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1.3B,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curie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6.7B,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davinci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175B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(Ouyang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2022)</a:t>
            </a:r>
            <a:endParaRPr sz="1600">
              <a:latin typeface="Times New Roman"/>
              <a:cs typeface="Times New Roman"/>
            </a:endParaRPr>
          </a:p>
          <a:p>
            <a:pPr marL="574675" indent="-351790">
              <a:lnSpc>
                <a:spcPct val="100000"/>
              </a:lnSpc>
              <a:spcBef>
                <a:spcPts val="1470"/>
              </a:spcBef>
              <a:buFont typeface="Arial"/>
              <a:buChar char="●"/>
              <a:tabLst>
                <a:tab pos="574675" algn="l"/>
                <a:tab pos="575310" algn="l"/>
              </a:tabLst>
            </a:pPr>
            <a:r>
              <a:rPr sz="1600" dirty="0">
                <a:latin typeface="Times New Roman"/>
                <a:cs typeface="Times New Roman"/>
              </a:rPr>
              <a:t>PaLM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(8B,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62B,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540B)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(Chowdhery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2022)</a:t>
            </a:r>
            <a:endParaRPr sz="1600">
              <a:latin typeface="Times New Roman"/>
              <a:cs typeface="Times New Roman"/>
            </a:endParaRPr>
          </a:p>
          <a:p>
            <a:pPr marL="574675" indent="-351790">
              <a:lnSpc>
                <a:spcPct val="100000"/>
              </a:lnSpc>
              <a:spcBef>
                <a:spcPts val="1475"/>
              </a:spcBef>
              <a:buFont typeface="Arial"/>
              <a:buChar char="●"/>
              <a:tabLst>
                <a:tab pos="574675" algn="l"/>
                <a:tab pos="575310" algn="l"/>
              </a:tabLst>
            </a:pPr>
            <a:r>
              <a:rPr sz="1600" spc="-10" dirty="0">
                <a:latin typeface="Times New Roman"/>
                <a:cs typeface="Times New Roman"/>
              </a:rPr>
              <a:t>LaMDA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(422M,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2B, 8B,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68B, 137B)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(Thoppilan et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 </a:t>
            </a:r>
            <a:r>
              <a:rPr sz="1600" spc="-10" dirty="0">
                <a:latin typeface="Times New Roman"/>
                <a:cs typeface="Times New Roman"/>
              </a:rPr>
              <a:t>2022)</a:t>
            </a:r>
            <a:endParaRPr sz="1600">
              <a:latin typeface="Times New Roman"/>
              <a:cs typeface="Times New Roman"/>
            </a:endParaRPr>
          </a:p>
          <a:p>
            <a:pPr marL="574675" indent="-351790">
              <a:lnSpc>
                <a:spcPct val="100000"/>
              </a:lnSpc>
              <a:spcBef>
                <a:spcPts val="1475"/>
              </a:spcBef>
              <a:buFont typeface="Arial"/>
              <a:buChar char="●"/>
              <a:tabLst>
                <a:tab pos="574675" algn="l"/>
                <a:tab pos="575310" algn="l"/>
              </a:tabLst>
            </a:pP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(ada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350M,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babbage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1.3B,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curie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6.7B,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davinci</a:t>
            </a:r>
            <a:r>
              <a:rPr sz="1600" spc="-10" dirty="0">
                <a:latin typeface="Times New Roman"/>
                <a:cs typeface="Times New Roman"/>
              </a:rPr>
              <a:t> 175B)</a:t>
            </a:r>
            <a:endParaRPr sz="1600">
              <a:latin typeface="Times New Roman"/>
              <a:cs typeface="Times New Roman"/>
            </a:endParaRPr>
          </a:p>
          <a:p>
            <a:pPr marL="577215" indent="-351790">
              <a:lnSpc>
                <a:spcPct val="100000"/>
              </a:lnSpc>
              <a:spcBef>
                <a:spcPts val="1475"/>
              </a:spcBef>
              <a:buFont typeface="Arial"/>
              <a:buChar char="●"/>
              <a:tabLst>
                <a:tab pos="577215" algn="l"/>
                <a:tab pos="577850" algn="l"/>
              </a:tabLst>
            </a:pP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2 </a:t>
            </a:r>
            <a:r>
              <a:rPr sz="1600" spc="-10" dirty="0">
                <a:latin typeface="Times New Roman"/>
                <a:cs typeface="Times New Roman"/>
              </a:rPr>
              <a:t>(1.5B)</a:t>
            </a:r>
            <a:endParaRPr sz="1600">
              <a:latin typeface="Times New Roman"/>
              <a:cs typeface="Times New Roman"/>
            </a:endParaRPr>
          </a:p>
          <a:p>
            <a:pPr marL="577215" indent="-351790">
              <a:lnSpc>
                <a:spcPct val="100000"/>
              </a:lnSpc>
              <a:spcBef>
                <a:spcPts val="1475"/>
              </a:spcBef>
              <a:buFont typeface="Arial"/>
              <a:buChar char="●"/>
              <a:tabLst>
                <a:tab pos="577215" algn="l"/>
                <a:tab pos="577850" algn="l"/>
              </a:tabLst>
            </a:pP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Neo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(2.7B),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J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(6B),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T0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(11B)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(Sanh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2022),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(13B)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(Zhang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al.,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2022)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26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Prior</a:t>
            </a:r>
            <a:r>
              <a:rPr spc="-15" dirty="0"/>
              <a:t> </a:t>
            </a:r>
            <a:r>
              <a:rPr dirty="0"/>
              <a:t>Best</a:t>
            </a:r>
            <a:r>
              <a:rPr spc="-5" dirty="0"/>
              <a:t> </a:t>
            </a:r>
            <a:r>
              <a:rPr dirty="0"/>
              <a:t>– </a:t>
            </a:r>
            <a:r>
              <a:rPr spc="-10" dirty="0"/>
              <a:t>Fine-</a:t>
            </a:r>
            <a:r>
              <a:rPr dirty="0"/>
              <a:t>tuning +</a:t>
            </a:r>
            <a:r>
              <a:rPr spc="-60" dirty="0"/>
              <a:t> </a:t>
            </a:r>
            <a:r>
              <a:rPr spc="-30" dirty="0"/>
              <a:t>Verification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12460" y="1038618"/>
            <a:ext cx="7781290" cy="3483610"/>
            <a:chOff x="512460" y="1038618"/>
            <a:chExt cx="7781290" cy="34836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460" y="1038618"/>
              <a:ext cx="7780775" cy="32814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32012" y="4319077"/>
              <a:ext cx="5715" cy="198120"/>
            </a:xfrm>
            <a:custGeom>
              <a:avLst/>
              <a:gdLst/>
              <a:ahLst/>
              <a:cxnLst/>
              <a:rect l="l" t="t" r="r" b="b"/>
              <a:pathLst>
                <a:path w="5714" h="198120">
                  <a:moveTo>
                    <a:pt x="5586" y="19787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16286" y="427586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3651"/>
                  </a:moveTo>
                  <a:lnTo>
                    <a:pt x="14506" y="0"/>
                  </a:lnTo>
                  <a:lnTo>
                    <a:pt x="31453" y="42763"/>
                  </a:lnTo>
                  <a:lnTo>
                    <a:pt x="0" y="4365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16286" y="427586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53" y="42763"/>
                  </a:moveTo>
                  <a:lnTo>
                    <a:pt x="14506" y="0"/>
                  </a:lnTo>
                  <a:lnTo>
                    <a:pt x="0" y="43651"/>
                  </a:lnTo>
                  <a:lnTo>
                    <a:pt x="31453" y="4276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36150" y="2136004"/>
            <a:ext cx="451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latin typeface="Times New Roman"/>
                <a:cs typeface="Times New Roman"/>
              </a:rPr>
              <a:t>GPT-</a:t>
            </a:r>
            <a:r>
              <a:rPr sz="1200" b="1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349" y="3672688"/>
            <a:ext cx="387350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015" indent="-36195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74015" algn="l"/>
                <a:tab pos="374650" algn="l"/>
              </a:tabLst>
            </a:pPr>
            <a:r>
              <a:rPr sz="1400" spc="-10" dirty="0">
                <a:latin typeface="Times New Roman"/>
                <a:cs typeface="Times New Roman"/>
              </a:rPr>
              <a:t>Fine-</a:t>
            </a:r>
            <a:r>
              <a:rPr sz="1400" dirty="0">
                <a:latin typeface="Times New Roman"/>
                <a:cs typeface="Times New Roman"/>
              </a:rPr>
              <a:t>tuned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epoch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training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set.</a:t>
            </a:r>
            <a:endParaRPr sz="1400">
              <a:latin typeface="Times New Roman"/>
              <a:cs typeface="Times New Roman"/>
            </a:endParaRPr>
          </a:p>
          <a:p>
            <a:pPr marL="374015" marR="62865" indent="-361950">
              <a:lnSpc>
                <a:spcPct val="100000"/>
              </a:lnSpc>
              <a:buAutoNum type="arabicPeriod"/>
              <a:tabLst>
                <a:tab pos="374015" algn="l"/>
                <a:tab pos="374650" algn="l"/>
              </a:tabLst>
            </a:pPr>
            <a:r>
              <a:rPr sz="1400" dirty="0">
                <a:latin typeface="Times New Roman"/>
                <a:cs typeface="Times New Roman"/>
              </a:rPr>
              <a:t>Sample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100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solutions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generator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for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problem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label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solution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as </a:t>
            </a:r>
            <a:r>
              <a:rPr sz="1400" dirty="0">
                <a:latin typeface="Times New Roman"/>
                <a:cs typeface="Times New Roman"/>
              </a:rPr>
              <a:t>correct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incorrect.</a:t>
            </a:r>
            <a:endParaRPr sz="1400">
              <a:latin typeface="Times New Roman"/>
              <a:cs typeface="Times New Roman"/>
            </a:endParaRPr>
          </a:p>
          <a:p>
            <a:pPr marL="374015" indent="-361950">
              <a:lnSpc>
                <a:spcPct val="100000"/>
              </a:lnSpc>
              <a:buAutoNum type="arabicPeriod"/>
              <a:tabLst>
                <a:tab pos="374015" algn="l"/>
                <a:tab pos="374650" algn="l"/>
              </a:tabLst>
            </a:pPr>
            <a:r>
              <a:rPr sz="1400" dirty="0">
                <a:latin typeface="Times New Roman"/>
                <a:cs typeface="Times New Roman"/>
              </a:rPr>
              <a:t>Train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verifier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single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epoch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dataset.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67500" y="4460188"/>
            <a:ext cx="1503045" cy="53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7761C"/>
                </a:solidFill>
                <a:latin typeface="Times New Roman"/>
                <a:cs typeface="Times New Roman"/>
              </a:rPr>
              <a:t>Correct</a:t>
            </a:r>
            <a:r>
              <a:rPr sz="1200" b="1" spc="25" dirty="0">
                <a:solidFill>
                  <a:srgbClr val="37761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990000"/>
                </a:solidFill>
                <a:latin typeface="Times New Roman"/>
                <a:cs typeface="Times New Roman"/>
              </a:rPr>
              <a:t>Incorrect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200" dirty="0">
                <a:latin typeface="Times New Roman"/>
                <a:cs typeface="Times New Roman"/>
              </a:rPr>
              <a:t>(Cobbe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2021)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8548" y="2048814"/>
            <a:ext cx="3644265" cy="1013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770890">
              <a:lnSpc>
                <a:spcPct val="101299"/>
              </a:lnSpc>
              <a:spcBef>
                <a:spcPts val="90"/>
              </a:spcBef>
            </a:pPr>
            <a:r>
              <a:rPr sz="3200" spc="-10" dirty="0"/>
              <a:t>Experiments </a:t>
            </a:r>
            <a:r>
              <a:rPr sz="3200" dirty="0"/>
              <a:t>Arithmetic</a:t>
            </a:r>
            <a:r>
              <a:rPr sz="3200" spc="100" dirty="0"/>
              <a:t> </a:t>
            </a:r>
            <a:r>
              <a:rPr sz="3200" spc="-10" dirty="0"/>
              <a:t>Reasoning</a:t>
            </a:r>
            <a:endParaRPr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1026337"/>
            <a:ext cx="3369310" cy="2811145"/>
            <a:chOff x="785962" y="1026337"/>
            <a:chExt cx="3369310" cy="2811145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20868" y="1233751"/>
            <a:ext cx="1299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Free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Response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000488" y="1414235"/>
            <a:ext cx="6383655" cy="173482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966845" indent="-336550">
              <a:lnSpc>
                <a:spcPct val="100000"/>
              </a:lnSpc>
              <a:spcBef>
                <a:spcPts val="200"/>
              </a:spcBef>
              <a:buFont typeface="Arial"/>
              <a:buChar char="●"/>
              <a:tabLst>
                <a:tab pos="3966845" algn="l"/>
                <a:tab pos="3967479" algn="l"/>
              </a:tabLst>
            </a:pPr>
            <a:r>
              <a:rPr sz="1400" b="1" dirty="0">
                <a:latin typeface="Times New Roman"/>
                <a:cs typeface="Times New Roman"/>
              </a:rPr>
              <a:t>Manually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composed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8</a:t>
            </a:r>
            <a:r>
              <a:rPr sz="1400" spc="-10" dirty="0">
                <a:latin typeface="Times New Roman"/>
                <a:cs typeface="Times New Roman"/>
              </a:rPr>
              <a:t> exemplars</a:t>
            </a:r>
            <a:endParaRPr sz="1400">
              <a:latin typeface="Times New Roman"/>
              <a:cs typeface="Times New Roman"/>
            </a:endParaRPr>
          </a:p>
          <a:p>
            <a:pPr marL="12700" marR="3618229">
              <a:lnSpc>
                <a:spcPts val="1650"/>
              </a:lnSpc>
              <a:spcBef>
                <a:spcPts val="175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parking </a:t>
            </a:r>
            <a:r>
              <a:rPr sz="1400" dirty="0">
                <a:latin typeface="Arial"/>
                <a:cs typeface="Arial"/>
              </a:rPr>
              <a:t>lot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arrive,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how </a:t>
            </a:r>
            <a:r>
              <a:rPr sz="1400" dirty="0">
                <a:latin typeface="Arial"/>
                <a:cs typeface="Arial"/>
              </a:rPr>
              <a:t>many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parking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lot?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3728720">
              <a:lnSpc>
                <a:spcPts val="165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There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are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originally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cars.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37761C"/>
                </a:solidFill>
                <a:latin typeface="Arial"/>
                <a:cs typeface="Arial"/>
              </a:rPr>
              <a:t>2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more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cars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arrive.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+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5.</a:t>
            </a:r>
            <a:r>
              <a:rPr sz="1400" b="1" spc="35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00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5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Free</a:t>
            </a:r>
            <a:r>
              <a:rPr spc="-30" dirty="0"/>
              <a:t> </a:t>
            </a:r>
            <a:r>
              <a:rPr dirty="0"/>
              <a:t>Response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Few-</a:t>
            </a:r>
            <a:r>
              <a:rPr dirty="0"/>
              <a:t>Shot</a:t>
            </a:r>
            <a:r>
              <a:rPr spc="-1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dirty="0"/>
              <a:t>Prompt</a:t>
            </a:r>
            <a:r>
              <a:rPr spc="-15" dirty="0"/>
              <a:t> </a:t>
            </a:r>
            <a:r>
              <a:rPr spc="-10" dirty="0"/>
              <a:t>Exemplar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57750" y="3962329"/>
            <a:ext cx="1134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85" dirty="0">
                <a:latin typeface="Malgun Gothic"/>
                <a:cs typeface="Malgun Gothic"/>
              </a:rPr>
              <a:t>（</a:t>
            </a:r>
            <a:r>
              <a:rPr sz="1200" spc="-185" dirty="0">
                <a:latin typeface="Times New Roman"/>
                <a:cs typeface="Times New Roman"/>
              </a:rPr>
              <a:t>Wei</a:t>
            </a:r>
            <a:r>
              <a:rPr sz="1200" dirty="0">
                <a:latin typeface="Times New Roman"/>
                <a:cs typeface="Times New Roman"/>
              </a:rPr>
              <a:t> et al.,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2022</a:t>
            </a:r>
            <a:r>
              <a:rPr sz="1200" spc="-110" dirty="0">
                <a:latin typeface="Malgun Gothic"/>
                <a:cs typeface="Malgun Gothic"/>
              </a:rPr>
              <a:t>）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1026337"/>
            <a:ext cx="3369310" cy="2811145"/>
            <a:chOff x="785962" y="1026337"/>
            <a:chExt cx="3369310" cy="2811145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20868" y="1233751"/>
            <a:ext cx="1299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Free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Response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000488" y="1652851"/>
            <a:ext cx="276987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parking </a:t>
            </a:r>
            <a:r>
              <a:rPr sz="1400" dirty="0">
                <a:latin typeface="Arial"/>
                <a:cs typeface="Arial"/>
              </a:rPr>
              <a:t>lot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arrive,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how </a:t>
            </a:r>
            <a:r>
              <a:rPr sz="1400" dirty="0">
                <a:latin typeface="Arial"/>
                <a:cs typeface="Arial"/>
              </a:rPr>
              <a:t>many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parking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lot?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0488" y="2491051"/>
            <a:ext cx="266001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There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are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originally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cars.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37761C"/>
                </a:solidFill>
                <a:latin typeface="Arial"/>
                <a:cs typeface="Arial"/>
              </a:rPr>
              <a:t>2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more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cars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arrive.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+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5.</a:t>
            </a:r>
            <a:r>
              <a:rPr sz="1400" b="1" spc="35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00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5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Free</a:t>
            </a:r>
            <a:r>
              <a:rPr spc="-30" dirty="0"/>
              <a:t> </a:t>
            </a:r>
            <a:r>
              <a:rPr dirty="0"/>
              <a:t>Response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Few-</a:t>
            </a:r>
            <a:r>
              <a:rPr dirty="0"/>
              <a:t>Shot</a:t>
            </a:r>
            <a:r>
              <a:rPr spc="-1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dirty="0"/>
              <a:t>Prompt</a:t>
            </a:r>
            <a:r>
              <a:rPr spc="-15" dirty="0"/>
              <a:t> </a:t>
            </a:r>
            <a:r>
              <a:rPr spc="-10" dirty="0"/>
              <a:t>Exemplar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19218" y="1426863"/>
            <a:ext cx="27647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b="1" dirty="0">
                <a:latin typeface="Times New Roman"/>
                <a:cs typeface="Times New Roman"/>
              </a:rPr>
              <a:t>Manually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composed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8</a:t>
            </a:r>
            <a:r>
              <a:rPr sz="1400" spc="-10" dirty="0">
                <a:latin typeface="Times New Roman"/>
                <a:cs typeface="Times New Roman"/>
              </a:rPr>
              <a:t> exemplars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9218" y="1853582"/>
            <a:ext cx="34848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All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contains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equations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flexible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formats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57750" y="3962329"/>
            <a:ext cx="1134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85" dirty="0">
                <a:latin typeface="Malgun Gothic"/>
                <a:cs typeface="Malgun Gothic"/>
              </a:rPr>
              <a:t>（</a:t>
            </a:r>
            <a:r>
              <a:rPr sz="1200" spc="-185" dirty="0">
                <a:latin typeface="Times New Roman"/>
                <a:cs typeface="Times New Roman"/>
              </a:rPr>
              <a:t>Wei</a:t>
            </a:r>
            <a:r>
              <a:rPr sz="1200" dirty="0">
                <a:latin typeface="Times New Roman"/>
                <a:cs typeface="Times New Roman"/>
              </a:rPr>
              <a:t> et al.,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2022</a:t>
            </a:r>
            <a:r>
              <a:rPr sz="1200" spc="-110" dirty="0">
                <a:latin typeface="Malgun Gothic"/>
                <a:cs typeface="Malgun Gothic"/>
              </a:rPr>
              <a:t>）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1026337"/>
            <a:ext cx="3369310" cy="2811145"/>
            <a:chOff x="785962" y="1026337"/>
            <a:chExt cx="3369310" cy="2811145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20868" y="1233751"/>
            <a:ext cx="1299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Free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Response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0488" y="1652851"/>
            <a:ext cx="276987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parking </a:t>
            </a:r>
            <a:r>
              <a:rPr sz="1400" dirty="0">
                <a:latin typeface="Arial"/>
                <a:cs typeface="Arial"/>
              </a:rPr>
              <a:t>lot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arrive,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how </a:t>
            </a:r>
            <a:r>
              <a:rPr sz="1400" dirty="0">
                <a:latin typeface="Arial"/>
                <a:cs typeface="Arial"/>
              </a:rPr>
              <a:t>many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parking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lot?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0488" y="2491051"/>
            <a:ext cx="266001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There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are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originally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cars.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37761C"/>
                </a:solidFill>
                <a:latin typeface="Arial"/>
                <a:cs typeface="Arial"/>
              </a:rPr>
              <a:t>2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more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cars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arrive.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3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+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2</a:t>
            </a:r>
            <a:r>
              <a:rPr sz="1400" b="1" i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=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5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.</a:t>
            </a:r>
            <a:r>
              <a:rPr sz="1400" b="1" spc="34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00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5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Free</a:t>
            </a:r>
            <a:r>
              <a:rPr spc="-30" dirty="0"/>
              <a:t> </a:t>
            </a:r>
            <a:r>
              <a:rPr dirty="0"/>
              <a:t>Response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Few-</a:t>
            </a:r>
            <a:r>
              <a:rPr dirty="0"/>
              <a:t>Shot</a:t>
            </a:r>
            <a:r>
              <a:rPr spc="-1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dirty="0"/>
              <a:t>Prompt</a:t>
            </a:r>
            <a:r>
              <a:rPr spc="-15" dirty="0"/>
              <a:t> </a:t>
            </a:r>
            <a:r>
              <a:rPr spc="-10" dirty="0"/>
              <a:t>Exemplar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5107987" y="1026337"/>
            <a:ext cx="3369310" cy="2811145"/>
            <a:chOff x="5107987" y="1026337"/>
            <a:chExt cx="3369310" cy="2811145"/>
          </a:xfrm>
        </p:grpSpPr>
        <p:sp>
          <p:nvSpPr>
            <p:cNvPr id="10" name="object 10"/>
            <p:cNvSpPr/>
            <p:nvPr/>
          </p:nvSpPr>
          <p:spPr>
            <a:xfrm>
              <a:off x="5112749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4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12749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4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42893" y="1233751"/>
            <a:ext cx="1299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Free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Response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5322513" y="1652851"/>
            <a:ext cx="272161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Olivia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$23.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bought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five </a:t>
            </a:r>
            <a:r>
              <a:rPr sz="1400" dirty="0">
                <a:latin typeface="Arial"/>
                <a:cs typeface="Arial"/>
              </a:rPr>
              <a:t>bagels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$3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each.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much </a:t>
            </a:r>
            <a:r>
              <a:rPr sz="1400" dirty="0">
                <a:latin typeface="Arial"/>
                <a:cs typeface="Arial"/>
              </a:rPr>
              <a:t>money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-10" dirty="0">
                <a:latin typeface="Arial"/>
                <a:cs typeface="Arial"/>
              </a:rPr>
              <a:t> left?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22513" y="2491051"/>
            <a:ext cx="2933700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Olivia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had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23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dollars.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5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bagels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for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dollars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each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will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be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5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x</a:t>
            </a:r>
            <a:r>
              <a:rPr sz="1400" b="1" i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3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=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spc="-25" dirty="0">
                <a:solidFill>
                  <a:srgbClr val="1155CC"/>
                </a:solidFill>
                <a:latin typeface="Arial"/>
                <a:cs typeface="Arial"/>
              </a:rPr>
              <a:t>15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dollars.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So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has</a:t>
            </a:r>
            <a:r>
              <a:rPr sz="1400" b="1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23</a:t>
            </a:r>
            <a:r>
              <a:rPr sz="1400" b="1" i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-</a:t>
            </a:r>
            <a:r>
              <a:rPr sz="1400" b="1" i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15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dollars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left.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23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-</a:t>
            </a:r>
            <a:r>
              <a:rPr sz="1400" b="1" i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15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is</a:t>
            </a:r>
            <a:r>
              <a:rPr sz="1400" b="1" i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8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.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The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answer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is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8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43295" y="4328938"/>
            <a:ext cx="2657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latin typeface="Times New Roman"/>
                <a:cs typeface="Times New Roman"/>
              </a:rPr>
              <a:t>You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more</a:t>
            </a:r>
            <a:r>
              <a:rPr sz="1400" spc="-10" dirty="0">
                <a:latin typeface="Times New Roman"/>
                <a:cs typeface="Times New Roman"/>
              </a:rPr>
              <a:t> equations.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57750" y="3962329"/>
            <a:ext cx="1134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85" dirty="0">
                <a:latin typeface="Malgun Gothic"/>
                <a:cs typeface="Malgun Gothic"/>
              </a:rPr>
              <a:t>（</a:t>
            </a:r>
            <a:r>
              <a:rPr sz="1200" spc="-185" dirty="0">
                <a:latin typeface="Times New Roman"/>
                <a:cs typeface="Times New Roman"/>
              </a:rPr>
              <a:t>Wei</a:t>
            </a:r>
            <a:r>
              <a:rPr sz="1200" dirty="0">
                <a:latin typeface="Times New Roman"/>
                <a:cs typeface="Times New Roman"/>
              </a:rPr>
              <a:t> et al.,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2022</a:t>
            </a:r>
            <a:r>
              <a:rPr sz="1200" spc="-110" dirty="0">
                <a:latin typeface="Malgun Gothic"/>
                <a:cs typeface="Malgun Gothic"/>
              </a:rPr>
              <a:t>）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79775" y="3962329"/>
            <a:ext cx="1134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85" dirty="0">
                <a:latin typeface="Malgun Gothic"/>
                <a:cs typeface="Malgun Gothic"/>
              </a:rPr>
              <a:t>（</a:t>
            </a:r>
            <a:r>
              <a:rPr sz="1200" spc="-185" dirty="0">
                <a:latin typeface="Times New Roman"/>
                <a:cs typeface="Times New Roman"/>
              </a:rPr>
              <a:t>Wei</a:t>
            </a:r>
            <a:r>
              <a:rPr sz="1200" dirty="0">
                <a:latin typeface="Times New Roman"/>
                <a:cs typeface="Times New Roman"/>
              </a:rPr>
              <a:t> et al.,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2022</a:t>
            </a:r>
            <a:r>
              <a:rPr sz="1200" spc="-110" dirty="0">
                <a:latin typeface="Malgun Gothic"/>
                <a:cs typeface="Malgun Gothic"/>
              </a:rPr>
              <a:t>）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1026337"/>
            <a:ext cx="3369310" cy="2811145"/>
            <a:chOff x="785962" y="1026337"/>
            <a:chExt cx="3369310" cy="2811145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20868" y="1233751"/>
            <a:ext cx="1299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Free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Response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0488" y="1652851"/>
            <a:ext cx="276987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parking </a:t>
            </a:r>
            <a:r>
              <a:rPr sz="1400" dirty="0">
                <a:latin typeface="Arial"/>
                <a:cs typeface="Arial"/>
              </a:rPr>
              <a:t>lot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arrive,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how </a:t>
            </a:r>
            <a:r>
              <a:rPr sz="1400" dirty="0">
                <a:latin typeface="Arial"/>
                <a:cs typeface="Arial"/>
              </a:rPr>
              <a:t>many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parking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lot?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0488" y="2491051"/>
            <a:ext cx="266001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There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are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originally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cars.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37761C"/>
                </a:solidFill>
                <a:latin typeface="Arial"/>
                <a:cs typeface="Arial"/>
              </a:rPr>
              <a:t>2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more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cars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arrive.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3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+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2</a:t>
            </a:r>
            <a:r>
              <a:rPr sz="1400" b="1" i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=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5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.</a:t>
            </a:r>
            <a:r>
              <a:rPr sz="1400" b="1" spc="34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00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5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Free</a:t>
            </a:r>
            <a:r>
              <a:rPr spc="-30" dirty="0"/>
              <a:t> </a:t>
            </a:r>
            <a:r>
              <a:rPr dirty="0"/>
              <a:t>Response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Few-</a:t>
            </a:r>
            <a:r>
              <a:rPr dirty="0"/>
              <a:t>Shot</a:t>
            </a:r>
            <a:r>
              <a:rPr spc="-1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dirty="0"/>
              <a:t>Prompt</a:t>
            </a:r>
            <a:r>
              <a:rPr spc="-15" dirty="0"/>
              <a:t> </a:t>
            </a:r>
            <a:r>
              <a:rPr spc="-10" dirty="0"/>
              <a:t>Exemplar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5107987" y="1026337"/>
            <a:ext cx="3369310" cy="2811145"/>
            <a:chOff x="5107987" y="1026337"/>
            <a:chExt cx="3369310" cy="2811145"/>
          </a:xfrm>
        </p:grpSpPr>
        <p:sp>
          <p:nvSpPr>
            <p:cNvPr id="10" name="object 10"/>
            <p:cNvSpPr/>
            <p:nvPr/>
          </p:nvSpPr>
          <p:spPr>
            <a:xfrm>
              <a:off x="5112749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4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12749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4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42893" y="1233751"/>
            <a:ext cx="1299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Free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Response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5322513" y="1652851"/>
            <a:ext cx="272161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Olivia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$23.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bought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five </a:t>
            </a:r>
            <a:r>
              <a:rPr sz="1400" dirty="0">
                <a:latin typeface="Arial"/>
                <a:cs typeface="Arial"/>
              </a:rPr>
              <a:t>bagels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$3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each.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much </a:t>
            </a:r>
            <a:r>
              <a:rPr sz="1400" dirty="0">
                <a:latin typeface="Arial"/>
                <a:cs typeface="Arial"/>
              </a:rPr>
              <a:t>money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have</a:t>
            </a:r>
            <a:r>
              <a:rPr sz="1400" spc="-10" dirty="0">
                <a:latin typeface="Arial"/>
                <a:cs typeface="Arial"/>
              </a:rPr>
              <a:t> left?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22513" y="2491051"/>
            <a:ext cx="2933700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Olivia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had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23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dollars.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5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bagels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for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dollars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each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will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be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5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x</a:t>
            </a:r>
            <a:r>
              <a:rPr sz="1400" b="1" i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3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1155CC"/>
                </a:solidFill>
                <a:latin typeface="Arial"/>
                <a:cs typeface="Arial"/>
              </a:rPr>
              <a:t>=</a:t>
            </a:r>
            <a:r>
              <a:rPr sz="1400" b="1" i="1" spc="-1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i="1" spc="-25" dirty="0">
                <a:solidFill>
                  <a:srgbClr val="1155CC"/>
                </a:solidFill>
                <a:latin typeface="Arial"/>
                <a:cs typeface="Arial"/>
              </a:rPr>
              <a:t>15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dollars.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So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has</a:t>
            </a:r>
            <a:r>
              <a:rPr sz="1400" b="1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351B75"/>
                </a:solidFill>
                <a:latin typeface="Arial"/>
                <a:cs typeface="Arial"/>
              </a:rPr>
              <a:t>23</a:t>
            </a:r>
            <a:r>
              <a:rPr sz="1400" b="1" i="1" spc="-15" dirty="0">
                <a:solidFill>
                  <a:srgbClr val="351B75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351B75"/>
                </a:solidFill>
                <a:latin typeface="Arial"/>
                <a:cs typeface="Arial"/>
              </a:rPr>
              <a:t>-</a:t>
            </a:r>
            <a:r>
              <a:rPr sz="1400" b="1" i="1" spc="-15" dirty="0">
                <a:solidFill>
                  <a:srgbClr val="351B75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351B75"/>
                </a:solidFill>
                <a:latin typeface="Arial"/>
                <a:cs typeface="Arial"/>
              </a:rPr>
              <a:t>15</a:t>
            </a:r>
            <a:r>
              <a:rPr sz="1400" b="1" i="1" spc="-10" dirty="0">
                <a:solidFill>
                  <a:srgbClr val="351B7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dollars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left.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351B75"/>
                </a:solidFill>
                <a:latin typeface="Arial"/>
                <a:cs typeface="Arial"/>
              </a:rPr>
              <a:t>23</a:t>
            </a:r>
            <a:r>
              <a:rPr sz="1400" b="1" i="1" spc="-10" dirty="0">
                <a:solidFill>
                  <a:srgbClr val="351B75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351B75"/>
                </a:solidFill>
                <a:latin typeface="Arial"/>
                <a:cs typeface="Arial"/>
              </a:rPr>
              <a:t>-</a:t>
            </a:r>
            <a:r>
              <a:rPr sz="1400" b="1" i="1" spc="-15" dirty="0">
                <a:solidFill>
                  <a:srgbClr val="351B75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351B75"/>
                </a:solidFill>
                <a:latin typeface="Arial"/>
                <a:cs typeface="Arial"/>
              </a:rPr>
              <a:t>15</a:t>
            </a:r>
            <a:r>
              <a:rPr sz="1400" b="1" i="1" spc="-10" dirty="0">
                <a:solidFill>
                  <a:srgbClr val="351B75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351B75"/>
                </a:solidFill>
                <a:latin typeface="Arial"/>
                <a:cs typeface="Arial"/>
              </a:rPr>
              <a:t>is</a:t>
            </a:r>
            <a:r>
              <a:rPr sz="1400" b="1" i="1" spc="-15" dirty="0">
                <a:solidFill>
                  <a:srgbClr val="351B75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351B75"/>
                </a:solidFill>
                <a:latin typeface="Arial"/>
                <a:cs typeface="Arial"/>
              </a:rPr>
              <a:t>8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.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The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answer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is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8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57750" y="3962329"/>
            <a:ext cx="5457190" cy="60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4510" algn="l"/>
              </a:tabLst>
            </a:pPr>
            <a:r>
              <a:rPr sz="1200" spc="-185" dirty="0">
                <a:latin typeface="Malgun Gothic"/>
                <a:cs typeface="Malgun Gothic"/>
              </a:rPr>
              <a:t>（</a:t>
            </a:r>
            <a:r>
              <a:rPr sz="1200" spc="-185" dirty="0">
                <a:latin typeface="Times New Roman"/>
                <a:cs typeface="Times New Roman"/>
              </a:rPr>
              <a:t>Wei</a:t>
            </a:r>
            <a:r>
              <a:rPr sz="1200" dirty="0">
                <a:latin typeface="Times New Roman"/>
                <a:cs typeface="Times New Roman"/>
              </a:rPr>
              <a:t> et al.,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2022</a:t>
            </a:r>
            <a:r>
              <a:rPr sz="1200" spc="-10" dirty="0">
                <a:latin typeface="Malgun Gothic"/>
                <a:cs typeface="Malgun Gothic"/>
              </a:rPr>
              <a:t>）</a:t>
            </a:r>
            <a:r>
              <a:rPr sz="1200" dirty="0">
                <a:latin typeface="Malgun Gothic"/>
                <a:cs typeface="Malgun Gothic"/>
              </a:rPr>
              <a:t>	</a:t>
            </a:r>
            <a:r>
              <a:rPr sz="1200" spc="-185" dirty="0">
                <a:latin typeface="Malgun Gothic"/>
                <a:cs typeface="Malgun Gothic"/>
              </a:rPr>
              <a:t>（</a:t>
            </a:r>
            <a:r>
              <a:rPr sz="1200" spc="-185" dirty="0">
                <a:latin typeface="Times New Roman"/>
                <a:cs typeface="Times New Roman"/>
              </a:rPr>
              <a:t>Wei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 al.,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2022</a:t>
            </a:r>
            <a:r>
              <a:rPr sz="1200" spc="-110" dirty="0">
                <a:latin typeface="Malgun Gothic"/>
                <a:cs typeface="Malgun Gothic"/>
              </a:rPr>
              <a:t>）</a:t>
            </a:r>
            <a:endParaRPr sz="12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750">
              <a:latin typeface="Malgun Gothic"/>
              <a:cs typeface="Malgun Gothic"/>
            </a:endParaRPr>
          </a:p>
          <a:p>
            <a:pPr marL="60071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Equations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incomplete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combined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words.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1026337"/>
            <a:ext cx="3369310" cy="2811145"/>
            <a:chOff x="785962" y="1026337"/>
            <a:chExt cx="3369310" cy="2811145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2892840" y="2801099"/>
                  </a:move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2801620"/>
            </a:xfrm>
            <a:custGeom>
              <a:avLst/>
              <a:gdLst/>
              <a:ahLst/>
              <a:cxnLst/>
              <a:rect l="l" t="t" r="r" b="b"/>
              <a:pathLst>
                <a:path w="3359785" h="2801620">
                  <a:moveTo>
                    <a:pt x="0" y="466859"/>
                  </a:moveTo>
                  <a:lnTo>
                    <a:pt x="2410" y="419125"/>
                  </a:lnTo>
                  <a:lnTo>
                    <a:pt x="9484" y="372770"/>
                  </a:lnTo>
                  <a:lnTo>
                    <a:pt x="20989" y="328029"/>
                  </a:lnTo>
                  <a:lnTo>
                    <a:pt x="36688" y="285136"/>
                  </a:lnTo>
                  <a:lnTo>
                    <a:pt x="56347" y="244326"/>
                  </a:lnTo>
                  <a:lnTo>
                    <a:pt x="79732" y="205833"/>
                  </a:lnTo>
                  <a:lnTo>
                    <a:pt x="106607" y="169893"/>
                  </a:lnTo>
                  <a:lnTo>
                    <a:pt x="136739" y="136739"/>
                  </a:lnTo>
                  <a:lnTo>
                    <a:pt x="169893" y="106607"/>
                  </a:lnTo>
                  <a:lnTo>
                    <a:pt x="205833" y="79732"/>
                  </a:lnTo>
                  <a:lnTo>
                    <a:pt x="244326" y="56347"/>
                  </a:lnTo>
                  <a:lnTo>
                    <a:pt x="285136" y="36688"/>
                  </a:lnTo>
                  <a:lnTo>
                    <a:pt x="328029" y="20989"/>
                  </a:lnTo>
                  <a:lnTo>
                    <a:pt x="372770" y="9484"/>
                  </a:lnTo>
                  <a:lnTo>
                    <a:pt x="419125" y="2410"/>
                  </a:lnTo>
                  <a:lnTo>
                    <a:pt x="466859" y="0"/>
                  </a:lnTo>
                  <a:lnTo>
                    <a:pt x="2892840" y="0"/>
                  </a:lnTo>
                  <a:lnTo>
                    <a:pt x="2945519" y="2979"/>
                  </a:lnTo>
                  <a:lnTo>
                    <a:pt x="2997119" y="11793"/>
                  </a:lnTo>
                  <a:lnTo>
                    <a:pt x="3047185" y="26251"/>
                  </a:lnTo>
                  <a:lnTo>
                    <a:pt x="3095259" y="46164"/>
                  </a:lnTo>
                  <a:lnTo>
                    <a:pt x="3140884" y="71342"/>
                  </a:lnTo>
                  <a:lnTo>
                    <a:pt x="3183603" y="101597"/>
                  </a:lnTo>
                  <a:lnTo>
                    <a:pt x="3222959" y="136739"/>
                  </a:lnTo>
                  <a:lnTo>
                    <a:pt x="3258102" y="176096"/>
                  </a:lnTo>
                  <a:lnTo>
                    <a:pt x="3288357" y="218815"/>
                  </a:lnTo>
                  <a:lnTo>
                    <a:pt x="3313535" y="264440"/>
                  </a:lnTo>
                  <a:lnTo>
                    <a:pt x="3333448" y="312514"/>
                  </a:lnTo>
                  <a:lnTo>
                    <a:pt x="3347906" y="362580"/>
                  </a:lnTo>
                  <a:lnTo>
                    <a:pt x="3356720" y="414180"/>
                  </a:lnTo>
                  <a:lnTo>
                    <a:pt x="3359699" y="466859"/>
                  </a:lnTo>
                  <a:lnTo>
                    <a:pt x="3359699" y="2334240"/>
                  </a:lnTo>
                  <a:lnTo>
                    <a:pt x="3357289" y="2381974"/>
                  </a:lnTo>
                  <a:lnTo>
                    <a:pt x="3350215" y="2428328"/>
                  </a:lnTo>
                  <a:lnTo>
                    <a:pt x="3338710" y="2473070"/>
                  </a:lnTo>
                  <a:lnTo>
                    <a:pt x="3323011" y="2515963"/>
                  </a:lnTo>
                  <a:lnTo>
                    <a:pt x="3303352" y="2556773"/>
                  </a:lnTo>
                  <a:lnTo>
                    <a:pt x="3279967" y="2595266"/>
                  </a:lnTo>
                  <a:lnTo>
                    <a:pt x="3253092" y="2631206"/>
                  </a:lnTo>
                  <a:lnTo>
                    <a:pt x="3222960" y="2664360"/>
                  </a:lnTo>
                  <a:lnTo>
                    <a:pt x="3189806" y="2694492"/>
                  </a:lnTo>
                  <a:lnTo>
                    <a:pt x="3153866" y="2721367"/>
                  </a:lnTo>
                  <a:lnTo>
                    <a:pt x="3115373" y="2744752"/>
                  </a:lnTo>
                  <a:lnTo>
                    <a:pt x="3074563" y="2764411"/>
                  </a:lnTo>
                  <a:lnTo>
                    <a:pt x="3031670" y="2780110"/>
                  </a:lnTo>
                  <a:lnTo>
                    <a:pt x="2986928" y="2791615"/>
                  </a:lnTo>
                  <a:lnTo>
                    <a:pt x="2940574" y="2798689"/>
                  </a:lnTo>
                  <a:lnTo>
                    <a:pt x="2892840" y="2801099"/>
                  </a:lnTo>
                  <a:lnTo>
                    <a:pt x="466859" y="2801099"/>
                  </a:lnTo>
                  <a:lnTo>
                    <a:pt x="419125" y="2798689"/>
                  </a:lnTo>
                  <a:lnTo>
                    <a:pt x="372770" y="2791615"/>
                  </a:lnTo>
                  <a:lnTo>
                    <a:pt x="328029" y="2780110"/>
                  </a:lnTo>
                  <a:lnTo>
                    <a:pt x="285136" y="2764411"/>
                  </a:lnTo>
                  <a:lnTo>
                    <a:pt x="244326" y="2744752"/>
                  </a:lnTo>
                  <a:lnTo>
                    <a:pt x="205833" y="2721367"/>
                  </a:lnTo>
                  <a:lnTo>
                    <a:pt x="169893" y="2694492"/>
                  </a:lnTo>
                  <a:lnTo>
                    <a:pt x="136739" y="2664360"/>
                  </a:lnTo>
                  <a:lnTo>
                    <a:pt x="106607" y="2631206"/>
                  </a:lnTo>
                  <a:lnTo>
                    <a:pt x="79732" y="2595266"/>
                  </a:lnTo>
                  <a:lnTo>
                    <a:pt x="56347" y="2556773"/>
                  </a:lnTo>
                  <a:lnTo>
                    <a:pt x="36688" y="2515963"/>
                  </a:lnTo>
                  <a:lnTo>
                    <a:pt x="20989" y="2473070"/>
                  </a:lnTo>
                  <a:lnTo>
                    <a:pt x="9484" y="2428328"/>
                  </a:lnTo>
                  <a:lnTo>
                    <a:pt x="2410" y="2381974"/>
                  </a:lnTo>
                  <a:lnTo>
                    <a:pt x="0" y="2334240"/>
                  </a:lnTo>
                  <a:lnTo>
                    <a:pt x="0" y="4668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0488" y="1233751"/>
            <a:ext cx="2769870" cy="191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248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Free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Response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parking </a:t>
            </a:r>
            <a:r>
              <a:rPr sz="1400" dirty="0">
                <a:latin typeface="Arial"/>
                <a:cs typeface="Arial"/>
              </a:rPr>
              <a:t>lot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arrive,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how </a:t>
            </a:r>
            <a:r>
              <a:rPr sz="1400" dirty="0">
                <a:latin typeface="Arial"/>
                <a:cs typeface="Arial"/>
              </a:rPr>
              <a:t>many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parking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lot?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114935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There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are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originally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cars.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37761C"/>
                </a:solidFill>
                <a:latin typeface="Arial"/>
                <a:cs typeface="Arial"/>
              </a:rPr>
              <a:t>2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more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cars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arrive.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+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5.</a:t>
            </a:r>
            <a:r>
              <a:rPr sz="1400" b="1" spc="35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00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5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Free</a:t>
            </a:r>
            <a:r>
              <a:rPr spc="-30" dirty="0"/>
              <a:t> </a:t>
            </a:r>
            <a:r>
              <a:rPr dirty="0"/>
              <a:t>Response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Few-</a:t>
            </a:r>
            <a:r>
              <a:rPr dirty="0"/>
              <a:t>Shot</a:t>
            </a:r>
            <a:r>
              <a:rPr spc="-1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dirty="0"/>
              <a:t>Prompt</a:t>
            </a:r>
            <a:r>
              <a:rPr spc="-15" dirty="0"/>
              <a:t> </a:t>
            </a:r>
            <a:r>
              <a:rPr spc="-10" dirty="0"/>
              <a:t>Exemplar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19218" y="1426863"/>
            <a:ext cx="3917315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b="1" dirty="0">
                <a:latin typeface="Times New Roman"/>
                <a:cs typeface="Times New Roman"/>
              </a:rPr>
              <a:t>Manually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composed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8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exemplars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●"/>
            </a:pPr>
            <a:endParaRPr sz="1450">
              <a:latin typeface="Times New Roman"/>
              <a:cs typeface="Times New Roman"/>
            </a:endParaRPr>
          </a:p>
          <a:p>
            <a:pPr marL="347980" indent="-335915">
              <a:lnSpc>
                <a:spcPct val="100000"/>
              </a:lnSpc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All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contains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equations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flexible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formats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●"/>
            </a:pPr>
            <a:endParaRPr sz="1450">
              <a:latin typeface="Times New Roman"/>
              <a:cs typeface="Times New Roman"/>
            </a:endParaRPr>
          </a:p>
          <a:p>
            <a:pPr marL="347980" indent="-335915">
              <a:lnSpc>
                <a:spcPct val="100000"/>
              </a:lnSpc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Benchmarked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on:</a:t>
            </a:r>
            <a:endParaRPr sz="1400">
              <a:latin typeface="Times New Roman"/>
              <a:cs typeface="Times New Roman"/>
            </a:endParaRPr>
          </a:p>
          <a:p>
            <a:pPr marL="805180" lvl="1" indent="-305435">
              <a:lnSpc>
                <a:spcPct val="100000"/>
              </a:lnSpc>
              <a:buSzPct val="71428"/>
              <a:buFont typeface="Arial"/>
              <a:buChar char="○"/>
              <a:tabLst>
                <a:tab pos="805180" algn="l"/>
                <a:tab pos="806450" algn="l"/>
              </a:tabLst>
            </a:pPr>
            <a:r>
              <a:rPr sz="1400" b="1" dirty="0">
                <a:latin typeface="Times New Roman"/>
                <a:cs typeface="Times New Roman"/>
              </a:rPr>
              <a:t>GSM8K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(Cobbe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et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al.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2021)</a:t>
            </a:r>
            <a:endParaRPr sz="1400">
              <a:latin typeface="Times New Roman"/>
              <a:cs typeface="Times New Roman"/>
            </a:endParaRPr>
          </a:p>
          <a:p>
            <a:pPr marL="805180" lvl="1" indent="-305435">
              <a:lnSpc>
                <a:spcPct val="100000"/>
              </a:lnSpc>
              <a:buSzPct val="71428"/>
              <a:buFont typeface="Arial"/>
              <a:buChar char="○"/>
              <a:tabLst>
                <a:tab pos="805180" algn="l"/>
                <a:tab pos="806450" algn="l"/>
              </a:tabLst>
            </a:pPr>
            <a:r>
              <a:rPr sz="1400" b="1" spc="-45" dirty="0">
                <a:latin typeface="Times New Roman"/>
                <a:cs typeface="Times New Roman"/>
              </a:rPr>
              <a:t>SVAMP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(Patel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et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al.,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2021)</a:t>
            </a:r>
            <a:endParaRPr sz="1400">
              <a:latin typeface="Times New Roman"/>
              <a:cs typeface="Times New Roman"/>
            </a:endParaRPr>
          </a:p>
          <a:p>
            <a:pPr marL="805180" lvl="1" indent="-305435">
              <a:lnSpc>
                <a:spcPct val="100000"/>
              </a:lnSpc>
              <a:buSzPct val="71428"/>
              <a:buFont typeface="Arial"/>
              <a:buChar char="○"/>
              <a:tabLst>
                <a:tab pos="805180" algn="l"/>
                <a:tab pos="806450" algn="l"/>
              </a:tabLst>
            </a:pPr>
            <a:r>
              <a:rPr sz="1400" b="1" spc="-25" dirty="0">
                <a:latin typeface="Times New Roman"/>
                <a:cs typeface="Times New Roman"/>
              </a:rPr>
              <a:t>MAWPS </a:t>
            </a:r>
            <a:r>
              <a:rPr sz="1400" b="1" spc="-10" dirty="0">
                <a:latin typeface="Times New Roman"/>
                <a:cs typeface="Times New Roman"/>
              </a:rPr>
              <a:t>(Koncel-</a:t>
            </a:r>
            <a:r>
              <a:rPr sz="1400" b="1" dirty="0">
                <a:latin typeface="Times New Roman"/>
                <a:cs typeface="Times New Roman"/>
              </a:rPr>
              <a:t>Kedziorski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et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al.,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2016)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7750" y="3962329"/>
            <a:ext cx="1134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85" dirty="0">
                <a:latin typeface="Malgun Gothic"/>
                <a:cs typeface="Malgun Gothic"/>
              </a:rPr>
              <a:t>（</a:t>
            </a:r>
            <a:r>
              <a:rPr sz="1200" spc="-185" dirty="0">
                <a:latin typeface="Times New Roman"/>
                <a:cs typeface="Times New Roman"/>
              </a:rPr>
              <a:t>Wei</a:t>
            </a:r>
            <a:r>
              <a:rPr sz="1200" dirty="0">
                <a:latin typeface="Times New Roman"/>
                <a:cs typeface="Times New Roman"/>
              </a:rPr>
              <a:t> et al.,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2022</a:t>
            </a:r>
            <a:r>
              <a:rPr sz="1200" spc="-110" dirty="0">
                <a:latin typeface="Malgun Gothic"/>
                <a:cs typeface="Malgun Gothic"/>
              </a:rPr>
              <a:t>）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30" dirty="0"/>
              <a:t> </a:t>
            </a:r>
            <a:r>
              <a:rPr dirty="0"/>
              <a:t>Choice</a:t>
            </a:r>
            <a:r>
              <a:rPr spc="-15" dirty="0"/>
              <a:t> </a:t>
            </a:r>
            <a:r>
              <a:rPr dirty="0"/>
              <a:t>-</a:t>
            </a:r>
            <a:r>
              <a:rPr spc="-10" dirty="0"/>
              <a:t> Few-</a:t>
            </a:r>
            <a:r>
              <a:rPr dirty="0"/>
              <a:t>Shot</a:t>
            </a:r>
            <a:r>
              <a:rPr spc="-1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dirty="0"/>
              <a:t>Prompt</a:t>
            </a:r>
            <a:r>
              <a:rPr spc="-15" dirty="0"/>
              <a:t> </a:t>
            </a:r>
            <a:r>
              <a:rPr spc="-10" dirty="0"/>
              <a:t>Exemplar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5962" y="1026337"/>
            <a:ext cx="3369310" cy="3427729"/>
            <a:chOff x="785962" y="1026337"/>
            <a:chExt cx="3369310" cy="3427729"/>
          </a:xfrm>
        </p:grpSpPr>
        <p:sp>
          <p:nvSpPr>
            <p:cNvPr id="4" name="object 4"/>
            <p:cNvSpPr/>
            <p:nvPr/>
          </p:nvSpPr>
          <p:spPr>
            <a:xfrm>
              <a:off x="790724" y="1031099"/>
              <a:ext cx="3359785" cy="3418204"/>
            </a:xfrm>
            <a:custGeom>
              <a:avLst/>
              <a:gdLst/>
              <a:ahLst/>
              <a:cxnLst/>
              <a:rect l="l" t="t" r="r" b="b"/>
              <a:pathLst>
                <a:path w="3359785" h="3418204">
                  <a:moveTo>
                    <a:pt x="2799738" y="3417599"/>
                  </a:moveTo>
                  <a:lnTo>
                    <a:pt x="559961" y="3417599"/>
                  </a:lnTo>
                  <a:lnTo>
                    <a:pt x="511645" y="3415544"/>
                  </a:lnTo>
                  <a:lnTo>
                    <a:pt x="464471" y="3409490"/>
                  </a:lnTo>
                  <a:lnTo>
                    <a:pt x="418606" y="3399605"/>
                  </a:lnTo>
                  <a:lnTo>
                    <a:pt x="374218" y="3386058"/>
                  </a:lnTo>
                  <a:lnTo>
                    <a:pt x="331477" y="3369016"/>
                  </a:lnTo>
                  <a:lnTo>
                    <a:pt x="290548" y="3348648"/>
                  </a:lnTo>
                  <a:lnTo>
                    <a:pt x="251602" y="3325121"/>
                  </a:lnTo>
                  <a:lnTo>
                    <a:pt x="214805" y="3298605"/>
                  </a:lnTo>
                  <a:lnTo>
                    <a:pt x="180326" y="3269266"/>
                  </a:lnTo>
                  <a:lnTo>
                    <a:pt x="148333" y="3237273"/>
                  </a:lnTo>
                  <a:lnTo>
                    <a:pt x="118994" y="3202794"/>
                  </a:lnTo>
                  <a:lnTo>
                    <a:pt x="92478" y="3165997"/>
                  </a:lnTo>
                  <a:lnTo>
                    <a:pt x="68951" y="3127051"/>
                  </a:lnTo>
                  <a:lnTo>
                    <a:pt x="48583" y="3086123"/>
                  </a:lnTo>
                  <a:lnTo>
                    <a:pt x="31541" y="3043381"/>
                  </a:lnTo>
                  <a:lnTo>
                    <a:pt x="17994" y="2998993"/>
                  </a:lnTo>
                  <a:lnTo>
                    <a:pt x="8109" y="2953128"/>
                  </a:lnTo>
                  <a:lnTo>
                    <a:pt x="2055" y="2905954"/>
                  </a:lnTo>
                  <a:lnTo>
                    <a:pt x="0" y="2857638"/>
                  </a:lnTo>
                  <a:lnTo>
                    <a:pt x="0" y="559961"/>
                  </a:lnTo>
                  <a:lnTo>
                    <a:pt x="2055" y="511645"/>
                  </a:lnTo>
                  <a:lnTo>
                    <a:pt x="8109" y="464471"/>
                  </a:lnTo>
                  <a:lnTo>
                    <a:pt x="17994" y="418606"/>
                  </a:lnTo>
                  <a:lnTo>
                    <a:pt x="31541" y="374218"/>
                  </a:lnTo>
                  <a:lnTo>
                    <a:pt x="48583" y="331477"/>
                  </a:lnTo>
                  <a:lnTo>
                    <a:pt x="68951" y="290548"/>
                  </a:lnTo>
                  <a:lnTo>
                    <a:pt x="92478" y="251602"/>
                  </a:lnTo>
                  <a:lnTo>
                    <a:pt x="118994" y="214805"/>
                  </a:lnTo>
                  <a:lnTo>
                    <a:pt x="148333" y="180326"/>
                  </a:lnTo>
                  <a:lnTo>
                    <a:pt x="180326" y="148333"/>
                  </a:lnTo>
                  <a:lnTo>
                    <a:pt x="214805" y="118994"/>
                  </a:lnTo>
                  <a:lnTo>
                    <a:pt x="251602" y="92478"/>
                  </a:lnTo>
                  <a:lnTo>
                    <a:pt x="290548" y="68951"/>
                  </a:lnTo>
                  <a:lnTo>
                    <a:pt x="331477" y="48583"/>
                  </a:lnTo>
                  <a:lnTo>
                    <a:pt x="374218" y="31541"/>
                  </a:lnTo>
                  <a:lnTo>
                    <a:pt x="418606" y="17994"/>
                  </a:lnTo>
                  <a:lnTo>
                    <a:pt x="464471" y="8109"/>
                  </a:lnTo>
                  <a:lnTo>
                    <a:pt x="511645" y="2055"/>
                  </a:lnTo>
                  <a:lnTo>
                    <a:pt x="559961" y="0"/>
                  </a:lnTo>
                  <a:lnTo>
                    <a:pt x="2799738" y="0"/>
                  </a:lnTo>
                  <a:lnTo>
                    <a:pt x="2848974" y="2167"/>
                  </a:lnTo>
                  <a:lnTo>
                    <a:pt x="2897500" y="8597"/>
                  </a:lnTo>
                  <a:lnTo>
                    <a:pt x="2945061" y="19184"/>
                  </a:lnTo>
                  <a:lnTo>
                    <a:pt x="2991397" y="33821"/>
                  </a:lnTo>
                  <a:lnTo>
                    <a:pt x="3036252" y="52400"/>
                  </a:lnTo>
                  <a:lnTo>
                    <a:pt x="3079366" y="74815"/>
                  </a:lnTo>
                  <a:lnTo>
                    <a:pt x="3120483" y="100959"/>
                  </a:lnTo>
                  <a:lnTo>
                    <a:pt x="3159343" y="130726"/>
                  </a:lnTo>
                  <a:lnTo>
                    <a:pt x="3195690" y="164008"/>
                  </a:lnTo>
                  <a:lnTo>
                    <a:pt x="3228973" y="200356"/>
                  </a:lnTo>
                  <a:lnTo>
                    <a:pt x="3258739" y="239216"/>
                  </a:lnTo>
                  <a:lnTo>
                    <a:pt x="3284884" y="280333"/>
                  </a:lnTo>
                  <a:lnTo>
                    <a:pt x="3307299" y="323447"/>
                  </a:lnTo>
                  <a:lnTo>
                    <a:pt x="3325878" y="368301"/>
                  </a:lnTo>
                  <a:lnTo>
                    <a:pt x="3340515" y="414638"/>
                  </a:lnTo>
                  <a:lnTo>
                    <a:pt x="3351102" y="462198"/>
                  </a:lnTo>
                  <a:lnTo>
                    <a:pt x="3357532" y="510725"/>
                  </a:lnTo>
                  <a:lnTo>
                    <a:pt x="3359699" y="559961"/>
                  </a:lnTo>
                  <a:lnTo>
                    <a:pt x="3359699" y="2857638"/>
                  </a:lnTo>
                  <a:lnTo>
                    <a:pt x="3357644" y="2905954"/>
                  </a:lnTo>
                  <a:lnTo>
                    <a:pt x="3351590" y="2953128"/>
                  </a:lnTo>
                  <a:lnTo>
                    <a:pt x="3341705" y="2998993"/>
                  </a:lnTo>
                  <a:lnTo>
                    <a:pt x="3328158" y="3043381"/>
                  </a:lnTo>
                  <a:lnTo>
                    <a:pt x="3311116" y="3086123"/>
                  </a:lnTo>
                  <a:lnTo>
                    <a:pt x="3290748" y="3127051"/>
                  </a:lnTo>
                  <a:lnTo>
                    <a:pt x="3267221" y="3165997"/>
                  </a:lnTo>
                  <a:lnTo>
                    <a:pt x="3240705" y="3202794"/>
                  </a:lnTo>
                  <a:lnTo>
                    <a:pt x="3211366" y="3237273"/>
                  </a:lnTo>
                  <a:lnTo>
                    <a:pt x="3179373" y="3269266"/>
                  </a:lnTo>
                  <a:lnTo>
                    <a:pt x="3144894" y="3298605"/>
                  </a:lnTo>
                  <a:lnTo>
                    <a:pt x="3108097" y="3325121"/>
                  </a:lnTo>
                  <a:lnTo>
                    <a:pt x="3069151" y="3348648"/>
                  </a:lnTo>
                  <a:lnTo>
                    <a:pt x="3028223" y="3369016"/>
                  </a:lnTo>
                  <a:lnTo>
                    <a:pt x="2985481" y="3386058"/>
                  </a:lnTo>
                  <a:lnTo>
                    <a:pt x="2941093" y="3399605"/>
                  </a:lnTo>
                  <a:lnTo>
                    <a:pt x="2895228" y="3409490"/>
                  </a:lnTo>
                  <a:lnTo>
                    <a:pt x="2848054" y="3415544"/>
                  </a:lnTo>
                  <a:lnTo>
                    <a:pt x="2799738" y="3417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0724" y="1031099"/>
              <a:ext cx="3359785" cy="3418204"/>
            </a:xfrm>
            <a:custGeom>
              <a:avLst/>
              <a:gdLst/>
              <a:ahLst/>
              <a:cxnLst/>
              <a:rect l="l" t="t" r="r" b="b"/>
              <a:pathLst>
                <a:path w="3359785" h="3418204">
                  <a:moveTo>
                    <a:pt x="0" y="559961"/>
                  </a:moveTo>
                  <a:lnTo>
                    <a:pt x="2055" y="511645"/>
                  </a:lnTo>
                  <a:lnTo>
                    <a:pt x="8109" y="464471"/>
                  </a:lnTo>
                  <a:lnTo>
                    <a:pt x="17994" y="418606"/>
                  </a:lnTo>
                  <a:lnTo>
                    <a:pt x="31541" y="374218"/>
                  </a:lnTo>
                  <a:lnTo>
                    <a:pt x="48583" y="331477"/>
                  </a:lnTo>
                  <a:lnTo>
                    <a:pt x="68951" y="290548"/>
                  </a:lnTo>
                  <a:lnTo>
                    <a:pt x="92478" y="251602"/>
                  </a:lnTo>
                  <a:lnTo>
                    <a:pt x="118994" y="214805"/>
                  </a:lnTo>
                  <a:lnTo>
                    <a:pt x="148333" y="180326"/>
                  </a:lnTo>
                  <a:lnTo>
                    <a:pt x="180326" y="148333"/>
                  </a:lnTo>
                  <a:lnTo>
                    <a:pt x="214805" y="118994"/>
                  </a:lnTo>
                  <a:lnTo>
                    <a:pt x="251602" y="92478"/>
                  </a:lnTo>
                  <a:lnTo>
                    <a:pt x="290548" y="68951"/>
                  </a:lnTo>
                  <a:lnTo>
                    <a:pt x="331477" y="48583"/>
                  </a:lnTo>
                  <a:lnTo>
                    <a:pt x="374218" y="31541"/>
                  </a:lnTo>
                  <a:lnTo>
                    <a:pt x="418606" y="17994"/>
                  </a:lnTo>
                  <a:lnTo>
                    <a:pt x="464471" y="8109"/>
                  </a:lnTo>
                  <a:lnTo>
                    <a:pt x="511645" y="2055"/>
                  </a:lnTo>
                  <a:lnTo>
                    <a:pt x="559961" y="0"/>
                  </a:lnTo>
                  <a:lnTo>
                    <a:pt x="2799738" y="0"/>
                  </a:lnTo>
                  <a:lnTo>
                    <a:pt x="2848974" y="2167"/>
                  </a:lnTo>
                  <a:lnTo>
                    <a:pt x="2897500" y="8597"/>
                  </a:lnTo>
                  <a:lnTo>
                    <a:pt x="2945061" y="19184"/>
                  </a:lnTo>
                  <a:lnTo>
                    <a:pt x="2991397" y="33821"/>
                  </a:lnTo>
                  <a:lnTo>
                    <a:pt x="3036252" y="52400"/>
                  </a:lnTo>
                  <a:lnTo>
                    <a:pt x="3079366" y="74815"/>
                  </a:lnTo>
                  <a:lnTo>
                    <a:pt x="3120483" y="100959"/>
                  </a:lnTo>
                  <a:lnTo>
                    <a:pt x="3159343" y="130726"/>
                  </a:lnTo>
                  <a:lnTo>
                    <a:pt x="3195690" y="164008"/>
                  </a:lnTo>
                  <a:lnTo>
                    <a:pt x="3228973" y="200356"/>
                  </a:lnTo>
                  <a:lnTo>
                    <a:pt x="3258739" y="239216"/>
                  </a:lnTo>
                  <a:lnTo>
                    <a:pt x="3284884" y="280333"/>
                  </a:lnTo>
                  <a:lnTo>
                    <a:pt x="3307299" y="323447"/>
                  </a:lnTo>
                  <a:lnTo>
                    <a:pt x="3325878" y="368301"/>
                  </a:lnTo>
                  <a:lnTo>
                    <a:pt x="3340515" y="414638"/>
                  </a:lnTo>
                  <a:lnTo>
                    <a:pt x="3351102" y="462198"/>
                  </a:lnTo>
                  <a:lnTo>
                    <a:pt x="3357532" y="510725"/>
                  </a:lnTo>
                  <a:lnTo>
                    <a:pt x="3359699" y="559961"/>
                  </a:lnTo>
                  <a:lnTo>
                    <a:pt x="3359699" y="2857638"/>
                  </a:lnTo>
                  <a:lnTo>
                    <a:pt x="3357644" y="2905954"/>
                  </a:lnTo>
                  <a:lnTo>
                    <a:pt x="3351590" y="2953128"/>
                  </a:lnTo>
                  <a:lnTo>
                    <a:pt x="3341705" y="2998993"/>
                  </a:lnTo>
                  <a:lnTo>
                    <a:pt x="3328158" y="3043381"/>
                  </a:lnTo>
                  <a:lnTo>
                    <a:pt x="3311116" y="3086123"/>
                  </a:lnTo>
                  <a:lnTo>
                    <a:pt x="3290748" y="3127051"/>
                  </a:lnTo>
                  <a:lnTo>
                    <a:pt x="3267221" y="3165997"/>
                  </a:lnTo>
                  <a:lnTo>
                    <a:pt x="3240705" y="3202794"/>
                  </a:lnTo>
                  <a:lnTo>
                    <a:pt x="3211366" y="3237273"/>
                  </a:lnTo>
                  <a:lnTo>
                    <a:pt x="3179373" y="3269266"/>
                  </a:lnTo>
                  <a:lnTo>
                    <a:pt x="3144894" y="3298605"/>
                  </a:lnTo>
                  <a:lnTo>
                    <a:pt x="3108097" y="3325121"/>
                  </a:lnTo>
                  <a:lnTo>
                    <a:pt x="3069151" y="3348648"/>
                  </a:lnTo>
                  <a:lnTo>
                    <a:pt x="3028223" y="3369016"/>
                  </a:lnTo>
                  <a:lnTo>
                    <a:pt x="2985481" y="3386058"/>
                  </a:lnTo>
                  <a:lnTo>
                    <a:pt x="2941093" y="3399605"/>
                  </a:lnTo>
                  <a:lnTo>
                    <a:pt x="2895228" y="3409490"/>
                  </a:lnTo>
                  <a:lnTo>
                    <a:pt x="2848054" y="3415544"/>
                  </a:lnTo>
                  <a:lnTo>
                    <a:pt x="2799738" y="3417599"/>
                  </a:lnTo>
                  <a:lnTo>
                    <a:pt x="559961" y="3417599"/>
                  </a:lnTo>
                  <a:lnTo>
                    <a:pt x="511645" y="3415544"/>
                  </a:lnTo>
                  <a:lnTo>
                    <a:pt x="464471" y="3409490"/>
                  </a:lnTo>
                  <a:lnTo>
                    <a:pt x="418606" y="3399605"/>
                  </a:lnTo>
                  <a:lnTo>
                    <a:pt x="374218" y="3386058"/>
                  </a:lnTo>
                  <a:lnTo>
                    <a:pt x="331477" y="3369016"/>
                  </a:lnTo>
                  <a:lnTo>
                    <a:pt x="290548" y="3348648"/>
                  </a:lnTo>
                  <a:lnTo>
                    <a:pt x="251602" y="3325121"/>
                  </a:lnTo>
                  <a:lnTo>
                    <a:pt x="214805" y="3298605"/>
                  </a:lnTo>
                  <a:lnTo>
                    <a:pt x="180326" y="3269266"/>
                  </a:lnTo>
                  <a:lnTo>
                    <a:pt x="148333" y="3237273"/>
                  </a:lnTo>
                  <a:lnTo>
                    <a:pt x="118994" y="3202794"/>
                  </a:lnTo>
                  <a:lnTo>
                    <a:pt x="92478" y="3165997"/>
                  </a:lnTo>
                  <a:lnTo>
                    <a:pt x="68951" y="3127051"/>
                  </a:lnTo>
                  <a:lnTo>
                    <a:pt x="48583" y="3086123"/>
                  </a:lnTo>
                  <a:lnTo>
                    <a:pt x="31541" y="3043381"/>
                  </a:lnTo>
                  <a:lnTo>
                    <a:pt x="17994" y="2998993"/>
                  </a:lnTo>
                  <a:lnTo>
                    <a:pt x="8109" y="2953128"/>
                  </a:lnTo>
                  <a:lnTo>
                    <a:pt x="2055" y="2905954"/>
                  </a:lnTo>
                  <a:lnTo>
                    <a:pt x="0" y="2857638"/>
                  </a:lnTo>
                  <a:lnTo>
                    <a:pt x="0" y="5599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01345" y="1261019"/>
            <a:ext cx="13385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Multiple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Choice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027757" y="1680120"/>
            <a:ext cx="2839720" cy="10769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2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person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traveling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20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km/hr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reached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destiny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2.5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hr </a:t>
            </a:r>
            <a:r>
              <a:rPr sz="1400" dirty="0">
                <a:latin typeface="Arial"/>
                <a:cs typeface="Arial"/>
              </a:rPr>
              <a:t>then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distance?</a:t>
            </a:r>
            <a:endParaRPr sz="1400">
              <a:latin typeface="Arial"/>
              <a:cs typeface="Arial"/>
            </a:endParaRPr>
          </a:p>
          <a:p>
            <a:pPr marL="12700" marR="172085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Choices: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(a)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53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(b)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55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(c)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52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(d)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60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(e)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50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km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757" y="2937420"/>
            <a:ext cx="2660015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distance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that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person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traveled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would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have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been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20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km/hr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*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2.5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hrs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50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km</a:t>
            </a:r>
            <a:r>
              <a:rPr sz="1400" dirty="0">
                <a:latin typeface="Arial"/>
                <a:cs typeface="Arial"/>
              </a:rPr>
              <a:t>.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(e)</a:t>
            </a:r>
            <a:r>
              <a:rPr sz="1400" b="1" spc="-2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9218" y="1426863"/>
            <a:ext cx="36880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marR="508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4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whose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questions,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intermediate </a:t>
            </a:r>
            <a:r>
              <a:rPr sz="1400" dirty="0">
                <a:latin typeface="Times New Roman"/>
                <a:cs typeface="Times New Roman"/>
              </a:rPr>
              <a:t>reasoning,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answers are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AQuA-</a:t>
            </a:r>
            <a:r>
              <a:rPr sz="1400" spc="-50" dirty="0">
                <a:latin typeface="Times New Roman"/>
                <a:cs typeface="Times New Roman"/>
              </a:rPr>
              <a:t>RAT’s </a:t>
            </a:r>
            <a:r>
              <a:rPr sz="1400" b="1" dirty="0">
                <a:latin typeface="Times New Roman"/>
                <a:cs typeface="Times New Roman"/>
              </a:rPr>
              <a:t>training</a:t>
            </a:r>
            <a:r>
              <a:rPr sz="1400" b="1" spc="-25" dirty="0">
                <a:latin typeface="Times New Roman"/>
                <a:cs typeface="Times New Roman"/>
              </a:rPr>
              <a:t> set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1026337"/>
            <a:ext cx="3369310" cy="3427729"/>
            <a:chOff x="785962" y="1026337"/>
            <a:chExt cx="3369310" cy="3427729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3418204"/>
            </a:xfrm>
            <a:custGeom>
              <a:avLst/>
              <a:gdLst/>
              <a:ahLst/>
              <a:cxnLst/>
              <a:rect l="l" t="t" r="r" b="b"/>
              <a:pathLst>
                <a:path w="3359785" h="3418204">
                  <a:moveTo>
                    <a:pt x="2799738" y="3417599"/>
                  </a:moveTo>
                  <a:lnTo>
                    <a:pt x="559961" y="3417599"/>
                  </a:lnTo>
                  <a:lnTo>
                    <a:pt x="511645" y="3415544"/>
                  </a:lnTo>
                  <a:lnTo>
                    <a:pt x="464471" y="3409490"/>
                  </a:lnTo>
                  <a:lnTo>
                    <a:pt x="418606" y="3399605"/>
                  </a:lnTo>
                  <a:lnTo>
                    <a:pt x="374218" y="3386058"/>
                  </a:lnTo>
                  <a:lnTo>
                    <a:pt x="331477" y="3369016"/>
                  </a:lnTo>
                  <a:lnTo>
                    <a:pt x="290548" y="3348648"/>
                  </a:lnTo>
                  <a:lnTo>
                    <a:pt x="251602" y="3325121"/>
                  </a:lnTo>
                  <a:lnTo>
                    <a:pt x="214805" y="3298605"/>
                  </a:lnTo>
                  <a:lnTo>
                    <a:pt x="180326" y="3269266"/>
                  </a:lnTo>
                  <a:lnTo>
                    <a:pt x="148333" y="3237273"/>
                  </a:lnTo>
                  <a:lnTo>
                    <a:pt x="118994" y="3202794"/>
                  </a:lnTo>
                  <a:lnTo>
                    <a:pt x="92478" y="3165997"/>
                  </a:lnTo>
                  <a:lnTo>
                    <a:pt x="68951" y="3127051"/>
                  </a:lnTo>
                  <a:lnTo>
                    <a:pt x="48583" y="3086123"/>
                  </a:lnTo>
                  <a:lnTo>
                    <a:pt x="31541" y="3043381"/>
                  </a:lnTo>
                  <a:lnTo>
                    <a:pt x="17994" y="2998993"/>
                  </a:lnTo>
                  <a:lnTo>
                    <a:pt x="8109" y="2953128"/>
                  </a:lnTo>
                  <a:lnTo>
                    <a:pt x="2055" y="2905954"/>
                  </a:lnTo>
                  <a:lnTo>
                    <a:pt x="0" y="2857638"/>
                  </a:lnTo>
                  <a:lnTo>
                    <a:pt x="0" y="559961"/>
                  </a:lnTo>
                  <a:lnTo>
                    <a:pt x="2055" y="511645"/>
                  </a:lnTo>
                  <a:lnTo>
                    <a:pt x="8109" y="464471"/>
                  </a:lnTo>
                  <a:lnTo>
                    <a:pt x="17994" y="418606"/>
                  </a:lnTo>
                  <a:lnTo>
                    <a:pt x="31541" y="374218"/>
                  </a:lnTo>
                  <a:lnTo>
                    <a:pt x="48583" y="331477"/>
                  </a:lnTo>
                  <a:lnTo>
                    <a:pt x="68951" y="290548"/>
                  </a:lnTo>
                  <a:lnTo>
                    <a:pt x="92478" y="251602"/>
                  </a:lnTo>
                  <a:lnTo>
                    <a:pt x="118994" y="214805"/>
                  </a:lnTo>
                  <a:lnTo>
                    <a:pt x="148333" y="180326"/>
                  </a:lnTo>
                  <a:lnTo>
                    <a:pt x="180326" y="148333"/>
                  </a:lnTo>
                  <a:lnTo>
                    <a:pt x="214805" y="118994"/>
                  </a:lnTo>
                  <a:lnTo>
                    <a:pt x="251602" y="92478"/>
                  </a:lnTo>
                  <a:lnTo>
                    <a:pt x="290548" y="68951"/>
                  </a:lnTo>
                  <a:lnTo>
                    <a:pt x="331477" y="48583"/>
                  </a:lnTo>
                  <a:lnTo>
                    <a:pt x="374218" y="31541"/>
                  </a:lnTo>
                  <a:lnTo>
                    <a:pt x="418606" y="17994"/>
                  </a:lnTo>
                  <a:lnTo>
                    <a:pt x="464471" y="8109"/>
                  </a:lnTo>
                  <a:lnTo>
                    <a:pt x="511645" y="2055"/>
                  </a:lnTo>
                  <a:lnTo>
                    <a:pt x="559961" y="0"/>
                  </a:lnTo>
                  <a:lnTo>
                    <a:pt x="2799738" y="0"/>
                  </a:lnTo>
                  <a:lnTo>
                    <a:pt x="2848974" y="2167"/>
                  </a:lnTo>
                  <a:lnTo>
                    <a:pt x="2897500" y="8597"/>
                  </a:lnTo>
                  <a:lnTo>
                    <a:pt x="2945061" y="19184"/>
                  </a:lnTo>
                  <a:lnTo>
                    <a:pt x="2991397" y="33821"/>
                  </a:lnTo>
                  <a:lnTo>
                    <a:pt x="3036252" y="52400"/>
                  </a:lnTo>
                  <a:lnTo>
                    <a:pt x="3079366" y="74815"/>
                  </a:lnTo>
                  <a:lnTo>
                    <a:pt x="3120483" y="100959"/>
                  </a:lnTo>
                  <a:lnTo>
                    <a:pt x="3159343" y="130726"/>
                  </a:lnTo>
                  <a:lnTo>
                    <a:pt x="3195690" y="164008"/>
                  </a:lnTo>
                  <a:lnTo>
                    <a:pt x="3228973" y="200356"/>
                  </a:lnTo>
                  <a:lnTo>
                    <a:pt x="3258739" y="239216"/>
                  </a:lnTo>
                  <a:lnTo>
                    <a:pt x="3284884" y="280333"/>
                  </a:lnTo>
                  <a:lnTo>
                    <a:pt x="3307299" y="323447"/>
                  </a:lnTo>
                  <a:lnTo>
                    <a:pt x="3325878" y="368301"/>
                  </a:lnTo>
                  <a:lnTo>
                    <a:pt x="3340515" y="414638"/>
                  </a:lnTo>
                  <a:lnTo>
                    <a:pt x="3351102" y="462198"/>
                  </a:lnTo>
                  <a:lnTo>
                    <a:pt x="3357532" y="510725"/>
                  </a:lnTo>
                  <a:lnTo>
                    <a:pt x="3359699" y="559961"/>
                  </a:lnTo>
                  <a:lnTo>
                    <a:pt x="3359699" y="2857638"/>
                  </a:lnTo>
                  <a:lnTo>
                    <a:pt x="3357644" y="2905954"/>
                  </a:lnTo>
                  <a:lnTo>
                    <a:pt x="3351590" y="2953128"/>
                  </a:lnTo>
                  <a:lnTo>
                    <a:pt x="3341705" y="2998993"/>
                  </a:lnTo>
                  <a:lnTo>
                    <a:pt x="3328158" y="3043381"/>
                  </a:lnTo>
                  <a:lnTo>
                    <a:pt x="3311116" y="3086123"/>
                  </a:lnTo>
                  <a:lnTo>
                    <a:pt x="3290748" y="3127051"/>
                  </a:lnTo>
                  <a:lnTo>
                    <a:pt x="3267221" y="3165997"/>
                  </a:lnTo>
                  <a:lnTo>
                    <a:pt x="3240705" y="3202794"/>
                  </a:lnTo>
                  <a:lnTo>
                    <a:pt x="3211366" y="3237273"/>
                  </a:lnTo>
                  <a:lnTo>
                    <a:pt x="3179373" y="3269266"/>
                  </a:lnTo>
                  <a:lnTo>
                    <a:pt x="3144894" y="3298605"/>
                  </a:lnTo>
                  <a:lnTo>
                    <a:pt x="3108097" y="3325121"/>
                  </a:lnTo>
                  <a:lnTo>
                    <a:pt x="3069151" y="3348648"/>
                  </a:lnTo>
                  <a:lnTo>
                    <a:pt x="3028223" y="3369016"/>
                  </a:lnTo>
                  <a:lnTo>
                    <a:pt x="2985481" y="3386058"/>
                  </a:lnTo>
                  <a:lnTo>
                    <a:pt x="2941093" y="3399605"/>
                  </a:lnTo>
                  <a:lnTo>
                    <a:pt x="2895228" y="3409490"/>
                  </a:lnTo>
                  <a:lnTo>
                    <a:pt x="2848054" y="3415544"/>
                  </a:lnTo>
                  <a:lnTo>
                    <a:pt x="2799738" y="3417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3418204"/>
            </a:xfrm>
            <a:custGeom>
              <a:avLst/>
              <a:gdLst/>
              <a:ahLst/>
              <a:cxnLst/>
              <a:rect l="l" t="t" r="r" b="b"/>
              <a:pathLst>
                <a:path w="3359785" h="3418204">
                  <a:moveTo>
                    <a:pt x="0" y="559961"/>
                  </a:moveTo>
                  <a:lnTo>
                    <a:pt x="2055" y="511645"/>
                  </a:lnTo>
                  <a:lnTo>
                    <a:pt x="8109" y="464471"/>
                  </a:lnTo>
                  <a:lnTo>
                    <a:pt x="17994" y="418606"/>
                  </a:lnTo>
                  <a:lnTo>
                    <a:pt x="31541" y="374218"/>
                  </a:lnTo>
                  <a:lnTo>
                    <a:pt x="48583" y="331477"/>
                  </a:lnTo>
                  <a:lnTo>
                    <a:pt x="68951" y="290548"/>
                  </a:lnTo>
                  <a:lnTo>
                    <a:pt x="92478" y="251602"/>
                  </a:lnTo>
                  <a:lnTo>
                    <a:pt x="118994" y="214805"/>
                  </a:lnTo>
                  <a:lnTo>
                    <a:pt x="148333" y="180326"/>
                  </a:lnTo>
                  <a:lnTo>
                    <a:pt x="180326" y="148333"/>
                  </a:lnTo>
                  <a:lnTo>
                    <a:pt x="214805" y="118994"/>
                  </a:lnTo>
                  <a:lnTo>
                    <a:pt x="251602" y="92478"/>
                  </a:lnTo>
                  <a:lnTo>
                    <a:pt x="290548" y="68951"/>
                  </a:lnTo>
                  <a:lnTo>
                    <a:pt x="331477" y="48583"/>
                  </a:lnTo>
                  <a:lnTo>
                    <a:pt x="374218" y="31541"/>
                  </a:lnTo>
                  <a:lnTo>
                    <a:pt x="418606" y="17994"/>
                  </a:lnTo>
                  <a:lnTo>
                    <a:pt x="464471" y="8109"/>
                  </a:lnTo>
                  <a:lnTo>
                    <a:pt x="511645" y="2055"/>
                  </a:lnTo>
                  <a:lnTo>
                    <a:pt x="559961" y="0"/>
                  </a:lnTo>
                  <a:lnTo>
                    <a:pt x="2799738" y="0"/>
                  </a:lnTo>
                  <a:lnTo>
                    <a:pt x="2848974" y="2167"/>
                  </a:lnTo>
                  <a:lnTo>
                    <a:pt x="2897500" y="8597"/>
                  </a:lnTo>
                  <a:lnTo>
                    <a:pt x="2945061" y="19184"/>
                  </a:lnTo>
                  <a:lnTo>
                    <a:pt x="2991397" y="33821"/>
                  </a:lnTo>
                  <a:lnTo>
                    <a:pt x="3036252" y="52400"/>
                  </a:lnTo>
                  <a:lnTo>
                    <a:pt x="3079366" y="74815"/>
                  </a:lnTo>
                  <a:lnTo>
                    <a:pt x="3120483" y="100959"/>
                  </a:lnTo>
                  <a:lnTo>
                    <a:pt x="3159343" y="130726"/>
                  </a:lnTo>
                  <a:lnTo>
                    <a:pt x="3195690" y="164008"/>
                  </a:lnTo>
                  <a:lnTo>
                    <a:pt x="3228973" y="200356"/>
                  </a:lnTo>
                  <a:lnTo>
                    <a:pt x="3258739" y="239216"/>
                  </a:lnTo>
                  <a:lnTo>
                    <a:pt x="3284884" y="280333"/>
                  </a:lnTo>
                  <a:lnTo>
                    <a:pt x="3307299" y="323447"/>
                  </a:lnTo>
                  <a:lnTo>
                    <a:pt x="3325878" y="368301"/>
                  </a:lnTo>
                  <a:lnTo>
                    <a:pt x="3340515" y="414638"/>
                  </a:lnTo>
                  <a:lnTo>
                    <a:pt x="3351102" y="462198"/>
                  </a:lnTo>
                  <a:lnTo>
                    <a:pt x="3357532" y="510725"/>
                  </a:lnTo>
                  <a:lnTo>
                    <a:pt x="3359699" y="559961"/>
                  </a:lnTo>
                  <a:lnTo>
                    <a:pt x="3359699" y="2857638"/>
                  </a:lnTo>
                  <a:lnTo>
                    <a:pt x="3357644" y="2905954"/>
                  </a:lnTo>
                  <a:lnTo>
                    <a:pt x="3351590" y="2953128"/>
                  </a:lnTo>
                  <a:lnTo>
                    <a:pt x="3341705" y="2998993"/>
                  </a:lnTo>
                  <a:lnTo>
                    <a:pt x="3328158" y="3043381"/>
                  </a:lnTo>
                  <a:lnTo>
                    <a:pt x="3311116" y="3086123"/>
                  </a:lnTo>
                  <a:lnTo>
                    <a:pt x="3290748" y="3127051"/>
                  </a:lnTo>
                  <a:lnTo>
                    <a:pt x="3267221" y="3165997"/>
                  </a:lnTo>
                  <a:lnTo>
                    <a:pt x="3240705" y="3202794"/>
                  </a:lnTo>
                  <a:lnTo>
                    <a:pt x="3211366" y="3237273"/>
                  </a:lnTo>
                  <a:lnTo>
                    <a:pt x="3179373" y="3269266"/>
                  </a:lnTo>
                  <a:lnTo>
                    <a:pt x="3144894" y="3298605"/>
                  </a:lnTo>
                  <a:lnTo>
                    <a:pt x="3108097" y="3325121"/>
                  </a:lnTo>
                  <a:lnTo>
                    <a:pt x="3069151" y="3348648"/>
                  </a:lnTo>
                  <a:lnTo>
                    <a:pt x="3028223" y="3369016"/>
                  </a:lnTo>
                  <a:lnTo>
                    <a:pt x="2985481" y="3386058"/>
                  </a:lnTo>
                  <a:lnTo>
                    <a:pt x="2941093" y="3399605"/>
                  </a:lnTo>
                  <a:lnTo>
                    <a:pt x="2895228" y="3409490"/>
                  </a:lnTo>
                  <a:lnTo>
                    <a:pt x="2848054" y="3415544"/>
                  </a:lnTo>
                  <a:lnTo>
                    <a:pt x="2799738" y="3417599"/>
                  </a:lnTo>
                  <a:lnTo>
                    <a:pt x="559961" y="3417599"/>
                  </a:lnTo>
                  <a:lnTo>
                    <a:pt x="511645" y="3415544"/>
                  </a:lnTo>
                  <a:lnTo>
                    <a:pt x="464471" y="3409490"/>
                  </a:lnTo>
                  <a:lnTo>
                    <a:pt x="418606" y="3399605"/>
                  </a:lnTo>
                  <a:lnTo>
                    <a:pt x="374218" y="3386058"/>
                  </a:lnTo>
                  <a:lnTo>
                    <a:pt x="331477" y="3369016"/>
                  </a:lnTo>
                  <a:lnTo>
                    <a:pt x="290548" y="3348648"/>
                  </a:lnTo>
                  <a:lnTo>
                    <a:pt x="251602" y="3325121"/>
                  </a:lnTo>
                  <a:lnTo>
                    <a:pt x="214805" y="3298605"/>
                  </a:lnTo>
                  <a:lnTo>
                    <a:pt x="180326" y="3269266"/>
                  </a:lnTo>
                  <a:lnTo>
                    <a:pt x="148333" y="3237273"/>
                  </a:lnTo>
                  <a:lnTo>
                    <a:pt x="118994" y="3202794"/>
                  </a:lnTo>
                  <a:lnTo>
                    <a:pt x="92478" y="3165997"/>
                  </a:lnTo>
                  <a:lnTo>
                    <a:pt x="68951" y="3127051"/>
                  </a:lnTo>
                  <a:lnTo>
                    <a:pt x="48583" y="3086123"/>
                  </a:lnTo>
                  <a:lnTo>
                    <a:pt x="31541" y="3043381"/>
                  </a:lnTo>
                  <a:lnTo>
                    <a:pt x="17994" y="2998993"/>
                  </a:lnTo>
                  <a:lnTo>
                    <a:pt x="8109" y="2953128"/>
                  </a:lnTo>
                  <a:lnTo>
                    <a:pt x="2055" y="2905954"/>
                  </a:lnTo>
                  <a:lnTo>
                    <a:pt x="0" y="2857638"/>
                  </a:lnTo>
                  <a:lnTo>
                    <a:pt x="0" y="5599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01345" y="1261019"/>
            <a:ext cx="13385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Multiple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Choice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7757" y="1680120"/>
            <a:ext cx="2839720" cy="10769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2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person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traveling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20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km/hr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reached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destiny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2.5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hr </a:t>
            </a:r>
            <a:r>
              <a:rPr sz="1400" dirty="0">
                <a:latin typeface="Arial"/>
                <a:cs typeface="Arial"/>
              </a:rPr>
              <a:t>then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distance?</a:t>
            </a:r>
            <a:endParaRPr sz="1400">
              <a:latin typeface="Arial"/>
              <a:cs typeface="Arial"/>
            </a:endParaRPr>
          </a:p>
          <a:p>
            <a:pPr marL="12700" marR="172085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Choices: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(a)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53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(b)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55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(c)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52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(d)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60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(e)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50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km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7757" y="2937420"/>
            <a:ext cx="2660015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distance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that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person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traveled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would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have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been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20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km/hr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*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2.5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hrs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50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km</a:t>
            </a:r>
            <a:r>
              <a:rPr sz="1400" dirty="0">
                <a:latin typeface="Arial"/>
                <a:cs typeface="Arial"/>
              </a:rPr>
              <a:t>.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(e)</a:t>
            </a:r>
            <a:r>
              <a:rPr sz="1400" b="1" spc="-2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30" dirty="0"/>
              <a:t> </a:t>
            </a:r>
            <a:r>
              <a:rPr dirty="0"/>
              <a:t>Choice</a:t>
            </a:r>
            <a:r>
              <a:rPr spc="-15" dirty="0"/>
              <a:t> </a:t>
            </a:r>
            <a:r>
              <a:rPr dirty="0"/>
              <a:t>-</a:t>
            </a:r>
            <a:r>
              <a:rPr spc="-10" dirty="0"/>
              <a:t> Few-</a:t>
            </a:r>
            <a:r>
              <a:rPr dirty="0"/>
              <a:t>Shot</a:t>
            </a:r>
            <a:r>
              <a:rPr spc="-1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dirty="0"/>
              <a:t>Prompt</a:t>
            </a:r>
            <a:r>
              <a:rPr spc="-15" dirty="0"/>
              <a:t> </a:t>
            </a:r>
            <a:r>
              <a:rPr spc="-10" dirty="0"/>
              <a:t>Exemplar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4913737" y="1007887"/>
            <a:ext cx="3573145" cy="3427729"/>
            <a:chOff x="4913737" y="1007887"/>
            <a:chExt cx="3573145" cy="3427729"/>
          </a:xfrm>
        </p:grpSpPr>
        <p:sp>
          <p:nvSpPr>
            <p:cNvPr id="10" name="object 10"/>
            <p:cNvSpPr/>
            <p:nvPr/>
          </p:nvSpPr>
          <p:spPr>
            <a:xfrm>
              <a:off x="4918500" y="1012650"/>
              <a:ext cx="3563620" cy="3418204"/>
            </a:xfrm>
            <a:custGeom>
              <a:avLst/>
              <a:gdLst/>
              <a:ahLst/>
              <a:cxnLst/>
              <a:rect l="l" t="t" r="r" b="b"/>
              <a:pathLst>
                <a:path w="3563620" h="3418204">
                  <a:moveTo>
                    <a:pt x="2993788" y="3417599"/>
                  </a:moveTo>
                  <a:lnTo>
                    <a:pt x="569611" y="3417599"/>
                  </a:lnTo>
                  <a:lnTo>
                    <a:pt x="520463" y="3415509"/>
                  </a:lnTo>
                  <a:lnTo>
                    <a:pt x="472475" y="3409350"/>
                  </a:lnTo>
                  <a:lnTo>
                    <a:pt x="425820" y="3399295"/>
                  </a:lnTo>
                  <a:lnTo>
                    <a:pt x="380668" y="3385514"/>
                  </a:lnTo>
                  <a:lnTo>
                    <a:pt x="337189" y="3368179"/>
                  </a:lnTo>
                  <a:lnTo>
                    <a:pt x="295555" y="3347460"/>
                  </a:lnTo>
                  <a:lnTo>
                    <a:pt x="255938" y="3323528"/>
                  </a:lnTo>
                  <a:lnTo>
                    <a:pt x="218507" y="3296554"/>
                  </a:lnTo>
                  <a:lnTo>
                    <a:pt x="183434" y="3266710"/>
                  </a:lnTo>
                  <a:lnTo>
                    <a:pt x="150889" y="3234165"/>
                  </a:lnTo>
                  <a:lnTo>
                    <a:pt x="121045" y="3199092"/>
                  </a:lnTo>
                  <a:lnTo>
                    <a:pt x="94071" y="3161661"/>
                  </a:lnTo>
                  <a:lnTo>
                    <a:pt x="70139" y="3122044"/>
                  </a:lnTo>
                  <a:lnTo>
                    <a:pt x="49420" y="3080410"/>
                  </a:lnTo>
                  <a:lnTo>
                    <a:pt x="32085" y="3036931"/>
                  </a:lnTo>
                  <a:lnTo>
                    <a:pt x="18304" y="2991779"/>
                  </a:lnTo>
                  <a:lnTo>
                    <a:pt x="8249" y="2945124"/>
                  </a:lnTo>
                  <a:lnTo>
                    <a:pt x="2090" y="2897136"/>
                  </a:lnTo>
                  <a:lnTo>
                    <a:pt x="0" y="2847988"/>
                  </a:lnTo>
                  <a:lnTo>
                    <a:pt x="0" y="569611"/>
                  </a:lnTo>
                  <a:lnTo>
                    <a:pt x="2090" y="520463"/>
                  </a:lnTo>
                  <a:lnTo>
                    <a:pt x="8249" y="472475"/>
                  </a:lnTo>
                  <a:lnTo>
                    <a:pt x="18304" y="425820"/>
                  </a:lnTo>
                  <a:lnTo>
                    <a:pt x="32085" y="380668"/>
                  </a:lnTo>
                  <a:lnTo>
                    <a:pt x="49420" y="337189"/>
                  </a:lnTo>
                  <a:lnTo>
                    <a:pt x="70139" y="295555"/>
                  </a:lnTo>
                  <a:lnTo>
                    <a:pt x="94071" y="255938"/>
                  </a:lnTo>
                  <a:lnTo>
                    <a:pt x="121045" y="218507"/>
                  </a:lnTo>
                  <a:lnTo>
                    <a:pt x="150889" y="183434"/>
                  </a:lnTo>
                  <a:lnTo>
                    <a:pt x="183434" y="150889"/>
                  </a:lnTo>
                  <a:lnTo>
                    <a:pt x="218507" y="121045"/>
                  </a:lnTo>
                  <a:lnTo>
                    <a:pt x="255938" y="94071"/>
                  </a:lnTo>
                  <a:lnTo>
                    <a:pt x="295555" y="70139"/>
                  </a:lnTo>
                  <a:lnTo>
                    <a:pt x="337189" y="49420"/>
                  </a:lnTo>
                  <a:lnTo>
                    <a:pt x="380668" y="32085"/>
                  </a:lnTo>
                  <a:lnTo>
                    <a:pt x="425820" y="18304"/>
                  </a:lnTo>
                  <a:lnTo>
                    <a:pt x="472475" y="8249"/>
                  </a:lnTo>
                  <a:lnTo>
                    <a:pt x="520463" y="2090"/>
                  </a:lnTo>
                  <a:lnTo>
                    <a:pt x="569611" y="0"/>
                  </a:lnTo>
                  <a:lnTo>
                    <a:pt x="2993788" y="0"/>
                  </a:lnTo>
                  <a:lnTo>
                    <a:pt x="3043872" y="2204"/>
                  </a:lnTo>
                  <a:lnTo>
                    <a:pt x="3093235" y="8745"/>
                  </a:lnTo>
                  <a:lnTo>
                    <a:pt x="3141615" y="19515"/>
                  </a:lnTo>
                  <a:lnTo>
                    <a:pt x="3188750" y="34403"/>
                  </a:lnTo>
                  <a:lnTo>
                    <a:pt x="3234378" y="53303"/>
                  </a:lnTo>
                  <a:lnTo>
                    <a:pt x="3278235" y="76104"/>
                  </a:lnTo>
                  <a:lnTo>
                    <a:pt x="3320061" y="102699"/>
                  </a:lnTo>
                  <a:lnTo>
                    <a:pt x="3359591" y="132979"/>
                  </a:lnTo>
                  <a:lnTo>
                    <a:pt x="3396564" y="166835"/>
                  </a:lnTo>
                  <a:lnTo>
                    <a:pt x="3430420" y="203808"/>
                  </a:lnTo>
                  <a:lnTo>
                    <a:pt x="3460700" y="243339"/>
                  </a:lnTo>
                  <a:lnTo>
                    <a:pt x="3487295" y="285164"/>
                  </a:lnTo>
                  <a:lnTo>
                    <a:pt x="3510096" y="329021"/>
                  </a:lnTo>
                  <a:lnTo>
                    <a:pt x="3528996" y="374649"/>
                  </a:lnTo>
                  <a:lnTo>
                    <a:pt x="3543884" y="421784"/>
                  </a:lnTo>
                  <a:lnTo>
                    <a:pt x="3554654" y="470164"/>
                  </a:lnTo>
                  <a:lnTo>
                    <a:pt x="3561195" y="519527"/>
                  </a:lnTo>
                  <a:lnTo>
                    <a:pt x="3563399" y="569611"/>
                  </a:lnTo>
                  <a:lnTo>
                    <a:pt x="3563399" y="2847988"/>
                  </a:lnTo>
                  <a:lnTo>
                    <a:pt x="3561309" y="2897136"/>
                  </a:lnTo>
                  <a:lnTo>
                    <a:pt x="3555150" y="2945124"/>
                  </a:lnTo>
                  <a:lnTo>
                    <a:pt x="3545095" y="2991779"/>
                  </a:lnTo>
                  <a:lnTo>
                    <a:pt x="3531314" y="3036931"/>
                  </a:lnTo>
                  <a:lnTo>
                    <a:pt x="3513979" y="3080410"/>
                  </a:lnTo>
                  <a:lnTo>
                    <a:pt x="3493260" y="3122044"/>
                  </a:lnTo>
                  <a:lnTo>
                    <a:pt x="3469328" y="3161661"/>
                  </a:lnTo>
                  <a:lnTo>
                    <a:pt x="3442354" y="3199092"/>
                  </a:lnTo>
                  <a:lnTo>
                    <a:pt x="3412510" y="3234165"/>
                  </a:lnTo>
                  <a:lnTo>
                    <a:pt x="3379965" y="3266710"/>
                  </a:lnTo>
                  <a:lnTo>
                    <a:pt x="3344892" y="3296554"/>
                  </a:lnTo>
                  <a:lnTo>
                    <a:pt x="3307461" y="3323528"/>
                  </a:lnTo>
                  <a:lnTo>
                    <a:pt x="3267843" y="3347460"/>
                  </a:lnTo>
                  <a:lnTo>
                    <a:pt x="3226210" y="3368179"/>
                  </a:lnTo>
                  <a:lnTo>
                    <a:pt x="3182731" y="3385514"/>
                  </a:lnTo>
                  <a:lnTo>
                    <a:pt x="3137579" y="3399295"/>
                  </a:lnTo>
                  <a:lnTo>
                    <a:pt x="3090923" y="3409350"/>
                  </a:lnTo>
                  <a:lnTo>
                    <a:pt x="3042936" y="3415509"/>
                  </a:lnTo>
                  <a:lnTo>
                    <a:pt x="2993788" y="3417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18500" y="1012650"/>
              <a:ext cx="3563620" cy="3418204"/>
            </a:xfrm>
            <a:custGeom>
              <a:avLst/>
              <a:gdLst/>
              <a:ahLst/>
              <a:cxnLst/>
              <a:rect l="l" t="t" r="r" b="b"/>
              <a:pathLst>
                <a:path w="3563620" h="3418204">
                  <a:moveTo>
                    <a:pt x="0" y="569611"/>
                  </a:moveTo>
                  <a:lnTo>
                    <a:pt x="2090" y="520463"/>
                  </a:lnTo>
                  <a:lnTo>
                    <a:pt x="8249" y="472475"/>
                  </a:lnTo>
                  <a:lnTo>
                    <a:pt x="18304" y="425820"/>
                  </a:lnTo>
                  <a:lnTo>
                    <a:pt x="32085" y="380668"/>
                  </a:lnTo>
                  <a:lnTo>
                    <a:pt x="49420" y="337189"/>
                  </a:lnTo>
                  <a:lnTo>
                    <a:pt x="70139" y="295555"/>
                  </a:lnTo>
                  <a:lnTo>
                    <a:pt x="94071" y="255938"/>
                  </a:lnTo>
                  <a:lnTo>
                    <a:pt x="121045" y="218507"/>
                  </a:lnTo>
                  <a:lnTo>
                    <a:pt x="150889" y="183434"/>
                  </a:lnTo>
                  <a:lnTo>
                    <a:pt x="183434" y="150889"/>
                  </a:lnTo>
                  <a:lnTo>
                    <a:pt x="218507" y="121045"/>
                  </a:lnTo>
                  <a:lnTo>
                    <a:pt x="255938" y="94071"/>
                  </a:lnTo>
                  <a:lnTo>
                    <a:pt x="295555" y="70139"/>
                  </a:lnTo>
                  <a:lnTo>
                    <a:pt x="337189" y="49420"/>
                  </a:lnTo>
                  <a:lnTo>
                    <a:pt x="380668" y="32085"/>
                  </a:lnTo>
                  <a:lnTo>
                    <a:pt x="425820" y="18304"/>
                  </a:lnTo>
                  <a:lnTo>
                    <a:pt x="472475" y="8249"/>
                  </a:lnTo>
                  <a:lnTo>
                    <a:pt x="520463" y="2090"/>
                  </a:lnTo>
                  <a:lnTo>
                    <a:pt x="569611" y="0"/>
                  </a:lnTo>
                  <a:lnTo>
                    <a:pt x="2993788" y="0"/>
                  </a:lnTo>
                  <a:lnTo>
                    <a:pt x="3043872" y="2204"/>
                  </a:lnTo>
                  <a:lnTo>
                    <a:pt x="3093235" y="8745"/>
                  </a:lnTo>
                  <a:lnTo>
                    <a:pt x="3141615" y="19515"/>
                  </a:lnTo>
                  <a:lnTo>
                    <a:pt x="3188750" y="34403"/>
                  </a:lnTo>
                  <a:lnTo>
                    <a:pt x="3234378" y="53303"/>
                  </a:lnTo>
                  <a:lnTo>
                    <a:pt x="3278235" y="76104"/>
                  </a:lnTo>
                  <a:lnTo>
                    <a:pt x="3320061" y="102699"/>
                  </a:lnTo>
                  <a:lnTo>
                    <a:pt x="3359591" y="132979"/>
                  </a:lnTo>
                  <a:lnTo>
                    <a:pt x="3396564" y="166835"/>
                  </a:lnTo>
                  <a:lnTo>
                    <a:pt x="3430420" y="203808"/>
                  </a:lnTo>
                  <a:lnTo>
                    <a:pt x="3460700" y="243339"/>
                  </a:lnTo>
                  <a:lnTo>
                    <a:pt x="3487295" y="285164"/>
                  </a:lnTo>
                  <a:lnTo>
                    <a:pt x="3510096" y="329021"/>
                  </a:lnTo>
                  <a:lnTo>
                    <a:pt x="3528996" y="374649"/>
                  </a:lnTo>
                  <a:lnTo>
                    <a:pt x="3543884" y="421784"/>
                  </a:lnTo>
                  <a:lnTo>
                    <a:pt x="3554654" y="470164"/>
                  </a:lnTo>
                  <a:lnTo>
                    <a:pt x="3561195" y="519527"/>
                  </a:lnTo>
                  <a:lnTo>
                    <a:pt x="3563399" y="569611"/>
                  </a:lnTo>
                  <a:lnTo>
                    <a:pt x="3563399" y="2847988"/>
                  </a:lnTo>
                  <a:lnTo>
                    <a:pt x="3561309" y="2897136"/>
                  </a:lnTo>
                  <a:lnTo>
                    <a:pt x="3555150" y="2945124"/>
                  </a:lnTo>
                  <a:lnTo>
                    <a:pt x="3545095" y="2991779"/>
                  </a:lnTo>
                  <a:lnTo>
                    <a:pt x="3531314" y="3036931"/>
                  </a:lnTo>
                  <a:lnTo>
                    <a:pt x="3513979" y="3080410"/>
                  </a:lnTo>
                  <a:lnTo>
                    <a:pt x="3493260" y="3122044"/>
                  </a:lnTo>
                  <a:lnTo>
                    <a:pt x="3469328" y="3161661"/>
                  </a:lnTo>
                  <a:lnTo>
                    <a:pt x="3442354" y="3199092"/>
                  </a:lnTo>
                  <a:lnTo>
                    <a:pt x="3412510" y="3234165"/>
                  </a:lnTo>
                  <a:lnTo>
                    <a:pt x="3379965" y="3266710"/>
                  </a:lnTo>
                  <a:lnTo>
                    <a:pt x="3344892" y="3296554"/>
                  </a:lnTo>
                  <a:lnTo>
                    <a:pt x="3307461" y="3323528"/>
                  </a:lnTo>
                  <a:lnTo>
                    <a:pt x="3267844" y="3347460"/>
                  </a:lnTo>
                  <a:lnTo>
                    <a:pt x="3226210" y="3368179"/>
                  </a:lnTo>
                  <a:lnTo>
                    <a:pt x="3182731" y="3385514"/>
                  </a:lnTo>
                  <a:lnTo>
                    <a:pt x="3137579" y="3399295"/>
                  </a:lnTo>
                  <a:lnTo>
                    <a:pt x="3090923" y="3409350"/>
                  </a:lnTo>
                  <a:lnTo>
                    <a:pt x="3042936" y="3415509"/>
                  </a:lnTo>
                  <a:lnTo>
                    <a:pt x="2993788" y="3417599"/>
                  </a:lnTo>
                  <a:lnTo>
                    <a:pt x="569611" y="3417599"/>
                  </a:lnTo>
                  <a:lnTo>
                    <a:pt x="520463" y="3415509"/>
                  </a:lnTo>
                  <a:lnTo>
                    <a:pt x="472475" y="3409350"/>
                  </a:lnTo>
                  <a:lnTo>
                    <a:pt x="425820" y="3399295"/>
                  </a:lnTo>
                  <a:lnTo>
                    <a:pt x="380668" y="3385514"/>
                  </a:lnTo>
                  <a:lnTo>
                    <a:pt x="337189" y="3368179"/>
                  </a:lnTo>
                  <a:lnTo>
                    <a:pt x="295555" y="3347460"/>
                  </a:lnTo>
                  <a:lnTo>
                    <a:pt x="255938" y="3323528"/>
                  </a:lnTo>
                  <a:lnTo>
                    <a:pt x="218507" y="3296554"/>
                  </a:lnTo>
                  <a:lnTo>
                    <a:pt x="183434" y="3266710"/>
                  </a:lnTo>
                  <a:lnTo>
                    <a:pt x="150889" y="3234165"/>
                  </a:lnTo>
                  <a:lnTo>
                    <a:pt x="121045" y="3199092"/>
                  </a:lnTo>
                  <a:lnTo>
                    <a:pt x="94071" y="3161661"/>
                  </a:lnTo>
                  <a:lnTo>
                    <a:pt x="70139" y="3122044"/>
                  </a:lnTo>
                  <a:lnTo>
                    <a:pt x="49420" y="3080410"/>
                  </a:lnTo>
                  <a:lnTo>
                    <a:pt x="32085" y="3036931"/>
                  </a:lnTo>
                  <a:lnTo>
                    <a:pt x="18304" y="2991779"/>
                  </a:lnTo>
                  <a:lnTo>
                    <a:pt x="8249" y="2945124"/>
                  </a:lnTo>
                  <a:lnTo>
                    <a:pt x="2090" y="2897136"/>
                  </a:lnTo>
                  <a:lnTo>
                    <a:pt x="0" y="2847988"/>
                  </a:lnTo>
                  <a:lnTo>
                    <a:pt x="0" y="56961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30970" y="1245396"/>
            <a:ext cx="13385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Multiple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Choice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5158358" y="1664496"/>
            <a:ext cx="3041650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3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If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/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3/4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8a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+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5b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22,then </a:t>
            </a:r>
            <a:r>
              <a:rPr sz="1400" dirty="0">
                <a:latin typeface="Arial"/>
                <a:cs typeface="Arial"/>
              </a:rPr>
              <a:t>find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value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85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Choices: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(a)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1/2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(b)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3/2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(c)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5/2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(d)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4/2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(e)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7/2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58358" y="2712246"/>
            <a:ext cx="3036570" cy="10769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36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If</a:t>
            </a:r>
            <a:r>
              <a:rPr sz="1400" b="1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/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</a:t>
            </a:r>
            <a:r>
              <a:rPr sz="1400" b="1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3/4,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then</a:t>
            </a:r>
            <a:r>
              <a:rPr sz="1400" b="1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4a</a:t>
            </a:r>
            <a:r>
              <a:rPr sz="1400" b="1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/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3.</a:t>
            </a:r>
            <a:r>
              <a:rPr sz="1400" b="1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So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8a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+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5(4a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/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3)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22.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simplifies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to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8a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+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20a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/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22,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which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means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44a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37761C"/>
                </a:solidFill>
                <a:latin typeface="Arial"/>
                <a:cs typeface="Arial"/>
              </a:rPr>
              <a:t>/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22.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So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equal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to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3/2.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(b)</a:t>
            </a:r>
            <a:r>
              <a:rPr sz="1400" b="1" spc="-2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69374" y="4597463"/>
            <a:ext cx="2694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various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formats.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30" dirty="0"/>
              <a:t> </a:t>
            </a:r>
            <a:r>
              <a:rPr dirty="0"/>
              <a:t>Choice</a:t>
            </a:r>
            <a:r>
              <a:rPr spc="-15" dirty="0"/>
              <a:t> </a:t>
            </a:r>
            <a:r>
              <a:rPr dirty="0"/>
              <a:t>-</a:t>
            </a:r>
            <a:r>
              <a:rPr spc="-10" dirty="0"/>
              <a:t> Few-</a:t>
            </a:r>
            <a:r>
              <a:rPr dirty="0"/>
              <a:t>Shot</a:t>
            </a:r>
            <a:r>
              <a:rPr spc="-1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dirty="0"/>
              <a:t>Prompt</a:t>
            </a:r>
            <a:r>
              <a:rPr spc="-15" dirty="0"/>
              <a:t> </a:t>
            </a:r>
            <a:r>
              <a:rPr spc="-10" dirty="0"/>
              <a:t>Exemplar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5962" y="1026337"/>
            <a:ext cx="3369310" cy="3427729"/>
            <a:chOff x="785962" y="1026337"/>
            <a:chExt cx="3369310" cy="3427729"/>
          </a:xfrm>
        </p:grpSpPr>
        <p:sp>
          <p:nvSpPr>
            <p:cNvPr id="4" name="object 4"/>
            <p:cNvSpPr/>
            <p:nvPr/>
          </p:nvSpPr>
          <p:spPr>
            <a:xfrm>
              <a:off x="790724" y="1031099"/>
              <a:ext cx="3359785" cy="3418204"/>
            </a:xfrm>
            <a:custGeom>
              <a:avLst/>
              <a:gdLst/>
              <a:ahLst/>
              <a:cxnLst/>
              <a:rect l="l" t="t" r="r" b="b"/>
              <a:pathLst>
                <a:path w="3359785" h="3418204">
                  <a:moveTo>
                    <a:pt x="2799738" y="3417599"/>
                  </a:moveTo>
                  <a:lnTo>
                    <a:pt x="559961" y="3417599"/>
                  </a:lnTo>
                  <a:lnTo>
                    <a:pt x="511645" y="3415544"/>
                  </a:lnTo>
                  <a:lnTo>
                    <a:pt x="464471" y="3409490"/>
                  </a:lnTo>
                  <a:lnTo>
                    <a:pt x="418606" y="3399605"/>
                  </a:lnTo>
                  <a:lnTo>
                    <a:pt x="374218" y="3386058"/>
                  </a:lnTo>
                  <a:lnTo>
                    <a:pt x="331477" y="3369016"/>
                  </a:lnTo>
                  <a:lnTo>
                    <a:pt x="290548" y="3348648"/>
                  </a:lnTo>
                  <a:lnTo>
                    <a:pt x="251602" y="3325121"/>
                  </a:lnTo>
                  <a:lnTo>
                    <a:pt x="214805" y="3298605"/>
                  </a:lnTo>
                  <a:lnTo>
                    <a:pt x="180326" y="3269266"/>
                  </a:lnTo>
                  <a:lnTo>
                    <a:pt x="148333" y="3237273"/>
                  </a:lnTo>
                  <a:lnTo>
                    <a:pt x="118994" y="3202794"/>
                  </a:lnTo>
                  <a:lnTo>
                    <a:pt x="92478" y="3165997"/>
                  </a:lnTo>
                  <a:lnTo>
                    <a:pt x="68951" y="3127051"/>
                  </a:lnTo>
                  <a:lnTo>
                    <a:pt x="48583" y="3086123"/>
                  </a:lnTo>
                  <a:lnTo>
                    <a:pt x="31541" y="3043381"/>
                  </a:lnTo>
                  <a:lnTo>
                    <a:pt x="17994" y="2998993"/>
                  </a:lnTo>
                  <a:lnTo>
                    <a:pt x="8109" y="2953128"/>
                  </a:lnTo>
                  <a:lnTo>
                    <a:pt x="2055" y="2905954"/>
                  </a:lnTo>
                  <a:lnTo>
                    <a:pt x="0" y="2857638"/>
                  </a:lnTo>
                  <a:lnTo>
                    <a:pt x="0" y="559961"/>
                  </a:lnTo>
                  <a:lnTo>
                    <a:pt x="2055" y="511645"/>
                  </a:lnTo>
                  <a:lnTo>
                    <a:pt x="8109" y="464471"/>
                  </a:lnTo>
                  <a:lnTo>
                    <a:pt x="17994" y="418606"/>
                  </a:lnTo>
                  <a:lnTo>
                    <a:pt x="31541" y="374218"/>
                  </a:lnTo>
                  <a:lnTo>
                    <a:pt x="48583" y="331477"/>
                  </a:lnTo>
                  <a:lnTo>
                    <a:pt x="68951" y="290548"/>
                  </a:lnTo>
                  <a:lnTo>
                    <a:pt x="92478" y="251602"/>
                  </a:lnTo>
                  <a:lnTo>
                    <a:pt x="118994" y="214805"/>
                  </a:lnTo>
                  <a:lnTo>
                    <a:pt x="148333" y="180326"/>
                  </a:lnTo>
                  <a:lnTo>
                    <a:pt x="180326" y="148333"/>
                  </a:lnTo>
                  <a:lnTo>
                    <a:pt x="214805" y="118994"/>
                  </a:lnTo>
                  <a:lnTo>
                    <a:pt x="251602" y="92478"/>
                  </a:lnTo>
                  <a:lnTo>
                    <a:pt x="290548" y="68951"/>
                  </a:lnTo>
                  <a:lnTo>
                    <a:pt x="331477" y="48583"/>
                  </a:lnTo>
                  <a:lnTo>
                    <a:pt x="374218" y="31541"/>
                  </a:lnTo>
                  <a:lnTo>
                    <a:pt x="418606" y="17994"/>
                  </a:lnTo>
                  <a:lnTo>
                    <a:pt x="464471" y="8109"/>
                  </a:lnTo>
                  <a:lnTo>
                    <a:pt x="511645" y="2055"/>
                  </a:lnTo>
                  <a:lnTo>
                    <a:pt x="559961" y="0"/>
                  </a:lnTo>
                  <a:lnTo>
                    <a:pt x="2799738" y="0"/>
                  </a:lnTo>
                  <a:lnTo>
                    <a:pt x="2848974" y="2167"/>
                  </a:lnTo>
                  <a:lnTo>
                    <a:pt x="2897500" y="8597"/>
                  </a:lnTo>
                  <a:lnTo>
                    <a:pt x="2945061" y="19184"/>
                  </a:lnTo>
                  <a:lnTo>
                    <a:pt x="2991397" y="33821"/>
                  </a:lnTo>
                  <a:lnTo>
                    <a:pt x="3036252" y="52400"/>
                  </a:lnTo>
                  <a:lnTo>
                    <a:pt x="3079366" y="74815"/>
                  </a:lnTo>
                  <a:lnTo>
                    <a:pt x="3120483" y="100959"/>
                  </a:lnTo>
                  <a:lnTo>
                    <a:pt x="3159343" y="130726"/>
                  </a:lnTo>
                  <a:lnTo>
                    <a:pt x="3195690" y="164008"/>
                  </a:lnTo>
                  <a:lnTo>
                    <a:pt x="3228973" y="200356"/>
                  </a:lnTo>
                  <a:lnTo>
                    <a:pt x="3258739" y="239216"/>
                  </a:lnTo>
                  <a:lnTo>
                    <a:pt x="3284884" y="280333"/>
                  </a:lnTo>
                  <a:lnTo>
                    <a:pt x="3307299" y="323447"/>
                  </a:lnTo>
                  <a:lnTo>
                    <a:pt x="3325878" y="368301"/>
                  </a:lnTo>
                  <a:lnTo>
                    <a:pt x="3340515" y="414638"/>
                  </a:lnTo>
                  <a:lnTo>
                    <a:pt x="3351102" y="462198"/>
                  </a:lnTo>
                  <a:lnTo>
                    <a:pt x="3357532" y="510725"/>
                  </a:lnTo>
                  <a:lnTo>
                    <a:pt x="3359699" y="559961"/>
                  </a:lnTo>
                  <a:lnTo>
                    <a:pt x="3359699" y="2857638"/>
                  </a:lnTo>
                  <a:lnTo>
                    <a:pt x="3357644" y="2905954"/>
                  </a:lnTo>
                  <a:lnTo>
                    <a:pt x="3351590" y="2953128"/>
                  </a:lnTo>
                  <a:lnTo>
                    <a:pt x="3341705" y="2998993"/>
                  </a:lnTo>
                  <a:lnTo>
                    <a:pt x="3328158" y="3043381"/>
                  </a:lnTo>
                  <a:lnTo>
                    <a:pt x="3311116" y="3086123"/>
                  </a:lnTo>
                  <a:lnTo>
                    <a:pt x="3290748" y="3127051"/>
                  </a:lnTo>
                  <a:lnTo>
                    <a:pt x="3267221" y="3165997"/>
                  </a:lnTo>
                  <a:lnTo>
                    <a:pt x="3240705" y="3202794"/>
                  </a:lnTo>
                  <a:lnTo>
                    <a:pt x="3211366" y="3237273"/>
                  </a:lnTo>
                  <a:lnTo>
                    <a:pt x="3179373" y="3269266"/>
                  </a:lnTo>
                  <a:lnTo>
                    <a:pt x="3144894" y="3298605"/>
                  </a:lnTo>
                  <a:lnTo>
                    <a:pt x="3108097" y="3325121"/>
                  </a:lnTo>
                  <a:lnTo>
                    <a:pt x="3069151" y="3348648"/>
                  </a:lnTo>
                  <a:lnTo>
                    <a:pt x="3028223" y="3369016"/>
                  </a:lnTo>
                  <a:lnTo>
                    <a:pt x="2985481" y="3386058"/>
                  </a:lnTo>
                  <a:lnTo>
                    <a:pt x="2941093" y="3399605"/>
                  </a:lnTo>
                  <a:lnTo>
                    <a:pt x="2895228" y="3409490"/>
                  </a:lnTo>
                  <a:lnTo>
                    <a:pt x="2848054" y="3415544"/>
                  </a:lnTo>
                  <a:lnTo>
                    <a:pt x="2799738" y="3417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0724" y="1031099"/>
              <a:ext cx="3359785" cy="3418204"/>
            </a:xfrm>
            <a:custGeom>
              <a:avLst/>
              <a:gdLst/>
              <a:ahLst/>
              <a:cxnLst/>
              <a:rect l="l" t="t" r="r" b="b"/>
              <a:pathLst>
                <a:path w="3359785" h="3418204">
                  <a:moveTo>
                    <a:pt x="0" y="559961"/>
                  </a:moveTo>
                  <a:lnTo>
                    <a:pt x="2055" y="511645"/>
                  </a:lnTo>
                  <a:lnTo>
                    <a:pt x="8109" y="464471"/>
                  </a:lnTo>
                  <a:lnTo>
                    <a:pt x="17994" y="418606"/>
                  </a:lnTo>
                  <a:lnTo>
                    <a:pt x="31541" y="374218"/>
                  </a:lnTo>
                  <a:lnTo>
                    <a:pt x="48583" y="331477"/>
                  </a:lnTo>
                  <a:lnTo>
                    <a:pt x="68951" y="290548"/>
                  </a:lnTo>
                  <a:lnTo>
                    <a:pt x="92478" y="251602"/>
                  </a:lnTo>
                  <a:lnTo>
                    <a:pt x="118994" y="214805"/>
                  </a:lnTo>
                  <a:lnTo>
                    <a:pt x="148333" y="180326"/>
                  </a:lnTo>
                  <a:lnTo>
                    <a:pt x="180326" y="148333"/>
                  </a:lnTo>
                  <a:lnTo>
                    <a:pt x="214805" y="118994"/>
                  </a:lnTo>
                  <a:lnTo>
                    <a:pt x="251602" y="92478"/>
                  </a:lnTo>
                  <a:lnTo>
                    <a:pt x="290548" y="68951"/>
                  </a:lnTo>
                  <a:lnTo>
                    <a:pt x="331477" y="48583"/>
                  </a:lnTo>
                  <a:lnTo>
                    <a:pt x="374218" y="31541"/>
                  </a:lnTo>
                  <a:lnTo>
                    <a:pt x="418606" y="17994"/>
                  </a:lnTo>
                  <a:lnTo>
                    <a:pt x="464471" y="8109"/>
                  </a:lnTo>
                  <a:lnTo>
                    <a:pt x="511645" y="2055"/>
                  </a:lnTo>
                  <a:lnTo>
                    <a:pt x="559961" y="0"/>
                  </a:lnTo>
                  <a:lnTo>
                    <a:pt x="2799738" y="0"/>
                  </a:lnTo>
                  <a:lnTo>
                    <a:pt x="2848974" y="2167"/>
                  </a:lnTo>
                  <a:lnTo>
                    <a:pt x="2897500" y="8597"/>
                  </a:lnTo>
                  <a:lnTo>
                    <a:pt x="2945061" y="19184"/>
                  </a:lnTo>
                  <a:lnTo>
                    <a:pt x="2991397" y="33821"/>
                  </a:lnTo>
                  <a:lnTo>
                    <a:pt x="3036252" y="52400"/>
                  </a:lnTo>
                  <a:lnTo>
                    <a:pt x="3079366" y="74815"/>
                  </a:lnTo>
                  <a:lnTo>
                    <a:pt x="3120483" y="100959"/>
                  </a:lnTo>
                  <a:lnTo>
                    <a:pt x="3159343" y="130726"/>
                  </a:lnTo>
                  <a:lnTo>
                    <a:pt x="3195690" y="164008"/>
                  </a:lnTo>
                  <a:lnTo>
                    <a:pt x="3228973" y="200356"/>
                  </a:lnTo>
                  <a:lnTo>
                    <a:pt x="3258739" y="239216"/>
                  </a:lnTo>
                  <a:lnTo>
                    <a:pt x="3284884" y="280333"/>
                  </a:lnTo>
                  <a:lnTo>
                    <a:pt x="3307299" y="323447"/>
                  </a:lnTo>
                  <a:lnTo>
                    <a:pt x="3325878" y="368301"/>
                  </a:lnTo>
                  <a:lnTo>
                    <a:pt x="3340515" y="414638"/>
                  </a:lnTo>
                  <a:lnTo>
                    <a:pt x="3351102" y="462198"/>
                  </a:lnTo>
                  <a:lnTo>
                    <a:pt x="3357532" y="510725"/>
                  </a:lnTo>
                  <a:lnTo>
                    <a:pt x="3359699" y="559961"/>
                  </a:lnTo>
                  <a:lnTo>
                    <a:pt x="3359699" y="2857638"/>
                  </a:lnTo>
                  <a:lnTo>
                    <a:pt x="3357644" y="2905954"/>
                  </a:lnTo>
                  <a:lnTo>
                    <a:pt x="3351590" y="2953128"/>
                  </a:lnTo>
                  <a:lnTo>
                    <a:pt x="3341705" y="2998993"/>
                  </a:lnTo>
                  <a:lnTo>
                    <a:pt x="3328158" y="3043381"/>
                  </a:lnTo>
                  <a:lnTo>
                    <a:pt x="3311116" y="3086123"/>
                  </a:lnTo>
                  <a:lnTo>
                    <a:pt x="3290748" y="3127051"/>
                  </a:lnTo>
                  <a:lnTo>
                    <a:pt x="3267221" y="3165997"/>
                  </a:lnTo>
                  <a:lnTo>
                    <a:pt x="3240705" y="3202794"/>
                  </a:lnTo>
                  <a:lnTo>
                    <a:pt x="3211366" y="3237273"/>
                  </a:lnTo>
                  <a:lnTo>
                    <a:pt x="3179373" y="3269266"/>
                  </a:lnTo>
                  <a:lnTo>
                    <a:pt x="3144894" y="3298605"/>
                  </a:lnTo>
                  <a:lnTo>
                    <a:pt x="3108097" y="3325121"/>
                  </a:lnTo>
                  <a:lnTo>
                    <a:pt x="3069151" y="3348648"/>
                  </a:lnTo>
                  <a:lnTo>
                    <a:pt x="3028223" y="3369016"/>
                  </a:lnTo>
                  <a:lnTo>
                    <a:pt x="2985481" y="3386058"/>
                  </a:lnTo>
                  <a:lnTo>
                    <a:pt x="2941093" y="3399605"/>
                  </a:lnTo>
                  <a:lnTo>
                    <a:pt x="2895228" y="3409490"/>
                  </a:lnTo>
                  <a:lnTo>
                    <a:pt x="2848054" y="3415544"/>
                  </a:lnTo>
                  <a:lnTo>
                    <a:pt x="2799738" y="3417599"/>
                  </a:lnTo>
                  <a:lnTo>
                    <a:pt x="559961" y="3417599"/>
                  </a:lnTo>
                  <a:lnTo>
                    <a:pt x="511645" y="3415544"/>
                  </a:lnTo>
                  <a:lnTo>
                    <a:pt x="464471" y="3409490"/>
                  </a:lnTo>
                  <a:lnTo>
                    <a:pt x="418606" y="3399605"/>
                  </a:lnTo>
                  <a:lnTo>
                    <a:pt x="374218" y="3386058"/>
                  </a:lnTo>
                  <a:lnTo>
                    <a:pt x="331477" y="3369016"/>
                  </a:lnTo>
                  <a:lnTo>
                    <a:pt x="290548" y="3348648"/>
                  </a:lnTo>
                  <a:lnTo>
                    <a:pt x="251602" y="3325121"/>
                  </a:lnTo>
                  <a:lnTo>
                    <a:pt x="214805" y="3298605"/>
                  </a:lnTo>
                  <a:lnTo>
                    <a:pt x="180326" y="3269266"/>
                  </a:lnTo>
                  <a:lnTo>
                    <a:pt x="148333" y="3237273"/>
                  </a:lnTo>
                  <a:lnTo>
                    <a:pt x="118994" y="3202794"/>
                  </a:lnTo>
                  <a:lnTo>
                    <a:pt x="92478" y="3165997"/>
                  </a:lnTo>
                  <a:lnTo>
                    <a:pt x="68951" y="3127051"/>
                  </a:lnTo>
                  <a:lnTo>
                    <a:pt x="48583" y="3086123"/>
                  </a:lnTo>
                  <a:lnTo>
                    <a:pt x="31541" y="3043381"/>
                  </a:lnTo>
                  <a:lnTo>
                    <a:pt x="17994" y="2998993"/>
                  </a:lnTo>
                  <a:lnTo>
                    <a:pt x="8109" y="2953128"/>
                  </a:lnTo>
                  <a:lnTo>
                    <a:pt x="2055" y="2905954"/>
                  </a:lnTo>
                  <a:lnTo>
                    <a:pt x="0" y="2857638"/>
                  </a:lnTo>
                  <a:lnTo>
                    <a:pt x="0" y="5599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27757" y="1261019"/>
            <a:ext cx="2839720" cy="254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Multiple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Choice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2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person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traveling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20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km/hr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reached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destiny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2.5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hr </a:t>
            </a:r>
            <a:r>
              <a:rPr sz="1400" dirty="0">
                <a:latin typeface="Arial"/>
                <a:cs typeface="Arial"/>
              </a:rPr>
              <a:t>then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distance?</a:t>
            </a:r>
            <a:endParaRPr sz="1400">
              <a:latin typeface="Arial"/>
              <a:cs typeface="Arial"/>
            </a:endParaRPr>
          </a:p>
          <a:p>
            <a:pPr marL="12700" marR="172085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Choices: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(a)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53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(b)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55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(c)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52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(d)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60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(e)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50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km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184785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distance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that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person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traveled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would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have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been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20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km/hr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*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2.5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hrs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50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km</a:t>
            </a:r>
            <a:r>
              <a:rPr sz="1400" dirty="0">
                <a:latin typeface="Arial"/>
                <a:cs typeface="Arial"/>
              </a:rPr>
              <a:t>.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(e)</a:t>
            </a:r>
            <a:r>
              <a:rPr sz="1400" b="1" spc="-2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619218" y="1426863"/>
            <a:ext cx="3688079" cy="100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marR="508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4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whose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questions,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intermediate </a:t>
            </a:r>
            <a:r>
              <a:rPr sz="1400" dirty="0">
                <a:latin typeface="Times New Roman"/>
                <a:cs typeface="Times New Roman"/>
              </a:rPr>
              <a:t>reasoning,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answers are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AQuA-</a:t>
            </a:r>
            <a:r>
              <a:rPr sz="1400" spc="-50" dirty="0">
                <a:latin typeface="Times New Roman"/>
                <a:cs typeface="Times New Roman"/>
              </a:rPr>
              <a:t>RAT’s </a:t>
            </a:r>
            <a:r>
              <a:rPr sz="1400" b="1" dirty="0">
                <a:latin typeface="Times New Roman"/>
                <a:cs typeface="Times New Roman"/>
              </a:rPr>
              <a:t>training</a:t>
            </a:r>
            <a:r>
              <a:rPr sz="1400" b="1" spc="-25" dirty="0">
                <a:latin typeface="Times New Roman"/>
                <a:cs typeface="Times New Roman"/>
              </a:rPr>
              <a:t> set</a:t>
            </a:r>
            <a:endParaRPr sz="1400">
              <a:latin typeface="Times New Roman"/>
              <a:cs typeface="Times New Roman"/>
            </a:endParaRPr>
          </a:p>
          <a:p>
            <a:pPr marL="347980" indent="-335915">
              <a:lnSpc>
                <a:spcPct val="100000"/>
              </a:lnSpc>
              <a:spcBef>
                <a:spcPts val="10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Exemplars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flexible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formats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30" dirty="0"/>
              <a:t> </a:t>
            </a:r>
            <a:r>
              <a:rPr dirty="0"/>
              <a:t>Choice</a:t>
            </a:r>
            <a:r>
              <a:rPr spc="-15" dirty="0"/>
              <a:t> </a:t>
            </a:r>
            <a:r>
              <a:rPr dirty="0"/>
              <a:t>-</a:t>
            </a:r>
            <a:r>
              <a:rPr spc="-10" dirty="0"/>
              <a:t> Few-</a:t>
            </a:r>
            <a:r>
              <a:rPr dirty="0"/>
              <a:t>Shot</a:t>
            </a:r>
            <a:r>
              <a:rPr spc="-1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dirty="0"/>
              <a:t>Prompt</a:t>
            </a:r>
            <a:r>
              <a:rPr spc="-15" dirty="0"/>
              <a:t> </a:t>
            </a:r>
            <a:r>
              <a:rPr spc="-10" dirty="0"/>
              <a:t>Exemplar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19218" y="1426863"/>
            <a:ext cx="3573779" cy="134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marR="508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4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whose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questions,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intermediate </a:t>
            </a:r>
            <a:r>
              <a:rPr sz="1400" dirty="0">
                <a:latin typeface="Times New Roman"/>
                <a:cs typeface="Times New Roman"/>
              </a:rPr>
              <a:t>reasoning,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answers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training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set</a:t>
            </a:r>
            <a:endParaRPr sz="1400">
              <a:latin typeface="Times New Roman"/>
              <a:cs typeface="Times New Roman"/>
            </a:endParaRPr>
          </a:p>
          <a:p>
            <a:pPr marL="347980" indent="-335915">
              <a:lnSpc>
                <a:spcPct val="100000"/>
              </a:lnSpc>
              <a:spcBef>
                <a:spcPts val="10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Exemplars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flexible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formats</a:t>
            </a:r>
            <a:endParaRPr sz="1400">
              <a:latin typeface="Times New Roman"/>
              <a:cs typeface="Times New Roman"/>
            </a:endParaRPr>
          </a:p>
          <a:p>
            <a:pPr marL="347980" marR="139065" indent="-335915">
              <a:lnSpc>
                <a:spcPct val="100000"/>
              </a:lnSpc>
              <a:spcBef>
                <a:spcPts val="10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Benchmarked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AQuA-</a:t>
            </a:r>
            <a:r>
              <a:rPr sz="1400" b="1" spc="-35" dirty="0">
                <a:latin typeface="Times New Roman"/>
                <a:cs typeface="Times New Roman"/>
              </a:rPr>
              <a:t>RAT </a:t>
            </a:r>
            <a:r>
              <a:rPr sz="1400" b="1" dirty="0">
                <a:latin typeface="Times New Roman"/>
                <a:cs typeface="Times New Roman"/>
              </a:rPr>
              <a:t>(Ling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et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al., </a:t>
            </a:r>
            <a:r>
              <a:rPr sz="1400" b="1" spc="-10" dirty="0">
                <a:latin typeface="Times New Roman"/>
                <a:cs typeface="Times New Roman"/>
              </a:rPr>
              <a:t>2017)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85962" y="1026337"/>
            <a:ext cx="3369310" cy="3427729"/>
            <a:chOff x="785962" y="1026337"/>
            <a:chExt cx="3369310" cy="3427729"/>
          </a:xfrm>
        </p:grpSpPr>
        <p:sp>
          <p:nvSpPr>
            <p:cNvPr id="5" name="object 5"/>
            <p:cNvSpPr/>
            <p:nvPr/>
          </p:nvSpPr>
          <p:spPr>
            <a:xfrm>
              <a:off x="790724" y="1031099"/>
              <a:ext cx="3359785" cy="3418204"/>
            </a:xfrm>
            <a:custGeom>
              <a:avLst/>
              <a:gdLst/>
              <a:ahLst/>
              <a:cxnLst/>
              <a:rect l="l" t="t" r="r" b="b"/>
              <a:pathLst>
                <a:path w="3359785" h="3418204">
                  <a:moveTo>
                    <a:pt x="2799738" y="3417599"/>
                  </a:moveTo>
                  <a:lnTo>
                    <a:pt x="559961" y="3417599"/>
                  </a:lnTo>
                  <a:lnTo>
                    <a:pt x="511645" y="3415544"/>
                  </a:lnTo>
                  <a:lnTo>
                    <a:pt x="464471" y="3409490"/>
                  </a:lnTo>
                  <a:lnTo>
                    <a:pt x="418606" y="3399605"/>
                  </a:lnTo>
                  <a:lnTo>
                    <a:pt x="374218" y="3386058"/>
                  </a:lnTo>
                  <a:lnTo>
                    <a:pt x="331477" y="3369016"/>
                  </a:lnTo>
                  <a:lnTo>
                    <a:pt x="290548" y="3348648"/>
                  </a:lnTo>
                  <a:lnTo>
                    <a:pt x="251602" y="3325121"/>
                  </a:lnTo>
                  <a:lnTo>
                    <a:pt x="214805" y="3298605"/>
                  </a:lnTo>
                  <a:lnTo>
                    <a:pt x="180326" y="3269266"/>
                  </a:lnTo>
                  <a:lnTo>
                    <a:pt x="148333" y="3237273"/>
                  </a:lnTo>
                  <a:lnTo>
                    <a:pt x="118994" y="3202794"/>
                  </a:lnTo>
                  <a:lnTo>
                    <a:pt x="92478" y="3165997"/>
                  </a:lnTo>
                  <a:lnTo>
                    <a:pt x="68951" y="3127051"/>
                  </a:lnTo>
                  <a:lnTo>
                    <a:pt x="48583" y="3086123"/>
                  </a:lnTo>
                  <a:lnTo>
                    <a:pt x="31541" y="3043381"/>
                  </a:lnTo>
                  <a:lnTo>
                    <a:pt x="17994" y="2998993"/>
                  </a:lnTo>
                  <a:lnTo>
                    <a:pt x="8109" y="2953128"/>
                  </a:lnTo>
                  <a:lnTo>
                    <a:pt x="2055" y="2905954"/>
                  </a:lnTo>
                  <a:lnTo>
                    <a:pt x="0" y="2857638"/>
                  </a:lnTo>
                  <a:lnTo>
                    <a:pt x="0" y="559961"/>
                  </a:lnTo>
                  <a:lnTo>
                    <a:pt x="2055" y="511645"/>
                  </a:lnTo>
                  <a:lnTo>
                    <a:pt x="8109" y="464471"/>
                  </a:lnTo>
                  <a:lnTo>
                    <a:pt x="17994" y="418606"/>
                  </a:lnTo>
                  <a:lnTo>
                    <a:pt x="31541" y="374218"/>
                  </a:lnTo>
                  <a:lnTo>
                    <a:pt x="48583" y="331477"/>
                  </a:lnTo>
                  <a:lnTo>
                    <a:pt x="68951" y="290548"/>
                  </a:lnTo>
                  <a:lnTo>
                    <a:pt x="92478" y="251602"/>
                  </a:lnTo>
                  <a:lnTo>
                    <a:pt x="118994" y="214805"/>
                  </a:lnTo>
                  <a:lnTo>
                    <a:pt x="148333" y="180326"/>
                  </a:lnTo>
                  <a:lnTo>
                    <a:pt x="180326" y="148333"/>
                  </a:lnTo>
                  <a:lnTo>
                    <a:pt x="214805" y="118994"/>
                  </a:lnTo>
                  <a:lnTo>
                    <a:pt x="251602" y="92478"/>
                  </a:lnTo>
                  <a:lnTo>
                    <a:pt x="290548" y="68951"/>
                  </a:lnTo>
                  <a:lnTo>
                    <a:pt x="331477" y="48583"/>
                  </a:lnTo>
                  <a:lnTo>
                    <a:pt x="374218" y="31541"/>
                  </a:lnTo>
                  <a:lnTo>
                    <a:pt x="418606" y="17994"/>
                  </a:lnTo>
                  <a:lnTo>
                    <a:pt x="464471" y="8109"/>
                  </a:lnTo>
                  <a:lnTo>
                    <a:pt x="511645" y="2055"/>
                  </a:lnTo>
                  <a:lnTo>
                    <a:pt x="559961" y="0"/>
                  </a:lnTo>
                  <a:lnTo>
                    <a:pt x="2799738" y="0"/>
                  </a:lnTo>
                  <a:lnTo>
                    <a:pt x="2848974" y="2167"/>
                  </a:lnTo>
                  <a:lnTo>
                    <a:pt x="2897500" y="8597"/>
                  </a:lnTo>
                  <a:lnTo>
                    <a:pt x="2945061" y="19184"/>
                  </a:lnTo>
                  <a:lnTo>
                    <a:pt x="2991397" y="33821"/>
                  </a:lnTo>
                  <a:lnTo>
                    <a:pt x="3036252" y="52400"/>
                  </a:lnTo>
                  <a:lnTo>
                    <a:pt x="3079366" y="74815"/>
                  </a:lnTo>
                  <a:lnTo>
                    <a:pt x="3120483" y="100959"/>
                  </a:lnTo>
                  <a:lnTo>
                    <a:pt x="3159343" y="130726"/>
                  </a:lnTo>
                  <a:lnTo>
                    <a:pt x="3195690" y="164008"/>
                  </a:lnTo>
                  <a:lnTo>
                    <a:pt x="3228973" y="200356"/>
                  </a:lnTo>
                  <a:lnTo>
                    <a:pt x="3258739" y="239216"/>
                  </a:lnTo>
                  <a:lnTo>
                    <a:pt x="3284884" y="280333"/>
                  </a:lnTo>
                  <a:lnTo>
                    <a:pt x="3307299" y="323447"/>
                  </a:lnTo>
                  <a:lnTo>
                    <a:pt x="3325878" y="368301"/>
                  </a:lnTo>
                  <a:lnTo>
                    <a:pt x="3340515" y="414638"/>
                  </a:lnTo>
                  <a:lnTo>
                    <a:pt x="3351102" y="462198"/>
                  </a:lnTo>
                  <a:lnTo>
                    <a:pt x="3357532" y="510725"/>
                  </a:lnTo>
                  <a:lnTo>
                    <a:pt x="3359699" y="559961"/>
                  </a:lnTo>
                  <a:lnTo>
                    <a:pt x="3359699" y="2857638"/>
                  </a:lnTo>
                  <a:lnTo>
                    <a:pt x="3357644" y="2905954"/>
                  </a:lnTo>
                  <a:lnTo>
                    <a:pt x="3351590" y="2953128"/>
                  </a:lnTo>
                  <a:lnTo>
                    <a:pt x="3341705" y="2998993"/>
                  </a:lnTo>
                  <a:lnTo>
                    <a:pt x="3328158" y="3043381"/>
                  </a:lnTo>
                  <a:lnTo>
                    <a:pt x="3311116" y="3086123"/>
                  </a:lnTo>
                  <a:lnTo>
                    <a:pt x="3290748" y="3127051"/>
                  </a:lnTo>
                  <a:lnTo>
                    <a:pt x="3267221" y="3165997"/>
                  </a:lnTo>
                  <a:lnTo>
                    <a:pt x="3240705" y="3202794"/>
                  </a:lnTo>
                  <a:lnTo>
                    <a:pt x="3211366" y="3237273"/>
                  </a:lnTo>
                  <a:lnTo>
                    <a:pt x="3179373" y="3269266"/>
                  </a:lnTo>
                  <a:lnTo>
                    <a:pt x="3144894" y="3298605"/>
                  </a:lnTo>
                  <a:lnTo>
                    <a:pt x="3108097" y="3325121"/>
                  </a:lnTo>
                  <a:lnTo>
                    <a:pt x="3069151" y="3348648"/>
                  </a:lnTo>
                  <a:lnTo>
                    <a:pt x="3028223" y="3369016"/>
                  </a:lnTo>
                  <a:lnTo>
                    <a:pt x="2985481" y="3386058"/>
                  </a:lnTo>
                  <a:lnTo>
                    <a:pt x="2941093" y="3399605"/>
                  </a:lnTo>
                  <a:lnTo>
                    <a:pt x="2895228" y="3409490"/>
                  </a:lnTo>
                  <a:lnTo>
                    <a:pt x="2848054" y="3415544"/>
                  </a:lnTo>
                  <a:lnTo>
                    <a:pt x="2799738" y="3417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0724" y="1031099"/>
              <a:ext cx="3359785" cy="3418204"/>
            </a:xfrm>
            <a:custGeom>
              <a:avLst/>
              <a:gdLst/>
              <a:ahLst/>
              <a:cxnLst/>
              <a:rect l="l" t="t" r="r" b="b"/>
              <a:pathLst>
                <a:path w="3359785" h="3418204">
                  <a:moveTo>
                    <a:pt x="0" y="559961"/>
                  </a:moveTo>
                  <a:lnTo>
                    <a:pt x="2055" y="511645"/>
                  </a:lnTo>
                  <a:lnTo>
                    <a:pt x="8109" y="464471"/>
                  </a:lnTo>
                  <a:lnTo>
                    <a:pt x="17994" y="418606"/>
                  </a:lnTo>
                  <a:lnTo>
                    <a:pt x="31541" y="374218"/>
                  </a:lnTo>
                  <a:lnTo>
                    <a:pt x="48583" y="331477"/>
                  </a:lnTo>
                  <a:lnTo>
                    <a:pt x="68951" y="290548"/>
                  </a:lnTo>
                  <a:lnTo>
                    <a:pt x="92478" y="251602"/>
                  </a:lnTo>
                  <a:lnTo>
                    <a:pt x="118994" y="214805"/>
                  </a:lnTo>
                  <a:lnTo>
                    <a:pt x="148333" y="180326"/>
                  </a:lnTo>
                  <a:lnTo>
                    <a:pt x="180326" y="148333"/>
                  </a:lnTo>
                  <a:lnTo>
                    <a:pt x="214805" y="118994"/>
                  </a:lnTo>
                  <a:lnTo>
                    <a:pt x="251602" y="92478"/>
                  </a:lnTo>
                  <a:lnTo>
                    <a:pt x="290548" y="68951"/>
                  </a:lnTo>
                  <a:lnTo>
                    <a:pt x="331477" y="48583"/>
                  </a:lnTo>
                  <a:lnTo>
                    <a:pt x="374218" y="31541"/>
                  </a:lnTo>
                  <a:lnTo>
                    <a:pt x="418606" y="17994"/>
                  </a:lnTo>
                  <a:lnTo>
                    <a:pt x="464471" y="8109"/>
                  </a:lnTo>
                  <a:lnTo>
                    <a:pt x="511645" y="2055"/>
                  </a:lnTo>
                  <a:lnTo>
                    <a:pt x="559961" y="0"/>
                  </a:lnTo>
                  <a:lnTo>
                    <a:pt x="2799738" y="0"/>
                  </a:lnTo>
                  <a:lnTo>
                    <a:pt x="2848974" y="2167"/>
                  </a:lnTo>
                  <a:lnTo>
                    <a:pt x="2897500" y="8597"/>
                  </a:lnTo>
                  <a:lnTo>
                    <a:pt x="2945061" y="19184"/>
                  </a:lnTo>
                  <a:lnTo>
                    <a:pt x="2991397" y="33821"/>
                  </a:lnTo>
                  <a:lnTo>
                    <a:pt x="3036252" y="52400"/>
                  </a:lnTo>
                  <a:lnTo>
                    <a:pt x="3079366" y="74815"/>
                  </a:lnTo>
                  <a:lnTo>
                    <a:pt x="3120483" y="100959"/>
                  </a:lnTo>
                  <a:lnTo>
                    <a:pt x="3159343" y="130726"/>
                  </a:lnTo>
                  <a:lnTo>
                    <a:pt x="3195690" y="164008"/>
                  </a:lnTo>
                  <a:lnTo>
                    <a:pt x="3228973" y="200356"/>
                  </a:lnTo>
                  <a:lnTo>
                    <a:pt x="3258739" y="239216"/>
                  </a:lnTo>
                  <a:lnTo>
                    <a:pt x="3284884" y="280333"/>
                  </a:lnTo>
                  <a:lnTo>
                    <a:pt x="3307299" y="323447"/>
                  </a:lnTo>
                  <a:lnTo>
                    <a:pt x="3325878" y="368301"/>
                  </a:lnTo>
                  <a:lnTo>
                    <a:pt x="3340515" y="414638"/>
                  </a:lnTo>
                  <a:lnTo>
                    <a:pt x="3351102" y="462198"/>
                  </a:lnTo>
                  <a:lnTo>
                    <a:pt x="3357532" y="510725"/>
                  </a:lnTo>
                  <a:lnTo>
                    <a:pt x="3359699" y="559961"/>
                  </a:lnTo>
                  <a:lnTo>
                    <a:pt x="3359699" y="2857638"/>
                  </a:lnTo>
                  <a:lnTo>
                    <a:pt x="3357644" y="2905954"/>
                  </a:lnTo>
                  <a:lnTo>
                    <a:pt x="3351590" y="2953128"/>
                  </a:lnTo>
                  <a:lnTo>
                    <a:pt x="3341705" y="2998993"/>
                  </a:lnTo>
                  <a:lnTo>
                    <a:pt x="3328158" y="3043381"/>
                  </a:lnTo>
                  <a:lnTo>
                    <a:pt x="3311116" y="3086123"/>
                  </a:lnTo>
                  <a:lnTo>
                    <a:pt x="3290748" y="3127051"/>
                  </a:lnTo>
                  <a:lnTo>
                    <a:pt x="3267221" y="3165997"/>
                  </a:lnTo>
                  <a:lnTo>
                    <a:pt x="3240705" y="3202794"/>
                  </a:lnTo>
                  <a:lnTo>
                    <a:pt x="3211366" y="3237273"/>
                  </a:lnTo>
                  <a:lnTo>
                    <a:pt x="3179373" y="3269266"/>
                  </a:lnTo>
                  <a:lnTo>
                    <a:pt x="3144894" y="3298605"/>
                  </a:lnTo>
                  <a:lnTo>
                    <a:pt x="3108097" y="3325121"/>
                  </a:lnTo>
                  <a:lnTo>
                    <a:pt x="3069151" y="3348648"/>
                  </a:lnTo>
                  <a:lnTo>
                    <a:pt x="3028223" y="3369016"/>
                  </a:lnTo>
                  <a:lnTo>
                    <a:pt x="2985481" y="3386058"/>
                  </a:lnTo>
                  <a:lnTo>
                    <a:pt x="2941093" y="3399605"/>
                  </a:lnTo>
                  <a:lnTo>
                    <a:pt x="2895228" y="3409490"/>
                  </a:lnTo>
                  <a:lnTo>
                    <a:pt x="2848054" y="3415544"/>
                  </a:lnTo>
                  <a:lnTo>
                    <a:pt x="2799738" y="3417599"/>
                  </a:lnTo>
                  <a:lnTo>
                    <a:pt x="559961" y="3417599"/>
                  </a:lnTo>
                  <a:lnTo>
                    <a:pt x="511645" y="3415544"/>
                  </a:lnTo>
                  <a:lnTo>
                    <a:pt x="464471" y="3409490"/>
                  </a:lnTo>
                  <a:lnTo>
                    <a:pt x="418606" y="3399605"/>
                  </a:lnTo>
                  <a:lnTo>
                    <a:pt x="374218" y="3386058"/>
                  </a:lnTo>
                  <a:lnTo>
                    <a:pt x="331477" y="3369016"/>
                  </a:lnTo>
                  <a:lnTo>
                    <a:pt x="290548" y="3348648"/>
                  </a:lnTo>
                  <a:lnTo>
                    <a:pt x="251602" y="3325121"/>
                  </a:lnTo>
                  <a:lnTo>
                    <a:pt x="214805" y="3298605"/>
                  </a:lnTo>
                  <a:lnTo>
                    <a:pt x="180326" y="3269266"/>
                  </a:lnTo>
                  <a:lnTo>
                    <a:pt x="148333" y="3237273"/>
                  </a:lnTo>
                  <a:lnTo>
                    <a:pt x="118994" y="3202794"/>
                  </a:lnTo>
                  <a:lnTo>
                    <a:pt x="92478" y="3165997"/>
                  </a:lnTo>
                  <a:lnTo>
                    <a:pt x="68951" y="3127051"/>
                  </a:lnTo>
                  <a:lnTo>
                    <a:pt x="48583" y="3086123"/>
                  </a:lnTo>
                  <a:lnTo>
                    <a:pt x="31541" y="3043381"/>
                  </a:lnTo>
                  <a:lnTo>
                    <a:pt x="17994" y="2998993"/>
                  </a:lnTo>
                  <a:lnTo>
                    <a:pt x="8109" y="2953128"/>
                  </a:lnTo>
                  <a:lnTo>
                    <a:pt x="2055" y="2905954"/>
                  </a:lnTo>
                  <a:lnTo>
                    <a:pt x="0" y="2857638"/>
                  </a:lnTo>
                  <a:lnTo>
                    <a:pt x="0" y="5599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27757" y="1261019"/>
            <a:ext cx="2839720" cy="254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Multiple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Choice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2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person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traveling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20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km/hr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reached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destiny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2.5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hr </a:t>
            </a:r>
            <a:r>
              <a:rPr sz="1400" dirty="0">
                <a:latin typeface="Arial"/>
                <a:cs typeface="Arial"/>
              </a:rPr>
              <a:t>then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distance?</a:t>
            </a:r>
            <a:endParaRPr sz="1400">
              <a:latin typeface="Arial"/>
              <a:cs typeface="Arial"/>
            </a:endParaRPr>
          </a:p>
          <a:p>
            <a:pPr marL="12700" marR="172085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Choices: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(a)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53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(b)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55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(c)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52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(d)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60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(e)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50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km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184785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distance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that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person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traveled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would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have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been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20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km/hr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*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2.5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hrs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=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50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km</a:t>
            </a:r>
            <a:r>
              <a:rPr sz="1400" dirty="0">
                <a:latin typeface="Arial"/>
                <a:cs typeface="Arial"/>
              </a:rPr>
              <a:t>.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(e)</a:t>
            </a:r>
            <a:r>
              <a:rPr sz="1400" b="1" spc="-2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200" y="1028679"/>
            <a:ext cx="5638391" cy="34711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30" dirty="0"/>
              <a:t> </a:t>
            </a:r>
            <a:r>
              <a:rPr dirty="0"/>
              <a:t>Reasoning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Results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432387" y="1124012"/>
            <a:ext cx="2486660" cy="3244215"/>
            <a:chOff x="6432387" y="1124012"/>
            <a:chExt cx="2486660" cy="3244215"/>
          </a:xfrm>
        </p:grpSpPr>
        <p:sp>
          <p:nvSpPr>
            <p:cNvPr id="5" name="object 5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2064241" y="3234599"/>
                  </a:move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0" y="412858"/>
                  </a:move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631097" y="1316626"/>
            <a:ext cx="2059939" cy="2741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 algn="ctr">
              <a:lnSpc>
                <a:spcPts val="143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GSM8K</a:t>
            </a:r>
            <a:endParaRPr sz="1200">
              <a:latin typeface="Times New Roman"/>
              <a:cs typeface="Times New Roman"/>
            </a:endParaRPr>
          </a:p>
          <a:p>
            <a:pPr marL="12700" marR="285115">
              <a:lnSpc>
                <a:spcPts val="143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Josh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flipping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house.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buys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65"/>
              </a:lnSpc>
            </a:pPr>
            <a:r>
              <a:rPr sz="1200" dirty="0">
                <a:latin typeface="Times New Roman"/>
                <a:cs typeface="Times New Roman"/>
              </a:rPr>
              <a:t>$80,000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$50,000</a:t>
            </a:r>
            <a:endParaRPr sz="1200">
              <a:latin typeface="Times New Roman"/>
              <a:cs typeface="Times New Roman"/>
            </a:endParaRPr>
          </a:p>
          <a:p>
            <a:pPr marL="12700" marR="140970">
              <a:lnSpc>
                <a:spcPts val="143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repairs.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increased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 </a:t>
            </a:r>
            <a:r>
              <a:rPr sz="1200" spc="-10" dirty="0">
                <a:latin typeface="Times New Roman"/>
                <a:cs typeface="Times New Roman"/>
              </a:rPr>
              <a:t>150%.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much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profit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</a:t>
            </a:r>
            <a:r>
              <a:rPr sz="1200" spc="-10" dirty="0">
                <a:latin typeface="Times New Roman"/>
                <a:cs typeface="Times New Roman"/>
              </a:rPr>
              <a:t> make?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28575" algn="ctr">
              <a:lnSpc>
                <a:spcPts val="1430"/>
              </a:lnSpc>
            </a:pPr>
            <a:r>
              <a:rPr sz="1200" b="1" spc="-10" dirty="0">
                <a:latin typeface="Times New Roman"/>
                <a:cs typeface="Times New Roman"/>
              </a:rPr>
              <a:t>SVAMP</a:t>
            </a:r>
            <a:endParaRPr sz="1200">
              <a:latin typeface="Times New Roman"/>
              <a:cs typeface="Times New Roman"/>
            </a:endParaRPr>
          </a:p>
          <a:p>
            <a:pPr marL="12700" marR="81915">
              <a:lnSpc>
                <a:spcPts val="143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dvds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costs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76 </a:t>
            </a:r>
            <a:r>
              <a:rPr sz="1200" dirty="0">
                <a:latin typeface="Times New Roman"/>
                <a:cs typeface="Times New Roman"/>
              </a:rPr>
              <a:t>dollars.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discount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25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dollars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How </a:t>
            </a:r>
            <a:r>
              <a:rPr sz="1200" dirty="0">
                <a:latin typeface="Times New Roman"/>
                <a:cs typeface="Times New Roman"/>
              </a:rPr>
              <a:t>much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buy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pack?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8200" y="1028679"/>
            <a:ext cx="5638800" cy="3471545"/>
            <a:chOff x="468200" y="1028679"/>
            <a:chExt cx="5638800" cy="34715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8200" y="1028679"/>
              <a:ext cx="5638391" cy="34711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56199" y="2793275"/>
              <a:ext cx="972819" cy="527050"/>
            </a:xfrm>
            <a:custGeom>
              <a:avLst/>
              <a:gdLst/>
              <a:ahLst/>
              <a:cxnLst/>
              <a:rect l="l" t="t" r="r" b="b"/>
              <a:pathLst>
                <a:path w="972819" h="527050">
                  <a:moveTo>
                    <a:pt x="810499" y="180998"/>
                  </a:moveTo>
                  <a:lnTo>
                    <a:pt x="567349" y="180998"/>
                  </a:lnTo>
                  <a:lnTo>
                    <a:pt x="574437" y="0"/>
                  </a:lnTo>
                  <a:lnTo>
                    <a:pt x="810499" y="180998"/>
                  </a:lnTo>
                  <a:close/>
                </a:path>
                <a:path w="972819" h="527050">
                  <a:moveTo>
                    <a:pt x="914949" y="526898"/>
                  </a:moveTo>
                  <a:lnTo>
                    <a:pt x="57649" y="526898"/>
                  </a:lnTo>
                  <a:lnTo>
                    <a:pt x="35210" y="522368"/>
                  </a:lnTo>
                  <a:lnTo>
                    <a:pt x="16885" y="510013"/>
                  </a:lnTo>
                  <a:lnTo>
                    <a:pt x="4530" y="491688"/>
                  </a:lnTo>
                  <a:lnTo>
                    <a:pt x="0" y="469248"/>
                  </a:lnTo>
                  <a:lnTo>
                    <a:pt x="0" y="238648"/>
                  </a:lnTo>
                  <a:lnTo>
                    <a:pt x="4530" y="216209"/>
                  </a:lnTo>
                  <a:lnTo>
                    <a:pt x="16885" y="197884"/>
                  </a:lnTo>
                  <a:lnTo>
                    <a:pt x="35210" y="185529"/>
                  </a:lnTo>
                  <a:lnTo>
                    <a:pt x="57649" y="180998"/>
                  </a:lnTo>
                  <a:lnTo>
                    <a:pt x="914949" y="180998"/>
                  </a:lnTo>
                  <a:lnTo>
                    <a:pt x="955714" y="197884"/>
                  </a:lnTo>
                  <a:lnTo>
                    <a:pt x="972599" y="238648"/>
                  </a:lnTo>
                  <a:lnTo>
                    <a:pt x="972599" y="469248"/>
                  </a:lnTo>
                  <a:lnTo>
                    <a:pt x="968069" y="491688"/>
                  </a:lnTo>
                  <a:lnTo>
                    <a:pt x="955714" y="510013"/>
                  </a:lnTo>
                  <a:lnTo>
                    <a:pt x="937389" y="522368"/>
                  </a:lnTo>
                  <a:lnTo>
                    <a:pt x="914949" y="526898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6199" y="2793275"/>
              <a:ext cx="972819" cy="527050"/>
            </a:xfrm>
            <a:custGeom>
              <a:avLst/>
              <a:gdLst/>
              <a:ahLst/>
              <a:cxnLst/>
              <a:rect l="l" t="t" r="r" b="b"/>
              <a:pathLst>
                <a:path w="972819" h="527050">
                  <a:moveTo>
                    <a:pt x="0" y="238648"/>
                  </a:moveTo>
                  <a:lnTo>
                    <a:pt x="4530" y="216209"/>
                  </a:lnTo>
                  <a:lnTo>
                    <a:pt x="16885" y="197884"/>
                  </a:lnTo>
                  <a:lnTo>
                    <a:pt x="35210" y="185529"/>
                  </a:lnTo>
                  <a:lnTo>
                    <a:pt x="57649" y="180998"/>
                  </a:lnTo>
                  <a:lnTo>
                    <a:pt x="567349" y="180998"/>
                  </a:lnTo>
                  <a:lnTo>
                    <a:pt x="574437" y="0"/>
                  </a:lnTo>
                  <a:lnTo>
                    <a:pt x="810499" y="180998"/>
                  </a:lnTo>
                  <a:lnTo>
                    <a:pt x="914949" y="180998"/>
                  </a:lnTo>
                  <a:lnTo>
                    <a:pt x="926249" y="182116"/>
                  </a:lnTo>
                  <a:lnTo>
                    <a:pt x="962914" y="206664"/>
                  </a:lnTo>
                  <a:lnTo>
                    <a:pt x="972599" y="238648"/>
                  </a:lnTo>
                  <a:lnTo>
                    <a:pt x="972599" y="325123"/>
                  </a:lnTo>
                  <a:lnTo>
                    <a:pt x="972599" y="469248"/>
                  </a:lnTo>
                  <a:lnTo>
                    <a:pt x="968069" y="491688"/>
                  </a:lnTo>
                  <a:lnTo>
                    <a:pt x="955714" y="510013"/>
                  </a:lnTo>
                  <a:lnTo>
                    <a:pt x="937389" y="522368"/>
                  </a:lnTo>
                  <a:lnTo>
                    <a:pt x="914949" y="526898"/>
                  </a:lnTo>
                  <a:lnTo>
                    <a:pt x="810499" y="526898"/>
                  </a:lnTo>
                  <a:lnTo>
                    <a:pt x="567349" y="526898"/>
                  </a:lnTo>
                  <a:lnTo>
                    <a:pt x="57649" y="526898"/>
                  </a:lnTo>
                  <a:lnTo>
                    <a:pt x="35210" y="522368"/>
                  </a:lnTo>
                  <a:lnTo>
                    <a:pt x="16885" y="510013"/>
                  </a:lnTo>
                  <a:lnTo>
                    <a:pt x="4530" y="491688"/>
                  </a:lnTo>
                  <a:lnTo>
                    <a:pt x="0" y="469248"/>
                  </a:lnTo>
                  <a:lnTo>
                    <a:pt x="0" y="325123"/>
                  </a:lnTo>
                  <a:lnTo>
                    <a:pt x="0" y="238648"/>
                  </a:lnTo>
                  <a:close/>
                </a:path>
              </a:pathLst>
            </a:custGeom>
            <a:ln w="9524">
              <a:solidFill>
                <a:srgbClr val="B45F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30" dirty="0"/>
              <a:t> </a:t>
            </a:r>
            <a:r>
              <a:rPr dirty="0"/>
              <a:t>Reasoning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Results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432387" y="1124012"/>
            <a:ext cx="2486660" cy="3244215"/>
            <a:chOff x="6432387" y="1124012"/>
            <a:chExt cx="2486660" cy="3244215"/>
          </a:xfrm>
        </p:grpSpPr>
        <p:sp>
          <p:nvSpPr>
            <p:cNvPr id="8" name="object 8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2064241" y="3234599"/>
                  </a:move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0" y="412858"/>
                  </a:move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631097" y="1316626"/>
            <a:ext cx="2059939" cy="1294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 algn="ctr">
              <a:lnSpc>
                <a:spcPts val="143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GSM8K</a:t>
            </a:r>
            <a:endParaRPr sz="1200">
              <a:latin typeface="Times New Roman"/>
              <a:cs typeface="Times New Roman"/>
            </a:endParaRPr>
          </a:p>
          <a:p>
            <a:pPr marL="12700" marR="285115">
              <a:lnSpc>
                <a:spcPts val="143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Josh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flipping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house.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buys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65"/>
              </a:lnSpc>
            </a:pPr>
            <a:r>
              <a:rPr sz="1200" dirty="0">
                <a:latin typeface="Times New Roman"/>
                <a:cs typeface="Times New Roman"/>
              </a:rPr>
              <a:t>$80,000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$50,000</a:t>
            </a:r>
            <a:endParaRPr sz="1200">
              <a:latin typeface="Times New Roman"/>
              <a:cs typeface="Times New Roman"/>
            </a:endParaRPr>
          </a:p>
          <a:p>
            <a:pPr marL="12700" marR="140970">
              <a:lnSpc>
                <a:spcPts val="143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repairs.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increased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 </a:t>
            </a:r>
            <a:r>
              <a:rPr sz="1200" spc="-10" dirty="0">
                <a:latin typeface="Times New Roman"/>
                <a:cs typeface="Times New Roman"/>
              </a:rPr>
              <a:t>150%.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much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profit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</a:t>
            </a:r>
            <a:r>
              <a:rPr sz="1200" spc="-10" dirty="0">
                <a:latin typeface="Times New Roman"/>
                <a:cs typeface="Times New Roman"/>
              </a:rPr>
              <a:t> make?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6631097" y="2945401"/>
            <a:ext cx="1983105" cy="1113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 algn="ctr">
              <a:lnSpc>
                <a:spcPts val="143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SVAMP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43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dvds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costs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76 </a:t>
            </a:r>
            <a:r>
              <a:rPr sz="1200" dirty="0">
                <a:latin typeface="Times New Roman"/>
                <a:cs typeface="Times New Roman"/>
              </a:rPr>
              <a:t>dollars.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discount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25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dollars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How </a:t>
            </a:r>
            <a:r>
              <a:rPr sz="1200" dirty="0">
                <a:latin typeface="Times New Roman"/>
                <a:cs typeface="Times New Roman"/>
              </a:rPr>
              <a:t>much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buy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pack?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46110" y="2977045"/>
            <a:ext cx="7213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Times New Roman"/>
                <a:cs typeface="Times New Roman"/>
              </a:rPr>
              <a:t>Fine-</a:t>
            </a:r>
            <a:r>
              <a:rPr sz="1000" dirty="0">
                <a:latin typeface="Times New Roman"/>
                <a:cs typeface="Times New Roman"/>
              </a:rPr>
              <a:t>tuning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+</a:t>
            </a:r>
            <a:r>
              <a:rPr sz="1000" spc="-10" dirty="0">
                <a:latin typeface="Times New Roman"/>
                <a:cs typeface="Times New Roman"/>
              </a:rPr>
              <a:t> Verification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83" y="1035216"/>
            <a:ext cx="6161464" cy="35003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30" dirty="0"/>
              <a:t> </a:t>
            </a:r>
            <a:r>
              <a:rPr dirty="0"/>
              <a:t>Reasoning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Results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432387" y="1124012"/>
            <a:ext cx="2486660" cy="3244215"/>
            <a:chOff x="6432387" y="1124012"/>
            <a:chExt cx="2486660" cy="3244215"/>
          </a:xfrm>
        </p:grpSpPr>
        <p:sp>
          <p:nvSpPr>
            <p:cNvPr id="5" name="object 5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2064241" y="3234599"/>
                  </a:move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0" y="412858"/>
                  </a:move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631097" y="1316626"/>
            <a:ext cx="2078355" cy="29229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44450" indent="342900">
              <a:lnSpc>
                <a:spcPts val="1430"/>
              </a:lnSpc>
              <a:spcBef>
                <a:spcPts val="155"/>
              </a:spcBef>
            </a:pPr>
            <a:r>
              <a:rPr sz="1200" b="1" spc="-25" dirty="0">
                <a:latin typeface="Times New Roman"/>
                <a:cs typeface="Times New Roman"/>
              </a:rPr>
              <a:t>MAWPS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-</a:t>
            </a:r>
            <a:r>
              <a:rPr sz="1200" b="1" spc="-10" dirty="0">
                <a:latin typeface="Times New Roman"/>
                <a:cs typeface="Times New Roman"/>
              </a:rPr>
              <a:t> MultiArith</a:t>
            </a:r>
            <a:r>
              <a:rPr sz="1200" b="1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school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cafeteria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ordered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42 </a:t>
            </a:r>
            <a:r>
              <a:rPr sz="1200" dirty="0">
                <a:latin typeface="Times New Roman"/>
                <a:cs typeface="Times New Roman"/>
              </a:rPr>
              <a:t>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green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lunches.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9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wanted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fruit,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many </a:t>
            </a:r>
            <a:r>
              <a:rPr sz="1200" dirty="0">
                <a:latin typeface="Times New Roman"/>
                <a:cs typeface="Times New Roman"/>
              </a:rPr>
              <a:t>extra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cafeteria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up </a:t>
            </a:r>
            <a:r>
              <a:rPr sz="1200" spc="-10" dirty="0">
                <a:latin typeface="Times New Roman"/>
                <a:cs typeface="Times New Roman"/>
              </a:rPr>
              <a:t>with?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652145">
              <a:lnSpc>
                <a:spcPts val="1430"/>
              </a:lnSpc>
            </a:pPr>
            <a:r>
              <a:rPr sz="1200" b="1" spc="-10" dirty="0">
                <a:latin typeface="Times New Roman"/>
                <a:cs typeface="Times New Roman"/>
              </a:rPr>
              <a:t>AQuA-</a:t>
            </a:r>
            <a:r>
              <a:rPr sz="1200" b="1" spc="-25" dirty="0">
                <a:latin typeface="Times New Roman"/>
                <a:cs typeface="Times New Roman"/>
              </a:rPr>
              <a:t>RAT</a:t>
            </a:r>
            <a:endParaRPr sz="1200">
              <a:latin typeface="Times New Roman"/>
              <a:cs typeface="Times New Roman"/>
            </a:endParaRPr>
          </a:p>
          <a:p>
            <a:pPr marL="12700" marR="53975" algn="just">
              <a:lnSpc>
                <a:spcPts val="143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km/hr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reached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destiny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2.5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hr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distance?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60"/>
              </a:lnSpc>
            </a:pPr>
            <a:r>
              <a:rPr sz="1200" dirty="0">
                <a:latin typeface="Times New Roman"/>
                <a:cs typeface="Times New Roman"/>
              </a:rPr>
              <a:t>Answer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Choices: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53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(b)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43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55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km (c) 52 km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(d) 60 km (e) </a:t>
            </a:r>
            <a:r>
              <a:rPr sz="1200" spc="-25" dirty="0">
                <a:latin typeface="Times New Roman"/>
                <a:cs typeface="Times New Roman"/>
              </a:rPr>
              <a:t>50 km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383" y="1010424"/>
            <a:ext cx="6162040" cy="3525520"/>
            <a:chOff x="116383" y="1010424"/>
            <a:chExt cx="6162040" cy="3525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383" y="1035216"/>
              <a:ext cx="6161464" cy="35003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4674" y="1019949"/>
              <a:ext cx="1880235" cy="1624965"/>
            </a:xfrm>
            <a:custGeom>
              <a:avLst/>
              <a:gdLst/>
              <a:ahLst/>
              <a:cxnLst/>
              <a:rect l="l" t="t" r="r" b="b"/>
              <a:pathLst>
                <a:path w="1880235" h="1624964">
                  <a:moveTo>
                    <a:pt x="0" y="0"/>
                  </a:moveTo>
                  <a:lnTo>
                    <a:pt x="1879799" y="0"/>
                  </a:lnTo>
                  <a:lnTo>
                    <a:pt x="1879799" y="1624799"/>
                  </a:lnTo>
                  <a:lnTo>
                    <a:pt x="0" y="1624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30" dirty="0"/>
              <a:t> </a:t>
            </a:r>
            <a:r>
              <a:rPr dirty="0"/>
              <a:t>Reasoning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Results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432387" y="1124012"/>
            <a:ext cx="2486660" cy="3244215"/>
            <a:chOff x="6432387" y="1124012"/>
            <a:chExt cx="2486660" cy="3244215"/>
          </a:xfrm>
        </p:grpSpPr>
        <p:sp>
          <p:nvSpPr>
            <p:cNvPr id="7" name="object 7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2064241" y="3234599"/>
                  </a:move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0" y="412858"/>
                  </a:move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31097" y="1316626"/>
            <a:ext cx="2078355" cy="29229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44450" indent="342900">
              <a:lnSpc>
                <a:spcPts val="1430"/>
              </a:lnSpc>
              <a:spcBef>
                <a:spcPts val="155"/>
              </a:spcBef>
            </a:pPr>
            <a:r>
              <a:rPr sz="1200" b="1" spc="-25" dirty="0">
                <a:latin typeface="Times New Roman"/>
                <a:cs typeface="Times New Roman"/>
              </a:rPr>
              <a:t>MAWPS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-</a:t>
            </a:r>
            <a:r>
              <a:rPr sz="1200" b="1" spc="-10" dirty="0">
                <a:latin typeface="Times New Roman"/>
                <a:cs typeface="Times New Roman"/>
              </a:rPr>
              <a:t> MultiArith</a:t>
            </a:r>
            <a:r>
              <a:rPr sz="1200" b="1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school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cafeteria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ordered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42 </a:t>
            </a:r>
            <a:r>
              <a:rPr sz="1200" dirty="0">
                <a:latin typeface="Times New Roman"/>
                <a:cs typeface="Times New Roman"/>
              </a:rPr>
              <a:t>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green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lunches.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9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wanted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fruit,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many </a:t>
            </a:r>
            <a:r>
              <a:rPr sz="1200" dirty="0">
                <a:latin typeface="Times New Roman"/>
                <a:cs typeface="Times New Roman"/>
              </a:rPr>
              <a:t>extra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cafeteria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up </a:t>
            </a:r>
            <a:r>
              <a:rPr sz="1200" spc="-10" dirty="0">
                <a:latin typeface="Times New Roman"/>
                <a:cs typeface="Times New Roman"/>
              </a:rPr>
              <a:t>with?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652145">
              <a:lnSpc>
                <a:spcPts val="1430"/>
              </a:lnSpc>
            </a:pPr>
            <a:r>
              <a:rPr sz="1200" b="1" spc="-10" dirty="0">
                <a:latin typeface="Times New Roman"/>
                <a:cs typeface="Times New Roman"/>
              </a:rPr>
              <a:t>AQuA-</a:t>
            </a:r>
            <a:r>
              <a:rPr sz="1200" b="1" spc="-25" dirty="0">
                <a:latin typeface="Times New Roman"/>
                <a:cs typeface="Times New Roman"/>
              </a:rPr>
              <a:t>RAT</a:t>
            </a:r>
            <a:endParaRPr sz="1200">
              <a:latin typeface="Times New Roman"/>
              <a:cs typeface="Times New Roman"/>
            </a:endParaRPr>
          </a:p>
          <a:p>
            <a:pPr marL="12700" marR="53975" algn="just">
              <a:lnSpc>
                <a:spcPts val="143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km/hr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reached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destiny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2.5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hr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distance?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60"/>
              </a:lnSpc>
            </a:pPr>
            <a:r>
              <a:rPr sz="1200" dirty="0">
                <a:latin typeface="Times New Roman"/>
                <a:cs typeface="Times New Roman"/>
              </a:rPr>
              <a:t>Answer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Choices: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53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(b)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43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55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km (c) 52 km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(d) 60 km (e) </a:t>
            </a:r>
            <a:r>
              <a:rPr sz="1200" spc="-25" dirty="0">
                <a:latin typeface="Times New Roman"/>
                <a:cs typeface="Times New Roman"/>
              </a:rPr>
              <a:t>50 km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40" dirty="0"/>
              <a:t> </a:t>
            </a:r>
            <a:r>
              <a:rPr dirty="0"/>
              <a:t>Reasoning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921" y="1269846"/>
            <a:ext cx="44526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Both</a:t>
            </a:r>
            <a:r>
              <a:rPr sz="1600" spc="-10" dirty="0">
                <a:latin typeface="Times New Roman"/>
                <a:cs typeface="Times New Roman"/>
              </a:rPr>
              <a:t> zero-</a:t>
            </a:r>
            <a:r>
              <a:rPr sz="1600" dirty="0">
                <a:latin typeface="Times New Roman"/>
                <a:cs typeface="Times New Roman"/>
              </a:rPr>
              <a:t>shot 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few-</a:t>
            </a:r>
            <a:r>
              <a:rPr sz="1600" dirty="0">
                <a:latin typeface="Times New Roman"/>
                <a:cs typeface="Times New Roman"/>
              </a:rPr>
              <a:t>shot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thought </a:t>
            </a:r>
            <a:r>
              <a:rPr sz="1600" dirty="0">
                <a:latin typeface="Times New Roman"/>
                <a:cs typeface="Times New Roman"/>
              </a:rPr>
              <a:t>promptings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emergent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abilities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model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scale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6893" y="1388562"/>
            <a:ext cx="3195561" cy="27857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40" dirty="0"/>
              <a:t> </a:t>
            </a:r>
            <a:r>
              <a:rPr dirty="0"/>
              <a:t>Reasoning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Observations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dirty="0"/>
              <a:t>Both</a:t>
            </a:r>
            <a:r>
              <a:rPr spc="-10" dirty="0"/>
              <a:t> zero-</a:t>
            </a:r>
            <a:r>
              <a:rPr dirty="0"/>
              <a:t>shot and</a:t>
            </a:r>
            <a:r>
              <a:rPr spc="5" dirty="0"/>
              <a:t> </a:t>
            </a:r>
            <a:r>
              <a:rPr spc="-10" dirty="0"/>
              <a:t>few-</a:t>
            </a:r>
            <a:r>
              <a:rPr dirty="0"/>
              <a:t>shot</a:t>
            </a:r>
            <a:r>
              <a:rPr spc="-5" dirty="0"/>
              <a:t> </a:t>
            </a:r>
            <a:r>
              <a:rPr dirty="0"/>
              <a:t>chain</a:t>
            </a:r>
            <a:r>
              <a:rPr spc="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thought </a:t>
            </a:r>
            <a:r>
              <a:rPr dirty="0"/>
              <a:t>promptings</a:t>
            </a:r>
            <a:r>
              <a:rPr spc="-3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emergent</a:t>
            </a:r>
            <a:r>
              <a:rPr spc="-15" dirty="0"/>
              <a:t> </a:t>
            </a:r>
            <a:r>
              <a:rPr b="1" dirty="0">
                <a:latin typeface="Times New Roman"/>
                <a:cs typeface="Times New Roman"/>
              </a:rPr>
              <a:t>abilities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model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scale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●"/>
            </a:pPr>
            <a:endParaRPr sz="1650"/>
          </a:p>
          <a:p>
            <a:pPr marL="363855" marR="209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dirty="0"/>
              <a:t>They</a:t>
            </a:r>
            <a:r>
              <a:rPr spc="-15" dirty="0"/>
              <a:t> </a:t>
            </a:r>
            <a:r>
              <a:rPr dirty="0"/>
              <a:t>do</a:t>
            </a:r>
            <a:r>
              <a:rPr spc="-15" dirty="0"/>
              <a:t> </a:t>
            </a:r>
            <a:r>
              <a:rPr dirty="0"/>
              <a:t>not</a:t>
            </a:r>
            <a:r>
              <a:rPr spc="-15" dirty="0"/>
              <a:t> </a:t>
            </a:r>
            <a:r>
              <a:rPr dirty="0"/>
              <a:t>positively</a:t>
            </a:r>
            <a:r>
              <a:rPr spc="-15" dirty="0"/>
              <a:t> </a:t>
            </a:r>
            <a:r>
              <a:rPr dirty="0"/>
              <a:t>impact</a:t>
            </a:r>
            <a:r>
              <a:rPr spc="-15" dirty="0"/>
              <a:t> </a:t>
            </a:r>
            <a:r>
              <a:rPr dirty="0"/>
              <a:t>performance</a:t>
            </a:r>
            <a:r>
              <a:rPr spc="-15" dirty="0"/>
              <a:t> </a:t>
            </a:r>
            <a:r>
              <a:rPr spc="-25" dirty="0"/>
              <a:t>for </a:t>
            </a:r>
            <a:r>
              <a:rPr dirty="0"/>
              <a:t>small</a:t>
            </a:r>
            <a:r>
              <a:rPr spc="-20" dirty="0"/>
              <a:t> </a:t>
            </a:r>
            <a:r>
              <a:rPr dirty="0"/>
              <a:t>models,</a:t>
            </a:r>
            <a:r>
              <a:rPr spc="-20" dirty="0"/>
              <a:t> </a:t>
            </a:r>
            <a:r>
              <a:rPr dirty="0"/>
              <a:t>but</a:t>
            </a:r>
            <a:r>
              <a:rPr spc="-20" dirty="0"/>
              <a:t> </a:t>
            </a:r>
            <a:r>
              <a:rPr dirty="0"/>
              <a:t>start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yield</a:t>
            </a:r>
            <a:r>
              <a:rPr spc="-15" dirty="0"/>
              <a:t> </a:t>
            </a:r>
            <a:r>
              <a:rPr dirty="0"/>
              <a:t>performance</a:t>
            </a:r>
            <a:r>
              <a:rPr spc="-15" dirty="0"/>
              <a:t> </a:t>
            </a:r>
            <a:r>
              <a:rPr spc="-10" dirty="0"/>
              <a:t>gains </a:t>
            </a:r>
            <a:r>
              <a:rPr dirty="0"/>
              <a:t>when</a:t>
            </a:r>
            <a:r>
              <a:rPr spc="-25" dirty="0"/>
              <a:t> </a:t>
            </a:r>
            <a:r>
              <a:rPr dirty="0"/>
              <a:t>used</a:t>
            </a:r>
            <a:r>
              <a:rPr spc="-1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models</a:t>
            </a:r>
            <a:r>
              <a:rPr spc="-2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more</a:t>
            </a:r>
            <a:r>
              <a:rPr spc="-15" dirty="0"/>
              <a:t> </a:t>
            </a:r>
            <a:r>
              <a:rPr dirty="0"/>
              <a:t>than </a:t>
            </a:r>
            <a:r>
              <a:rPr spc="-10" dirty="0">
                <a:latin typeface="Malgun Gothic"/>
                <a:cs typeface="Malgun Gothic"/>
              </a:rPr>
              <a:t>∼</a:t>
            </a:r>
            <a:r>
              <a:rPr spc="-10" dirty="0"/>
              <a:t>100B parameters.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6893" y="1388562"/>
            <a:ext cx="3195561" cy="27857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40" dirty="0"/>
              <a:t> </a:t>
            </a:r>
            <a:r>
              <a:rPr dirty="0"/>
              <a:t>Reasoning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Observations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dirty="0"/>
              <a:t>Both</a:t>
            </a:r>
            <a:r>
              <a:rPr spc="-10" dirty="0"/>
              <a:t> zero-</a:t>
            </a:r>
            <a:r>
              <a:rPr dirty="0"/>
              <a:t>shot and</a:t>
            </a:r>
            <a:r>
              <a:rPr spc="5" dirty="0"/>
              <a:t> </a:t>
            </a:r>
            <a:r>
              <a:rPr spc="-10" dirty="0"/>
              <a:t>few-</a:t>
            </a:r>
            <a:r>
              <a:rPr dirty="0"/>
              <a:t>shot</a:t>
            </a:r>
            <a:r>
              <a:rPr spc="-5" dirty="0"/>
              <a:t> </a:t>
            </a:r>
            <a:r>
              <a:rPr dirty="0"/>
              <a:t>chain</a:t>
            </a:r>
            <a:r>
              <a:rPr spc="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thought </a:t>
            </a:r>
            <a:r>
              <a:rPr dirty="0"/>
              <a:t>promptings</a:t>
            </a:r>
            <a:r>
              <a:rPr spc="-3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emergent</a:t>
            </a:r>
            <a:r>
              <a:rPr spc="-15" dirty="0"/>
              <a:t> </a:t>
            </a:r>
            <a:r>
              <a:rPr b="1" dirty="0">
                <a:latin typeface="Times New Roman"/>
                <a:cs typeface="Times New Roman"/>
              </a:rPr>
              <a:t>abilities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model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scale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●"/>
            </a:pPr>
            <a:endParaRPr sz="1650"/>
          </a:p>
          <a:p>
            <a:pPr marL="363855" marR="209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dirty="0"/>
              <a:t>They</a:t>
            </a:r>
            <a:r>
              <a:rPr spc="-15" dirty="0"/>
              <a:t> </a:t>
            </a:r>
            <a:r>
              <a:rPr dirty="0"/>
              <a:t>do</a:t>
            </a:r>
            <a:r>
              <a:rPr spc="-15" dirty="0"/>
              <a:t> </a:t>
            </a:r>
            <a:r>
              <a:rPr dirty="0"/>
              <a:t>not</a:t>
            </a:r>
            <a:r>
              <a:rPr spc="-15" dirty="0"/>
              <a:t> </a:t>
            </a:r>
            <a:r>
              <a:rPr dirty="0"/>
              <a:t>positively</a:t>
            </a:r>
            <a:r>
              <a:rPr spc="-15" dirty="0"/>
              <a:t> </a:t>
            </a:r>
            <a:r>
              <a:rPr dirty="0"/>
              <a:t>impact</a:t>
            </a:r>
            <a:r>
              <a:rPr spc="-15" dirty="0"/>
              <a:t> </a:t>
            </a:r>
            <a:r>
              <a:rPr dirty="0"/>
              <a:t>performance</a:t>
            </a:r>
            <a:r>
              <a:rPr spc="-15" dirty="0"/>
              <a:t> </a:t>
            </a:r>
            <a:r>
              <a:rPr spc="-25" dirty="0"/>
              <a:t>for </a:t>
            </a:r>
            <a:r>
              <a:rPr dirty="0"/>
              <a:t>small</a:t>
            </a:r>
            <a:r>
              <a:rPr spc="-20" dirty="0"/>
              <a:t> </a:t>
            </a:r>
            <a:r>
              <a:rPr dirty="0"/>
              <a:t>models,</a:t>
            </a:r>
            <a:r>
              <a:rPr spc="-20" dirty="0"/>
              <a:t> </a:t>
            </a:r>
            <a:r>
              <a:rPr dirty="0"/>
              <a:t>but</a:t>
            </a:r>
            <a:r>
              <a:rPr spc="-20" dirty="0"/>
              <a:t> </a:t>
            </a:r>
            <a:r>
              <a:rPr dirty="0"/>
              <a:t>start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yield</a:t>
            </a:r>
            <a:r>
              <a:rPr spc="-15" dirty="0"/>
              <a:t> </a:t>
            </a:r>
            <a:r>
              <a:rPr dirty="0"/>
              <a:t>performance</a:t>
            </a:r>
            <a:r>
              <a:rPr spc="-15" dirty="0"/>
              <a:t> </a:t>
            </a:r>
            <a:r>
              <a:rPr spc="-10" dirty="0"/>
              <a:t>gains </a:t>
            </a:r>
            <a:r>
              <a:rPr dirty="0"/>
              <a:t>when</a:t>
            </a:r>
            <a:r>
              <a:rPr spc="-25" dirty="0"/>
              <a:t> </a:t>
            </a:r>
            <a:r>
              <a:rPr dirty="0"/>
              <a:t>used</a:t>
            </a:r>
            <a:r>
              <a:rPr spc="-1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models</a:t>
            </a:r>
            <a:r>
              <a:rPr spc="-2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more</a:t>
            </a:r>
            <a:r>
              <a:rPr spc="-15" dirty="0"/>
              <a:t> </a:t>
            </a:r>
            <a:r>
              <a:rPr dirty="0"/>
              <a:t>than </a:t>
            </a:r>
            <a:r>
              <a:rPr spc="-10" dirty="0">
                <a:latin typeface="Malgun Gothic"/>
                <a:cs typeface="Malgun Gothic"/>
              </a:rPr>
              <a:t>∼</a:t>
            </a:r>
            <a:r>
              <a:rPr spc="-10" dirty="0"/>
              <a:t>100B parameters.</a:t>
            </a: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●"/>
            </a:pPr>
            <a:endParaRPr sz="1650"/>
          </a:p>
          <a:p>
            <a:pPr marL="363855" marR="265430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pc="-10" dirty="0"/>
              <a:t>Few-</a:t>
            </a:r>
            <a:r>
              <a:rPr dirty="0"/>
              <a:t>shot</a:t>
            </a:r>
            <a:r>
              <a:rPr spc="-30" dirty="0"/>
              <a:t> </a:t>
            </a:r>
            <a:r>
              <a:rPr dirty="0"/>
              <a:t>CoT</a:t>
            </a:r>
            <a:r>
              <a:rPr spc="-45" dirty="0"/>
              <a:t> </a:t>
            </a:r>
            <a:r>
              <a:rPr dirty="0"/>
              <a:t>achieves</a:t>
            </a:r>
            <a:r>
              <a:rPr spc="-5" dirty="0"/>
              <a:t> </a:t>
            </a:r>
            <a:r>
              <a:rPr b="1" dirty="0">
                <a:latin typeface="Times New Roman"/>
                <a:cs typeface="Times New Roman"/>
              </a:rPr>
              <a:t>better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dirty="0"/>
              <a:t>performance</a:t>
            </a:r>
            <a:r>
              <a:rPr spc="-15" dirty="0"/>
              <a:t> </a:t>
            </a:r>
            <a:r>
              <a:rPr spc="-25" dirty="0"/>
              <a:t>on </a:t>
            </a:r>
            <a:r>
              <a:rPr dirty="0"/>
              <a:t>LLM than</a:t>
            </a:r>
            <a:r>
              <a:rPr spc="5" dirty="0"/>
              <a:t> </a:t>
            </a:r>
            <a:r>
              <a:rPr spc="-10" dirty="0"/>
              <a:t>zero-</a:t>
            </a:r>
            <a:r>
              <a:rPr dirty="0"/>
              <a:t>shot</a:t>
            </a:r>
            <a:r>
              <a:rPr spc="5" dirty="0"/>
              <a:t> </a:t>
            </a:r>
            <a:r>
              <a:rPr spc="-20" dirty="0"/>
              <a:t>CoT.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6893" y="1388562"/>
            <a:ext cx="3195561" cy="27857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40" dirty="0"/>
              <a:t> </a:t>
            </a:r>
            <a:r>
              <a:rPr dirty="0"/>
              <a:t>Reasoning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Observations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dirty="0"/>
              <a:t>Both</a:t>
            </a:r>
            <a:r>
              <a:rPr spc="-10" dirty="0"/>
              <a:t> zero-</a:t>
            </a:r>
            <a:r>
              <a:rPr dirty="0"/>
              <a:t>shot and</a:t>
            </a:r>
            <a:r>
              <a:rPr spc="5" dirty="0"/>
              <a:t> </a:t>
            </a:r>
            <a:r>
              <a:rPr spc="-10" dirty="0"/>
              <a:t>few-</a:t>
            </a:r>
            <a:r>
              <a:rPr dirty="0"/>
              <a:t>shot</a:t>
            </a:r>
            <a:r>
              <a:rPr spc="-5" dirty="0"/>
              <a:t> </a:t>
            </a:r>
            <a:r>
              <a:rPr dirty="0"/>
              <a:t>chain</a:t>
            </a:r>
            <a:r>
              <a:rPr spc="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thought </a:t>
            </a:r>
            <a:r>
              <a:rPr dirty="0"/>
              <a:t>promptings</a:t>
            </a:r>
            <a:r>
              <a:rPr spc="-3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emergent</a:t>
            </a:r>
            <a:r>
              <a:rPr spc="-15" dirty="0"/>
              <a:t> </a:t>
            </a:r>
            <a:r>
              <a:rPr b="1" dirty="0">
                <a:latin typeface="Times New Roman"/>
                <a:cs typeface="Times New Roman"/>
              </a:rPr>
              <a:t>abilities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model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scale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●"/>
            </a:pPr>
            <a:endParaRPr sz="1650"/>
          </a:p>
          <a:p>
            <a:pPr marL="363855" marR="209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dirty="0"/>
              <a:t>They</a:t>
            </a:r>
            <a:r>
              <a:rPr spc="-15" dirty="0"/>
              <a:t> </a:t>
            </a:r>
            <a:r>
              <a:rPr dirty="0"/>
              <a:t>do</a:t>
            </a:r>
            <a:r>
              <a:rPr spc="-15" dirty="0"/>
              <a:t> </a:t>
            </a:r>
            <a:r>
              <a:rPr dirty="0"/>
              <a:t>not</a:t>
            </a:r>
            <a:r>
              <a:rPr spc="-15" dirty="0"/>
              <a:t> </a:t>
            </a:r>
            <a:r>
              <a:rPr dirty="0"/>
              <a:t>positively</a:t>
            </a:r>
            <a:r>
              <a:rPr spc="-15" dirty="0"/>
              <a:t> </a:t>
            </a:r>
            <a:r>
              <a:rPr dirty="0"/>
              <a:t>impact</a:t>
            </a:r>
            <a:r>
              <a:rPr spc="-15" dirty="0"/>
              <a:t> </a:t>
            </a:r>
            <a:r>
              <a:rPr dirty="0"/>
              <a:t>performance</a:t>
            </a:r>
            <a:r>
              <a:rPr spc="-15" dirty="0"/>
              <a:t> </a:t>
            </a:r>
            <a:r>
              <a:rPr spc="-25" dirty="0"/>
              <a:t>for </a:t>
            </a:r>
            <a:r>
              <a:rPr dirty="0"/>
              <a:t>small</a:t>
            </a:r>
            <a:r>
              <a:rPr spc="-20" dirty="0"/>
              <a:t> </a:t>
            </a:r>
            <a:r>
              <a:rPr dirty="0"/>
              <a:t>models,</a:t>
            </a:r>
            <a:r>
              <a:rPr spc="-20" dirty="0"/>
              <a:t> </a:t>
            </a:r>
            <a:r>
              <a:rPr dirty="0"/>
              <a:t>but</a:t>
            </a:r>
            <a:r>
              <a:rPr spc="-20" dirty="0"/>
              <a:t> </a:t>
            </a:r>
            <a:r>
              <a:rPr dirty="0"/>
              <a:t>start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yield</a:t>
            </a:r>
            <a:r>
              <a:rPr spc="-15" dirty="0"/>
              <a:t> </a:t>
            </a:r>
            <a:r>
              <a:rPr dirty="0"/>
              <a:t>performance</a:t>
            </a:r>
            <a:r>
              <a:rPr spc="-15" dirty="0"/>
              <a:t> </a:t>
            </a:r>
            <a:r>
              <a:rPr spc="-10" dirty="0"/>
              <a:t>gains </a:t>
            </a:r>
            <a:r>
              <a:rPr dirty="0"/>
              <a:t>when</a:t>
            </a:r>
            <a:r>
              <a:rPr spc="-25" dirty="0"/>
              <a:t> </a:t>
            </a:r>
            <a:r>
              <a:rPr dirty="0"/>
              <a:t>used</a:t>
            </a:r>
            <a:r>
              <a:rPr spc="-1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models</a:t>
            </a:r>
            <a:r>
              <a:rPr spc="-2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more</a:t>
            </a:r>
            <a:r>
              <a:rPr spc="-15" dirty="0"/>
              <a:t> </a:t>
            </a:r>
            <a:r>
              <a:rPr dirty="0"/>
              <a:t>than </a:t>
            </a:r>
            <a:r>
              <a:rPr spc="-10" dirty="0">
                <a:latin typeface="Malgun Gothic"/>
                <a:cs typeface="Malgun Gothic"/>
              </a:rPr>
              <a:t>∼</a:t>
            </a:r>
            <a:r>
              <a:rPr spc="-10" dirty="0"/>
              <a:t>100B parameters.</a:t>
            </a: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●"/>
            </a:pPr>
            <a:endParaRPr sz="1650"/>
          </a:p>
          <a:p>
            <a:pPr marL="363855" marR="265430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pc="-10" dirty="0"/>
              <a:t>Few-</a:t>
            </a:r>
            <a:r>
              <a:rPr dirty="0"/>
              <a:t>shot</a:t>
            </a:r>
            <a:r>
              <a:rPr spc="-30" dirty="0"/>
              <a:t> </a:t>
            </a:r>
            <a:r>
              <a:rPr dirty="0"/>
              <a:t>CoT</a:t>
            </a:r>
            <a:r>
              <a:rPr spc="-45" dirty="0"/>
              <a:t> </a:t>
            </a:r>
            <a:r>
              <a:rPr dirty="0"/>
              <a:t>achieves</a:t>
            </a:r>
            <a:r>
              <a:rPr spc="-5" dirty="0"/>
              <a:t> </a:t>
            </a:r>
            <a:r>
              <a:rPr b="1" dirty="0">
                <a:latin typeface="Times New Roman"/>
                <a:cs typeface="Times New Roman"/>
              </a:rPr>
              <a:t>better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dirty="0"/>
              <a:t>performance</a:t>
            </a:r>
            <a:r>
              <a:rPr spc="-15" dirty="0"/>
              <a:t> </a:t>
            </a:r>
            <a:r>
              <a:rPr spc="-25" dirty="0"/>
              <a:t>on </a:t>
            </a:r>
            <a:r>
              <a:rPr dirty="0"/>
              <a:t>LLM than</a:t>
            </a:r>
            <a:r>
              <a:rPr spc="5" dirty="0"/>
              <a:t> </a:t>
            </a:r>
            <a:r>
              <a:rPr spc="-10" dirty="0"/>
              <a:t>zero-</a:t>
            </a:r>
            <a:r>
              <a:rPr dirty="0"/>
              <a:t>shot</a:t>
            </a:r>
            <a:r>
              <a:rPr spc="5" dirty="0"/>
              <a:t> </a:t>
            </a:r>
            <a:r>
              <a:rPr spc="-20" dirty="0"/>
              <a:t>CoT.</a:t>
            </a: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●"/>
            </a:pPr>
            <a:endParaRPr sz="1650"/>
          </a:p>
          <a:p>
            <a:pPr marL="363855" marR="11430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dirty="0"/>
              <a:t>Instruct</a:t>
            </a:r>
            <a:r>
              <a:rPr spc="-5" dirty="0"/>
              <a:t> </a:t>
            </a:r>
            <a:r>
              <a:rPr spc="-40" dirty="0"/>
              <a:t>GPT-</a:t>
            </a:r>
            <a:r>
              <a:rPr dirty="0"/>
              <a:t>3:</a:t>
            </a:r>
            <a:r>
              <a:rPr spc="420" dirty="0"/>
              <a:t> </a:t>
            </a:r>
            <a:r>
              <a:rPr spc="-10" dirty="0"/>
              <a:t>text-davinci-</a:t>
            </a:r>
            <a:r>
              <a:rPr dirty="0"/>
              <a:t>002</a:t>
            </a:r>
            <a:r>
              <a:rPr spc="10" dirty="0"/>
              <a:t> </a:t>
            </a:r>
            <a:r>
              <a:rPr dirty="0"/>
              <a:t>achieves</a:t>
            </a:r>
            <a:r>
              <a:rPr spc="10" dirty="0"/>
              <a:t> </a:t>
            </a:r>
            <a:r>
              <a:rPr spc="-10" dirty="0"/>
              <a:t>similar </a:t>
            </a:r>
            <a:r>
              <a:rPr dirty="0"/>
              <a:t>performance</a:t>
            </a:r>
            <a:r>
              <a:rPr spc="-15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dirty="0"/>
              <a:t>PaLM</a:t>
            </a:r>
            <a:r>
              <a:rPr spc="-15" dirty="0"/>
              <a:t> </a:t>
            </a:r>
            <a:r>
              <a:rPr dirty="0"/>
              <a:t>540B</a:t>
            </a:r>
            <a:r>
              <a:rPr spc="-15" dirty="0"/>
              <a:t> </a:t>
            </a:r>
            <a:r>
              <a:rPr spc="-20" dirty="0"/>
              <a:t>model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6893" y="1388562"/>
            <a:ext cx="3195561" cy="27857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1087" y="2048814"/>
            <a:ext cx="3439795" cy="1013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68655">
              <a:lnSpc>
                <a:spcPct val="101299"/>
              </a:lnSpc>
              <a:spcBef>
                <a:spcPts val="90"/>
              </a:spcBef>
            </a:pPr>
            <a:r>
              <a:rPr sz="3200" spc="-10" dirty="0"/>
              <a:t>Experiments </a:t>
            </a:r>
            <a:r>
              <a:rPr sz="3200" dirty="0"/>
              <a:t>Symbolic</a:t>
            </a:r>
            <a:r>
              <a:rPr sz="3200" spc="100" dirty="0"/>
              <a:t> </a:t>
            </a:r>
            <a:r>
              <a:rPr sz="3200" spc="-10" dirty="0"/>
              <a:t>Reasoning</a:t>
            </a:r>
            <a:endParaRPr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873937"/>
            <a:ext cx="3369310" cy="2773680"/>
            <a:chOff x="785962" y="873937"/>
            <a:chExt cx="3369310" cy="2773680"/>
          </a:xfrm>
        </p:grpSpPr>
        <p:sp>
          <p:nvSpPr>
            <p:cNvPr id="3" name="object 3"/>
            <p:cNvSpPr/>
            <p:nvPr/>
          </p:nvSpPr>
          <p:spPr>
            <a:xfrm>
              <a:off x="790724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5" h="2764154">
                  <a:moveTo>
                    <a:pt x="2899040" y="2763899"/>
                  </a:move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49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3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3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49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6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5" h="2764154">
                  <a:moveTo>
                    <a:pt x="0" y="460659"/>
                  </a:move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3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49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6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49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3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98672" y="1079535"/>
            <a:ext cx="2806700" cy="212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Last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letter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concatenation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Take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last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letters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words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"Elon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Musk"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0" dirty="0">
                <a:latin typeface="Arial"/>
                <a:cs typeface="Arial"/>
              </a:rPr>
              <a:t> concatenate </a:t>
            </a:r>
            <a:r>
              <a:rPr sz="1400" spc="-20" dirty="0">
                <a:latin typeface="Arial"/>
                <a:cs typeface="Arial"/>
              </a:rPr>
              <a:t>them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2159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last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letter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"Elon"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"n".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last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letter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"Musk"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"k".</a:t>
            </a:r>
            <a:endParaRPr sz="1400">
              <a:latin typeface="Arial"/>
              <a:cs typeface="Arial"/>
            </a:endParaRPr>
          </a:p>
          <a:p>
            <a:pPr marL="12700" marR="53340">
              <a:lnSpc>
                <a:spcPts val="1650"/>
              </a:lnSpc>
            </a:pP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Concatenating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them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"nk".</a:t>
            </a:r>
            <a:r>
              <a:rPr sz="1400" b="1" spc="-4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nk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Symbolic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Last</a:t>
            </a:r>
            <a:r>
              <a:rPr spc="-25" dirty="0"/>
              <a:t> </a:t>
            </a:r>
            <a:r>
              <a:rPr dirty="0"/>
              <a:t>Letter</a:t>
            </a:r>
            <a:r>
              <a:rPr spc="-20" dirty="0"/>
              <a:t> </a:t>
            </a:r>
            <a:r>
              <a:rPr spc="-10" dirty="0"/>
              <a:t>Concatenation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25743" y="1087613"/>
            <a:ext cx="370776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marR="85344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Generate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full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randomly </a:t>
            </a:r>
            <a:r>
              <a:rPr sz="1400" b="1" dirty="0">
                <a:latin typeface="Times New Roman"/>
                <a:cs typeface="Times New Roman"/>
              </a:rPr>
              <a:t>concatenating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top</a:t>
            </a:r>
            <a:endParaRPr sz="1400">
              <a:latin typeface="Times New Roman"/>
              <a:cs typeface="Times New Roman"/>
            </a:endParaRPr>
          </a:p>
          <a:p>
            <a:pPr marL="348615" marR="5080">
              <a:lnSpc>
                <a:spcPct val="100000"/>
              </a:lnSpc>
            </a:pPr>
            <a:r>
              <a:rPr sz="1400" b="1" spc="-10" dirty="0">
                <a:latin typeface="Times New Roman"/>
                <a:cs typeface="Times New Roman"/>
              </a:rPr>
              <a:t>one-</a:t>
            </a:r>
            <a:r>
              <a:rPr sz="1400" b="1" dirty="0">
                <a:latin typeface="Times New Roman"/>
                <a:cs typeface="Times New Roman"/>
              </a:rPr>
              <a:t>thousand first and last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name </a:t>
            </a:r>
            <a:r>
              <a:rPr sz="1400" dirty="0">
                <a:latin typeface="Times New Roman"/>
                <a:cs typeface="Times New Roman"/>
              </a:rPr>
              <a:t>census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873937"/>
            <a:ext cx="3369310" cy="2773680"/>
            <a:chOff x="785962" y="873937"/>
            <a:chExt cx="3369310" cy="2773680"/>
          </a:xfrm>
        </p:grpSpPr>
        <p:sp>
          <p:nvSpPr>
            <p:cNvPr id="3" name="object 3"/>
            <p:cNvSpPr/>
            <p:nvPr/>
          </p:nvSpPr>
          <p:spPr>
            <a:xfrm>
              <a:off x="790724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5" h="2764154">
                  <a:moveTo>
                    <a:pt x="2899040" y="2763899"/>
                  </a:move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49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3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3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49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6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5" h="2764154">
                  <a:moveTo>
                    <a:pt x="0" y="460659"/>
                  </a:move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3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49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6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49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3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98672" y="1079535"/>
            <a:ext cx="2806700" cy="212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Last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letter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concatenation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Take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last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letters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words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"Elon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Musk"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0" dirty="0">
                <a:latin typeface="Arial"/>
                <a:cs typeface="Arial"/>
              </a:rPr>
              <a:t> concatenate </a:t>
            </a:r>
            <a:r>
              <a:rPr sz="1400" spc="-20" dirty="0">
                <a:latin typeface="Arial"/>
                <a:cs typeface="Arial"/>
              </a:rPr>
              <a:t>them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2159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last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letter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"Elon"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"n".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last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letter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"Musk"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"k".</a:t>
            </a:r>
            <a:endParaRPr sz="1400">
              <a:latin typeface="Arial"/>
              <a:cs typeface="Arial"/>
            </a:endParaRPr>
          </a:p>
          <a:p>
            <a:pPr marL="12700" marR="53340">
              <a:lnSpc>
                <a:spcPts val="1650"/>
              </a:lnSpc>
            </a:pP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Concatenating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them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"nk".</a:t>
            </a:r>
            <a:r>
              <a:rPr sz="1400" b="1" spc="-4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nk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Symbolic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Last</a:t>
            </a:r>
            <a:r>
              <a:rPr spc="-25" dirty="0"/>
              <a:t> </a:t>
            </a:r>
            <a:r>
              <a:rPr dirty="0"/>
              <a:t>Letter</a:t>
            </a:r>
            <a:r>
              <a:rPr spc="-20" dirty="0"/>
              <a:t> </a:t>
            </a:r>
            <a:r>
              <a:rPr spc="-10" dirty="0"/>
              <a:t>Concatenation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25743" y="1087613"/>
            <a:ext cx="370776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marR="85344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Generate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full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randomly </a:t>
            </a:r>
            <a:r>
              <a:rPr sz="1400" b="1" dirty="0">
                <a:latin typeface="Times New Roman"/>
                <a:cs typeface="Times New Roman"/>
              </a:rPr>
              <a:t>concatenating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top</a:t>
            </a:r>
            <a:endParaRPr sz="1400">
              <a:latin typeface="Times New Roman"/>
              <a:cs typeface="Times New Roman"/>
            </a:endParaRPr>
          </a:p>
          <a:p>
            <a:pPr marL="348615" marR="5080">
              <a:lnSpc>
                <a:spcPct val="100000"/>
              </a:lnSpc>
            </a:pPr>
            <a:r>
              <a:rPr sz="1400" b="1" spc="-10" dirty="0">
                <a:latin typeface="Times New Roman"/>
                <a:cs typeface="Times New Roman"/>
              </a:rPr>
              <a:t>one-</a:t>
            </a:r>
            <a:r>
              <a:rPr sz="1400" b="1" dirty="0">
                <a:latin typeface="Times New Roman"/>
                <a:cs typeface="Times New Roman"/>
              </a:rPr>
              <a:t>thousand first and last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name </a:t>
            </a:r>
            <a:r>
              <a:rPr sz="1400" dirty="0">
                <a:latin typeface="Times New Roman"/>
                <a:cs typeface="Times New Roman"/>
              </a:rPr>
              <a:t>census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marL="347980" indent="-335915">
              <a:lnSpc>
                <a:spcPct val="100000"/>
              </a:lnSpc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4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strict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format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873937"/>
            <a:ext cx="3369310" cy="2773680"/>
            <a:chOff x="785962" y="873937"/>
            <a:chExt cx="3369310" cy="2773680"/>
          </a:xfrm>
        </p:grpSpPr>
        <p:sp>
          <p:nvSpPr>
            <p:cNvPr id="3" name="object 3"/>
            <p:cNvSpPr/>
            <p:nvPr/>
          </p:nvSpPr>
          <p:spPr>
            <a:xfrm>
              <a:off x="790724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5" h="2764154">
                  <a:moveTo>
                    <a:pt x="2899040" y="2763899"/>
                  </a:move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49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3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3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49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6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5" h="2764154">
                  <a:moveTo>
                    <a:pt x="0" y="460659"/>
                  </a:move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3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49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6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49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3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98672" y="1079535"/>
            <a:ext cx="2806700" cy="212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Last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letter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concatenation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Take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last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letters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words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"Elon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Musk"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0" dirty="0">
                <a:latin typeface="Arial"/>
                <a:cs typeface="Arial"/>
              </a:rPr>
              <a:t> concatenate </a:t>
            </a:r>
            <a:r>
              <a:rPr sz="1400" spc="-20" dirty="0">
                <a:latin typeface="Arial"/>
                <a:cs typeface="Arial"/>
              </a:rPr>
              <a:t>them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2159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last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letter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"Elon"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"n".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last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letter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"Musk"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"k".</a:t>
            </a:r>
            <a:endParaRPr sz="1400">
              <a:latin typeface="Arial"/>
              <a:cs typeface="Arial"/>
            </a:endParaRPr>
          </a:p>
          <a:p>
            <a:pPr marL="12700" marR="53340">
              <a:lnSpc>
                <a:spcPts val="1650"/>
              </a:lnSpc>
            </a:pP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Concatenating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them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"nk".</a:t>
            </a:r>
            <a:r>
              <a:rPr sz="1400" b="1" spc="-4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nk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Symbolic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Last</a:t>
            </a:r>
            <a:r>
              <a:rPr spc="-25" dirty="0"/>
              <a:t> </a:t>
            </a:r>
            <a:r>
              <a:rPr dirty="0"/>
              <a:t>Letter</a:t>
            </a:r>
            <a:r>
              <a:rPr spc="-20" dirty="0"/>
              <a:t> </a:t>
            </a:r>
            <a:r>
              <a:rPr spc="-10" dirty="0"/>
              <a:t>Concatenation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107987" y="873937"/>
            <a:ext cx="3369310" cy="2773680"/>
            <a:chOff x="5107987" y="873937"/>
            <a:chExt cx="3369310" cy="2773680"/>
          </a:xfrm>
        </p:grpSpPr>
        <p:sp>
          <p:nvSpPr>
            <p:cNvPr id="8" name="object 8"/>
            <p:cNvSpPr/>
            <p:nvPr/>
          </p:nvSpPr>
          <p:spPr>
            <a:xfrm>
              <a:off x="5112749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4" h="2764154">
                  <a:moveTo>
                    <a:pt x="2899040" y="2763899"/>
                  </a:move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50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4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4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50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5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2749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4" h="2764154">
                  <a:moveTo>
                    <a:pt x="0" y="460659"/>
                  </a:move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4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50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5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50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4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20697" y="1079535"/>
            <a:ext cx="2905760" cy="191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Last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letter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concatenation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Take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last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letters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words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"Bill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Gates"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concatenate</a:t>
            </a:r>
            <a:r>
              <a:rPr sz="1400" spc="-20" dirty="0">
                <a:latin typeface="Arial"/>
                <a:cs typeface="Arial"/>
              </a:rPr>
              <a:t> them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212090" algn="just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last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letter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"Bill"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"l".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last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letter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"Gates"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"s".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Concatenating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them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"ls".</a:t>
            </a:r>
            <a:r>
              <a:rPr sz="1400" b="1" spc="-4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ls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873937"/>
            <a:ext cx="3369310" cy="3213735"/>
            <a:chOff x="785962" y="873937"/>
            <a:chExt cx="3369310" cy="3213735"/>
          </a:xfrm>
        </p:grpSpPr>
        <p:sp>
          <p:nvSpPr>
            <p:cNvPr id="3" name="object 3"/>
            <p:cNvSpPr/>
            <p:nvPr/>
          </p:nvSpPr>
          <p:spPr>
            <a:xfrm>
              <a:off x="790724" y="878699"/>
              <a:ext cx="3359785" cy="3204210"/>
            </a:xfrm>
            <a:custGeom>
              <a:avLst/>
              <a:gdLst/>
              <a:ahLst/>
              <a:cxnLst/>
              <a:rect l="l" t="t" r="r" b="b"/>
              <a:pathLst>
                <a:path w="3359785" h="3204210">
                  <a:moveTo>
                    <a:pt x="2825739" y="3203699"/>
                  </a:moveTo>
                  <a:lnTo>
                    <a:pt x="533960" y="3203699"/>
                  </a:lnTo>
                  <a:lnTo>
                    <a:pt x="485359" y="3201517"/>
                  </a:lnTo>
                  <a:lnTo>
                    <a:pt x="437980" y="3195097"/>
                  </a:lnTo>
                  <a:lnTo>
                    <a:pt x="392012" y="3184626"/>
                  </a:lnTo>
                  <a:lnTo>
                    <a:pt x="347644" y="3170294"/>
                  </a:lnTo>
                  <a:lnTo>
                    <a:pt x="305064" y="3152288"/>
                  </a:lnTo>
                  <a:lnTo>
                    <a:pt x="264460" y="3130798"/>
                  </a:lnTo>
                  <a:lnTo>
                    <a:pt x="226021" y="3106012"/>
                  </a:lnTo>
                  <a:lnTo>
                    <a:pt x="189936" y="3078119"/>
                  </a:lnTo>
                  <a:lnTo>
                    <a:pt x="156393" y="3047306"/>
                  </a:lnTo>
                  <a:lnTo>
                    <a:pt x="125580" y="3013763"/>
                  </a:lnTo>
                  <a:lnTo>
                    <a:pt x="97687" y="2977678"/>
                  </a:lnTo>
                  <a:lnTo>
                    <a:pt x="72901" y="2939239"/>
                  </a:lnTo>
                  <a:lnTo>
                    <a:pt x="51411" y="2898635"/>
                  </a:lnTo>
                  <a:lnTo>
                    <a:pt x="33405" y="2856055"/>
                  </a:lnTo>
                  <a:lnTo>
                    <a:pt x="19073" y="2811687"/>
                  </a:lnTo>
                  <a:lnTo>
                    <a:pt x="8602" y="2765719"/>
                  </a:lnTo>
                  <a:lnTo>
                    <a:pt x="2182" y="2718340"/>
                  </a:lnTo>
                  <a:lnTo>
                    <a:pt x="0" y="2669739"/>
                  </a:lnTo>
                  <a:lnTo>
                    <a:pt x="0" y="533960"/>
                  </a:lnTo>
                  <a:lnTo>
                    <a:pt x="2182" y="485359"/>
                  </a:lnTo>
                  <a:lnTo>
                    <a:pt x="8602" y="437980"/>
                  </a:lnTo>
                  <a:lnTo>
                    <a:pt x="19073" y="392012"/>
                  </a:lnTo>
                  <a:lnTo>
                    <a:pt x="33405" y="347644"/>
                  </a:lnTo>
                  <a:lnTo>
                    <a:pt x="51411" y="305064"/>
                  </a:lnTo>
                  <a:lnTo>
                    <a:pt x="72901" y="264460"/>
                  </a:lnTo>
                  <a:lnTo>
                    <a:pt x="97687" y="226021"/>
                  </a:lnTo>
                  <a:lnTo>
                    <a:pt x="125580" y="189936"/>
                  </a:lnTo>
                  <a:lnTo>
                    <a:pt x="156393" y="156393"/>
                  </a:lnTo>
                  <a:lnTo>
                    <a:pt x="189936" y="125580"/>
                  </a:lnTo>
                  <a:lnTo>
                    <a:pt x="226021" y="97687"/>
                  </a:lnTo>
                  <a:lnTo>
                    <a:pt x="264460" y="72901"/>
                  </a:lnTo>
                  <a:lnTo>
                    <a:pt x="305064" y="51411"/>
                  </a:lnTo>
                  <a:lnTo>
                    <a:pt x="347644" y="33405"/>
                  </a:lnTo>
                  <a:lnTo>
                    <a:pt x="392012" y="19073"/>
                  </a:lnTo>
                  <a:lnTo>
                    <a:pt x="437980" y="8602"/>
                  </a:lnTo>
                  <a:lnTo>
                    <a:pt x="485359" y="2182"/>
                  </a:lnTo>
                  <a:lnTo>
                    <a:pt x="533960" y="0"/>
                  </a:lnTo>
                  <a:lnTo>
                    <a:pt x="2825739" y="0"/>
                  </a:lnTo>
                  <a:lnTo>
                    <a:pt x="2878514" y="2612"/>
                  </a:lnTo>
                  <a:lnTo>
                    <a:pt x="2930396" y="10354"/>
                  </a:lnTo>
                  <a:lnTo>
                    <a:pt x="2981034" y="23080"/>
                  </a:lnTo>
                  <a:lnTo>
                    <a:pt x="3030077" y="40645"/>
                  </a:lnTo>
                  <a:lnTo>
                    <a:pt x="3077176" y="62904"/>
                  </a:lnTo>
                  <a:lnTo>
                    <a:pt x="3121981" y="89711"/>
                  </a:lnTo>
                  <a:lnTo>
                    <a:pt x="3164141" y="120923"/>
                  </a:lnTo>
                  <a:lnTo>
                    <a:pt x="3203306" y="156393"/>
                  </a:lnTo>
                  <a:lnTo>
                    <a:pt x="3238777" y="195558"/>
                  </a:lnTo>
                  <a:lnTo>
                    <a:pt x="3269988" y="237719"/>
                  </a:lnTo>
                  <a:lnTo>
                    <a:pt x="3296796" y="282523"/>
                  </a:lnTo>
                  <a:lnTo>
                    <a:pt x="3319054" y="329622"/>
                  </a:lnTo>
                  <a:lnTo>
                    <a:pt x="3336619" y="378666"/>
                  </a:lnTo>
                  <a:lnTo>
                    <a:pt x="3349345" y="429303"/>
                  </a:lnTo>
                  <a:lnTo>
                    <a:pt x="3357087" y="481185"/>
                  </a:lnTo>
                  <a:lnTo>
                    <a:pt x="3359699" y="533960"/>
                  </a:lnTo>
                  <a:lnTo>
                    <a:pt x="3359699" y="2669739"/>
                  </a:lnTo>
                  <a:lnTo>
                    <a:pt x="3357517" y="2718340"/>
                  </a:lnTo>
                  <a:lnTo>
                    <a:pt x="3351097" y="2765719"/>
                  </a:lnTo>
                  <a:lnTo>
                    <a:pt x="3340626" y="2811687"/>
                  </a:lnTo>
                  <a:lnTo>
                    <a:pt x="3326294" y="2856055"/>
                  </a:lnTo>
                  <a:lnTo>
                    <a:pt x="3308288" y="2898635"/>
                  </a:lnTo>
                  <a:lnTo>
                    <a:pt x="3286798" y="2939239"/>
                  </a:lnTo>
                  <a:lnTo>
                    <a:pt x="3262012" y="2977678"/>
                  </a:lnTo>
                  <a:lnTo>
                    <a:pt x="3234119" y="3013763"/>
                  </a:lnTo>
                  <a:lnTo>
                    <a:pt x="3203306" y="3047306"/>
                  </a:lnTo>
                  <a:lnTo>
                    <a:pt x="3169763" y="3078119"/>
                  </a:lnTo>
                  <a:lnTo>
                    <a:pt x="3133678" y="3106012"/>
                  </a:lnTo>
                  <a:lnTo>
                    <a:pt x="3095239" y="3130798"/>
                  </a:lnTo>
                  <a:lnTo>
                    <a:pt x="3054635" y="3152288"/>
                  </a:lnTo>
                  <a:lnTo>
                    <a:pt x="3012055" y="3170294"/>
                  </a:lnTo>
                  <a:lnTo>
                    <a:pt x="2967687" y="3184626"/>
                  </a:lnTo>
                  <a:lnTo>
                    <a:pt x="2921719" y="3195097"/>
                  </a:lnTo>
                  <a:lnTo>
                    <a:pt x="2874340" y="3201517"/>
                  </a:lnTo>
                  <a:lnTo>
                    <a:pt x="2825739" y="3203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878699"/>
              <a:ext cx="3359785" cy="3204210"/>
            </a:xfrm>
            <a:custGeom>
              <a:avLst/>
              <a:gdLst/>
              <a:ahLst/>
              <a:cxnLst/>
              <a:rect l="l" t="t" r="r" b="b"/>
              <a:pathLst>
                <a:path w="3359785" h="3204210">
                  <a:moveTo>
                    <a:pt x="0" y="533960"/>
                  </a:moveTo>
                  <a:lnTo>
                    <a:pt x="2182" y="485359"/>
                  </a:lnTo>
                  <a:lnTo>
                    <a:pt x="8602" y="437980"/>
                  </a:lnTo>
                  <a:lnTo>
                    <a:pt x="19073" y="392012"/>
                  </a:lnTo>
                  <a:lnTo>
                    <a:pt x="33405" y="347644"/>
                  </a:lnTo>
                  <a:lnTo>
                    <a:pt x="51411" y="305064"/>
                  </a:lnTo>
                  <a:lnTo>
                    <a:pt x="72901" y="264460"/>
                  </a:lnTo>
                  <a:lnTo>
                    <a:pt x="97687" y="226021"/>
                  </a:lnTo>
                  <a:lnTo>
                    <a:pt x="125580" y="189936"/>
                  </a:lnTo>
                  <a:lnTo>
                    <a:pt x="156393" y="156393"/>
                  </a:lnTo>
                  <a:lnTo>
                    <a:pt x="189936" y="125580"/>
                  </a:lnTo>
                  <a:lnTo>
                    <a:pt x="226021" y="97687"/>
                  </a:lnTo>
                  <a:lnTo>
                    <a:pt x="264460" y="72901"/>
                  </a:lnTo>
                  <a:lnTo>
                    <a:pt x="305064" y="51411"/>
                  </a:lnTo>
                  <a:lnTo>
                    <a:pt x="347644" y="33405"/>
                  </a:lnTo>
                  <a:lnTo>
                    <a:pt x="392012" y="19073"/>
                  </a:lnTo>
                  <a:lnTo>
                    <a:pt x="437980" y="8602"/>
                  </a:lnTo>
                  <a:lnTo>
                    <a:pt x="485359" y="2182"/>
                  </a:lnTo>
                  <a:lnTo>
                    <a:pt x="533960" y="0"/>
                  </a:lnTo>
                  <a:lnTo>
                    <a:pt x="2825739" y="0"/>
                  </a:lnTo>
                  <a:lnTo>
                    <a:pt x="2878514" y="2612"/>
                  </a:lnTo>
                  <a:lnTo>
                    <a:pt x="2930396" y="10354"/>
                  </a:lnTo>
                  <a:lnTo>
                    <a:pt x="2981034" y="23080"/>
                  </a:lnTo>
                  <a:lnTo>
                    <a:pt x="3030077" y="40645"/>
                  </a:lnTo>
                  <a:lnTo>
                    <a:pt x="3077176" y="62904"/>
                  </a:lnTo>
                  <a:lnTo>
                    <a:pt x="3121981" y="89711"/>
                  </a:lnTo>
                  <a:lnTo>
                    <a:pt x="3164141" y="120923"/>
                  </a:lnTo>
                  <a:lnTo>
                    <a:pt x="3203306" y="156393"/>
                  </a:lnTo>
                  <a:lnTo>
                    <a:pt x="3238777" y="195558"/>
                  </a:lnTo>
                  <a:lnTo>
                    <a:pt x="3269988" y="237719"/>
                  </a:lnTo>
                  <a:lnTo>
                    <a:pt x="3296796" y="282523"/>
                  </a:lnTo>
                  <a:lnTo>
                    <a:pt x="3319054" y="329622"/>
                  </a:lnTo>
                  <a:lnTo>
                    <a:pt x="3336619" y="378666"/>
                  </a:lnTo>
                  <a:lnTo>
                    <a:pt x="3349345" y="429303"/>
                  </a:lnTo>
                  <a:lnTo>
                    <a:pt x="3357087" y="481185"/>
                  </a:lnTo>
                  <a:lnTo>
                    <a:pt x="3359699" y="533960"/>
                  </a:lnTo>
                  <a:lnTo>
                    <a:pt x="3359699" y="2669739"/>
                  </a:lnTo>
                  <a:lnTo>
                    <a:pt x="3357517" y="2718340"/>
                  </a:lnTo>
                  <a:lnTo>
                    <a:pt x="3351097" y="2765719"/>
                  </a:lnTo>
                  <a:lnTo>
                    <a:pt x="3340626" y="2811687"/>
                  </a:lnTo>
                  <a:lnTo>
                    <a:pt x="3326294" y="2856055"/>
                  </a:lnTo>
                  <a:lnTo>
                    <a:pt x="3308288" y="2898635"/>
                  </a:lnTo>
                  <a:lnTo>
                    <a:pt x="3286798" y="2939239"/>
                  </a:lnTo>
                  <a:lnTo>
                    <a:pt x="3262012" y="2977678"/>
                  </a:lnTo>
                  <a:lnTo>
                    <a:pt x="3234119" y="3013763"/>
                  </a:lnTo>
                  <a:lnTo>
                    <a:pt x="3203306" y="3047306"/>
                  </a:lnTo>
                  <a:lnTo>
                    <a:pt x="3169763" y="3078119"/>
                  </a:lnTo>
                  <a:lnTo>
                    <a:pt x="3133678" y="3106012"/>
                  </a:lnTo>
                  <a:lnTo>
                    <a:pt x="3095239" y="3130798"/>
                  </a:lnTo>
                  <a:lnTo>
                    <a:pt x="3054635" y="3152288"/>
                  </a:lnTo>
                  <a:lnTo>
                    <a:pt x="3012055" y="3170294"/>
                  </a:lnTo>
                  <a:lnTo>
                    <a:pt x="2967687" y="3184626"/>
                  </a:lnTo>
                  <a:lnTo>
                    <a:pt x="2921719" y="3195097"/>
                  </a:lnTo>
                  <a:lnTo>
                    <a:pt x="2874340" y="3201517"/>
                  </a:lnTo>
                  <a:lnTo>
                    <a:pt x="2825739" y="3203699"/>
                  </a:lnTo>
                  <a:lnTo>
                    <a:pt x="533960" y="3203699"/>
                  </a:lnTo>
                  <a:lnTo>
                    <a:pt x="485359" y="3201517"/>
                  </a:lnTo>
                  <a:lnTo>
                    <a:pt x="437980" y="3195097"/>
                  </a:lnTo>
                  <a:lnTo>
                    <a:pt x="392012" y="3184626"/>
                  </a:lnTo>
                  <a:lnTo>
                    <a:pt x="347644" y="3170294"/>
                  </a:lnTo>
                  <a:lnTo>
                    <a:pt x="305064" y="3152288"/>
                  </a:lnTo>
                  <a:lnTo>
                    <a:pt x="264460" y="3130798"/>
                  </a:lnTo>
                  <a:lnTo>
                    <a:pt x="226021" y="3106012"/>
                  </a:lnTo>
                  <a:lnTo>
                    <a:pt x="189936" y="3078119"/>
                  </a:lnTo>
                  <a:lnTo>
                    <a:pt x="156393" y="3047306"/>
                  </a:lnTo>
                  <a:lnTo>
                    <a:pt x="125580" y="3013763"/>
                  </a:lnTo>
                  <a:lnTo>
                    <a:pt x="97687" y="2977678"/>
                  </a:lnTo>
                  <a:lnTo>
                    <a:pt x="72901" y="2939239"/>
                  </a:lnTo>
                  <a:lnTo>
                    <a:pt x="51411" y="2898635"/>
                  </a:lnTo>
                  <a:lnTo>
                    <a:pt x="33405" y="2856055"/>
                  </a:lnTo>
                  <a:lnTo>
                    <a:pt x="19073" y="2811687"/>
                  </a:lnTo>
                  <a:lnTo>
                    <a:pt x="8602" y="2765719"/>
                  </a:lnTo>
                  <a:lnTo>
                    <a:pt x="2182" y="2718340"/>
                  </a:lnTo>
                  <a:lnTo>
                    <a:pt x="0" y="2669739"/>
                  </a:lnTo>
                  <a:lnTo>
                    <a:pt x="0" y="53396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077874" y="1101004"/>
            <a:ext cx="7854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Coin</a:t>
            </a:r>
            <a:r>
              <a:rPr sz="1400" b="1" spc="-20" dirty="0">
                <a:latin typeface="Arial"/>
                <a:cs typeface="Arial"/>
              </a:rPr>
              <a:t> Flip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0141" y="1520104"/>
            <a:ext cx="274066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2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coin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heads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up.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37761C"/>
                </a:solidFill>
                <a:latin typeface="Arial"/>
                <a:cs typeface="Arial"/>
              </a:rPr>
              <a:t>Tom</a:t>
            </a:r>
            <a:r>
              <a:rPr sz="1400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does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flip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coin. </a:t>
            </a:r>
            <a:r>
              <a:rPr sz="1400" dirty="0">
                <a:solidFill>
                  <a:srgbClr val="37761C"/>
                </a:solidFill>
                <a:latin typeface="Arial"/>
                <a:cs typeface="Arial"/>
              </a:rPr>
              <a:t>Mike</a:t>
            </a:r>
            <a:r>
              <a:rPr sz="1400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flip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coin.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still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heads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up?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0141" y="2358304"/>
            <a:ext cx="2856865" cy="10769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36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coin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was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flipped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by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no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one.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So</a:t>
            </a:r>
            <a:r>
              <a:rPr sz="1400" b="1" spc="-2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coin</a:t>
            </a:r>
            <a:r>
              <a:rPr sz="1400" b="1" spc="-2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was</a:t>
            </a:r>
            <a:r>
              <a:rPr sz="1400" b="1" spc="-1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flipped</a:t>
            </a:r>
            <a:r>
              <a:rPr sz="1400" b="1" spc="-1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BE9000"/>
                </a:solidFill>
                <a:latin typeface="Arial"/>
                <a:cs typeface="Arial"/>
              </a:rPr>
              <a:t>0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times.</a:t>
            </a:r>
            <a:r>
              <a:rPr sz="1400" b="1" spc="-3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The</a:t>
            </a:r>
            <a:r>
              <a:rPr sz="1400" b="1" spc="-2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coin</a:t>
            </a:r>
            <a:r>
              <a:rPr sz="1400" b="1" spc="-2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started</a:t>
            </a:r>
            <a:r>
              <a:rPr sz="1400" b="1" spc="-2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heads</a:t>
            </a:r>
            <a:r>
              <a:rPr sz="1400" b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1155CC"/>
                </a:solidFill>
                <a:latin typeface="Arial"/>
                <a:cs typeface="Arial"/>
              </a:rPr>
              <a:t>up,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it</a:t>
            </a:r>
            <a:r>
              <a:rPr sz="1400" b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was</a:t>
            </a:r>
            <a:r>
              <a:rPr sz="1400" b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not</a:t>
            </a:r>
            <a:r>
              <a:rPr sz="1400" b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flipped,</a:t>
            </a:r>
            <a:r>
              <a:rPr sz="1400" b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so</a:t>
            </a:r>
            <a:r>
              <a:rPr sz="1400" b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it</a:t>
            </a:r>
            <a:r>
              <a:rPr sz="1400" b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55CC"/>
                </a:solidFill>
                <a:latin typeface="Arial"/>
                <a:cs typeface="Arial"/>
              </a:rPr>
              <a:t>still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heads</a:t>
            </a:r>
            <a:r>
              <a:rPr sz="1400" b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up</a:t>
            </a:r>
            <a:r>
              <a:rPr sz="1400" dirty="0">
                <a:solidFill>
                  <a:srgbClr val="1155CC"/>
                </a:solidFill>
                <a:latin typeface="Arial"/>
                <a:cs typeface="Arial"/>
              </a:rPr>
              <a:t>.</a:t>
            </a:r>
            <a:r>
              <a:rPr sz="1400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990000"/>
                </a:solidFill>
                <a:latin typeface="Arial"/>
                <a:cs typeface="Arial"/>
              </a:rPr>
              <a:t>yes</a:t>
            </a:r>
            <a:r>
              <a:rPr sz="1400" spc="-2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Symbolic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1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Coin</a:t>
            </a:r>
            <a:r>
              <a:rPr spc="-15" dirty="0"/>
              <a:t> </a:t>
            </a:r>
            <a:r>
              <a:rPr spc="-20" dirty="0"/>
              <a:t>Flip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46587" y="4263862"/>
            <a:ext cx="2251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8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strict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format.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07987" y="873937"/>
            <a:ext cx="3369310" cy="3213735"/>
            <a:chOff x="5107987" y="873937"/>
            <a:chExt cx="3369310" cy="3213735"/>
          </a:xfrm>
        </p:grpSpPr>
        <p:sp>
          <p:nvSpPr>
            <p:cNvPr id="11" name="object 11"/>
            <p:cNvSpPr/>
            <p:nvPr/>
          </p:nvSpPr>
          <p:spPr>
            <a:xfrm>
              <a:off x="5112749" y="878699"/>
              <a:ext cx="3359785" cy="3204210"/>
            </a:xfrm>
            <a:custGeom>
              <a:avLst/>
              <a:gdLst/>
              <a:ahLst/>
              <a:cxnLst/>
              <a:rect l="l" t="t" r="r" b="b"/>
              <a:pathLst>
                <a:path w="3359784" h="3204210">
                  <a:moveTo>
                    <a:pt x="2825738" y="3203699"/>
                  </a:moveTo>
                  <a:lnTo>
                    <a:pt x="533960" y="3203699"/>
                  </a:lnTo>
                  <a:lnTo>
                    <a:pt x="485359" y="3201517"/>
                  </a:lnTo>
                  <a:lnTo>
                    <a:pt x="437980" y="3195097"/>
                  </a:lnTo>
                  <a:lnTo>
                    <a:pt x="392012" y="3184626"/>
                  </a:lnTo>
                  <a:lnTo>
                    <a:pt x="347644" y="3170294"/>
                  </a:lnTo>
                  <a:lnTo>
                    <a:pt x="305064" y="3152288"/>
                  </a:lnTo>
                  <a:lnTo>
                    <a:pt x="264460" y="3130798"/>
                  </a:lnTo>
                  <a:lnTo>
                    <a:pt x="226021" y="3106012"/>
                  </a:lnTo>
                  <a:lnTo>
                    <a:pt x="189936" y="3078119"/>
                  </a:lnTo>
                  <a:lnTo>
                    <a:pt x="156393" y="3047306"/>
                  </a:lnTo>
                  <a:lnTo>
                    <a:pt x="125580" y="3013763"/>
                  </a:lnTo>
                  <a:lnTo>
                    <a:pt x="97687" y="2977678"/>
                  </a:lnTo>
                  <a:lnTo>
                    <a:pt x="72901" y="2939239"/>
                  </a:lnTo>
                  <a:lnTo>
                    <a:pt x="51411" y="2898635"/>
                  </a:lnTo>
                  <a:lnTo>
                    <a:pt x="33405" y="2856055"/>
                  </a:lnTo>
                  <a:lnTo>
                    <a:pt x="19073" y="2811687"/>
                  </a:lnTo>
                  <a:lnTo>
                    <a:pt x="8602" y="2765719"/>
                  </a:lnTo>
                  <a:lnTo>
                    <a:pt x="2182" y="2718340"/>
                  </a:lnTo>
                  <a:lnTo>
                    <a:pt x="0" y="2669739"/>
                  </a:lnTo>
                  <a:lnTo>
                    <a:pt x="0" y="533960"/>
                  </a:lnTo>
                  <a:lnTo>
                    <a:pt x="2182" y="485359"/>
                  </a:lnTo>
                  <a:lnTo>
                    <a:pt x="8602" y="437980"/>
                  </a:lnTo>
                  <a:lnTo>
                    <a:pt x="19073" y="392012"/>
                  </a:lnTo>
                  <a:lnTo>
                    <a:pt x="33405" y="347644"/>
                  </a:lnTo>
                  <a:lnTo>
                    <a:pt x="51411" y="305064"/>
                  </a:lnTo>
                  <a:lnTo>
                    <a:pt x="72901" y="264460"/>
                  </a:lnTo>
                  <a:lnTo>
                    <a:pt x="97687" y="226021"/>
                  </a:lnTo>
                  <a:lnTo>
                    <a:pt x="125580" y="189936"/>
                  </a:lnTo>
                  <a:lnTo>
                    <a:pt x="156393" y="156393"/>
                  </a:lnTo>
                  <a:lnTo>
                    <a:pt x="189936" y="125580"/>
                  </a:lnTo>
                  <a:lnTo>
                    <a:pt x="226021" y="97687"/>
                  </a:lnTo>
                  <a:lnTo>
                    <a:pt x="264460" y="72901"/>
                  </a:lnTo>
                  <a:lnTo>
                    <a:pt x="305064" y="51411"/>
                  </a:lnTo>
                  <a:lnTo>
                    <a:pt x="347644" y="33405"/>
                  </a:lnTo>
                  <a:lnTo>
                    <a:pt x="392012" y="19073"/>
                  </a:lnTo>
                  <a:lnTo>
                    <a:pt x="437980" y="8602"/>
                  </a:lnTo>
                  <a:lnTo>
                    <a:pt x="485359" y="2182"/>
                  </a:lnTo>
                  <a:lnTo>
                    <a:pt x="533960" y="0"/>
                  </a:lnTo>
                  <a:lnTo>
                    <a:pt x="2825738" y="0"/>
                  </a:lnTo>
                  <a:lnTo>
                    <a:pt x="2878514" y="2612"/>
                  </a:lnTo>
                  <a:lnTo>
                    <a:pt x="2930396" y="10354"/>
                  </a:lnTo>
                  <a:lnTo>
                    <a:pt x="2981033" y="23080"/>
                  </a:lnTo>
                  <a:lnTo>
                    <a:pt x="3030077" y="40645"/>
                  </a:lnTo>
                  <a:lnTo>
                    <a:pt x="3077176" y="62904"/>
                  </a:lnTo>
                  <a:lnTo>
                    <a:pt x="3121980" y="89711"/>
                  </a:lnTo>
                  <a:lnTo>
                    <a:pt x="3164140" y="120923"/>
                  </a:lnTo>
                  <a:lnTo>
                    <a:pt x="3203306" y="156393"/>
                  </a:lnTo>
                  <a:lnTo>
                    <a:pt x="3238776" y="195558"/>
                  </a:lnTo>
                  <a:lnTo>
                    <a:pt x="3269988" y="237719"/>
                  </a:lnTo>
                  <a:lnTo>
                    <a:pt x="3296795" y="282523"/>
                  </a:lnTo>
                  <a:lnTo>
                    <a:pt x="3319054" y="329622"/>
                  </a:lnTo>
                  <a:lnTo>
                    <a:pt x="3336619" y="378666"/>
                  </a:lnTo>
                  <a:lnTo>
                    <a:pt x="3349345" y="429303"/>
                  </a:lnTo>
                  <a:lnTo>
                    <a:pt x="3357087" y="481185"/>
                  </a:lnTo>
                  <a:lnTo>
                    <a:pt x="3359699" y="533960"/>
                  </a:lnTo>
                  <a:lnTo>
                    <a:pt x="3359699" y="2669739"/>
                  </a:lnTo>
                  <a:lnTo>
                    <a:pt x="3357517" y="2718340"/>
                  </a:lnTo>
                  <a:lnTo>
                    <a:pt x="3351097" y="2765719"/>
                  </a:lnTo>
                  <a:lnTo>
                    <a:pt x="3340626" y="2811687"/>
                  </a:lnTo>
                  <a:lnTo>
                    <a:pt x="3326294" y="2856055"/>
                  </a:lnTo>
                  <a:lnTo>
                    <a:pt x="3308288" y="2898635"/>
                  </a:lnTo>
                  <a:lnTo>
                    <a:pt x="3286798" y="2939239"/>
                  </a:lnTo>
                  <a:lnTo>
                    <a:pt x="3262012" y="2977678"/>
                  </a:lnTo>
                  <a:lnTo>
                    <a:pt x="3234119" y="3013763"/>
                  </a:lnTo>
                  <a:lnTo>
                    <a:pt x="3203306" y="3047306"/>
                  </a:lnTo>
                  <a:lnTo>
                    <a:pt x="3169763" y="3078119"/>
                  </a:lnTo>
                  <a:lnTo>
                    <a:pt x="3133678" y="3106012"/>
                  </a:lnTo>
                  <a:lnTo>
                    <a:pt x="3095239" y="3130798"/>
                  </a:lnTo>
                  <a:lnTo>
                    <a:pt x="3054635" y="3152288"/>
                  </a:lnTo>
                  <a:lnTo>
                    <a:pt x="3012055" y="3170294"/>
                  </a:lnTo>
                  <a:lnTo>
                    <a:pt x="2967686" y="3184626"/>
                  </a:lnTo>
                  <a:lnTo>
                    <a:pt x="2921719" y="3195097"/>
                  </a:lnTo>
                  <a:lnTo>
                    <a:pt x="2874340" y="3201517"/>
                  </a:lnTo>
                  <a:lnTo>
                    <a:pt x="2825738" y="3203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12749" y="878699"/>
              <a:ext cx="3359785" cy="3204210"/>
            </a:xfrm>
            <a:custGeom>
              <a:avLst/>
              <a:gdLst/>
              <a:ahLst/>
              <a:cxnLst/>
              <a:rect l="l" t="t" r="r" b="b"/>
              <a:pathLst>
                <a:path w="3359784" h="3204210">
                  <a:moveTo>
                    <a:pt x="0" y="533960"/>
                  </a:moveTo>
                  <a:lnTo>
                    <a:pt x="2182" y="485359"/>
                  </a:lnTo>
                  <a:lnTo>
                    <a:pt x="8602" y="437980"/>
                  </a:lnTo>
                  <a:lnTo>
                    <a:pt x="19073" y="392012"/>
                  </a:lnTo>
                  <a:lnTo>
                    <a:pt x="33405" y="347644"/>
                  </a:lnTo>
                  <a:lnTo>
                    <a:pt x="51411" y="305064"/>
                  </a:lnTo>
                  <a:lnTo>
                    <a:pt x="72901" y="264460"/>
                  </a:lnTo>
                  <a:lnTo>
                    <a:pt x="97687" y="226021"/>
                  </a:lnTo>
                  <a:lnTo>
                    <a:pt x="125580" y="189936"/>
                  </a:lnTo>
                  <a:lnTo>
                    <a:pt x="156393" y="156393"/>
                  </a:lnTo>
                  <a:lnTo>
                    <a:pt x="189936" y="125580"/>
                  </a:lnTo>
                  <a:lnTo>
                    <a:pt x="226021" y="97687"/>
                  </a:lnTo>
                  <a:lnTo>
                    <a:pt x="264460" y="72901"/>
                  </a:lnTo>
                  <a:lnTo>
                    <a:pt x="305064" y="51411"/>
                  </a:lnTo>
                  <a:lnTo>
                    <a:pt x="347644" y="33405"/>
                  </a:lnTo>
                  <a:lnTo>
                    <a:pt x="392012" y="19073"/>
                  </a:lnTo>
                  <a:lnTo>
                    <a:pt x="437980" y="8602"/>
                  </a:lnTo>
                  <a:lnTo>
                    <a:pt x="485359" y="2182"/>
                  </a:lnTo>
                  <a:lnTo>
                    <a:pt x="533960" y="0"/>
                  </a:lnTo>
                  <a:lnTo>
                    <a:pt x="2825738" y="0"/>
                  </a:lnTo>
                  <a:lnTo>
                    <a:pt x="2878514" y="2612"/>
                  </a:lnTo>
                  <a:lnTo>
                    <a:pt x="2930396" y="10354"/>
                  </a:lnTo>
                  <a:lnTo>
                    <a:pt x="2981033" y="23080"/>
                  </a:lnTo>
                  <a:lnTo>
                    <a:pt x="3030077" y="40645"/>
                  </a:lnTo>
                  <a:lnTo>
                    <a:pt x="3077176" y="62904"/>
                  </a:lnTo>
                  <a:lnTo>
                    <a:pt x="3121980" y="89711"/>
                  </a:lnTo>
                  <a:lnTo>
                    <a:pt x="3164140" y="120923"/>
                  </a:lnTo>
                  <a:lnTo>
                    <a:pt x="3203306" y="156393"/>
                  </a:lnTo>
                  <a:lnTo>
                    <a:pt x="3238776" y="195558"/>
                  </a:lnTo>
                  <a:lnTo>
                    <a:pt x="3269988" y="237719"/>
                  </a:lnTo>
                  <a:lnTo>
                    <a:pt x="3296795" y="282523"/>
                  </a:lnTo>
                  <a:lnTo>
                    <a:pt x="3319054" y="329622"/>
                  </a:lnTo>
                  <a:lnTo>
                    <a:pt x="3336619" y="378666"/>
                  </a:lnTo>
                  <a:lnTo>
                    <a:pt x="3349345" y="429303"/>
                  </a:lnTo>
                  <a:lnTo>
                    <a:pt x="3357087" y="481185"/>
                  </a:lnTo>
                  <a:lnTo>
                    <a:pt x="3359699" y="533960"/>
                  </a:lnTo>
                  <a:lnTo>
                    <a:pt x="3359699" y="2669739"/>
                  </a:lnTo>
                  <a:lnTo>
                    <a:pt x="3357517" y="2718340"/>
                  </a:lnTo>
                  <a:lnTo>
                    <a:pt x="3351097" y="2765719"/>
                  </a:lnTo>
                  <a:lnTo>
                    <a:pt x="3340626" y="2811687"/>
                  </a:lnTo>
                  <a:lnTo>
                    <a:pt x="3326294" y="2856055"/>
                  </a:lnTo>
                  <a:lnTo>
                    <a:pt x="3308288" y="2898635"/>
                  </a:lnTo>
                  <a:lnTo>
                    <a:pt x="3286798" y="2939239"/>
                  </a:lnTo>
                  <a:lnTo>
                    <a:pt x="3262012" y="2977678"/>
                  </a:lnTo>
                  <a:lnTo>
                    <a:pt x="3234119" y="3013763"/>
                  </a:lnTo>
                  <a:lnTo>
                    <a:pt x="3203306" y="3047306"/>
                  </a:lnTo>
                  <a:lnTo>
                    <a:pt x="3169763" y="3078119"/>
                  </a:lnTo>
                  <a:lnTo>
                    <a:pt x="3133678" y="3106012"/>
                  </a:lnTo>
                  <a:lnTo>
                    <a:pt x="3095239" y="3130798"/>
                  </a:lnTo>
                  <a:lnTo>
                    <a:pt x="3054635" y="3152288"/>
                  </a:lnTo>
                  <a:lnTo>
                    <a:pt x="3012055" y="3170294"/>
                  </a:lnTo>
                  <a:lnTo>
                    <a:pt x="2967686" y="3184626"/>
                  </a:lnTo>
                  <a:lnTo>
                    <a:pt x="2921719" y="3195097"/>
                  </a:lnTo>
                  <a:lnTo>
                    <a:pt x="2874340" y="3201517"/>
                  </a:lnTo>
                  <a:lnTo>
                    <a:pt x="2825738" y="3203699"/>
                  </a:lnTo>
                  <a:lnTo>
                    <a:pt x="533960" y="3203699"/>
                  </a:lnTo>
                  <a:lnTo>
                    <a:pt x="485359" y="3201517"/>
                  </a:lnTo>
                  <a:lnTo>
                    <a:pt x="437980" y="3195097"/>
                  </a:lnTo>
                  <a:lnTo>
                    <a:pt x="392012" y="3184626"/>
                  </a:lnTo>
                  <a:lnTo>
                    <a:pt x="347644" y="3170294"/>
                  </a:lnTo>
                  <a:lnTo>
                    <a:pt x="305064" y="3152288"/>
                  </a:lnTo>
                  <a:lnTo>
                    <a:pt x="264460" y="3130798"/>
                  </a:lnTo>
                  <a:lnTo>
                    <a:pt x="226021" y="3106012"/>
                  </a:lnTo>
                  <a:lnTo>
                    <a:pt x="189936" y="3078119"/>
                  </a:lnTo>
                  <a:lnTo>
                    <a:pt x="156393" y="3047306"/>
                  </a:lnTo>
                  <a:lnTo>
                    <a:pt x="125580" y="3013763"/>
                  </a:lnTo>
                  <a:lnTo>
                    <a:pt x="97687" y="2977678"/>
                  </a:lnTo>
                  <a:lnTo>
                    <a:pt x="72901" y="2939239"/>
                  </a:lnTo>
                  <a:lnTo>
                    <a:pt x="51411" y="2898635"/>
                  </a:lnTo>
                  <a:lnTo>
                    <a:pt x="33405" y="2856055"/>
                  </a:lnTo>
                  <a:lnTo>
                    <a:pt x="19073" y="2811687"/>
                  </a:lnTo>
                  <a:lnTo>
                    <a:pt x="8602" y="2765719"/>
                  </a:lnTo>
                  <a:lnTo>
                    <a:pt x="2182" y="2718340"/>
                  </a:lnTo>
                  <a:lnTo>
                    <a:pt x="0" y="2669739"/>
                  </a:lnTo>
                  <a:lnTo>
                    <a:pt x="0" y="53396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399900" y="1101004"/>
            <a:ext cx="7854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Coin</a:t>
            </a:r>
            <a:r>
              <a:rPr sz="1400" b="1" spc="-20" dirty="0">
                <a:latin typeface="Arial"/>
                <a:cs typeface="Arial"/>
              </a:rPr>
              <a:t> Flip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42166" y="1520104"/>
            <a:ext cx="273177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2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heads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up.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7761C"/>
                </a:solidFill>
                <a:latin typeface="Arial"/>
                <a:cs typeface="Arial"/>
              </a:rPr>
              <a:t>Jamey</a:t>
            </a:r>
            <a:r>
              <a:rPr sz="1400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flips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coin.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37761C"/>
                </a:solidFill>
                <a:latin typeface="Arial"/>
                <a:cs typeface="Arial"/>
              </a:rPr>
              <a:t>Teressa </a:t>
            </a:r>
            <a:r>
              <a:rPr sz="1400" dirty="0">
                <a:latin typeface="Arial"/>
                <a:cs typeface="Arial"/>
              </a:rPr>
              <a:t>flips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coin.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Is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still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heads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up?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42166" y="2358304"/>
            <a:ext cx="2897505" cy="14960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36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coin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was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flipped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by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Jamey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and</a:t>
            </a:r>
            <a:r>
              <a:rPr sz="1400" b="1" spc="-3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Teressa.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So</a:t>
            </a:r>
            <a:r>
              <a:rPr sz="1400" b="1" spc="-2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the</a:t>
            </a:r>
            <a:r>
              <a:rPr sz="1400" b="1" spc="-2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coin</a:t>
            </a:r>
            <a:r>
              <a:rPr sz="1400" b="1" spc="-2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BE9000"/>
                </a:solidFill>
                <a:latin typeface="Arial"/>
                <a:cs typeface="Arial"/>
              </a:rPr>
              <a:t>was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flipped</a:t>
            </a:r>
            <a:r>
              <a:rPr sz="1400" b="1" spc="-3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2</a:t>
            </a:r>
            <a:r>
              <a:rPr sz="1400" b="1" spc="-1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times,</a:t>
            </a:r>
            <a:r>
              <a:rPr sz="1400" b="1" spc="-2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which</a:t>
            </a:r>
            <a:r>
              <a:rPr sz="1400" b="1" spc="-1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is</a:t>
            </a:r>
            <a:r>
              <a:rPr sz="1400" b="1" spc="-2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BE9000"/>
                </a:solidFill>
                <a:latin typeface="Arial"/>
                <a:cs typeface="Arial"/>
              </a:rPr>
              <a:t>an</a:t>
            </a:r>
            <a:r>
              <a:rPr sz="1400" b="1" spc="-1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BE9000"/>
                </a:solidFill>
                <a:latin typeface="Arial"/>
                <a:cs typeface="Arial"/>
              </a:rPr>
              <a:t>even </a:t>
            </a:r>
            <a:r>
              <a:rPr sz="1400" b="1" spc="-10" dirty="0">
                <a:solidFill>
                  <a:srgbClr val="BE9000"/>
                </a:solidFill>
                <a:latin typeface="Arial"/>
                <a:cs typeface="Arial"/>
              </a:rPr>
              <a:t>number.</a:t>
            </a:r>
            <a:r>
              <a:rPr sz="1400" b="1" spc="-30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The</a:t>
            </a:r>
            <a:r>
              <a:rPr sz="1400" b="1" spc="-2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coin</a:t>
            </a:r>
            <a:r>
              <a:rPr sz="1400" b="1" spc="-3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started</a:t>
            </a:r>
            <a:r>
              <a:rPr sz="1400" b="1" spc="-2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55CC"/>
                </a:solidFill>
                <a:latin typeface="Arial"/>
                <a:cs typeface="Arial"/>
              </a:rPr>
              <a:t>heads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up,</a:t>
            </a:r>
            <a:r>
              <a:rPr sz="1400" b="1" spc="-3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so</a:t>
            </a:r>
            <a:r>
              <a:rPr sz="1400" b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after</a:t>
            </a:r>
            <a:r>
              <a:rPr sz="1400" b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an</a:t>
            </a:r>
            <a:r>
              <a:rPr sz="1400" b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even</a:t>
            </a:r>
            <a:r>
              <a:rPr sz="1400" b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number</a:t>
            </a:r>
            <a:r>
              <a:rPr sz="1400" b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1155CC"/>
                </a:solidFill>
                <a:latin typeface="Arial"/>
                <a:cs typeface="Arial"/>
              </a:rPr>
              <a:t>of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flips,</a:t>
            </a:r>
            <a:r>
              <a:rPr sz="1400" b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it</a:t>
            </a:r>
            <a:r>
              <a:rPr sz="1400" b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will</a:t>
            </a:r>
            <a:r>
              <a:rPr sz="1400" b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still</a:t>
            </a:r>
            <a:r>
              <a:rPr sz="1400" b="1" spc="-1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be</a:t>
            </a:r>
            <a:r>
              <a:rPr sz="1400" b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heads</a:t>
            </a:r>
            <a:r>
              <a:rPr sz="1400" b="1" spc="-2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55CC"/>
                </a:solidFill>
                <a:latin typeface="Arial"/>
                <a:cs typeface="Arial"/>
              </a:rPr>
              <a:t>up.</a:t>
            </a:r>
            <a:r>
              <a:rPr sz="1400" b="1" spc="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So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990000"/>
                </a:solidFill>
                <a:latin typeface="Arial"/>
                <a:cs typeface="Arial"/>
              </a:rPr>
              <a:t>yes</a:t>
            </a:r>
            <a:r>
              <a:rPr sz="1400" spc="-2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873937"/>
            <a:ext cx="3369310" cy="2773680"/>
            <a:chOff x="785962" y="873937"/>
            <a:chExt cx="3369310" cy="2773680"/>
          </a:xfrm>
        </p:grpSpPr>
        <p:sp>
          <p:nvSpPr>
            <p:cNvPr id="3" name="object 3"/>
            <p:cNvSpPr/>
            <p:nvPr/>
          </p:nvSpPr>
          <p:spPr>
            <a:xfrm>
              <a:off x="790724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5" h="2764154">
                  <a:moveTo>
                    <a:pt x="2899040" y="2763899"/>
                  </a:move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49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3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3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49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6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5" h="2764154">
                  <a:moveTo>
                    <a:pt x="0" y="460659"/>
                  </a:move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3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49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6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49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3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06247" y="1079535"/>
            <a:ext cx="21272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Last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letter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concatenation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8672" y="1498635"/>
            <a:ext cx="280670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Take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last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letters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words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"Elon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Musk"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0" dirty="0">
                <a:latin typeface="Arial"/>
                <a:cs typeface="Arial"/>
              </a:rPr>
              <a:t> concatenate </a:t>
            </a:r>
            <a:r>
              <a:rPr sz="1400" spc="-20" dirty="0">
                <a:latin typeface="Arial"/>
                <a:cs typeface="Arial"/>
              </a:rPr>
              <a:t>them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8672" y="2336835"/>
            <a:ext cx="2789555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last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letter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"Elon"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"n".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last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letter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"Musk"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"k".</a:t>
            </a:r>
            <a:endParaRPr sz="1400">
              <a:latin typeface="Arial"/>
              <a:cs typeface="Arial"/>
            </a:endParaRPr>
          </a:p>
          <a:p>
            <a:pPr marL="12700" marR="36195">
              <a:lnSpc>
                <a:spcPts val="1650"/>
              </a:lnSpc>
            </a:pP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Concatenating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them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"nk".</a:t>
            </a:r>
            <a:r>
              <a:rPr sz="1400" b="1" spc="-4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nk</a:t>
            </a:r>
            <a:r>
              <a:rPr sz="1400" b="1" spc="-25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88787" y="873937"/>
            <a:ext cx="3369310" cy="2773680"/>
            <a:chOff x="4988787" y="873937"/>
            <a:chExt cx="3369310" cy="2773680"/>
          </a:xfrm>
        </p:grpSpPr>
        <p:sp>
          <p:nvSpPr>
            <p:cNvPr id="9" name="object 9"/>
            <p:cNvSpPr/>
            <p:nvPr/>
          </p:nvSpPr>
          <p:spPr>
            <a:xfrm>
              <a:off x="4993549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4" h="2764154">
                  <a:moveTo>
                    <a:pt x="2899040" y="2763899"/>
                  </a:move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50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4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4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50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5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93549" y="878699"/>
              <a:ext cx="3359785" cy="2764155"/>
            </a:xfrm>
            <a:custGeom>
              <a:avLst/>
              <a:gdLst/>
              <a:ahLst/>
              <a:cxnLst/>
              <a:rect l="l" t="t" r="r" b="b"/>
              <a:pathLst>
                <a:path w="3359784" h="2764154">
                  <a:moveTo>
                    <a:pt x="0" y="460659"/>
                  </a:moveTo>
                  <a:lnTo>
                    <a:pt x="2378" y="413559"/>
                  </a:lnTo>
                  <a:lnTo>
                    <a:pt x="9358" y="367820"/>
                  </a:lnTo>
                  <a:lnTo>
                    <a:pt x="20710" y="323673"/>
                  </a:lnTo>
                  <a:lnTo>
                    <a:pt x="36200" y="281349"/>
                  </a:lnTo>
                  <a:lnTo>
                    <a:pt x="55599" y="241081"/>
                  </a:lnTo>
                  <a:lnTo>
                    <a:pt x="78673" y="203100"/>
                  </a:lnTo>
                  <a:lnTo>
                    <a:pt x="105192" y="167637"/>
                  </a:lnTo>
                  <a:lnTo>
                    <a:pt x="134924" y="134923"/>
                  </a:lnTo>
                  <a:lnTo>
                    <a:pt x="167637" y="105192"/>
                  </a:lnTo>
                  <a:lnTo>
                    <a:pt x="203100" y="78673"/>
                  </a:lnTo>
                  <a:lnTo>
                    <a:pt x="241081" y="55599"/>
                  </a:lnTo>
                  <a:lnTo>
                    <a:pt x="281350" y="36200"/>
                  </a:lnTo>
                  <a:lnTo>
                    <a:pt x="323673" y="20710"/>
                  </a:lnTo>
                  <a:lnTo>
                    <a:pt x="367820" y="9358"/>
                  </a:lnTo>
                  <a:lnTo>
                    <a:pt x="413559" y="2378"/>
                  </a:lnTo>
                  <a:lnTo>
                    <a:pt x="460659" y="0"/>
                  </a:lnTo>
                  <a:lnTo>
                    <a:pt x="2899040" y="0"/>
                  </a:lnTo>
                  <a:lnTo>
                    <a:pt x="2951019" y="2940"/>
                  </a:lnTo>
                  <a:lnTo>
                    <a:pt x="3001934" y="11636"/>
                  </a:lnTo>
                  <a:lnTo>
                    <a:pt x="3051335" y="25902"/>
                  </a:lnTo>
                  <a:lnTo>
                    <a:pt x="3098771" y="45550"/>
                  </a:lnTo>
                  <a:lnTo>
                    <a:pt x="3143790" y="70395"/>
                  </a:lnTo>
                  <a:lnTo>
                    <a:pt x="3185942" y="100248"/>
                  </a:lnTo>
                  <a:lnTo>
                    <a:pt x="3224775" y="134923"/>
                  </a:lnTo>
                  <a:lnTo>
                    <a:pt x="3259451" y="173757"/>
                  </a:lnTo>
                  <a:lnTo>
                    <a:pt x="3289304" y="215909"/>
                  </a:lnTo>
                  <a:lnTo>
                    <a:pt x="3314149" y="260928"/>
                  </a:lnTo>
                  <a:lnTo>
                    <a:pt x="3333797" y="308364"/>
                  </a:lnTo>
                  <a:lnTo>
                    <a:pt x="3348063" y="357764"/>
                  </a:lnTo>
                  <a:lnTo>
                    <a:pt x="3356759" y="408680"/>
                  </a:lnTo>
                  <a:lnTo>
                    <a:pt x="3359699" y="460659"/>
                  </a:lnTo>
                  <a:lnTo>
                    <a:pt x="3359699" y="2303240"/>
                  </a:lnTo>
                  <a:lnTo>
                    <a:pt x="3357321" y="2350340"/>
                  </a:lnTo>
                  <a:lnTo>
                    <a:pt x="3350341" y="2396079"/>
                  </a:lnTo>
                  <a:lnTo>
                    <a:pt x="3338989" y="2440226"/>
                  </a:lnTo>
                  <a:lnTo>
                    <a:pt x="3323499" y="2482550"/>
                  </a:lnTo>
                  <a:lnTo>
                    <a:pt x="3304100" y="2522818"/>
                  </a:lnTo>
                  <a:lnTo>
                    <a:pt x="3281026" y="2560799"/>
                  </a:lnTo>
                  <a:lnTo>
                    <a:pt x="3254507" y="2596262"/>
                  </a:lnTo>
                  <a:lnTo>
                    <a:pt x="3224775" y="2628975"/>
                  </a:lnTo>
                  <a:lnTo>
                    <a:pt x="3192062" y="2658707"/>
                  </a:lnTo>
                  <a:lnTo>
                    <a:pt x="3156599" y="2685226"/>
                  </a:lnTo>
                  <a:lnTo>
                    <a:pt x="3118618" y="2708300"/>
                  </a:lnTo>
                  <a:lnTo>
                    <a:pt x="3078349" y="2727699"/>
                  </a:lnTo>
                  <a:lnTo>
                    <a:pt x="3036026" y="2743189"/>
                  </a:lnTo>
                  <a:lnTo>
                    <a:pt x="2991879" y="2754541"/>
                  </a:lnTo>
                  <a:lnTo>
                    <a:pt x="2946140" y="2761521"/>
                  </a:lnTo>
                  <a:lnTo>
                    <a:pt x="2899040" y="2763899"/>
                  </a:lnTo>
                  <a:lnTo>
                    <a:pt x="460659" y="2763899"/>
                  </a:lnTo>
                  <a:lnTo>
                    <a:pt x="413559" y="2761521"/>
                  </a:lnTo>
                  <a:lnTo>
                    <a:pt x="367820" y="2754541"/>
                  </a:lnTo>
                  <a:lnTo>
                    <a:pt x="323673" y="2743189"/>
                  </a:lnTo>
                  <a:lnTo>
                    <a:pt x="281350" y="2727699"/>
                  </a:lnTo>
                  <a:lnTo>
                    <a:pt x="241081" y="2708300"/>
                  </a:lnTo>
                  <a:lnTo>
                    <a:pt x="203100" y="2685226"/>
                  </a:lnTo>
                  <a:lnTo>
                    <a:pt x="167637" y="2658707"/>
                  </a:lnTo>
                  <a:lnTo>
                    <a:pt x="134924" y="2628975"/>
                  </a:lnTo>
                  <a:lnTo>
                    <a:pt x="105192" y="2596262"/>
                  </a:lnTo>
                  <a:lnTo>
                    <a:pt x="78673" y="2560799"/>
                  </a:lnTo>
                  <a:lnTo>
                    <a:pt x="55599" y="2522818"/>
                  </a:lnTo>
                  <a:lnTo>
                    <a:pt x="36200" y="2482550"/>
                  </a:lnTo>
                  <a:lnTo>
                    <a:pt x="20710" y="2440226"/>
                  </a:lnTo>
                  <a:lnTo>
                    <a:pt x="9358" y="2396079"/>
                  </a:lnTo>
                  <a:lnTo>
                    <a:pt x="2378" y="2350340"/>
                  </a:lnTo>
                  <a:lnTo>
                    <a:pt x="0" y="2303240"/>
                  </a:lnTo>
                  <a:lnTo>
                    <a:pt x="0" y="46065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80699" y="1079535"/>
            <a:ext cx="7854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Coin</a:t>
            </a:r>
            <a:r>
              <a:rPr sz="1400" b="1" spc="-20" dirty="0">
                <a:latin typeface="Arial"/>
                <a:cs typeface="Arial"/>
              </a:rPr>
              <a:t> Flip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201497" y="1498635"/>
            <a:ext cx="290703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2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heads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up.</a:t>
            </a:r>
            <a:r>
              <a:rPr sz="1400" spc="-40" dirty="0">
                <a:latin typeface="Arial"/>
                <a:cs typeface="Arial"/>
              </a:rPr>
              <a:t> Tom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not </a:t>
            </a:r>
            <a:r>
              <a:rPr sz="1400" dirty="0">
                <a:latin typeface="Arial"/>
                <a:cs typeface="Arial"/>
              </a:rPr>
              <a:t>flip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coin.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Mike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flip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coin.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still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heads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up?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1497" y="2336835"/>
            <a:ext cx="2856865" cy="10769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36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coin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was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flipped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by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no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one.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So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coin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was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flipped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37761C"/>
                </a:solidFill>
                <a:latin typeface="Arial"/>
                <a:cs typeface="Arial"/>
              </a:rPr>
              <a:t>0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times.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coin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started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heads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up,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was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not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flipped,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so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still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heads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up</a:t>
            </a:r>
            <a:r>
              <a:rPr sz="1400" dirty="0">
                <a:latin typeface="Arial"/>
                <a:cs typeface="Arial"/>
              </a:rPr>
              <a:t>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990000"/>
                </a:solidFill>
                <a:latin typeface="Arial"/>
                <a:cs typeface="Arial"/>
              </a:rPr>
              <a:t>yes</a:t>
            </a:r>
            <a:r>
              <a:rPr sz="1400" spc="-2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84725" y="212690"/>
            <a:ext cx="730948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Symbolic</a:t>
            </a:r>
            <a:r>
              <a:rPr spc="-15" dirty="0"/>
              <a:t> </a:t>
            </a:r>
            <a:r>
              <a:rPr dirty="0"/>
              <a:t>Reasoning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10" dirty="0"/>
              <a:t>Out-</a:t>
            </a:r>
            <a:r>
              <a:rPr dirty="0"/>
              <a:t>of-domain</a:t>
            </a:r>
            <a:r>
              <a:rPr spc="-60" dirty="0"/>
              <a:t> </a:t>
            </a:r>
            <a:r>
              <a:rPr spc="-30" dirty="0"/>
              <a:t>Test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1021" y="4041921"/>
            <a:ext cx="732853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In-domain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set: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examples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steps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few-</a:t>
            </a:r>
            <a:r>
              <a:rPr sz="1600" dirty="0">
                <a:latin typeface="Times New Roman"/>
                <a:cs typeface="Times New Roman"/>
              </a:rPr>
              <a:t>shot</a:t>
            </a:r>
            <a:r>
              <a:rPr sz="1600" spc="-10" dirty="0">
                <a:latin typeface="Times New Roman"/>
                <a:cs typeface="Times New Roman"/>
              </a:rPr>
              <a:t> exemplars</a:t>
            </a:r>
            <a:endParaRPr sz="1600">
              <a:latin typeface="Times New Roman"/>
              <a:cs typeface="Times New Roman"/>
            </a:endParaRPr>
          </a:p>
          <a:p>
            <a:pPr marL="3638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-10" dirty="0">
                <a:latin typeface="Times New Roman"/>
                <a:cs typeface="Times New Roman"/>
              </a:rPr>
              <a:t>Out-</a:t>
            </a:r>
            <a:r>
              <a:rPr sz="1600" dirty="0">
                <a:latin typeface="Times New Roman"/>
                <a:cs typeface="Times New Roman"/>
              </a:rPr>
              <a:t>of-domain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(OOD)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set: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examples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steps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those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exemplars.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688" y="1035216"/>
            <a:ext cx="5997159" cy="35003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Symbolic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Last</a:t>
            </a:r>
            <a:r>
              <a:rPr spc="-25" dirty="0"/>
              <a:t> </a:t>
            </a:r>
            <a:r>
              <a:rPr dirty="0"/>
              <a:t>Letter</a:t>
            </a:r>
            <a:r>
              <a:rPr spc="-20" dirty="0"/>
              <a:t> </a:t>
            </a:r>
            <a:r>
              <a:rPr spc="-10" dirty="0"/>
              <a:t>Concatenation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432387" y="1124012"/>
            <a:ext cx="2486660" cy="3244215"/>
            <a:chOff x="6432387" y="1124012"/>
            <a:chExt cx="2486660" cy="3244215"/>
          </a:xfrm>
        </p:grpSpPr>
        <p:sp>
          <p:nvSpPr>
            <p:cNvPr id="5" name="object 5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2064241" y="3234599"/>
                  </a:move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0" y="412858"/>
                  </a:move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631097" y="1316626"/>
            <a:ext cx="182943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34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In-Domain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1000"/>
              </a:lnSpc>
            </a:pPr>
            <a:r>
              <a:rPr sz="1300" spc="-10" dirty="0">
                <a:latin typeface="Times New Roman"/>
                <a:cs typeface="Times New Roman"/>
              </a:rPr>
              <a:t>Take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last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letters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the </a:t>
            </a:r>
            <a:r>
              <a:rPr sz="1300" dirty="0">
                <a:latin typeface="Times New Roman"/>
                <a:cs typeface="Times New Roman"/>
              </a:rPr>
              <a:t>words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"</a:t>
            </a:r>
            <a:r>
              <a:rPr sz="1300" b="1" dirty="0">
                <a:latin typeface="Times New Roman"/>
                <a:cs typeface="Times New Roman"/>
              </a:rPr>
              <a:t>Elon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Musk</a:t>
            </a:r>
            <a:r>
              <a:rPr sz="1300" dirty="0">
                <a:latin typeface="Times New Roman"/>
                <a:cs typeface="Times New Roman"/>
              </a:rPr>
              <a:t>"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and </a:t>
            </a:r>
            <a:r>
              <a:rPr sz="1300" dirty="0">
                <a:latin typeface="Times New Roman"/>
                <a:cs typeface="Times New Roman"/>
              </a:rPr>
              <a:t>concatenate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them.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939999" y="4806223"/>
            <a:ext cx="501840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CC4125"/>
                </a:solidFill>
                <a:latin typeface="Times New Roman"/>
                <a:cs typeface="Times New Roman"/>
              </a:rPr>
              <a:t>*Zero-</a:t>
            </a:r>
            <a:r>
              <a:rPr sz="1400" dirty="0">
                <a:solidFill>
                  <a:srgbClr val="CC4125"/>
                </a:solidFill>
                <a:latin typeface="Times New Roman"/>
                <a:cs typeface="Times New Roman"/>
              </a:rPr>
              <a:t>Shot</a:t>
            </a:r>
            <a:r>
              <a:rPr sz="1400" spc="10" dirty="0">
                <a:solidFill>
                  <a:srgbClr val="CC412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results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Instruct-</a:t>
            </a:r>
            <a:r>
              <a:rPr sz="1400" b="1" spc="-35" dirty="0">
                <a:latin typeface="Times New Roman"/>
                <a:cs typeface="Times New Roman"/>
              </a:rPr>
              <a:t>GPT-</a:t>
            </a:r>
            <a:r>
              <a:rPr sz="1400" b="1" dirty="0">
                <a:latin typeface="Times New Roman"/>
                <a:cs typeface="Times New Roman"/>
              </a:rPr>
              <a:t>3</a:t>
            </a:r>
            <a:r>
              <a:rPr sz="1400" b="1" spc="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175B</a:t>
            </a:r>
            <a:r>
              <a:rPr sz="1400" b="1" spc="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text-davinci-</a:t>
            </a:r>
            <a:r>
              <a:rPr sz="1400" dirty="0">
                <a:latin typeface="Times New Roman"/>
                <a:cs typeface="Times New Roman"/>
              </a:rPr>
              <a:t>002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model.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31097" y="2878726"/>
            <a:ext cx="1961514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483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Out-of-Domain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1000"/>
              </a:lnSpc>
            </a:pPr>
            <a:r>
              <a:rPr sz="1300" spc="-10" dirty="0">
                <a:latin typeface="Times New Roman"/>
                <a:cs typeface="Times New Roman"/>
              </a:rPr>
              <a:t>Take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last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letters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the </a:t>
            </a:r>
            <a:r>
              <a:rPr sz="1300" dirty="0">
                <a:latin typeface="Times New Roman"/>
                <a:cs typeface="Times New Roman"/>
              </a:rPr>
              <a:t>words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"</a:t>
            </a:r>
            <a:r>
              <a:rPr sz="1300" b="1" dirty="0">
                <a:latin typeface="Times New Roman"/>
                <a:cs typeface="Times New Roman"/>
              </a:rPr>
              <a:t>Johann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Sebastian </a:t>
            </a:r>
            <a:r>
              <a:rPr sz="1300" b="1" dirty="0">
                <a:latin typeface="Times New Roman"/>
                <a:cs typeface="Times New Roman"/>
              </a:rPr>
              <a:t>Bach</a:t>
            </a:r>
            <a:r>
              <a:rPr sz="1300" dirty="0">
                <a:latin typeface="Times New Roman"/>
                <a:cs typeface="Times New Roman"/>
              </a:rPr>
              <a:t>"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concatenate</a:t>
            </a:r>
            <a:r>
              <a:rPr sz="1300" spc="-20" dirty="0">
                <a:latin typeface="Times New Roman"/>
                <a:cs typeface="Times New Roman"/>
              </a:rPr>
              <a:t> them.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688" y="1035216"/>
            <a:ext cx="5997159" cy="35003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Symbolic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1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Coin</a:t>
            </a:r>
            <a:r>
              <a:rPr spc="-15" dirty="0"/>
              <a:t> </a:t>
            </a:r>
            <a:r>
              <a:rPr spc="-20" dirty="0"/>
              <a:t>Flip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432387" y="1124012"/>
            <a:ext cx="2486660" cy="3244215"/>
            <a:chOff x="6432387" y="1124012"/>
            <a:chExt cx="2486660" cy="3244215"/>
          </a:xfrm>
        </p:grpSpPr>
        <p:sp>
          <p:nvSpPr>
            <p:cNvPr id="5" name="object 5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2064241" y="3234599"/>
                  </a:move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0" y="412858"/>
                  </a:move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631097" y="1316626"/>
            <a:ext cx="2055495" cy="2947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In-Domain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74295">
              <a:lnSpc>
                <a:spcPct val="101000"/>
              </a:lnSpc>
            </a:pP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coin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heads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up.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Tom</a:t>
            </a:r>
            <a:r>
              <a:rPr sz="1300" b="1" spc="-10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does </a:t>
            </a:r>
            <a:r>
              <a:rPr sz="1300" b="1" dirty="0">
                <a:latin typeface="Times New Roman"/>
                <a:cs typeface="Times New Roman"/>
              </a:rPr>
              <a:t>not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flip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coin</a:t>
            </a:r>
            <a:r>
              <a:rPr sz="1300" dirty="0">
                <a:latin typeface="Times New Roman"/>
                <a:cs typeface="Times New Roman"/>
              </a:rPr>
              <a:t>.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b="1" i="1" dirty="0">
                <a:latin typeface="Times New Roman"/>
                <a:cs typeface="Times New Roman"/>
              </a:rPr>
              <a:t>Mike</a:t>
            </a:r>
            <a:r>
              <a:rPr sz="1300" b="1" i="1" spc="-10" dirty="0">
                <a:latin typeface="Times New Roman"/>
                <a:cs typeface="Times New Roman"/>
              </a:rPr>
              <a:t> </a:t>
            </a:r>
            <a:r>
              <a:rPr sz="1300" b="1" i="1" spc="-20" dirty="0">
                <a:latin typeface="Times New Roman"/>
                <a:cs typeface="Times New Roman"/>
              </a:rPr>
              <a:t>does </a:t>
            </a:r>
            <a:r>
              <a:rPr sz="1300" b="1" i="1" dirty="0">
                <a:latin typeface="Times New Roman"/>
                <a:cs typeface="Times New Roman"/>
              </a:rPr>
              <a:t>not</a:t>
            </a:r>
            <a:r>
              <a:rPr sz="1300" b="1" i="1" spc="-15" dirty="0">
                <a:latin typeface="Times New Roman"/>
                <a:cs typeface="Times New Roman"/>
              </a:rPr>
              <a:t> </a:t>
            </a:r>
            <a:r>
              <a:rPr sz="1300" b="1" i="1" dirty="0">
                <a:latin typeface="Times New Roman"/>
                <a:cs typeface="Times New Roman"/>
              </a:rPr>
              <a:t>flip</a:t>
            </a:r>
            <a:r>
              <a:rPr sz="1300" b="1" i="1" spc="-5" dirty="0">
                <a:latin typeface="Times New Roman"/>
                <a:cs typeface="Times New Roman"/>
              </a:rPr>
              <a:t> </a:t>
            </a:r>
            <a:r>
              <a:rPr sz="1300" b="1" i="1" dirty="0">
                <a:latin typeface="Times New Roman"/>
                <a:cs typeface="Times New Roman"/>
              </a:rPr>
              <a:t>the</a:t>
            </a:r>
            <a:r>
              <a:rPr sz="1300" b="1" i="1" spc="-10" dirty="0">
                <a:latin typeface="Times New Roman"/>
                <a:cs typeface="Times New Roman"/>
              </a:rPr>
              <a:t> </a:t>
            </a:r>
            <a:r>
              <a:rPr sz="1300" b="1" i="1" dirty="0">
                <a:latin typeface="Times New Roman"/>
                <a:cs typeface="Times New Roman"/>
              </a:rPr>
              <a:t>coin</a:t>
            </a:r>
            <a:r>
              <a:rPr sz="1300" dirty="0">
                <a:latin typeface="Times New Roman"/>
                <a:cs typeface="Times New Roman"/>
              </a:rPr>
              <a:t>.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coin </a:t>
            </a:r>
            <a:r>
              <a:rPr sz="1300" dirty="0">
                <a:latin typeface="Times New Roman"/>
                <a:cs typeface="Times New Roman"/>
              </a:rPr>
              <a:t>still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heads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up?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31750" algn="ctr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Out-of-Domain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1000"/>
              </a:lnSpc>
            </a:pP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coin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heads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up.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Tom</a:t>
            </a:r>
            <a:r>
              <a:rPr sz="1300" b="1" spc="-10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does </a:t>
            </a:r>
            <a:r>
              <a:rPr sz="1300" b="1" dirty="0">
                <a:latin typeface="Times New Roman"/>
                <a:cs typeface="Times New Roman"/>
              </a:rPr>
              <a:t>not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flip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coin</a:t>
            </a:r>
            <a:r>
              <a:rPr sz="1300" dirty="0">
                <a:latin typeface="Times New Roman"/>
                <a:cs typeface="Times New Roman"/>
              </a:rPr>
              <a:t>.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b="1" i="1" dirty="0">
                <a:latin typeface="Times New Roman"/>
                <a:cs typeface="Times New Roman"/>
              </a:rPr>
              <a:t>Mike</a:t>
            </a:r>
            <a:r>
              <a:rPr sz="1300" b="1" i="1" spc="-10" dirty="0">
                <a:latin typeface="Times New Roman"/>
                <a:cs typeface="Times New Roman"/>
              </a:rPr>
              <a:t> </a:t>
            </a:r>
            <a:r>
              <a:rPr sz="1300" b="1" i="1" spc="-20" dirty="0">
                <a:latin typeface="Times New Roman"/>
                <a:cs typeface="Times New Roman"/>
              </a:rPr>
              <a:t>does </a:t>
            </a:r>
            <a:r>
              <a:rPr sz="1300" b="1" i="1" dirty="0">
                <a:latin typeface="Times New Roman"/>
                <a:cs typeface="Times New Roman"/>
              </a:rPr>
              <a:t>not</a:t>
            </a:r>
            <a:r>
              <a:rPr sz="1300" b="1" i="1" spc="-25" dirty="0">
                <a:latin typeface="Times New Roman"/>
                <a:cs typeface="Times New Roman"/>
              </a:rPr>
              <a:t> </a:t>
            </a:r>
            <a:r>
              <a:rPr sz="1300" b="1" i="1" dirty="0">
                <a:latin typeface="Times New Roman"/>
                <a:cs typeface="Times New Roman"/>
              </a:rPr>
              <a:t>flip</a:t>
            </a:r>
            <a:r>
              <a:rPr sz="1300" b="1" i="1" spc="-5" dirty="0">
                <a:latin typeface="Times New Roman"/>
                <a:cs typeface="Times New Roman"/>
              </a:rPr>
              <a:t> </a:t>
            </a:r>
            <a:r>
              <a:rPr sz="1300" b="1" i="1" dirty="0">
                <a:latin typeface="Times New Roman"/>
                <a:cs typeface="Times New Roman"/>
              </a:rPr>
              <a:t>the</a:t>
            </a:r>
            <a:r>
              <a:rPr sz="1300" b="1" i="1" spc="-15" dirty="0">
                <a:latin typeface="Times New Roman"/>
                <a:cs typeface="Times New Roman"/>
              </a:rPr>
              <a:t> </a:t>
            </a:r>
            <a:r>
              <a:rPr sz="1300" b="1" i="1" dirty="0">
                <a:latin typeface="Times New Roman"/>
                <a:cs typeface="Times New Roman"/>
              </a:rPr>
              <a:t>coin</a:t>
            </a:r>
            <a:r>
              <a:rPr sz="1300" dirty="0">
                <a:latin typeface="Times New Roman"/>
                <a:cs typeface="Times New Roman"/>
              </a:rPr>
              <a:t>.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Jake</a:t>
            </a:r>
            <a:r>
              <a:rPr sz="1300" b="1" spc="-10" dirty="0">
                <a:latin typeface="Times New Roman"/>
                <a:cs typeface="Times New Roman"/>
              </a:rPr>
              <a:t> flips </a:t>
            </a:r>
            <a:r>
              <a:rPr sz="1300" b="1" dirty="0">
                <a:latin typeface="Times New Roman"/>
                <a:cs typeface="Times New Roman"/>
              </a:rPr>
              <a:t>the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coin</a:t>
            </a:r>
            <a:r>
              <a:rPr sz="1300" dirty="0">
                <a:latin typeface="Times New Roman"/>
                <a:cs typeface="Times New Roman"/>
              </a:rPr>
              <a:t>.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coin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still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heads </a:t>
            </a:r>
            <a:r>
              <a:rPr sz="1300" spc="-25" dirty="0">
                <a:latin typeface="Times New Roman"/>
                <a:cs typeface="Times New Roman"/>
              </a:rPr>
              <a:t>up?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939999" y="4806223"/>
            <a:ext cx="5018405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10" dirty="0">
                <a:solidFill>
                  <a:srgbClr val="CC4125"/>
                </a:solidFill>
                <a:latin typeface="Times New Roman"/>
                <a:cs typeface="Times New Roman"/>
              </a:rPr>
              <a:t>*Zero-</a:t>
            </a:r>
            <a:r>
              <a:rPr sz="1400" dirty="0">
                <a:solidFill>
                  <a:srgbClr val="CC4125"/>
                </a:solidFill>
                <a:latin typeface="Times New Roman"/>
                <a:cs typeface="Times New Roman"/>
              </a:rPr>
              <a:t>Shot</a:t>
            </a:r>
            <a:r>
              <a:rPr sz="1400" spc="10" dirty="0">
                <a:solidFill>
                  <a:srgbClr val="CC412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results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Instruct-</a:t>
            </a:r>
            <a:r>
              <a:rPr sz="1400" b="1" spc="-35" dirty="0">
                <a:latin typeface="Times New Roman"/>
                <a:cs typeface="Times New Roman"/>
              </a:rPr>
              <a:t>GPT-</a:t>
            </a:r>
            <a:r>
              <a:rPr sz="1400" b="1" dirty="0">
                <a:latin typeface="Times New Roman"/>
                <a:cs typeface="Times New Roman"/>
              </a:rPr>
              <a:t>3</a:t>
            </a:r>
            <a:r>
              <a:rPr sz="1400" b="1" spc="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175B</a:t>
            </a:r>
            <a:r>
              <a:rPr sz="1400" b="1" spc="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text-davinci-</a:t>
            </a:r>
            <a:r>
              <a:rPr sz="1400" dirty="0">
                <a:latin typeface="Times New Roman"/>
                <a:cs typeface="Times New Roman"/>
              </a:rPr>
              <a:t>002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model.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Symbolic</a:t>
            </a:r>
            <a:r>
              <a:rPr spc="-2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971" y="1259771"/>
            <a:ext cx="53193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Standard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prompting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fails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out-of-domain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both</a:t>
            </a:r>
            <a:r>
              <a:rPr sz="1600" spc="-10" dirty="0">
                <a:latin typeface="Times New Roman"/>
                <a:cs typeface="Times New Roman"/>
              </a:rPr>
              <a:t> tasks.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Symbolic</a:t>
            </a:r>
            <a:r>
              <a:rPr spc="-2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971" y="1259771"/>
            <a:ext cx="72777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Standard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prompting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fails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out-of-domain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both</a:t>
            </a:r>
            <a:r>
              <a:rPr sz="1600" spc="-10" dirty="0">
                <a:latin typeface="Times New Roman"/>
                <a:cs typeface="Times New Roman"/>
              </a:rPr>
              <a:t> tasks.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638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Both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zero-</a:t>
            </a:r>
            <a:r>
              <a:rPr sz="1600" dirty="0">
                <a:latin typeface="Times New Roman"/>
                <a:cs typeface="Times New Roman"/>
              </a:rPr>
              <a:t>shot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few-</a:t>
            </a:r>
            <a:r>
              <a:rPr sz="1600" dirty="0">
                <a:latin typeface="Times New Roman"/>
                <a:cs typeface="Times New Roman"/>
              </a:rPr>
              <a:t>shot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promptings are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emergent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abilities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model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scale.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Symbolic</a:t>
            </a:r>
            <a:r>
              <a:rPr spc="-2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971" y="1259771"/>
            <a:ext cx="7014845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Standard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prompting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fails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out-of-domain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both</a:t>
            </a:r>
            <a:r>
              <a:rPr sz="1600" spc="-10" dirty="0">
                <a:latin typeface="Times New Roman"/>
                <a:cs typeface="Times New Roman"/>
              </a:rPr>
              <a:t> tasks.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638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-10" dirty="0">
                <a:latin typeface="Times New Roman"/>
                <a:cs typeface="Times New Roman"/>
              </a:rPr>
              <a:t>Few-</a:t>
            </a:r>
            <a:r>
              <a:rPr sz="1600" dirty="0">
                <a:latin typeface="Times New Roman"/>
                <a:cs typeface="Times New Roman"/>
              </a:rPr>
              <a:t>shot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prompting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emergent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abilities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model</a:t>
            </a:r>
            <a:r>
              <a:rPr sz="1600" b="1" spc="-10" dirty="0">
                <a:latin typeface="Times New Roman"/>
                <a:cs typeface="Times New Roman"/>
              </a:rPr>
              <a:t> scale.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63855" marR="5080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positively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impact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small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start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yield </a:t>
            </a: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gains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60" dirty="0">
                <a:latin typeface="Malgun Gothic"/>
                <a:cs typeface="Malgun Gothic"/>
              </a:rPr>
              <a:t>∼</a:t>
            </a:r>
            <a:r>
              <a:rPr sz="1600" spc="-60" dirty="0">
                <a:latin typeface="Times New Roman"/>
                <a:cs typeface="Times New Roman"/>
              </a:rPr>
              <a:t>100B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parameters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both </a:t>
            </a:r>
            <a:r>
              <a:rPr sz="1600" spc="-10" dirty="0">
                <a:latin typeface="Times New Roman"/>
                <a:cs typeface="Times New Roman"/>
              </a:rPr>
              <a:t>in-</a:t>
            </a:r>
            <a:r>
              <a:rPr sz="1600" dirty="0">
                <a:latin typeface="Times New Roman"/>
                <a:cs typeface="Times New Roman"/>
              </a:rPr>
              <a:t>domain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out-</a:t>
            </a:r>
            <a:r>
              <a:rPr sz="1600" dirty="0">
                <a:latin typeface="Times New Roman"/>
                <a:cs typeface="Times New Roman"/>
              </a:rPr>
              <a:t>of-domain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tests.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Symbolic</a:t>
            </a:r>
            <a:r>
              <a:rPr spc="-2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10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971" y="1259771"/>
            <a:ext cx="774192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Standard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prompting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fails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out-of-domain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both</a:t>
            </a:r>
            <a:r>
              <a:rPr sz="1600" spc="-10" dirty="0">
                <a:latin typeface="Times New Roman"/>
                <a:cs typeface="Times New Roman"/>
              </a:rPr>
              <a:t> tasks.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638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-10" dirty="0">
                <a:latin typeface="Times New Roman"/>
                <a:cs typeface="Times New Roman"/>
              </a:rPr>
              <a:t>Few-</a:t>
            </a:r>
            <a:r>
              <a:rPr sz="1600" dirty="0">
                <a:latin typeface="Times New Roman"/>
                <a:cs typeface="Times New Roman"/>
              </a:rPr>
              <a:t>shot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prompting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emergent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abilities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model</a:t>
            </a:r>
            <a:r>
              <a:rPr sz="1600" b="1" spc="-10" dirty="0">
                <a:latin typeface="Times New Roman"/>
                <a:cs typeface="Times New Roman"/>
              </a:rPr>
              <a:t> scale.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63855" marR="731520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positively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impact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small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start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yield </a:t>
            </a: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gains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60" dirty="0">
                <a:latin typeface="Malgun Gothic"/>
                <a:cs typeface="Malgun Gothic"/>
              </a:rPr>
              <a:t>∼</a:t>
            </a:r>
            <a:r>
              <a:rPr sz="1600" spc="-60" dirty="0">
                <a:latin typeface="Times New Roman"/>
                <a:cs typeface="Times New Roman"/>
              </a:rPr>
              <a:t>100B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parameters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both </a:t>
            </a:r>
            <a:r>
              <a:rPr sz="1600" spc="-10" dirty="0">
                <a:latin typeface="Times New Roman"/>
                <a:cs typeface="Times New Roman"/>
              </a:rPr>
              <a:t>in-</a:t>
            </a:r>
            <a:r>
              <a:rPr sz="1600" dirty="0">
                <a:latin typeface="Times New Roman"/>
                <a:cs typeface="Times New Roman"/>
              </a:rPr>
              <a:t>domain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out-</a:t>
            </a:r>
            <a:r>
              <a:rPr sz="1600" dirty="0">
                <a:latin typeface="Times New Roman"/>
                <a:cs typeface="Times New Roman"/>
              </a:rPr>
              <a:t>of-domain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tests.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638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Zero-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 </a:t>
            </a:r>
            <a:r>
              <a:rPr sz="1600" b="1" spc="-10" dirty="0">
                <a:latin typeface="Times New Roman"/>
                <a:cs typeface="Times New Roman"/>
              </a:rPr>
              <a:t>Instruct-</a:t>
            </a:r>
            <a:r>
              <a:rPr sz="1600" b="1" spc="-40" dirty="0">
                <a:latin typeface="Times New Roman"/>
                <a:cs typeface="Times New Roman"/>
              </a:rPr>
              <a:t>GPT-</a:t>
            </a:r>
            <a:r>
              <a:rPr sz="1600" b="1" dirty="0">
                <a:latin typeface="Times New Roman"/>
                <a:cs typeface="Times New Roman"/>
              </a:rPr>
              <a:t>3 175B </a:t>
            </a:r>
            <a:r>
              <a:rPr sz="1600" dirty="0">
                <a:latin typeface="Times New Roman"/>
                <a:cs typeface="Times New Roman"/>
              </a:rPr>
              <a:t>achieves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similar performance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few-</a:t>
            </a:r>
            <a:r>
              <a:rPr sz="1600" b="1" spc="-20" dirty="0">
                <a:latin typeface="Times New Roman"/>
                <a:cs typeface="Times New Roman"/>
              </a:rPr>
              <a:t>shot</a:t>
            </a:r>
            <a:endParaRPr sz="160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540B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PaLM</a:t>
            </a:r>
            <a:r>
              <a:rPr sz="1600" b="1" spc="-10" dirty="0">
                <a:latin typeface="Times New Roman"/>
                <a:cs typeface="Times New Roman"/>
              </a:rPr>
              <a:t> model.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Pre-</a:t>
            </a: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Question</a:t>
            </a:r>
            <a:r>
              <a:rPr spc="-10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075" y="1115521"/>
            <a:ext cx="7704455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Q2:</a:t>
            </a:r>
            <a:r>
              <a:rPr sz="1600" b="1" spc="3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Wei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al.,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2022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showed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that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CoT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can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improve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out-of-domain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performance.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Can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you </a:t>
            </a:r>
            <a:r>
              <a:rPr sz="1600" b="1" dirty="0">
                <a:latin typeface="Times New Roman"/>
                <a:cs typeface="Times New Roman"/>
              </a:rPr>
              <a:t>state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their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results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why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do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you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think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case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(i.e.,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adding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intermediate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steps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can </a:t>
            </a:r>
            <a:r>
              <a:rPr sz="1600" b="1" dirty="0">
                <a:latin typeface="Times New Roman"/>
                <a:cs typeface="Times New Roman"/>
              </a:rPr>
              <a:t>improve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robustness)?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Pre-</a:t>
            </a: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Question</a:t>
            </a:r>
            <a:r>
              <a:rPr spc="-10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075" y="1115521"/>
            <a:ext cx="7704455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Q2:</a:t>
            </a:r>
            <a:r>
              <a:rPr sz="1600" b="1" spc="3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Wei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al.,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2022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showed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that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CoT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can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improve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out-of-domain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performance.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Can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you </a:t>
            </a:r>
            <a:r>
              <a:rPr sz="1600" b="1" dirty="0">
                <a:latin typeface="Times New Roman"/>
                <a:cs typeface="Times New Roman"/>
              </a:rPr>
              <a:t>state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their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results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why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do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you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think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case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(i.e.,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adding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intermediate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steps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can </a:t>
            </a:r>
            <a:r>
              <a:rPr sz="1600" b="1" dirty="0">
                <a:latin typeface="Times New Roman"/>
                <a:cs typeface="Times New Roman"/>
              </a:rPr>
              <a:t>improve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robustness)?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075" y="2579576"/>
            <a:ext cx="791464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209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While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standard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prompting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fails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out-</a:t>
            </a:r>
            <a:r>
              <a:rPr sz="1400" dirty="0">
                <a:latin typeface="Times New Roman"/>
                <a:cs typeface="Times New Roman"/>
              </a:rPr>
              <a:t>of-domain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tests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both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tasks,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large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both</a:t>
            </a:r>
            <a:r>
              <a:rPr sz="1400" spc="-10" dirty="0">
                <a:latin typeface="Times New Roman"/>
                <a:cs typeface="Times New Roman"/>
              </a:rPr>
              <a:t> zero-</a:t>
            </a:r>
            <a:r>
              <a:rPr sz="1400" dirty="0">
                <a:latin typeface="Times New Roman"/>
                <a:cs typeface="Times New Roman"/>
              </a:rPr>
              <a:t>shot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spc="-10" dirty="0">
                <a:latin typeface="Times New Roman"/>
                <a:cs typeface="Times New Roman"/>
              </a:rPr>
              <a:t>few-</a:t>
            </a:r>
            <a:r>
              <a:rPr sz="1400" dirty="0">
                <a:latin typeface="Times New Roman"/>
                <a:cs typeface="Times New Roman"/>
              </a:rPr>
              <a:t>shot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improve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performance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10" dirty="0">
                <a:latin typeface="Times New Roman"/>
                <a:cs typeface="Times New Roman"/>
              </a:rPr>
              <a:t>in-</a:t>
            </a:r>
            <a:r>
              <a:rPr sz="1400" dirty="0">
                <a:latin typeface="Times New Roman"/>
                <a:cs typeface="Times New Roman"/>
              </a:rPr>
              <a:t>domain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 </a:t>
            </a:r>
            <a:r>
              <a:rPr sz="1400" spc="-10" dirty="0">
                <a:latin typeface="Times New Roman"/>
                <a:cs typeface="Times New Roman"/>
              </a:rPr>
              <a:t>out-</a:t>
            </a:r>
            <a:r>
              <a:rPr sz="1400" dirty="0">
                <a:latin typeface="Times New Roman"/>
                <a:cs typeface="Times New Roman"/>
              </a:rPr>
              <a:t>of-domain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tests.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prompt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symbolic </a:t>
            </a:r>
            <a:r>
              <a:rPr sz="1400" dirty="0">
                <a:latin typeface="Times New Roman"/>
                <a:cs typeface="Times New Roman"/>
              </a:rPr>
              <a:t>reasoning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tasks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really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guides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reason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process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mapping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input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output.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questions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OOD</a:t>
            </a:r>
            <a:r>
              <a:rPr sz="1400" i="1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sense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“</a:t>
            </a:r>
            <a:r>
              <a:rPr sz="1400" i="1" dirty="0">
                <a:latin typeface="Times New Roman"/>
                <a:cs typeface="Times New Roman"/>
              </a:rPr>
              <a:t>how</a:t>
            </a:r>
            <a:r>
              <a:rPr sz="1400" i="1" spc="-1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many</a:t>
            </a:r>
            <a:r>
              <a:rPr sz="1400" i="1" spc="-1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words</a:t>
            </a:r>
            <a:r>
              <a:rPr sz="1400" i="1" spc="-1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in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-2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name”</a:t>
            </a:r>
            <a:r>
              <a:rPr sz="1400" i="1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“</a:t>
            </a:r>
            <a:r>
              <a:rPr sz="1400" i="1" dirty="0">
                <a:latin typeface="Times New Roman"/>
                <a:cs typeface="Times New Roman"/>
              </a:rPr>
              <a:t>how</a:t>
            </a:r>
            <a:r>
              <a:rPr sz="1400" i="1" spc="-1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many</a:t>
            </a:r>
            <a:r>
              <a:rPr sz="1400" i="1" spc="-1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states</a:t>
            </a:r>
            <a:r>
              <a:rPr sz="1400" i="1" spc="-2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to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track</a:t>
            </a:r>
            <a:r>
              <a:rPr sz="1400" dirty="0">
                <a:latin typeface="Times New Roman"/>
                <a:cs typeface="Times New Roman"/>
              </a:rPr>
              <a:t>”,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process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0" dirty="0">
                <a:latin typeface="Times New Roman"/>
                <a:cs typeface="Times New Roman"/>
              </a:rPr>
              <a:t> getting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output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still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same,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resembled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exemplars.</a:t>
            </a:r>
            <a:r>
              <a:rPr sz="1400" spc="-10" dirty="0">
                <a:latin typeface="Times New Roman"/>
                <a:cs typeface="Times New Roman"/>
              </a:rPr>
              <a:t> However,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still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unsure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will </a:t>
            </a:r>
            <a:r>
              <a:rPr sz="1400" dirty="0">
                <a:latin typeface="Times New Roman"/>
                <a:cs typeface="Times New Roman"/>
              </a:rPr>
              <a:t>improve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other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OOD</a:t>
            </a:r>
            <a:r>
              <a:rPr sz="1400" i="1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scenarios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complex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reasoning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processes.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4031" y="2048814"/>
            <a:ext cx="4354195" cy="1013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125220">
              <a:lnSpc>
                <a:spcPct val="101299"/>
              </a:lnSpc>
              <a:spcBef>
                <a:spcPts val="90"/>
              </a:spcBef>
            </a:pPr>
            <a:r>
              <a:rPr sz="3200" spc="-10" dirty="0"/>
              <a:t>Experiments </a:t>
            </a:r>
            <a:r>
              <a:rPr sz="3200" dirty="0"/>
              <a:t>CommonSense</a:t>
            </a:r>
            <a:r>
              <a:rPr sz="3200" spc="175" dirty="0"/>
              <a:t> </a:t>
            </a:r>
            <a:r>
              <a:rPr sz="3200" spc="-10" dirty="0"/>
              <a:t>Reasoning</a:t>
            </a:r>
            <a:endParaRPr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873937"/>
            <a:ext cx="3369310" cy="1958339"/>
            <a:chOff x="785962" y="873937"/>
            <a:chExt cx="3369310" cy="1958339"/>
          </a:xfrm>
        </p:grpSpPr>
        <p:sp>
          <p:nvSpPr>
            <p:cNvPr id="3" name="object 3"/>
            <p:cNvSpPr/>
            <p:nvPr/>
          </p:nvSpPr>
          <p:spPr>
            <a:xfrm>
              <a:off x="790724" y="878699"/>
              <a:ext cx="3359785" cy="1948814"/>
            </a:xfrm>
            <a:custGeom>
              <a:avLst/>
              <a:gdLst/>
              <a:ahLst/>
              <a:cxnLst/>
              <a:rect l="l" t="t" r="r" b="b"/>
              <a:pathLst>
                <a:path w="3359785" h="1948814">
                  <a:moveTo>
                    <a:pt x="3034993" y="1948199"/>
                  </a:moveTo>
                  <a:lnTo>
                    <a:pt x="324706" y="1948199"/>
                  </a:lnTo>
                  <a:lnTo>
                    <a:pt x="276723" y="1944679"/>
                  </a:lnTo>
                  <a:lnTo>
                    <a:pt x="230926" y="1934452"/>
                  </a:lnTo>
                  <a:lnTo>
                    <a:pt x="187818" y="1918020"/>
                  </a:lnTo>
                  <a:lnTo>
                    <a:pt x="147900" y="1895887"/>
                  </a:lnTo>
                  <a:lnTo>
                    <a:pt x="111675" y="1868554"/>
                  </a:lnTo>
                  <a:lnTo>
                    <a:pt x="79645" y="1836524"/>
                  </a:lnTo>
                  <a:lnTo>
                    <a:pt x="52312" y="1800299"/>
                  </a:lnTo>
                  <a:lnTo>
                    <a:pt x="30179" y="1760381"/>
                  </a:lnTo>
                  <a:lnTo>
                    <a:pt x="13747" y="1717273"/>
                  </a:lnTo>
                  <a:lnTo>
                    <a:pt x="3520" y="1671476"/>
                  </a:lnTo>
                  <a:lnTo>
                    <a:pt x="0" y="1623493"/>
                  </a:lnTo>
                  <a:lnTo>
                    <a:pt x="0" y="324706"/>
                  </a:lnTo>
                  <a:lnTo>
                    <a:pt x="3520" y="276723"/>
                  </a:lnTo>
                  <a:lnTo>
                    <a:pt x="13747" y="230926"/>
                  </a:lnTo>
                  <a:lnTo>
                    <a:pt x="30179" y="187818"/>
                  </a:lnTo>
                  <a:lnTo>
                    <a:pt x="52312" y="147900"/>
                  </a:lnTo>
                  <a:lnTo>
                    <a:pt x="79645" y="111675"/>
                  </a:lnTo>
                  <a:lnTo>
                    <a:pt x="111675" y="79645"/>
                  </a:lnTo>
                  <a:lnTo>
                    <a:pt x="147900" y="52312"/>
                  </a:lnTo>
                  <a:lnTo>
                    <a:pt x="187818" y="30179"/>
                  </a:lnTo>
                  <a:lnTo>
                    <a:pt x="230926" y="13747"/>
                  </a:lnTo>
                  <a:lnTo>
                    <a:pt x="276723" y="3520"/>
                  </a:lnTo>
                  <a:lnTo>
                    <a:pt x="324706" y="0"/>
                  </a:lnTo>
                  <a:lnTo>
                    <a:pt x="3034993" y="0"/>
                  </a:lnTo>
                  <a:lnTo>
                    <a:pt x="3086095" y="4044"/>
                  </a:lnTo>
                  <a:lnTo>
                    <a:pt x="3135478" y="15939"/>
                  </a:lnTo>
                  <a:lnTo>
                    <a:pt x="3182271" y="35321"/>
                  </a:lnTo>
                  <a:lnTo>
                    <a:pt x="3225600" y="61830"/>
                  </a:lnTo>
                  <a:lnTo>
                    <a:pt x="3264595" y="95104"/>
                  </a:lnTo>
                  <a:lnTo>
                    <a:pt x="3297869" y="134099"/>
                  </a:lnTo>
                  <a:lnTo>
                    <a:pt x="3324378" y="177428"/>
                  </a:lnTo>
                  <a:lnTo>
                    <a:pt x="3343760" y="224221"/>
                  </a:lnTo>
                  <a:lnTo>
                    <a:pt x="3355654" y="273604"/>
                  </a:lnTo>
                  <a:lnTo>
                    <a:pt x="3359699" y="324706"/>
                  </a:lnTo>
                  <a:lnTo>
                    <a:pt x="3359699" y="1623493"/>
                  </a:lnTo>
                  <a:lnTo>
                    <a:pt x="3356179" y="1671476"/>
                  </a:lnTo>
                  <a:lnTo>
                    <a:pt x="3345952" y="1717273"/>
                  </a:lnTo>
                  <a:lnTo>
                    <a:pt x="3329520" y="1760381"/>
                  </a:lnTo>
                  <a:lnTo>
                    <a:pt x="3307387" y="1800299"/>
                  </a:lnTo>
                  <a:lnTo>
                    <a:pt x="3280054" y="1836524"/>
                  </a:lnTo>
                  <a:lnTo>
                    <a:pt x="3248024" y="1868554"/>
                  </a:lnTo>
                  <a:lnTo>
                    <a:pt x="3211799" y="1895887"/>
                  </a:lnTo>
                  <a:lnTo>
                    <a:pt x="3171881" y="1918020"/>
                  </a:lnTo>
                  <a:lnTo>
                    <a:pt x="3128772" y="1934452"/>
                  </a:lnTo>
                  <a:lnTo>
                    <a:pt x="3082976" y="1944679"/>
                  </a:lnTo>
                  <a:lnTo>
                    <a:pt x="3034993" y="1948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878699"/>
              <a:ext cx="3359785" cy="1948814"/>
            </a:xfrm>
            <a:custGeom>
              <a:avLst/>
              <a:gdLst/>
              <a:ahLst/>
              <a:cxnLst/>
              <a:rect l="l" t="t" r="r" b="b"/>
              <a:pathLst>
                <a:path w="3359785" h="1948814">
                  <a:moveTo>
                    <a:pt x="0" y="324706"/>
                  </a:moveTo>
                  <a:lnTo>
                    <a:pt x="3520" y="276723"/>
                  </a:lnTo>
                  <a:lnTo>
                    <a:pt x="13747" y="230926"/>
                  </a:lnTo>
                  <a:lnTo>
                    <a:pt x="30179" y="187818"/>
                  </a:lnTo>
                  <a:lnTo>
                    <a:pt x="52312" y="147900"/>
                  </a:lnTo>
                  <a:lnTo>
                    <a:pt x="79645" y="111675"/>
                  </a:lnTo>
                  <a:lnTo>
                    <a:pt x="111675" y="79645"/>
                  </a:lnTo>
                  <a:lnTo>
                    <a:pt x="147900" y="52312"/>
                  </a:lnTo>
                  <a:lnTo>
                    <a:pt x="187818" y="30179"/>
                  </a:lnTo>
                  <a:lnTo>
                    <a:pt x="230926" y="13747"/>
                  </a:lnTo>
                  <a:lnTo>
                    <a:pt x="276723" y="3520"/>
                  </a:lnTo>
                  <a:lnTo>
                    <a:pt x="324706" y="0"/>
                  </a:lnTo>
                  <a:lnTo>
                    <a:pt x="3034993" y="0"/>
                  </a:lnTo>
                  <a:lnTo>
                    <a:pt x="3086095" y="4044"/>
                  </a:lnTo>
                  <a:lnTo>
                    <a:pt x="3135478" y="15939"/>
                  </a:lnTo>
                  <a:lnTo>
                    <a:pt x="3182271" y="35321"/>
                  </a:lnTo>
                  <a:lnTo>
                    <a:pt x="3225600" y="61830"/>
                  </a:lnTo>
                  <a:lnTo>
                    <a:pt x="3264595" y="95104"/>
                  </a:lnTo>
                  <a:lnTo>
                    <a:pt x="3297869" y="134099"/>
                  </a:lnTo>
                  <a:lnTo>
                    <a:pt x="3324378" y="177428"/>
                  </a:lnTo>
                  <a:lnTo>
                    <a:pt x="3343760" y="224221"/>
                  </a:lnTo>
                  <a:lnTo>
                    <a:pt x="3355654" y="273604"/>
                  </a:lnTo>
                  <a:lnTo>
                    <a:pt x="3359699" y="324706"/>
                  </a:lnTo>
                  <a:lnTo>
                    <a:pt x="3359699" y="1623493"/>
                  </a:lnTo>
                  <a:lnTo>
                    <a:pt x="3356179" y="1671476"/>
                  </a:lnTo>
                  <a:lnTo>
                    <a:pt x="3345952" y="1717273"/>
                  </a:lnTo>
                  <a:lnTo>
                    <a:pt x="3329520" y="1760381"/>
                  </a:lnTo>
                  <a:lnTo>
                    <a:pt x="3307387" y="1800299"/>
                  </a:lnTo>
                  <a:lnTo>
                    <a:pt x="3280054" y="1836524"/>
                  </a:lnTo>
                  <a:lnTo>
                    <a:pt x="3248024" y="1868554"/>
                  </a:lnTo>
                  <a:lnTo>
                    <a:pt x="3211799" y="1895887"/>
                  </a:lnTo>
                  <a:lnTo>
                    <a:pt x="3171881" y="1918020"/>
                  </a:lnTo>
                  <a:lnTo>
                    <a:pt x="3128772" y="1934452"/>
                  </a:lnTo>
                  <a:lnTo>
                    <a:pt x="3082976" y="1944679"/>
                  </a:lnTo>
                  <a:lnTo>
                    <a:pt x="3034993" y="1948199"/>
                  </a:lnTo>
                  <a:lnTo>
                    <a:pt x="324706" y="1948199"/>
                  </a:lnTo>
                  <a:lnTo>
                    <a:pt x="276723" y="1944679"/>
                  </a:lnTo>
                  <a:lnTo>
                    <a:pt x="230926" y="1934452"/>
                  </a:lnTo>
                  <a:lnTo>
                    <a:pt x="187818" y="1918020"/>
                  </a:lnTo>
                  <a:lnTo>
                    <a:pt x="147900" y="1895887"/>
                  </a:lnTo>
                  <a:lnTo>
                    <a:pt x="111675" y="1868554"/>
                  </a:lnTo>
                  <a:lnTo>
                    <a:pt x="79645" y="1836524"/>
                  </a:lnTo>
                  <a:lnTo>
                    <a:pt x="52312" y="1800299"/>
                  </a:lnTo>
                  <a:lnTo>
                    <a:pt x="30179" y="1760381"/>
                  </a:lnTo>
                  <a:lnTo>
                    <a:pt x="13747" y="1717273"/>
                  </a:lnTo>
                  <a:lnTo>
                    <a:pt x="3520" y="1671476"/>
                  </a:lnTo>
                  <a:lnTo>
                    <a:pt x="0" y="1623493"/>
                  </a:lnTo>
                  <a:lnTo>
                    <a:pt x="0" y="324706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988787" y="873937"/>
            <a:ext cx="3369310" cy="1958339"/>
            <a:chOff x="4988787" y="873937"/>
            <a:chExt cx="3369310" cy="1958339"/>
          </a:xfrm>
        </p:grpSpPr>
        <p:sp>
          <p:nvSpPr>
            <p:cNvPr id="6" name="object 6"/>
            <p:cNvSpPr/>
            <p:nvPr/>
          </p:nvSpPr>
          <p:spPr>
            <a:xfrm>
              <a:off x="4993549" y="878699"/>
              <a:ext cx="3359785" cy="1948814"/>
            </a:xfrm>
            <a:custGeom>
              <a:avLst/>
              <a:gdLst/>
              <a:ahLst/>
              <a:cxnLst/>
              <a:rect l="l" t="t" r="r" b="b"/>
              <a:pathLst>
                <a:path w="3359784" h="1948814">
                  <a:moveTo>
                    <a:pt x="3034993" y="1948199"/>
                  </a:moveTo>
                  <a:lnTo>
                    <a:pt x="324706" y="1948199"/>
                  </a:lnTo>
                  <a:lnTo>
                    <a:pt x="276723" y="1944679"/>
                  </a:lnTo>
                  <a:lnTo>
                    <a:pt x="230927" y="1934452"/>
                  </a:lnTo>
                  <a:lnTo>
                    <a:pt x="187818" y="1918020"/>
                  </a:lnTo>
                  <a:lnTo>
                    <a:pt x="147900" y="1895887"/>
                  </a:lnTo>
                  <a:lnTo>
                    <a:pt x="111675" y="1868554"/>
                  </a:lnTo>
                  <a:lnTo>
                    <a:pt x="79645" y="1836524"/>
                  </a:lnTo>
                  <a:lnTo>
                    <a:pt x="52312" y="1800299"/>
                  </a:lnTo>
                  <a:lnTo>
                    <a:pt x="30179" y="1760381"/>
                  </a:lnTo>
                  <a:lnTo>
                    <a:pt x="13747" y="1717273"/>
                  </a:lnTo>
                  <a:lnTo>
                    <a:pt x="3520" y="1671476"/>
                  </a:lnTo>
                  <a:lnTo>
                    <a:pt x="0" y="1623493"/>
                  </a:lnTo>
                  <a:lnTo>
                    <a:pt x="0" y="324706"/>
                  </a:lnTo>
                  <a:lnTo>
                    <a:pt x="3520" y="276723"/>
                  </a:lnTo>
                  <a:lnTo>
                    <a:pt x="13747" y="230926"/>
                  </a:lnTo>
                  <a:lnTo>
                    <a:pt x="30179" y="187818"/>
                  </a:lnTo>
                  <a:lnTo>
                    <a:pt x="52312" y="147900"/>
                  </a:lnTo>
                  <a:lnTo>
                    <a:pt x="79645" y="111675"/>
                  </a:lnTo>
                  <a:lnTo>
                    <a:pt x="111675" y="79645"/>
                  </a:lnTo>
                  <a:lnTo>
                    <a:pt x="147900" y="52312"/>
                  </a:lnTo>
                  <a:lnTo>
                    <a:pt x="187818" y="30179"/>
                  </a:lnTo>
                  <a:lnTo>
                    <a:pt x="230927" y="13747"/>
                  </a:lnTo>
                  <a:lnTo>
                    <a:pt x="276723" y="3520"/>
                  </a:lnTo>
                  <a:lnTo>
                    <a:pt x="324706" y="0"/>
                  </a:lnTo>
                  <a:lnTo>
                    <a:pt x="3034993" y="0"/>
                  </a:lnTo>
                  <a:lnTo>
                    <a:pt x="3086095" y="4044"/>
                  </a:lnTo>
                  <a:lnTo>
                    <a:pt x="3135478" y="15939"/>
                  </a:lnTo>
                  <a:lnTo>
                    <a:pt x="3182271" y="35321"/>
                  </a:lnTo>
                  <a:lnTo>
                    <a:pt x="3225600" y="61830"/>
                  </a:lnTo>
                  <a:lnTo>
                    <a:pt x="3264594" y="95104"/>
                  </a:lnTo>
                  <a:lnTo>
                    <a:pt x="3297869" y="134099"/>
                  </a:lnTo>
                  <a:lnTo>
                    <a:pt x="3324378" y="177428"/>
                  </a:lnTo>
                  <a:lnTo>
                    <a:pt x="3343760" y="224221"/>
                  </a:lnTo>
                  <a:lnTo>
                    <a:pt x="3355654" y="273604"/>
                  </a:lnTo>
                  <a:lnTo>
                    <a:pt x="3359699" y="324706"/>
                  </a:lnTo>
                  <a:lnTo>
                    <a:pt x="3359699" y="1623493"/>
                  </a:lnTo>
                  <a:lnTo>
                    <a:pt x="3356179" y="1671476"/>
                  </a:lnTo>
                  <a:lnTo>
                    <a:pt x="3345952" y="1717273"/>
                  </a:lnTo>
                  <a:lnTo>
                    <a:pt x="3329521" y="1760381"/>
                  </a:lnTo>
                  <a:lnTo>
                    <a:pt x="3307387" y="1800299"/>
                  </a:lnTo>
                  <a:lnTo>
                    <a:pt x="3280055" y="1836524"/>
                  </a:lnTo>
                  <a:lnTo>
                    <a:pt x="3248024" y="1868554"/>
                  </a:lnTo>
                  <a:lnTo>
                    <a:pt x="3211799" y="1895887"/>
                  </a:lnTo>
                  <a:lnTo>
                    <a:pt x="3171881" y="1918020"/>
                  </a:lnTo>
                  <a:lnTo>
                    <a:pt x="3128773" y="1934452"/>
                  </a:lnTo>
                  <a:lnTo>
                    <a:pt x="3082976" y="1944679"/>
                  </a:lnTo>
                  <a:lnTo>
                    <a:pt x="3034993" y="1948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93549" y="878699"/>
              <a:ext cx="3359785" cy="1948814"/>
            </a:xfrm>
            <a:custGeom>
              <a:avLst/>
              <a:gdLst/>
              <a:ahLst/>
              <a:cxnLst/>
              <a:rect l="l" t="t" r="r" b="b"/>
              <a:pathLst>
                <a:path w="3359784" h="1948814">
                  <a:moveTo>
                    <a:pt x="0" y="324706"/>
                  </a:moveTo>
                  <a:lnTo>
                    <a:pt x="3520" y="276723"/>
                  </a:lnTo>
                  <a:lnTo>
                    <a:pt x="13747" y="230926"/>
                  </a:lnTo>
                  <a:lnTo>
                    <a:pt x="30179" y="187818"/>
                  </a:lnTo>
                  <a:lnTo>
                    <a:pt x="52312" y="147900"/>
                  </a:lnTo>
                  <a:lnTo>
                    <a:pt x="79645" y="111675"/>
                  </a:lnTo>
                  <a:lnTo>
                    <a:pt x="111675" y="79645"/>
                  </a:lnTo>
                  <a:lnTo>
                    <a:pt x="147900" y="52312"/>
                  </a:lnTo>
                  <a:lnTo>
                    <a:pt x="187818" y="30179"/>
                  </a:lnTo>
                  <a:lnTo>
                    <a:pt x="230927" y="13747"/>
                  </a:lnTo>
                  <a:lnTo>
                    <a:pt x="276723" y="3520"/>
                  </a:lnTo>
                  <a:lnTo>
                    <a:pt x="324706" y="0"/>
                  </a:lnTo>
                  <a:lnTo>
                    <a:pt x="3034993" y="0"/>
                  </a:lnTo>
                  <a:lnTo>
                    <a:pt x="3086095" y="4044"/>
                  </a:lnTo>
                  <a:lnTo>
                    <a:pt x="3135478" y="15939"/>
                  </a:lnTo>
                  <a:lnTo>
                    <a:pt x="3182271" y="35321"/>
                  </a:lnTo>
                  <a:lnTo>
                    <a:pt x="3225600" y="61830"/>
                  </a:lnTo>
                  <a:lnTo>
                    <a:pt x="3264594" y="95104"/>
                  </a:lnTo>
                  <a:lnTo>
                    <a:pt x="3297869" y="134099"/>
                  </a:lnTo>
                  <a:lnTo>
                    <a:pt x="3324378" y="177428"/>
                  </a:lnTo>
                  <a:lnTo>
                    <a:pt x="3343760" y="224221"/>
                  </a:lnTo>
                  <a:lnTo>
                    <a:pt x="3355654" y="273604"/>
                  </a:lnTo>
                  <a:lnTo>
                    <a:pt x="3359699" y="324706"/>
                  </a:lnTo>
                  <a:lnTo>
                    <a:pt x="3359699" y="1623493"/>
                  </a:lnTo>
                  <a:lnTo>
                    <a:pt x="3356179" y="1671476"/>
                  </a:lnTo>
                  <a:lnTo>
                    <a:pt x="3345952" y="1717273"/>
                  </a:lnTo>
                  <a:lnTo>
                    <a:pt x="3329521" y="1760381"/>
                  </a:lnTo>
                  <a:lnTo>
                    <a:pt x="3307387" y="1800299"/>
                  </a:lnTo>
                  <a:lnTo>
                    <a:pt x="3280055" y="1836524"/>
                  </a:lnTo>
                  <a:lnTo>
                    <a:pt x="3248024" y="1868554"/>
                  </a:lnTo>
                  <a:lnTo>
                    <a:pt x="3211799" y="1895887"/>
                  </a:lnTo>
                  <a:lnTo>
                    <a:pt x="3171881" y="1918020"/>
                  </a:lnTo>
                  <a:lnTo>
                    <a:pt x="3128773" y="1934452"/>
                  </a:lnTo>
                  <a:lnTo>
                    <a:pt x="3082976" y="1944679"/>
                  </a:lnTo>
                  <a:lnTo>
                    <a:pt x="3034993" y="1948199"/>
                  </a:lnTo>
                  <a:lnTo>
                    <a:pt x="324706" y="1948199"/>
                  </a:lnTo>
                  <a:lnTo>
                    <a:pt x="276723" y="1944679"/>
                  </a:lnTo>
                  <a:lnTo>
                    <a:pt x="230927" y="1934452"/>
                  </a:lnTo>
                  <a:lnTo>
                    <a:pt x="187818" y="1918020"/>
                  </a:lnTo>
                  <a:lnTo>
                    <a:pt x="147900" y="1895887"/>
                  </a:lnTo>
                  <a:lnTo>
                    <a:pt x="111675" y="1868554"/>
                  </a:lnTo>
                  <a:lnTo>
                    <a:pt x="79645" y="1836524"/>
                  </a:lnTo>
                  <a:lnTo>
                    <a:pt x="52312" y="1800299"/>
                  </a:lnTo>
                  <a:lnTo>
                    <a:pt x="30179" y="1760381"/>
                  </a:lnTo>
                  <a:lnTo>
                    <a:pt x="13747" y="1717273"/>
                  </a:lnTo>
                  <a:lnTo>
                    <a:pt x="3520" y="1671476"/>
                  </a:lnTo>
                  <a:lnTo>
                    <a:pt x="0" y="1623493"/>
                  </a:lnTo>
                  <a:lnTo>
                    <a:pt x="0" y="324706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161678" y="1039716"/>
            <a:ext cx="2929255" cy="1286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StrategyQA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(Geva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et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al.,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2021)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3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Could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Brooke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Shields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succeed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at </a:t>
            </a:r>
            <a:r>
              <a:rPr sz="1400" dirty="0">
                <a:latin typeface="Arial"/>
                <a:cs typeface="Arial"/>
              </a:rPr>
              <a:t>University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Pennsylvania?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yes.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70" dirty="0"/>
              <a:t> </a:t>
            </a:r>
            <a:r>
              <a:rPr dirty="0"/>
              <a:t>Reasoning</a:t>
            </a:r>
            <a:r>
              <a:rPr spc="-50" dirty="0"/>
              <a:t> </a:t>
            </a:r>
            <a:r>
              <a:rPr dirty="0"/>
              <a:t>-</a:t>
            </a:r>
            <a:r>
              <a:rPr spc="-105" dirty="0"/>
              <a:t> </a:t>
            </a:r>
            <a:r>
              <a:rPr spc="-20" dirty="0"/>
              <a:t>Toy</a:t>
            </a:r>
            <a:r>
              <a:rPr spc="-50" dirty="0"/>
              <a:t> </a:t>
            </a:r>
            <a:r>
              <a:rPr spc="-10" dirty="0"/>
              <a:t>Problems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4988787" y="3078162"/>
            <a:ext cx="3369310" cy="1831339"/>
            <a:chOff x="4988787" y="3078162"/>
            <a:chExt cx="3369310" cy="1831339"/>
          </a:xfrm>
        </p:grpSpPr>
        <p:sp>
          <p:nvSpPr>
            <p:cNvPr id="11" name="object 11"/>
            <p:cNvSpPr/>
            <p:nvPr/>
          </p:nvSpPr>
          <p:spPr>
            <a:xfrm>
              <a:off x="4993549" y="3082925"/>
              <a:ext cx="3359785" cy="1821814"/>
            </a:xfrm>
            <a:custGeom>
              <a:avLst/>
              <a:gdLst/>
              <a:ahLst/>
              <a:cxnLst/>
              <a:rect l="l" t="t" r="r" b="b"/>
              <a:pathLst>
                <a:path w="3359784" h="1821814">
                  <a:moveTo>
                    <a:pt x="3056093" y="1821599"/>
                  </a:moveTo>
                  <a:lnTo>
                    <a:pt x="303606" y="1821599"/>
                  </a:lnTo>
                  <a:lnTo>
                    <a:pt x="254359" y="1817626"/>
                  </a:lnTo>
                  <a:lnTo>
                    <a:pt x="207643" y="1806121"/>
                  </a:lnTo>
                  <a:lnTo>
                    <a:pt x="164081" y="1787712"/>
                  </a:lnTo>
                  <a:lnTo>
                    <a:pt x="124300" y="1763021"/>
                  </a:lnTo>
                  <a:lnTo>
                    <a:pt x="88924" y="1732675"/>
                  </a:lnTo>
                  <a:lnTo>
                    <a:pt x="58578" y="1697299"/>
                  </a:lnTo>
                  <a:lnTo>
                    <a:pt x="33887" y="1657518"/>
                  </a:lnTo>
                  <a:lnTo>
                    <a:pt x="15478" y="1613956"/>
                  </a:lnTo>
                  <a:lnTo>
                    <a:pt x="3973" y="1567240"/>
                  </a:lnTo>
                  <a:lnTo>
                    <a:pt x="0" y="1517993"/>
                  </a:lnTo>
                  <a:lnTo>
                    <a:pt x="0" y="303606"/>
                  </a:lnTo>
                  <a:lnTo>
                    <a:pt x="3973" y="254359"/>
                  </a:lnTo>
                  <a:lnTo>
                    <a:pt x="15478" y="207643"/>
                  </a:lnTo>
                  <a:lnTo>
                    <a:pt x="33887" y="164081"/>
                  </a:lnTo>
                  <a:lnTo>
                    <a:pt x="58578" y="124300"/>
                  </a:lnTo>
                  <a:lnTo>
                    <a:pt x="88924" y="88924"/>
                  </a:lnTo>
                  <a:lnTo>
                    <a:pt x="124300" y="58578"/>
                  </a:lnTo>
                  <a:lnTo>
                    <a:pt x="164081" y="33887"/>
                  </a:lnTo>
                  <a:lnTo>
                    <a:pt x="207643" y="15478"/>
                  </a:lnTo>
                  <a:lnTo>
                    <a:pt x="254359" y="3973"/>
                  </a:lnTo>
                  <a:lnTo>
                    <a:pt x="303606" y="0"/>
                  </a:lnTo>
                  <a:lnTo>
                    <a:pt x="3056093" y="0"/>
                  </a:lnTo>
                  <a:lnTo>
                    <a:pt x="3103875" y="3782"/>
                  </a:lnTo>
                  <a:lnTo>
                    <a:pt x="3150049" y="14903"/>
                  </a:lnTo>
                  <a:lnTo>
                    <a:pt x="3193800" y="33026"/>
                  </a:lnTo>
                  <a:lnTo>
                    <a:pt x="3234314" y="57812"/>
                  </a:lnTo>
                  <a:lnTo>
                    <a:pt x="3270775" y="88924"/>
                  </a:lnTo>
                  <a:lnTo>
                    <a:pt x="3301887" y="125384"/>
                  </a:lnTo>
                  <a:lnTo>
                    <a:pt x="3326674" y="165898"/>
                  </a:lnTo>
                  <a:lnTo>
                    <a:pt x="3344796" y="209650"/>
                  </a:lnTo>
                  <a:lnTo>
                    <a:pt x="3355917" y="255825"/>
                  </a:lnTo>
                  <a:lnTo>
                    <a:pt x="3359699" y="303606"/>
                  </a:lnTo>
                  <a:lnTo>
                    <a:pt x="3359699" y="1517993"/>
                  </a:lnTo>
                  <a:lnTo>
                    <a:pt x="3355726" y="1567240"/>
                  </a:lnTo>
                  <a:lnTo>
                    <a:pt x="3344221" y="1613956"/>
                  </a:lnTo>
                  <a:lnTo>
                    <a:pt x="3325812" y="1657518"/>
                  </a:lnTo>
                  <a:lnTo>
                    <a:pt x="3301121" y="1697299"/>
                  </a:lnTo>
                  <a:lnTo>
                    <a:pt x="3270775" y="1732675"/>
                  </a:lnTo>
                  <a:lnTo>
                    <a:pt x="3235399" y="1763021"/>
                  </a:lnTo>
                  <a:lnTo>
                    <a:pt x="3195618" y="1787712"/>
                  </a:lnTo>
                  <a:lnTo>
                    <a:pt x="3152056" y="1806121"/>
                  </a:lnTo>
                  <a:lnTo>
                    <a:pt x="3105340" y="1817626"/>
                  </a:lnTo>
                  <a:lnTo>
                    <a:pt x="3056093" y="182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93549" y="3082925"/>
              <a:ext cx="3359785" cy="1821814"/>
            </a:xfrm>
            <a:custGeom>
              <a:avLst/>
              <a:gdLst/>
              <a:ahLst/>
              <a:cxnLst/>
              <a:rect l="l" t="t" r="r" b="b"/>
              <a:pathLst>
                <a:path w="3359784" h="1821814">
                  <a:moveTo>
                    <a:pt x="0" y="303606"/>
                  </a:moveTo>
                  <a:lnTo>
                    <a:pt x="3973" y="254359"/>
                  </a:lnTo>
                  <a:lnTo>
                    <a:pt x="15478" y="207643"/>
                  </a:lnTo>
                  <a:lnTo>
                    <a:pt x="33887" y="164081"/>
                  </a:lnTo>
                  <a:lnTo>
                    <a:pt x="58578" y="124300"/>
                  </a:lnTo>
                  <a:lnTo>
                    <a:pt x="88924" y="88924"/>
                  </a:lnTo>
                  <a:lnTo>
                    <a:pt x="124300" y="58578"/>
                  </a:lnTo>
                  <a:lnTo>
                    <a:pt x="164081" y="33887"/>
                  </a:lnTo>
                  <a:lnTo>
                    <a:pt x="207643" y="15478"/>
                  </a:lnTo>
                  <a:lnTo>
                    <a:pt x="254359" y="3973"/>
                  </a:lnTo>
                  <a:lnTo>
                    <a:pt x="303606" y="0"/>
                  </a:lnTo>
                  <a:lnTo>
                    <a:pt x="3056093" y="0"/>
                  </a:lnTo>
                  <a:lnTo>
                    <a:pt x="3103875" y="3782"/>
                  </a:lnTo>
                  <a:lnTo>
                    <a:pt x="3150049" y="14903"/>
                  </a:lnTo>
                  <a:lnTo>
                    <a:pt x="3193800" y="33026"/>
                  </a:lnTo>
                  <a:lnTo>
                    <a:pt x="3234314" y="57812"/>
                  </a:lnTo>
                  <a:lnTo>
                    <a:pt x="3270775" y="88924"/>
                  </a:lnTo>
                  <a:lnTo>
                    <a:pt x="3301887" y="125384"/>
                  </a:lnTo>
                  <a:lnTo>
                    <a:pt x="3326674" y="165898"/>
                  </a:lnTo>
                  <a:lnTo>
                    <a:pt x="3344796" y="209650"/>
                  </a:lnTo>
                  <a:lnTo>
                    <a:pt x="3355917" y="255825"/>
                  </a:lnTo>
                  <a:lnTo>
                    <a:pt x="3359699" y="303606"/>
                  </a:lnTo>
                  <a:lnTo>
                    <a:pt x="3359699" y="1517993"/>
                  </a:lnTo>
                  <a:lnTo>
                    <a:pt x="3355726" y="1567240"/>
                  </a:lnTo>
                  <a:lnTo>
                    <a:pt x="3344221" y="1613956"/>
                  </a:lnTo>
                  <a:lnTo>
                    <a:pt x="3325812" y="1657518"/>
                  </a:lnTo>
                  <a:lnTo>
                    <a:pt x="3301121" y="1697299"/>
                  </a:lnTo>
                  <a:lnTo>
                    <a:pt x="3270775" y="1732675"/>
                  </a:lnTo>
                  <a:lnTo>
                    <a:pt x="3235399" y="1763021"/>
                  </a:lnTo>
                  <a:lnTo>
                    <a:pt x="3195618" y="1787712"/>
                  </a:lnTo>
                  <a:lnTo>
                    <a:pt x="3152056" y="1806121"/>
                  </a:lnTo>
                  <a:lnTo>
                    <a:pt x="3105340" y="1817626"/>
                  </a:lnTo>
                  <a:lnTo>
                    <a:pt x="3056093" y="1821599"/>
                  </a:lnTo>
                  <a:lnTo>
                    <a:pt x="303606" y="1821599"/>
                  </a:lnTo>
                  <a:lnTo>
                    <a:pt x="254359" y="1817626"/>
                  </a:lnTo>
                  <a:lnTo>
                    <a:pt x="207643" y="1806121"/>
                  </a:lnTo>
                  <a:lnTo>
                    <a:pt x="164081" y="1787712"/>
                  </a:lnTo>
                  <a:lnTo>
                    <a:pt x="124300" y="1763021"/>
                  </a:lnTo>
                  <a:lnTo>
                    <a:pt x="88924" y="1732675"/>
                  </a:lnTo>
                  <a:lnTo>
                    <a:pt x="58578" y="1697299"/>
                  </a:lnTo>
                  <a:lnTo>
                    <a:pt x="33887" y="1657518"/>
                  </a:lnTo>
                  <a:lnTo>
                    <a:pt x="15478" y="1613956"/>
                  </a:lnTo>
                  <a:lnTo>
                    <a:pt x="3973" y="1567240"/>
                  </a:lnTo>
                  <a:lnTo>
                    <a:pt x="0" y="1517993"/>
                  </a:lnTo>
                  <a:lnTo>
                    <a:pt x="0" y="303606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155498" y="3237761"/>
            <a:ext cx="289941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73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Date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Understanding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2015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36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hours.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What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week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today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in </a:t>
            </a:r>
            <a:r>
              <a:rPr sz="1400" spc="-10" dirty="0">
                <a:latin typeface="Arial"/>
                <a:cs typeface="Arial"/>
              </a:rPr>
              <a:t>MM/DD/YYYY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A61B00"/>
                </a:solidFill>
                <a:latin typeface="Arial"/>
                <a:cs typeface="Arial"/>
              </a:rPr>
              <a:t>01/05/2015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85962" y="3078162"/>
            <a:ext cx="3369310" cy="1831339"/>
            <a:chOff x="785962" y="3078162"/>
            <a:chExt cx="3369310" cy="1831339"/>
          </a:xfrm>
        </p:grpSpPr>
        <p:sp>
          <p:nvSpPr>
            <p:cNvPr id="15" name="object 15"/>
            <p:cNvSpPr/>
            <p:nvPr/>
          </p:nvSpPr>
          <p:spPr>
            <a:xfrm>
              <a:off x="790724" y="3082925"/>
              <a:ext cx="3359785" cy="1821814"/>
            </a:xfrm>
            <a:custGeom>
              <a:avLst/>
              <a:gdLst/>
              <a:ahLst/>
              <a:cxnLst/>
              <a:rect l="l" t="t" r="r" b="b"/>
              <a:pathLst>
                <a:path w="3359785" h="1821814">
                  <a:moveTo>
                    <a:pt x="3056093" y="1821599"/>
                  </a:moveTo>
                  <a:lnTo>
                    <a:pt x="303606" y="1821599"/>
                  </a:lnTo>
                  <a:lnTo>
                    <a:pt x="254359" y="1817626"/>
                  </a:lnTo>
                  <a:lnTo>
                    <a:pt x="207643" y="1806121"/>
                  </a:lnTo>
                  <a:lnTo>
                    <a:pt x="164081" y="1787712"/>
                  </a:lnTo>
                  <a:lnTo>
                    <a:pt x="124300" y="1763021"/>
                  </a:lnTo>
                  <a:lnTo>
                    <a:pt x="88924" y="1732675"/>
                  </a:lnTo>
                  <a:lnTo>
                    <a:pt x="58578" y="1697299"/>
                  </a:lnTo>
                  <a:lnTo>
                    <a:pt x="33887" y="1657518"/>
                  </a:lnTo>
                  <a:lnTo>
                    <a:pt x="15478" y="1613956"/>
                  </a:lnTo>
                  <a:lnTo>
                    <a:pt x="3973" y="1567240"/>
                  </a:lnTo>
                  <a:lnTo>
                    <a:pt x="0" y="1517993"/>
                  </a:lnTo>
                  <a:lnTo>
                    <a:pt x="0" y="303606"/>
                  </a:lnTo>
                  <a:lnTo>
                    <a:pt x="3973" y="254359"/>
                  </a:lnTo>
                  <a:lnTo>
                    <a:pt x="15478" y="207643"/>
                  </a:lnTo>
                  <a:lnTo>
                    <a:pt x="33887" y="164081"/>
                  </a:lnTo>
                  <a:lnTo>
                    <a:pt x="58578" y="124300"/>
                  </a:lnTo>
                  <a:lnTo>
                    <a:pt x="88924" y="88924"/>
                  </a:lnTo>
                  <a:lnTo>
                    <a:pt x="124300" y="58578"/>
                  </a:lnTo>
                  <a:lnTo>
                    <a:pt x="164081" y="33887"/>
                  </a:lnTo>
                  <a:lnTo>
                    <a:pt x="207643" y="15478"/>
                  </a:lnTo>
                  <a:lnTo>
                    <a:pt x="254359" y="3973"/>
                  </a:lnTo>
                  <a:lnTo>
                    <a:pt x="303606" y="0"/>
                  </a:lnTo>
                  <a:lnTo>
                    <a:pt x="3056093" y="0"/>
                  </a:lnTo>
                  <a:lnTo>
                    <a:pt x="3103874" y="3782"/>
                  </a:lnTo>
                  <a:lnTo>
                    <a:pt x="3150049" y="14903"/>
                  </a:lnTo>
                  <a:lnTo>
                    <a:pt x="3193801" y="33026"/>
                  </a:lnTo>
                  <a:lnTo>
                    <a:pt x="3234315" y="57812"/>
                  </a:lnTo>
                  <a:lnTo>
                    <a:pt x="3270775" y="88924"/>
                  </a:lnTo>
                  <a:lnTo>
                    <a:pt x="3301887" y="125384"/>
                  </a:lnTo>
                  <a:lnTo>
                    <a:pt x="3326673" y="165898"/>
                  </a:lnTo>
                  <a:lnTo>
                    <a:pt x="3344796" y="209650"/>
                  </a:lnTo>
                  <a:lnTo>
                    <a:pt x="3355917" y="255825"/>
                  </a:lnTo>
                  <a:lnTo>
                    <a:pt x="3359699" y="303606"/>
                  </a:lnTo>
                  <a:lnTo>
                    <a:pt x="3359699" y="1517993"/>
                  </a:lnTo>
                  <a:lnTo>
                    <a:pt x="3355726" y="1567240"/>
                  </a:lnTo>
                  <a:lnTo>
                    <a:pt x="3344221" y="1613956"/>
                  </a:lnTo>
                  <a:lnTo>
                    <a:pt x="3325812" y="1657518"/>
                  </a:lnTo>
                  <a:lnTo>
                    <a:pt x="3301121" y="1697299"/>
                  </a:lnTo>
                  <a:lnTo>
                    <a:pt x="3270775" y="1732675"/>
                  </a:lnTo>
                  <a:lnTo>
                    <a:pt x="3235399" y="1763021"/>
                  </a:lnTo>
                  <a:lnTo>
                    <a:pt x="3195618" y="1787712"/>
                  </a:lnTo>
                  <a:lnTo>
                    <a:pt x="3152056" y="1806121"/>
                  </a:lnTo>
                  <a:lnTo>
                    <a:pt x="3105340" y="1817626"/>
                  </a:lnTo>
                  <a:lnTo>
                    <a:pt x="3056093" y="182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0724" y="3082925"/>
              <a:ext cx="3359785" cy="1821814"/>
            </a:xfrm>
            <a:custGeom>
              <a:avLst/>
              <a:gdLst/>
              <a:ahLst/>
              <a:cxnLst/>
              <a:rect l="l" t="t" r="r" b="b"/>
              <a:pathLst>
                <a:path w="3359785" h="1821814">
                  <a:moveTo>
                    <a:pt x="0" y="303606"/>
                  </a:moveTo>
                  <a:lnTo>
                    <a:pt x="3973" y="254359"/>
                  </a:lnTo>
                  <a:lnTo>
                    <a:pt x="15478" y="207643"/>
                  </a:lnTo>
                  <a:lnTo>
                    <a:pt x="33887" y="164081"/>
                  </a:lnTo>
                  <a:lnTo>
                    <a:pt x="58578" y="124300"/>
                  </a:lnTo>
                  <a:lnTo>
                    <a:pt x="88924" y="88924"/>
                  </a:lnTo>
                  <a:lnTo>
                    <a:pt x="124300" y="58578"/>
                  </a:lnTo>
                  <a:lnTo>
                    <a:pt x="164081" y="33887"/>
                  </a:lnTo>
                  <a:lnTo>
                    <a:pt x="207643" y="15478"/>
                  </a:lnTo>
                  <a:lnTo>
                    <a:pt x="254359" y="3973"/>
                  </a:lnTo>
                  <a:lnTo>
                    <a:pt x="303606" y="0"/>
                  </a:lnTo>
                  <a:lnTo>
                    <a:pt x="3056093" y="0"/>
                  </a:lnTo>
                  <a:lnTo>
                    <a:pt x="3103874" y="3782"/>
                  </a:lnTo>
                  <a:lnTo>
                    <a:pt x="3150049" y="14903"/>
                  </a:lnTo>
                  <a:lnTo>
                    <a:pt x="3193801" y="33026"/>
                  </a:lnTo>
                  <a:lnTo>
                    <a:pt x="3234315" y="57812"/>
                  </a:lnTo>
                  <a:lnTo>
                    <a:pt x="3270775" y="88924"/>
                  </a:lnTo>
                  <a:lnTo>
                    <a:pt x="3301887" y="125384"/>
                  </a:lnTo>
                  <a:lnTo>
                    <a:pt x="3326673" y="165898"/>
                  </a:lnTo>
                  <a:lnTo>
                    <a:pt x="3344796" y="209650"/>
                  </a:lnTo>
                  <a:lnTo>
                    <a:pt x="3355917" y="255825"/>
                  </a:lnTo>
                  <a:lnTo>
                    <a:pt x="3359699" y="303606"/>
                  </a:lnTo>
                  <a:lnTo>
                    <a:pt x="3359699" y="1517993"/>
                  </a:lnTo>
                  <a:lnTo>
                    <a:pt x="3355726" y="1567240"/>
                  </a:lnTo>
                  <a:lnTo>
                    <a:pt x="3344221" y="1613956"/>
                  </a:lnTo>
                  <a:lnTo>
                    <a:pt x="3325812" y="1657518"/>
                  </a:lnTo>
                  <a:lnTo>
                    <a:pt x="3301121" y="1697299"/>
                  </a:lnTo>
                  <a:lnTo>
                    <a:pt x="3270775" y="1732675"/>
                  </a:lnTo>
                  <a:lnTo>
                    <a:pt x="3235399" y="1763021"/>
                  </a:lnTo>
                  <a:lnTo>
                    <a:pt x="3195618" y="1787712"/>
                  </a:lnTo>
                  <a:lnTo>
                    <a:pt x="3152056" y="1806121"/>
                  </a:lnTo>
                  <a:lnTo>
                    <a:pt x="3105340" y="1817626"/>
                  </a:lnTo>
                  <a:lnTo>
                    <a:pt x="3056093" y="1821599"/>
                  </a:lnTo>
                  <a:lnTo>
                    <a:pt x="303606" y="1821599"/>
                  </a:lnTo>
                  <a:lnTo>
                    <a:pt x="254359" y="1817626"/>
                  </a:lnTo>
                  <a:lnTo>
                    <a:pt x="207643" y="1806121"/>
                  </a:lnTo>
                  <a:lnTo>
                    <a:pt x="164081" y="1787712"/>
                  </a:lnTo>
                  <a:lnTo>
                    <a:pt x="124300" y="1763021"/>
                  </a:lnTo>
                  <a:lnTo>
                    <a:pt x="88924" y="1732675"/>
                  </a:lnTo>
                  <a:lnTo>
                    <a:pt x="58578" y="1697299"/>
                  </a:lnTo>
                  <a:lnTo>
                    <a:pt x="33887" y="1657518"/>
                  </a:lnTo>
                  <a:lnTo>
                    <a:pt x="15478" y="1613956"/>
                  </a:lnTo>
                  <a:lnTo>
                    <a:pt x="3973" y="1567240"/>
                  </a:lnTo>
                  <a:lnTo>
                    <a:pt x="0" y="1517993"/>
                  </a:lnTo>
                  <a:lnTo>
                    <a:pt x="0" y="303606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52673" y="1039716"/>
            <a:ext cx="2969260" cy="3694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CSQA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(Talmor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al.,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2019)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8415" marR="661035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What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home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entertainment </a:t>
            </a:r>
            <a:r>
              <a:rPr sz="1400" dirty="0">
                <a:latin typeface="Arial"/>
                <a:cs typeface="Arial"/>
              </a:rPr>
              <a:t>equipment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requires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cable?</a:t>
            </a:r>
            <a:endParaRPr sz="1400">
              <a:latin typeface="Arial"/>
              <a:cs typeface="Arial"/>
            </a:endParaRPr>
          </a:p>
          <a:p>
            <a:pPr marL="18415" marR="117475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Choices: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(a)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radio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shack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(b) </a:t>
            </a:r>
            <a:r>
              <a:rPr sz="1400" dirty="0">
                <a:latin typeface="Arial"/>
                <a:cs typeface="Arial"/>
              </a:rPr>
              <a:t>substation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(c)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television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(d)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cabinet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(c).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Arial"/>
              <a:cs typeface="Arial"/>
            </a:endParaRPr>
          </a:p>
          <a:p>
            <a:pPr marL="66675" algn="ctr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Sport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Understanding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3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following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sentence </a:t>
            </a:r>
            <a:r>
              <a:rPr sz="1400" dirty="0">
                <a:latin typeface="Arial"/>
                <a:cs typeface="Arial"/>
              </a:rPr>
              <a:t>plausible?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“Jamel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Murray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perfect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line.”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yes.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9387" y="777937"/>
            <a:ext cx="8359140" cy="3379470"/>
            <a:chOff x="449387" y="777937"/>
            <a:chExt cx="8359140" cy="3379470"/>
          </a:xfrm>
        </p:grpSpPr>
        <p:sp>
          <p:nvSpPr>
            <p:cNvPr id="3" name="object 3"/>
            <p:cNvSpPr/>
            <p:nvPr/>
          </p:nvSpPr>
          <p:spPr>
            <a:xfrm>
              <a:off x="454149" y="782699"/>
              <a:ext cx="8349615" cy="3369945"/>
            </a:xfrm>
            <a:custGeom>
              <a:avLst/>
              <a:gdLst/>
              <a:ahLst/>
              <a:cxnLst/>
              <a:rect l="l" t="t" r="r" b="b"/>
              <a:pathLst>
                <a:path w="8349615" h="3369945">
                  <a:moveTo>
                    <a:pt x="7787338" y="3369899"/>
                  </a:moveTo>
                  <a:lnTo>
                    <a:pt x="561661" y="3369899"/>
                  </a:lnTo>
                  <a:lnTo>
                    <a:pt x="513198" y="3367838"/>
                  </a:lnTo>
                  <a:lnTo>
                    <a:pt x="465881" y="3361765"/>
                  </a:lnTo>
                  <a:lnTo>
                    <a:pt x="419877" y="3351851"/>
                  </a:lnTo>
                  <a:lnTo>
                    <a:pt x="375355" y="3338262"/>
                  </a:lnTo>
                  <a:lnTo>
                    <a:pt x="332483" y="3321169"/>
                  </a:lnTo>
                  <a:lnTo>
                    <a:pt x="291430" y="3300739"/>
                  </a:lnTo>
                  <a:lnTo>
                    <a:pt x="252366" y="3277141"/>
                  </a:lnTo>
                  <a:lnTo>
                    <a:pt x="215457" y="3250543"/>
                  </a:lnTo>
                  <a:lnTo>
                    <a:pt x="180874" y="3221115"/>
                  </a:lnTo>
                  <a:lnTo>
                    <a:pt x="148783" y="3189025"/>
                  </a:lnTo>
                  <a:lnTo>
                    <a:pt x="119356" y="3154442"/>
                  </a:lnTo>
                  <a:lnTo>
                    <a:pt x="92758" y="3117533"/>
                  </a:lnTo>
                  <a:lnTo>
                    <a:pt x="69160" y="3078469"/>
                  </a:lnTo>
                  <a:lnTo>
                    <a:pt x="48730" y="3037416"/>
                  </a:lnTo>
                  <a:lnTo>
                    <a:pt x="31637" y="2994544"/>
                  </a:lnTo>
                  <a:lnTo>
                    <a:pt x="18048" y="2950022"/>
                  </a:lnTo>
                  <a:lnTo>
                    <a:pt x="8134" y="2904018"/>
                  </a:lnTo>
                  <a:lnTo>
                    <a:pt x="2061" y="2856700"/>
                  </a:lnTo>
                  <a:lnTo>
                    <a:pt x="0" y="2808238"/>
                  </a:lnTo>
                  <a:lnTo>
                    <a:pt x="0" y="561661"/>
                  </a:lnTo>
                  <a:lnTo>
                    <a:pt x="2061" y="513198"/>
                  </a:lnTo>
                  <a:lnTo>
                    <a:pt x="8134" y="465881"/>
                  </a:lnTo>
                  <a:lnTo>
                    <a:pt x="18048" y="419877"/>
                  </a:lnTo>
                  <a:lnTo>
                    <a:pt x="31637" y="375355"/>
                  </a:lnTo>
                  <a:lnTo>
                    <a:pt x="48730" y="332483"/>
                  </a:lnTo>
                  <a:lnTo>
                    <a:pt x="69160" y="291430"/>
                  </a:lnTo>
                  <a:lnTo>
                    <a:pt x="92758" y="252366"/>
                  </a:lnTo>
                  <a:lnTo>
                    <a:pt x="119356" y="215457"/>
                  </a:lnTo>
                  <a:lnTo>
                    <a:pt x="148783" y="180873"/>
                  </a:lnTo>
                  <a:lnTo>
                    <a:pt x="180874" y="148783"/>
                  </a:lnTo>
                  <a:lnTo>
                    <a:pt x="215457" y="119356"/>
                  </a:lnTo>
                  <a:lnTo>
                    <a:pt x="252366" y="92758"/>
                  </a:lnTo>
                  <a:lnTo>
                    <a:pt x="291430" y="69160"/>
                  </a:lnTo>
                  <a:lnTo>
                    <a:pt x="332483" y="48730"/>
                  </a:lnTo>
                  <a:lnTo>
                    <a:pt x="375355" y="31637"/>
                  </a:lnTo>
                  <a:lnTo>
                    <a:pt x="419877" y="18048"/>
                  </a:lnTo>
                  <a:lnTo>
                    <a:pt x="465881" y="8134"/>
                  </a:lnTo>
                  <a:lnTo>
                    <a:pt x="513198" y="2061"/>
                  </a:lnTo>
                  <a:lnTo>
                    <a:pt x="561661" y="0"/>
                  </a:lnTo>
                  <a:lnTo>
                    <a:pt x="7787338" y="0"/>
                  </a:lnTo>
                  <a:lnTo>
                    <a:pt x="7836723" y="2173"/>
                  </a:lnTo>
                  <a:lnTo>
                    <a:pt x="7885397" y="8623"/>
                  </a:lnTo>
                  <a:lnTo>
                    <a:pt x="7933102" y="19242"/>
                  </a:lnTo>
                  <a:lnTo>
                    <a:pt x="7979579" y="33923"/>
                  </a:lnTo>
                  <a:lnTo>
                    <a:pt x="8024570" y="52559"/>
                  </a:lnTo>
                  <a:lnTo>
                    <a:pt x="8067815" y="75042"/>
                  </a:lnTo>
                  <a:lnTo>
                    <a:pt x="8109056" y="101266"/>
                  </a:lnTo>
                  <a:lnTo>
                    <a:pt x="8148035" y="131123"/>
                  </a:lnTo>
                  <a:lnTo>
                    <a:pt x="8184492" y="164506"/>
                  </a:lnTo>
                  <a:lnTo>
                    <a:pt x="8217876" y="200964"/>
                  </a:lnTo>
                  <a:lnTo>
                    <a:pt x="8247733" y="239942"/>
                  </a:lnTo>
                  <a:lnTo>
                    <a:pt x="8273957" y="281184"/>
                  </a:lnTo>
                  <a:lnTo>
                    <a:pt x="8296440" y="324429"/>
                  </a:lnTo>
                  <a:lnTo>
                    <a:pt x="8315076" y="369420"/>
                  </a:lnTo>
                  <a:lnTo>
                    <a:pt x="8329757" y="415897"/>
                  </a:lnTo>
                  <a:lnTo>
                    <a:pt x="8340376" y="463602"/>
                  </a:lnTo>
                  <a:lnTo>
                    <a:pt x="8346826" y="512276"/>
                  </a:lnTo>
                  <a:lnTo>
                    <a:pt x="8348999" y="561661"/>
                  </a:lnTo>
                  <a:lnTo>
                    <a:pt x="8348999" y="2808238"/>
                  </a:lnTo>
                  <a:lnTo>
                    <a:pt x="8346938" y="2856700"/>
                  </a:lnTo>
                  <a:lnTo>
                    <a:pt x="8340865" y="2904018"/>
                  </a:lnTo>
                  <a:lnTo>
                    <a:pt x="8330951" y="2950022"/>
                  </a:lnTo>
                  <a:lnTo>
                    <a:pt x="8317362" y="2994544"/>
                  </a:lnTo>
                  <a:lnTo>
                    <a:pt x="8300269" y="3037416"/>
                  </a:lnTo>
                  <a:lnTo>
                    <a:pt x="8279839" y="3078469"/>
                  </a:lnTo>
                  <a:lnTo>
                    <a:pt x="8256241" y="3117533"/>
                  </a:lnTo>
                  <a:lnTo>
                    <a:pt x="8229643" y="3154442"/>
                  </a:lnTo>
                  <a:lnTo>
                    <a:pt x="8200216" y="3189025"/>
                  </a:lnTo>
                  <a:lnTo>
                    <a:pt x="8168126" y="3221115"/>
                  </a:lnTo>
                  <a:lnTo>
                    <a:pt x="8133542" y="3250543"/>
                  </a:lnTo>
                  <a:lnTo>
                    <a:pt x="8096634" y="3277141"/>
                  </a:lnTo>
                  <a:lnTo>
                    <a:pt x="8057569" y="3300739"/>
                  </a:lnTo>
                  <a:lnTo>
                    <a:pt x="8016516" y="3321169"/>
                  </a:lnTo>
                  <a:lnTo>
                    <a:pt x="7973645" y="3338262"/>
                  </a:lnTo>
                  <a:lnTo>
                    <a:pt x="7929122" y="3351851"/>
                  </a:lnTo>
                  <a:lnTo>
                    <a:pt x="7883118" y="3361765"/>
                  </a:lnTo>
                  <a:lnTo>
                    <a:pt x="7835801" y="3367838"/>
                  </a:lnTo>
                  <a:lnTo>
                    <a:pt x="7787338" y="3369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4149" y="782699"/>
              <a:ext cx="8349615" cy="3369945"/>
            </a:xfrm>
            <a:custGeom>
              <a:avLst/>
              <a:gdLst/>
              <a:ahLst/>
              <a:cxnLst/>
              <a:rect l="l" t="t" r="r" b="b"/>
              <a:pathLst>
                <a:path w="8349615" h="3369945">
                  <a:moveTo>
                    <a:pt x="0" y="561661"/>
                  </a:moveTo>
                  <a:lnTo>
                    <a:pt x="2061" y="513198"/>
                  </a:lnTo>
                  <a:lnTo>
                    <a:pt x="8134" y="465881"/>
                  </a:lnTo>
                  <a:lnTo>
                    <a:pt x="18048" y="419877"/>
                  </a:lnTo>
                  <a:lnTo>
                    <a:pt x="31637" y="375355"/>
                  </a:lnTo>
                  <a:lnTo>
                    <a:pt x="48730" y="332483"/>
                  </a:lnTo>
                  <a:lnTo>
                    <a:pt x="69160" y="291430"/>
                  </a:lnTo>
                  <a:lnTo>
                    <a:pt x="92758" y="252366"/>
                  </a:lnTo>
                  <a:lnTo>
                    <a:pt x="119356" y="215457"/>
                  </a:lnTo>
                  <a:lnTo>
                    <a:pt x="148783" y="180873"/>
                  </a:lnTo>
                  <a:lnTo>
                    <a:pt x="180874" y="148783"/>
                  </a:lnTo>
                  <a:lnTo>
                    <a:pt x="215457" y="119356"/>
                  </a:lnTo>
                  <a:lnTo>
                    <a:pt x="252366" y="92758"/>
                  </a:lnTo>
                  <a:lnTo>
                    <a:pt x="291430" y="69160"/>
                  </a:lnTo>
                  <a:lnTo>
                    <a:pt x="332483" y="48730"/>
                  </a:lnTo>
                  <a:lnTo>
                    <a:pt x="375355" y="31637"/>
                  </a:lnTo>
                  <a:lnTo>
                    <a:pt x="419877" y="18048"/>
                  </a:lnTo>
                  <a:lnTo>
                    <a:pt x="465881" y="8134"/>
                  </a:lnTo>
                  <a:lnTo>
                    <a:pt x="513198" y="2061"/>
                  </a:lnTo>
                  <a:lnTo>
                    <a:pt x="561661" y="0"/>
                  </a:lnTo>
                  <a:lnTo>
                    <a:pt x="7787338" y="0"/>
                  </a:lnTo>
                  <a:lnTo>
                    <a:pt x="7836723" y="2173"/>
                  </a:lnTo>
                  <a:lnTo>
                    <a:pt x="7885398" y="8623"/>
                  </a:lnTo>
                  <a:lnTo>
                    <a:pt x="7933102" y="19242"/>
                  </a:lnTo>
                  <a:lnTo>
                    <a:pt x="7979579" y="33923"/>
                  </a:lnTo>
                  <a:lnTo>
                    <a:pt x="8024570" y="52559"/>
                  </a:lnTo>
                  <a:lnTo>
                    <a:pt x="8067815" y="75042"/>
                  </a:lnTo>
                  <a:lnTo>
                    <a:pt x="8109056" y="101266"/>
                  </a:lnTo>
                  <a:lnTo>
                    <a:pt x="8148035" y="131123"/>
                  </a:lnTo>
                  <a:lnTo>
                    <a:pt x="8184492" y="164506"/>
                  </a:lnTo>
                  <a:lnTo>
                    <a:pt x="8217876" y="200964"/>
                  </a:lnTo>
                  <a:lnTo>
                    <a:pt x="8247733" y="239942"/>
                  </a:lnTo>
                  <a:lnTo>
                    <a:pt x="8273957" y="281184"/>
                  </a:lnTo>
                  <a:lnTo>
                    <a:pt x="8296440" y="324429"/>
                  </a:lnTo>
                  <a:lnTo>
                    <a:pt x="8315076" y="369420"/>
                  </a:lnTo>
                  <a:lnTo>
                    <a:pt x="8329757" y="415897"/>
                  </a:lnTo>
                  <a:lnTo>
                    <a:pt x="8340376" y="463602"/>
                  </a:lnTo>
                  <a:lnTo>
                    <a:pt x="8346826" y="512276"/>
                  </a:lnTo>
                  <a:lnTo>
                    <a:pt x="8348999" y="561661"/>
                  </a:lnTo>
                  <a:lnTo>
                    <a:pt x="8348999" y="2808238"/>
                  </a:lnTo>
                  <a:lnTo>
                    <a:pt x="8346938" y="2856700"/>
                  </a:lnTo>
                  <a:lnTo>
                    <a:pt x="8340865" y="2904018"/>
                  </a:lnTo>
                  <a:lnTo>
                    <a:pt x="8330951" y="2950022"/>
                  </a:lnTo>
                  <a:lnTo>
                    <a:pt x="8317362" y="2994544"/>
                  </a:lnTo>
                  <a:lnTo>
                    <a:pt x="8300269" y="3037416"/>
                  </a:lnTo>
                  <a:lnTo>
                    <a:pt x="8279839" y="3078469"/>
                  </a:lnTo>
                  <a:lnTo>
                    <a:pt x="8256241" y="3117533"/>
                  </a:lnTo>
                  <a:lnTo>
                    <a:pt x="8229644" y="3154442"/>
                  </a:lnTo>
                  <a:lnTo>
                    <a:pt x="8200216" y="3189025"/>
                  </a:lnTo>
                  <a:lnTo>
                    <a:pt x="8168126" y="3221115"/>
                  </a:lnTo>
                  <a:lnTo>
                    <a:pt x="8133542" y="3250543"/>
                  </a:lnTo>
                  <a:lnTo>
                    <a:pt x="8096634" y="3277141"/>
                  </a:lnTo>
                  <a:lnTo>
                    <a:pt x="8057569" y="3300739"/>
                  </a:lnTo>
                  <a:lnTo>
                    <a:pt x="8016516" y="3321169"/>
                  </a:lnTo>
                  <a:lnTo>
                    <a:pt x="7973645" y="3338262"/>
                  </a:lnTo>
                  <a:lnTo>
                    <a:pt x="7929122" y="3351851"/>
                  </a:lnTo>
                  <a:lnTo>
                    <a:pt x="7883118" y="3361765"/>
                  </a:lnTo>
                  <a:lnTo>
                    <a:pt x="7835801" y="3367838"/>
                  </a:lnTo>
                  <a:lnTo>
                    <a:pt x="7787338" y="3369899"/>
                  </a:lnTo>
                  <a:lnTo>
                    <a:pt x="561661" y="3369899"/>
                  </a:lnTo>
                  <a:lnTo>
                    <a:pt x="513198" y="3367838"/>
                  </a:lnTo>
                  <a:lnTo>
                    <a:pt x="465881" y="3361765"/>
                  </a:lnTo>
                  <a:lnTo>
                    <a:pt x="419877" y="3351851"/>
                  </a:lnTo>
                  <a:lnTo>
                    <a:pt x="375355" y="3338262"/>
                  </a:lnTo>
                  <a:lnTo>
                    <a:pt x="332483" y="3321169"/>
                  </a:lnTo>
                  <a:lnTo>
                    <a:pt x="291430" y="3300739"/>
                  </a:lnTo>
                  <a:lnTo>
                    <a:pt x="252366" y="3277141"/>
                  </a:lnTo>
                  <a:lnTo>
                    <a:pt x="215457" y="3250543"/>
                  </a:lnTo>
                  <a:lnTo>
                    <a:pt x="180874" y="3221115"/>
                  </a:lnTo>
                  <a:lnTo>
                    <a:pt x="148783" y="3189025"/>
                  </a:lnTo>
                  <a:lnTo>
                    <a:pt x="119356" y="3154442"/>
                  </a:lnTo>
                  <a:lnTo>
                    <a:pt x="92758" y="3117533"/>
                  </a:lnTo>
                  <a:lnTo>
                    <a:pt x="69160" y="3078469"/>
                  </a:lnTo>
                  <a:lnTo>
                    <a:pt x="48730" y="3037416"/>
                  </a:lnTo>
                  <a:lnTo>
                    <a:pt x="31637" y="2994544"/>
                  </a:lnTo>
                  <a:lnTo>
                    <a:pt x="18048" y="2950022"/>
                  </a:lnTo>
                  <a:lnTo>
                    <a:pt x="8134" y="2904018"/>
                  </a:lnTo>
                  <a:lnTo>
                    <a:pt x="2061" y="2856700"/>
                  </a:lnTo>
                  <a:lnTo>
                    <a:pt x="0" y="2808238"/>
                  </a:lnTo>
                  <a:lnTo>
                    <a:pt x="0" y="561661"/>
                  </a:lnTo>
                  <a:close/>
                </a:path>
              </a:pathLst>
            </a:custGeom>
            <a:ln w="9524">
              <a:solidFill>
                <a:srgbClr val="2222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91679" y="1013118"/>
            <a:ext cx="7841615" cy="296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SayCan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Robot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Planning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i="1" dirty="0">
                <a:latin typeface="Arial"/>
                <a:cs typeface="Arial"/>
              </a:rPr>
              <a:t>Locations</a:t>
            </a:r>
            <a:r>
              <a:rPr sz="1400" i="1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[counter,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table,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user,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trash,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bowl].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i="1" dirty="0">
                <a:latin typeface="Arial"/>
                <a:cs typeface="Arial"/>
              </a:rPr>
              <a:t>Objects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[7up,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apple,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kettle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chips,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tea,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multigrain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chips,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coke,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lime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soda,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jalapeno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chips,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rice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chips, </a:t>
            </a:r>
            <a:r>
              <a:rPr sz="1400" dirty="0">
                <a:latin typeface="Arial"/>
                <a:cs typeface="Arial"/>
              </a:rPr>
              <a:t>orange,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grapefruit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soda,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pepsi,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redbull,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energy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bar,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sponge,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water].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13843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robot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pick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up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items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pick(object)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put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down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items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put(object)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well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find </a:t>
            </a:r>
            <a:r>
              <a:rPr sz="1400" dirty="0">
                <a:latin typeface="Arial"/>
                <a:cs typeface="Arial"/>
              </a:rPr>
              <a:t>objects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locations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find()</a:t>
            </a:r>
            <a:r>
              <a:rPr sz="1400" dirty="0">
                <a:latin typeface="Arial"/>
                <a:cs typeface="Arial"/>
              </a:rPr>
              <a:t>.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robot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only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understand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explicit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locations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objects listed.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C78D8"/>
                </a:solidFill>
                <a:latin typeface="Arial"/>
                <a:cs typeface="Arial"/>
              </a:rPr>
              <a:t>Human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would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throw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away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redbull?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Plan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0000"/>
                </a:solidFill>
                <a:latin typeface="Arial"/>
                <a:cs typeface="Arial"/>
              </a:rPr>
              <a:t>1.</a:t>
            </a:r>
            <a:r>
              <a:rPr sz="1400" b="1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0000"/>
                </a:solidFill>
                <a:latin typeface="Arial"/>
                <a:cs typeface="Arial"/>
              </a:rPr>
              <a:t>find(redbull),</a:t>
            </a:r>
            <a:r>
              <a:rPr sz="1400" b="1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0000"/>
                </a:solidFill>
                <a:latin typeface="Arial"/>
                <a:cs typeface="Arial"/>
              </a:rPr>
              <a:t>2.</a:t>
            </a:r>
            <a:r>
              <a:rPr sz="1400" b="1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0000"/>
                </a:solidFill>
                <a:latin typeface="Arial"/>
                <a:cs typeface="Arial"/>
              </a:rPr>
              <a:t>pick(redbull),</a:t>
            </a:r>
            <a:r>
              <a:rPr sz="1400" b="1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0000"/>
                </a:solidFill>
                <a:latin typeface="Arial"/>
                <a:cs typeface="Arial"/>
              </a:rPr>
              <a:t>3.</a:t>
            </a:r>
            <a:r>
              <a:rPr sz="1400" b="1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0000"/>
                </a:solidFill>
                <a:latin typeface="Arial"/>
                <a:cs typeface="Arial"/>
              </a:rPr>
              <a:t>find(trash),</a:t>
            </a:r>
            <a:r>
              <a:rPr sz="1400" b="1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0000"/>
                </a:solidFill>
                <a:latin typeface="Arial"/>
                <a:cs typeface="Arial"/>
              </a:rPr>
              <a:t>4.</a:t>
            </a:r>
            <a:r>
              <a:rPr sz="1400" b="1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0000"/>
                </a:solidFill>
                <a:latin typeface="Arial"/>
                <a:cs typeface="Arial"/>
              </a:rPr>
              <a:t>put(redbull),</a:t>
            </a:r>
            <a:r>
              <a:rPr sz="1400" b="1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0000"/>
                </a:solidFill>
                <a:latin typeface="Arial"/>
                <a:cs typeface="Arial"/>
              </a:rPr>
              <a:t>5.</a:t>
            </a:r>
            <a:r>
              <a:rPr sz="1400" b="1" spc="-2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990000"/>
                </a:solidFill>
                <a:latin typeface="Arial"/>
                <a:cs typeface="Arial"/>
              </a:rPr>
              <a:t>done().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70" dirty="0"/>
              <a:t> </a:t>
            </a:r>
            <a:r>
              <a:rPr dirty="0"/>
              <a:t>Reasoning</a:t>
            </a:r>
            <a:r>
              <a:rPr spc="-50" dirty="0"/>
              <a:t> </a:t>
            </a:r>
            <a:r>
              <a:rPr dirty="0"/>
              <a:t>-</a:t>
            </a:r>
            <a:r>
              <a:rPr spc="-105" dirty="0"/>
              <a:t> </a:t>
            </a:r>
            <a:r>
              <a:rPr spc="-20" dirty="0"/>
              <a:t>Toy</a:t>
            </a:r>
            <a:r>
              <a:rPr spc="-50" dirty="0"/>
              <a:t> </a:t>
            </a:r>
            <a:r>
              <a:rPr spc="-10" dirty="0"/>
              <a:t>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62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9387" y="777937"/>
            <a:ext cx="8359140" cy="3379470"/>
            <a:chOff x="449387" y="777937"/>
            <a:chExt cx="8359140" cy="3379470"/>
          </a:xfrm>
        </p:grpSpPr>
        <p:sp>
          <p:nvSpPr>
            <p:cNvPr id="4" name="object 4"/>
            <p:cNvSpPr/>
            <p:nvPr/>
          </p:nvSpPr>
          <p:spPr>
            <a:xfrm>
              <a:off x="454149" y="782699"/>
              <a:ext cx="8349615" cy="3369945"/>
            </a:xfrm>
            <a:custGeom>
              <a:avLst/>
              <a:gdLst/>
              <a:ahLst/>
              <a:cxnLst/>
              <a:rect l="l" t="t" r="r" b="b"/>
              <a:pathLst>
                <a:path w="8349615" h="3369945">
                  <a:moveTo>
                    <a:pt x="7787338" y="3369899"/>
                  </a:moveTo>
                  <a:lnTo>
                    <a:pt x="561661" y="3369899"/>
                  </a:lnTo>
                  <a:lnTo>
                    <a:pt x="513198" y="3367838"/>
                  </a:lnTo>
                  <a:lnTo>
                    <a:pt x="465881" y="3361765"/>
                  </a:lnTo>
                  <a:lnTo>
                    <a:pt x="419877" y="3351851"/>
                  </a:lnTo>
                  <a:lnTo>
                    <a:pt x="375355" y="3338262"/>
                  </a:lnTo>
                  <a:lnTo>
                    <a:pt x="332483" y="3321169"/>
                  </a:lnTo>
                  <a:lnTo>
                    <a:pt x="291430" y="3300739"/>
                  </a:lnTo>
                  <a:lnTo>
                    <a:pt x="252366" y="3277141"/>
                  </a:lnTo>
                  <a:lnTo>
                    <a:pt x="215457" y="3250543"/>
                  </a:lnTo>
                  <a:lnTo>
                    <a:pt x="180874" y="3221115"/>
                  </a:lnTo>
                  <a:lnTo>
                    <a:pt x="148783" y="3189025"/>
                  </a:lnTo>
                  <a:lnTo>
                    <a:pt x="119356" y="3154442"/>
                  </a:lnTo>
                  <a:lnTo>
                    <a:pt x="92758" y="3117533"/>
                  </a:lnTo>
                  <a:lnTo>
                    <a:pt x="69160" y="3078469"/>
                  </a:lnTo>
                  <a:lnTo>
                    <a:pt x="48730" y="3037416"/>
                  </a:lnTo>
                  <a:lnTo>
                    <a:pt x="31637" y="2994544"/>
                  </a:lnTo>
                  <a:lnTo>
                    <a:pt x="18048" y="2950022"/>
                  </a:lnTo>
                  <a:lnTo>
                    <a:pt x="8134" y="2904018"/>
                  </a:lnTo>
                  <a:lnTo>
                    <a:pt x="2061" y="2856700"/>
                  </a:lnTo>
                  <a:lnTo>
                    <a:pt x="0" y="2808238"/>
                  </a:lnTo>
                  <a:lnTo>
                    <a:pt x="0" y="561661"/>
                  </a:lnTo>
                  <a:lnTo>
                    <a:pt x="2061" y="513198"/>
                  </a:lnTo>
                  <a:lnTo>
                    <a:pt x="8134" y="465881"/>
                  </a:lnTo>
                  <a:lnTo>
                    <a:pt x="18048" y="419877"/>
                  </a:lnTo>
                  <a:lnTo>
                    <a:pt x="31637" y="375355"/>
                  </a:lnTo>
                  <a:lnTo>
                    <a:pt x="48730" y="332483"/>
                  </a:lnTo>
                  <a:lnTo>
                    <a:pt x="69160" y="291430"/>
                  </a:lnTo>
                  <a:lnTo>
                    <a:pt x="92758" y="252366"/>
                  </a:lnTo>
                  <a:lnTo>
                    <a:pt x="119356" y="215457"/>
                  </a:lnTo>
                  <a:lnTo>
                    <a:pt x="148783" y="180873"/>
                  </a:lnTo>
                  <a:lnTo>
                    <a:pt x="180874" y="148783"/>
                  </a:lnTo>
                  <a:lnTo>
                    <a:pt x="215457" y="119356"/>
                  </a:lnTo>
                  <a:lnTo>
                    <a:pt x="252366" y="92758"/>
                  </a:lnTo>
                  <a:lnTo>
                    <a:pt x="291430" y="69160"/>
                  </a:lnTo>
                  <a:lnTo>
                    <a:pt x="332483" y="48730"/>
                  </a:lnTo>
                  <a:lnTo>
                    <a:pt x="375355" y="31637"/>
                  </a:lnTo>
                  <a:lnTo>
                    <a:pt x="419877" y="18048"/>
                  </a:lnTo>
                  <a:lnTo>
                    <a:pt x="465881" y="8134"/>
                  </a:lnTo>
                  <a:lnTo>
                    <a:pt x="513198" y="2061"/>
                  </a:lnTo>
                  <a:lnTo>
                    <a:pt x="561661" y="0"/>
                  </a:lnTo>
                  <a:lnTo>
                    <a:pt x="7787338" y="0"/>
                  </a:lnTo>
                  <a:lnTo>
                    <a:pt x="7836723" y="2173"/>
                  </a:lnTo>
                  <a:lnTo>
                    <a:pt x="7885397" y="8623"/>
                  </a:lnTo>
                  <a:lnTo>
                    <a:pt x="7933102" y="19242"/>
                  </a:lnTo>
                  <a:lnTo>
                    <a:pt x="7979579" y="33923"/>
                  </a:lnTo>
                  <a:lnTo>
                    <a:pt x="8024570" y="52559"/>
                  </a:lnTo>
                  <a:lnTo>
                    <a:pt x="8067815" y="75042"/>
                  </a:lnTo>
                  <a:lnTo>
                    <a:pt x="8109056" y="101266"/>
                  </a:lnTo>
                  <a:lnTo>
                    <a:pt x="8148035" y="131123"/>
                  </a:lnTo>
                  <a:lnTo>
                    <a:pt x="8184492" y="164506"/>
                  </a:lnTo>
                  <a:lnTo>
                    <a:pt x="8217876" y="200964"/>
                  </a:lnTo>
                  <a:lnTo>
                    <a:pt x="8247733" y="239942"/>
                  </a:lnTo>
                  <a:lnTo>
                    <a:pt x="8273957" y="281184"/>
                  </a:lnTo>
                  <a:lnTo>
                    <a:pt x="8296440" y="324429"/>
                  </a:lnTo>
                  <a:lnTo>
                    <a:pt x="8315076" y="369420"/>
                  </a:lnTo>
                  <a:lnTo>
                    <a:pt x="8329757" y="415897"/>
                  </a:lnTo>
                  <a:lnTo>
                    <a:pt x="8340376" y="463602"/>
                  </a:lnTo>
                  <a:lnTo>
                    <a:pt x="8346826" y="512276"/>
                  </a:lnTo>
                  <a:lnTo>
                    <a:pt x="8348999" y="561661"/>
                  </a:lnTo>
                  <a:lnTo>
                    <a:pt x="8348999" y="2808238"/>
                  </a:lnTo>
                  <a:lnTo>
                    <a:pt x="8346938" y="2856700"/>
                  </a:lnTo>
                  <a:lnTo>
                    <a:pt x="8340865" y="2904018"/>
                  </a:lnTo>
                  <a:lnTo>
                    <a:pt x="8330951" y="2950022"/>
                  </a:lnTo>
                  <a:lnTo>
                    <a:pt x="8317362" y="2994544"/>
                  </a:lnTo>
                  <a:lnTo>
                    <a:pt x="8300269" y="3037416"/>
                  </a:lnTo>
                  <a:lnTo>
                    <a:pt x="8279839" y="3078469"/>
                  </a:lnTo>
                  <a:lnTo>
                    <a:pt x="8256241" y="3117533"/>
                  </a:lnTo>
                  <a:lnTo>
                    <a:pt x="8229643" y="3154442"/>
                  </a:lnTo>
                  <a:lnTo>
                    <a:pt x="8200216" y="3189025"/>
                  </a:lnTo>
                  <a:lnTo>
                    <a:pt x="8168126" y="3221115"/>
                  </a:lnTo>
                  <a:lnTo>
                    <a:pt x="8133542" y="3250543"/>
                  </a:lnTo>
                  <a:lnTo>
                    <a:pt x="8096634" y="3277141"/>
                  </a:lnTo>
                  <a:lnTo>
                    <a:pt x="8057569" y="3300739"/>
                  </a:lnTo>
                  <a:lnTo>
                    <a:pt x="8016516" y="3321169"/>
                  </a:lnTo>
                  <a:lnTo>
                    <a:pt x="7973645" y="3338262"/>
                  </a:lnTo>
                  <a:lnTo>
                    <a:pt x="7929122" y="3351851"/>
                  </a:lnTo>
                  <a:lnTo>
                    <a:pt x="7883118" y="3361765"/>
                  </a:lnTo>
                  <a:lnTo>
                    <a:pt x="7835801" y="3367838"/>
                  </a:lnTo>
                  <a:lnTo>
                    <a:pt x="7787338" y="3369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4149" y="782699"/>
              <a:ext cx="8349615" cy="3369945"/>
            </a:xfrm>
            <a:custGeom>
              <a:avLst/>
              <a:gdLst/>
              <a:ahLst/>
              <a:cxnLst/>
              <a:rect l="l" t="t" r="r" b="b"/>
              <a:pathLst>
                <a:path w="8349615" h="3369945">
                  <a:moveTo>
                    <a:pt x="0" y="561661"/>
                  </a:moveTo>
                  <a:lnTo>
                    <a:pt x="2061" y="513198"/>
                  </a:lnTo>
                  <a:lnTo>
                    <a:pt x="8134" y="465881"/>
                  </a:lnTo>
                  <a:lnTo>
                    <a:pt x="18048" y="419877"/>
                  </a:lnTo>
                  <a:lnTo>
                    <a:pt x="31637" y="375355"/>
                  </a:lnTo>
                  <a:lnTo>
                    <a:pt x="48730" y="332483"/>
                  </a:lnTo>
                  <a:lnTo>
                    <a:pt x="69160" y="291430"/>
                  </a:lnTo>
                  <a:lnTo>
                    <a:pt x="92758" y="252366"/>
                  </a:lnTo>
                  <a:lnTo>
                    <a:pt x="119356" y="215457"/>
                  </a:lnTo>
                  <a:lnTo>
                    <a:pt x="148783" y="180873"/>
                  </a:lnTo>
                  <a:lnTo>
                    <a:pt x="180874" y="148783"/>
                  </a:lnTo>
                  <a:lnTo>
                    <a:pt x="215457" y="119356"/>
                  </a:lnTo>
                  <a:lnTo>
                    <a:pt x="252366" y="92758"/>
                  </a:lnTo>
                  <a:lnTo>
                    <a:pt x="291430" y="69160"/>
                  </a:lnTo>
                  <a:lnTo>
                    <a:pt x="332483" y="48730"/>
                  </a:lnTo>
                  <a:lnTo>
                    <a:pt x="375355" y="31637"/>
                  </a:lnTo>
                  <a:lnTo>
                    <a:pt x="419877" y="18048"/>
                  </a:lnTo>
                  <a:lnTo>
                    <a:pt x="465881" y="8134"/>
                  </a:lnTo>
                  <a:lnTo>
                    <a:pt x="513198" y="2061"/>
                  </a:lnTo>
                  <a:lnTo>
                    <a:pt x="561661" y="0"/>
                  </a:lnTo>
                  <a:lnTo>
                    <a:pt x="7787338" y="0"/>
                  </a:lnTo>
                  <a:lnTo>
                    <a:pt x="7836723" y="2173"/>
                  </a:lnTo>
                  <a:lnTo>
                    <a:pt x="7885398" y="8623"/>
                  </a:lnTo>
                  <a:lnTo>
                    <a:pt x="7933102" y="19242"/>
                  </a:lnTo>
                  <a:lnTo>
                    <a:pt x="7979579" y="33923"/>
                  </a:lnTo>
                  <a:lnTo>
                    <a:pt x="8024570" y="52559"/>
                  </a:lnTo>
                  <a:lnTo>
                    <a:pt x="8067815" y="75042"/>
                  </a:lnTo>
                  <a:lnTo>
                    <a:pt x="8109056" y="101266"/>
                  </a:lnTo>
                  <a:lnTo>
                    <a:pt x="8148035" y="131123"/>
                  </a:lnTo>
                  <a:lnTo>
                    <a:pt x="8184492" y="164506"/>
                  </a:lnTo>
                  <a:lnTo>
                    <a:pt x="8217876" y="200964"/>
                  </a:lnTo>
                  <a:lnTo>
                    <a:pt x="8247733" y="239942"/>
                  </a:lnTo>
                  <a:lnTo>
                    <a:pt x="8273957" y="281184"/>
                  </a:lnTo>
                  <a:lnTo>
                    <a:pt x="8296440" y="324429"/>
                  </a:lnTo>
                  <a:lnTo>
                    <a:pt x="8315076" y="369420"/>
                  </a:lnTo>
                  <a:lnTo>
                    <a:pt x="8329757" y="415897"/>
                  </a:lnTo>
                  <a:lnTo>
                    <a:pt x="8340376" y="463602"/>
                  </a:lnTo>
                  <a:lnTo>
                    <a:pt x="8346826" y="512276"/>
                  </a:lnTo>
                  <a:lnTo>
                    <a:pt x="8348999" y="561661"/>
                  </a:lnTo>
                  <a:lnTo>
                    <a:pt x="8348999" y="2808238"/>
                  </a:lnTo>
                  <a:lnTo>
                    <a:pt x="8346938" y="2856700"/>
                  </a:lnTo>
                  <a:lnTo>
                    <a:pt x="8340865" y="2904018"/>
                  </a:lnTo>
                  <a:lnTo>
                    <a:pt x="8330951" y="2950022"/>
                  </a:lnTo>
                  <a:lnTo>
                    <a:pt x="8317362" y="2994544"/>
                  </a:lnTo>
                  <a:lnTo>
                    <a:pt x="8300269" y="3037416"/>
                  </a:lnTo>
                  <a:lnTo>
                    <a:pt x="8279839" y="3078469"/>
                  </a:lnTo>
                  <a:lnTo>
                    <a:pt x="8256241" y="3117533"/>
                  </a:lnTo>
                  <a:lnTo>
                    <a:pt x="8229644" y="3154442"/>
                  </a:lnTo>
                  <a:lnTo>
                    <a:pt x="8200216" y="3189025"/>
                  </a:lnTo>
                  <a:lnTo>
                    <a:pt x="8168126" y="3221115"/>
                  </a:lnTo>
                  <a:lnTo>
                    <a:pt x="8133542" y="3250543"/>
                  </a:lnTo>
                  <a:lnTo>
                    <a:pt x="8096634" y="3277141"/>
                  </a:lnTo>
                  <a:lnTo>
                    <a:pt x="8057569" y="3300739"/>
                  </a:lnTo>
                  <a:lnTo>
                    <a:pt x="8016516" y="3321169"/>
                  </a:lnTo>
                  <a:lnTo>
                    <a:pt x="7973645" y="3338262"/>
                  </a:lnTo>
                  <a:lnTo>
                    <a:pt x="7929122" y="3351851"/>
                  </a:lnTo>
                  <a:lnTo>
                    <a:pt x="7883118" y="3361765"/>
                  </a:lnTo>
                  <a:lnTo>
                    <a:pt x="7835801" y="3367838"/>
                  </a:lnTo>
                  <a:lnTo>
                    <a:pt x="7787338" y="3369899"/>
                  </a:lnTo>
                  <a:lnTo>
                    <a:pt x="561661" y="3369899"/>
                  </a:lnTo>
                  <a:lnTo>
                    <a:pt x="513198" y="3367838"/>
                  </a:lnTo>
                  <a:lnTo>
                    <a:pt x="465881" y="3361765"/>
                  </a:lnTo>
                  <a:lnTo>
                    <a:pt x="419877" y="3351851"/>
                  </a:lnTo>
                  <a:lnTo>
                    <a:pt x="375355" y="3338262"/>
                  </a:lnTo>
                  <a:lnTo>
                    <a:pt x="332483" y="3321169"/>
                  </a:lnTo>
                  <a:lnTo>
                    <a:pt x="291430" y="3300739"/>
                  </a:lnTo>
                  <a:lnTo>
                    <a:pt x="252366" y="3277141"/>
                  </a:lnTo>
                  <a:lnTo>
                    <a:pt x="215457" y="3250543"/>
                  </a:lnTo>
                  <a:lnTo>
                    <a:pt x="180874" y="3221115"/>
                  </a:lnTo>
                  <a:lnTo>
                    <a:pt x="148783" y="3189025"/>
                  </a:lnTo>
                  <a:lnTo>
                    <a:pt x="119356" y="3154442"/>
                  </a:lnTo>
                  <a:lnTo>
                    <a:pt x="92758" y="3117533"/>
                  </a:lnTo>
                  <a:lnTo>
                    <a:pt x="69160" y="3078469"/>
                  </a:lnTo>
                  <a:lnTo>
                    <a:pt x="48730" y="3037416"/>
                  </a:lnTo>
                  <a:lnTo>
                    <a:pt x="31637" y="2994544"/>
                  </a:lnTo>
                  <a:lnTo>
                    <a:pt x="18048" y="2950022"/>
                  </a:lnTo>
                  <a:lnTo>
                    <a:pt x="8134" y="2904018"/>
                  </a:lnTo>
                  <a:lnTo>
                    <a:pt x="2061" y="2856700"/>
                  </a:lnTo>
                  <a:lnTo>
                    <a:pt x="0" y="2808238"/>
                  </a:lnTo>
                  <a:lnTo>
                    <a:pt x="0" y="5616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1679" y="1013118"/>
            <a:ext cx="7841615" cy="296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SayCan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Robot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Planning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i="1" dirty="0">
                <a:latin typeface="Arial"/>
                <a:cs typeface="Arial"/>
              </a:rPr>
              <a:t>Locations</a:t>
            </a:r>
            <a:r>
              <a:rPr sz="1400" i="1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[counter,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table,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user,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trash,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bowl].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i="1" dirty="0">
                <a:latin typeface="Arial"/>
                <a:cs typeface="Arial"/>
              </a:rPr>
              <a:t>Objects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[7up,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apple,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kettle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chips,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tea,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multigrain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chips,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coke,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lime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soda,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jalapeno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chips,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rice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chips, </a:t>
            </a:r>
            <a:r>
              <a:rPr sz="1400" dirty="0">
                <a:latin typeface="Arial"/>
                <a:cs typeface="Arial"/>
              </a:rPr>
              <a:t>orange,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grapefruit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soda,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pepsi,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redbull,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energy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bar,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sponge,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water].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13843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robot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pick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up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items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pick(object)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put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down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items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put(object)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well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find </a:t>
            </a:r>
            <a:r>
              <a:rPr sz="1400" dirty="0">
                <a:latin typeface="Arial"/>
                <a:cs typeface="Arial"/>
              </a:rPr>
              <a:t>objects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locations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find()</a:t>
            </a:r>
            <a:r>
              <a:rPr sz="1400" dirty="0">
                <a:latin typeface="Arial"/>
                <a:cs typeface="Arial"/>
              </a:rPr>
              <a:t>.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robot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only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understand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explicit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locations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objects listed.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C78D8"/>
                </a:solidFill>
                <a:latin typeface="Arial"/>
                <a:cs typeface="Arial"/>
              </a:rPr>
              <a:t>Human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would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throw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away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redbull?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Plan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1.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find(redbull),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2.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pick(redbull),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3.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find(trash),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4.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put(redbull),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5.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A61B00"/>
                </a:solidFill>
                <a:latin typeface="Arial"/>
                <a:cs typeface="Arial"/>
              </a:rPr>
              <a:t>done().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70" dirty="0"/>
              <a:t> </a:t>
            </a:r>
            <a:r>
              <a:rPr dirty="0"/>
              <a:t>Reasoning</a:t>
            </a:r>
            <a:r>
              <a:rPr spc="-50" dirty="0"/>
              <a:t> </a:t>
            </a:r>
            <a:r>
              <a:rPr dirty="0"/>
              <a:t>-</a:t>
            </a:r>
            <a:r>
              <a:rPr spc="-105" dirty="0"/>
              <a:t> </a:t>
            </a:r>
            <a:r>
              <a:rPr spc="-20" dirty="0"/>
              <a:t>Toy</a:t>
            </a:r>
            <a:r>
              <a:rPr spc="-50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5125" y="4347705"/>
            <a:ext cx="8027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These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tasks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require </a:t>
            </a:r>
            <a:r>
              <a:rPr sz="1800" b="1" spc="-10" dirty="0">
                <a:latin typeface="Times New Roman"/>
                <a:cs typeface="Times New Roman"/>
              </a:rPr>
              <a:t>multi-</a:t>
            </a:r>
            <a:r>
              <a:rPr sz="1800" b="1" dirty="0">
                <a:latin typeface="Times New Roman"/>
                <a:cs typeface="Times New Roman"/>
              </a:rPr>
              <a:t>steps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reasoning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also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priori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knowledge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understand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complex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semantics.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849" y="820289"/>
            <a:ext cx="6824377" cy="393790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849" y="820289"/>
            <a:ext cx="6732156" cy="393790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816" y="1325206"/>
            <a:ext cx="6673583" cy="28588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346" y="1524062"/>
            <a:ext cx="73596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scaling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model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size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standard</a:t>
            </a:r>
            <a:r>
              <a:rPr sz="1600" spc="-10" dirty="0">
                <a:latin typeface="Times New Roman"/>
                <a:cs typeface="Times New Roman"/>
              </a:rPr>
              <a:t> prompting.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346" y="1524062"/>
            <a:ext cx="774827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scaling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model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size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standard</a:t>
            </a:r>
            <a:r>
              <a:rPr sz="1600" spc="-10" dirty="0">
                <a:latin typeface="Times New Roman"/>
                <a:cs typeface="Times New Roman"/>
              </a:rPr>
              <a:t> prompting.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63855" marR="5080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prompting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further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gains,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improvements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appearing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largest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PaLM </a:t>
            </a:r>
            <a:r>
              <a:rPr sz="1600" b="1" spc="-10" dirty="0">
                <a:latin typeface="Times New Roman"/>
                <a:cs typeface="Times New Roman"/>
              </a:rPr>
              <a:t>540B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346" y="1524062"/>
            <a:ext cx="774827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scaling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model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size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standard</a:t>
            </a:r>
            <a:r>
              <a:rPr sz="1600" spc="-10" dirty="0">
                <a:latin typeface="Times New Roman"/>
                <a:cs typeface="Times New Roman"/>
              </a:rPr>
              <a:t> prompting.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63855" marR="5080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prompting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further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gains,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improvements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appearing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largest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PaLM </a:t>
            </a:r>
            <a:r>
              <a:rPr sz="1600" b="1" spc="-10" dirty="0">
                <a:latin typeface="Times New Roman"/>
                <a:cs typeface="Times New Roman"/>
              </a:rPr>
              <a:t>540B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638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minimal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benefits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CSQA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StrategyQA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tasks.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346" y="1524062"/>
            <a:ext cx="7778115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scaling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model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size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standard</a:t>
            </a:r>
            <a:r>
              <a:rPr sz="1600" spc="-10" dirty="0">
                <a:latin typeface="Times New Roman"/>
                <a:cs typeface="Times New Roman"/>
              </a:rPr>
              <a:t> prompting.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63855" marR="3492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prompting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further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gains,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improvements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appearing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largest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PaLM </a:t>
            </a:r>
            <a:r>
              <a:rPr sz="1600" b="1" spc="-10" dirty="0">
                <a:latin typeface="Times New Roman"/>
                <a:cs typeface="Times New Roman"/>
              </a:rPr>
              <a:t>540B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638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minimal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benefits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CSQA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StrategyQA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tasks.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363855" marR="5080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Few-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achieves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better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Zero-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175B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for </a:t>
            </a:r>
            <a:r>
              <a:rPr sz="1600" spc="-10" dirty="0">
                <a:latin typeface="Times New Roman"/>
                <a:cs typeface="Times New Roman"/>
              </a:rPr>
              <a:t>CSQA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Strategy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QA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Zero-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shows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significant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improvement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Date </a:t>
            </a:r>
            <a:r>
              <a:rPr sz="1600" b="1" dirty="0">
                <a:latin typeface="Times New Roman"/>
                <a:cs typeface="Times New Roman"/>
              </a:rPr>
              <a:t>understanding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task.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Ablation</a:t>
            </a:r>
            <a:r>
              <a:rPr spc="-20" dirty="0"/>
              <a:t> </a:t>
            </a:r>
            <a:r>
              <a:rPr dirty="0"/>
              <a:t>Study</a:t>
            </a:r>
            <a:r>
              <a:rPr spc="-2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25" dirty="0"/>
              <a:t>Variations</a:t>
            </a:r>
            <a:r>
              <a:rPr spc="-20" dirty="0"/>
              <a:t> </a:t>
            </a:r>
            <a:r>
              <a:rPr dirty="0"/>
              <a:t>of </a:t>
            </a:r>
            <a:r>
              <a:rPr b="1" spc="-10" dirty="0">
                <a:latin typeface="Times New Roman"/>
                <a:cs typeface="Times New Roman"/>
              </a:rPr>
              <a:t>Few-</a:t>
            </a:r>
            <a:r>
              <a:rPr b="1" dirty="0">
                <a:latin typeface="Times New Roman"/>
                <a:cs typeface="Times New Roman"/>
              </a:rPr>
              <a:t>Shot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CoT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3225" y="1796875"/>
            <a:ext cx="2966720" cy="1797050"/>
            <a:chOff x="233225" y="1796875"/>
            <a:chExt cx="2966720" cy="1797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225" y="1796875"/>
              <a:ext cx="2966500" cy="17968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7625" y="2330199"/>
              <a:ext cx="2837815" cy="262890"/>
            </a:xfrm>
            <a:custGeom>
              <a:avLst/>
              <a:gdLst/>
              <a:ahLst/>
              <a:cxnLst/>
              <a:rect l="l" t="t" r="r" b="b"/>
              <a:pathLst>
                <a:path w="2837815" h="262889">
                  <a:moveTo>
                    <a:pt x="0" y="0"/>
                  </a:moveTo>
                  <a:lnTo>
                    <a:pt x="2837699" y="0"/>
                  </a:lnTo>
                  <a:lnTo>
                    <a:pt x="2837699" y="262799"/>
                  </a:lnTo>
                  <a:lnTo>
                    <a:pt x="0" y="2627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65812" y="2702587"/>
            <a:ext cx="731520" cy="272415"/>
            <a:chOff x="3365812" y="2702587"/>
            <a:chExt cx="731520" cy="272415"/>
          </a:xfrm>
        </p:grpSpPr>
        <p:sp>
          <p:nvSpPr>
            <p:cNvPr id="7" name="object 7"/>
            <p:cNvSpPr/>
            <p:nvPr/>
          </p:nvSpPr>
          <p:spPr>
            <a:xfrm>
              <a:off x="3370574" y="2707350"/>
              <a:ext cx="721995" cy="262890"/>
            </a:xfrm>
            <a:custGeom>
              <a:avLst/>
              <a:gdLst/>
              <a:ahLst/>
              <a:cxnLst/>
              <a:rect l="l" t="t" r="r" b="b"/>
              <a:pathLst>
                <a:path w="721995" h="262889">
                  <a:moveTo>
                    <a:pt x="590399" y="262799"/>
                  </a:moveTo>
                  <a:lnTo>
                    <a:pt x="590399" y="197099"/>
                  </a:lnTo>
                  <a:lnTo>
                    <a:pt x="0" y="197099"/>
                  </a:lnTo>
                  <a:lnTo>
                    <a:pt x="0" y="65699"/>
                  </a:lnTo>
                  <a:lnTo>
                    <a:pt x="590399" y="65699"/>
                  </a:lnTo>
                  <a:lnTo>
                    <a:pt x="590399" y="0"/>
                  </a:lnTo>
                  <a:lnTo>
                    <a:pt x="721799" y="131399"/>
                  </a:lnTo>
                  <a:lnTo>
                    <a:pt x="590399" y="262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70574" y="2707350"/>
              <a:ext cx="721995" cy="262890"/>
            </a:xfrm>
            <a:custGeom>
              <a:avLst/>
              <a:gdLst/>
              <a:ahLst/>
              <a:cxnLst/>
              <a:rect l="l" t="t" r="r" b="b"/>
              <a:pathLst>
                <a:path w="721995" h="262889">
                  <a:moveTo>
                    <a:pt x="0" y="65699"/>
                  </a:moveTo>
                  <a:lnTo>
                    <a:pt x="590399" y="65699"/>
                  </a:lnTo>
                  <a:lnTo>
                    <a:pt x="590399" y="0"/>
                  </a:lnTo>
                  <a:lnTo>
                    <a:pt x="721799" y="131399"/>
                  </a:lnTo>
                  <a:lnTo>
                    <a:pt x="590399" y="262799"/>
                  </a:lnTo>
                  <a:lnTo>
                    <a:pt x="590399" y="197099"/>
                  </a:lnTo>
                  <a:lnTo>
                    <a:pt x="0" y="197099"/>
                  </a:lnTo>
                  <a:lnTo>
                    <a:pt x="0" y="65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08350" y="2230523"/>
            <a:ext cx="2096770" cy="85979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400" dirty="0">
                <a:latin typeface="Times New Roman"/>
                <a:cs typeface="Times New Roman"/>
              </a:rPr>
              <a:t>Equation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only</a:t>
            </a:r>
            <a:endParaRPr sz="1400">
              <a:latin typeface="Times New Roman"/>
              <a:cs typeface="Times New Roman"/>
            </a:endParaRPr>
          </a:p>
          <a:p>
            <a:pPr marL="1140460">
              <a:lnSpc>
                <a:spcPct val="100000"/>
              </a:lnSpc>
              <a:spcBef>
                <a:spcPts val="765"/>
              </a:spcBef>
            </a:pPr>
            <a:r>
              <a:rPr sz="1400" b="1" i="1" spc="-10" dirty="0">
                <a:solidFill>
                  <a:srgbClr val="980000"/>
                </a:solidFill>
                <a:latin typeface="Times New Roman"/>
                <a:cs typeface="Times New Roman"/>
              </a:rPr>
              <a:t>5+6=11.</a:t>
            </a:r>
            <a:r>
              <a:rPr sz="1400" b="1" i="1" spc="-2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400" b="1" i="1" spc="-25" dirty="0">
                <a:solidFill>
                  <a:srgbClr val="6AA84F"/>
                </a:solidFill>
                <a:latin typeface="Times New Roman"/>
                <a:cs typeface="Times New Roman"/>
              </a:rPr>
              <a:t>The</a:t>
            </a:r>
            <a:endParaRPr sz="1400">
              <a:latin typeface="Times New Roman"/>
              <a:cs typeface="Times New Roman"/>
            </a:endParaRPr>
          </a:p>
          <a:p>
            <a:pPr marL="1140460">
              <a:lnSpc>
                <a:spcPct val="100000"/>
              </a:lnSpc>
            </a:pPr>
            <a:r>
              <a:rPr sz="1400" b="1" i="1" dirty="0">
                <a:solidFill>
                  <a:srgbClr val="6AA84F"/>
                </a:solidFill>
                <a:latin typeface="Times New Roman"/>
                <a:cs typeface="Times New Roman"/>
              </a:rPr>
              <a:t>answer</a:t>
            </a:r>
            <a:r>
              <a:rPr sz="1400" b="1" i="1" spc="-15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6AA84F"/>
                </a:solidFill>
                <a:latin typeface="Times New Roman"/>
                <a:cs typeface="Times New Roman"/>
              </a:rPr>
              <a:t>is</a:t>
            </a:r>
            <a:r>
              <a:rPr sz="1400" b="1" i="1" spc="-10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400" b="1" i="1" spc="-25" dirty="0">
                <a:solidFill>
                  <a:srgbClr val="6AA84F"/>
                </a:solidFill>
                <a:latin typeface="Times New Roman"/>
                <a:cs typeface="Times New Roman"/>
              </a:rPr>
              <a:t>11.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436350" y="1131797"/>
            <a:ext cx="21018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CoT: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Ablation</a:t>
            </a:r>
            <a:r>
              <a:rPr spc="-20" dirty="0"/>
              <a:t> </a:t>
            </a:r>
            <a:r>
              <a:rPr dirty="0"/>
              <a:t>Study</a:t>
            </a:r>
            <a:r>
              <a:rPr spc="-2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25" dirty="0"/>
              <a:t>Variations</a:t>
            </a:r>
            <a:r>
              <a:rPr spc="-20" dirty="0"/>
              <a:t> </a:t>
            </a:r>
            <a:r>
              <a:rPr dirty="0"/>
              <a:t>of </a:t>
            </a:r>
            <a:r>
              <a:rPr b="1" spc="-10" dirty="0">
                <a:latin typeface="Times New Roman"/>
                <a:cs typeface="Times New Roman"/>
              </a:rPr>
              <a:t>Few-</a:t>
            </a:r>
            <a:r>
              <a:rPr b="1" dirty="0">
                <a:latin typeface="Times New Roman"/>
                <a:cs typeface="Times New Roman"/>
              </a:rPr>
              <a:t>Shot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CoT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71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225" y="1796875"/>
            <a:ext cx="2966720" cy="1797050"/>
            <a:chOff x="233225" y="1796875"/>
            <a:chExt cx="2966720" cy="17970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225" y="1796875"/>
              <a:ext cx="2966500" cy="179685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7625" y="2330199"/>
              <a:ext cx="2837815" cy="262890"/>
            </a:xfrm>
            <a:custGeom>
              <a:avLst/>
              <a:gdLst/>
              <a:ahLst/>
              <a:cxnLst/>
              <a:rect l="l" t="t" r="r" b="b"/>
              <a:pathLst>
                <a:path w="2837815" h="262889">
                  <a:moveTo>
                    <a:pt x="0" y="0"/>
                  </a:moveTo>
                  <a:lnTo>
                    <a:pt x="2837699" y="0"/>
                  </a:lnTo>
                  <a:lnTo>
                    <a:pt x="2837699" y="262799"/>
                  </a:lnTo>
                  <a:lnTo>
                    <a:pt x="0" y="2627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365812" y="2702587"/>
            <a:ext cx="731520" cy="272415"/>
            <a:chOff x="3365812" y="2702587"/>
            <a:chExt cx="731520" cy="272415"/>
          </a:xfrm>
        </p:grpSpPr>
        <p:sp>
          <p:nvSpPr>
            <p:cNvPr id="8" name="object 8"/>
            <p:cNvSpPr/>
            <p:nvPr/>
          </p:nvSpPr>
          <p:spPr>
            <a:xfrm>
              <a:off x="3370574" y="2707350"/>
              <a:ext cx="721995" cy="262890"/>
            </a:xfrm>
            <a:custGeom>
              <a:avLst/>
              <a:gdLst/>
              <a:ahLst/>
              <a:cxnLst/>
              <a:rect l="l" t="t" r="r" b="b"/>
              <a:pathLst>
                <a:path w="721995" h="262889">
                  <a:moveTo>
                    <a:pt x="590399" y="262799"/>
                  </a:moveTo>
                  <a:lnTo>
                    <a:pt x="590399" y="197099"/>
                  </a:lnTo>
                  <a:lnTo>
                    <a:pt x="0" y="197099"/>
                  </a:lnTo>
                  <a:lnTo>
                    <a:pt x="0" y="65699"/>
                  </a:lnTo>
                  <a:lnTo>
                    <a:pt x="590399" y="65699"/>
                  </a:lnTo>
                  <a:lnTo>
                    <a:pt x="590399" y="0"/>
                  </a:lnTo>
                  <a:lnTo>
                    <a:pt x="721799" y="131399"/>
                  </a:lnTo>
                  <a:lnTo>
                    <a:pt x="590399" y="262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70574" y="2707350"/>
              <a:ext cx="721995" cy="262890"/>
            </a:xfrm>
            <a:custGeom>
              <a:avLst/>
              <a:gdLst/>
              <a:ahLst/>
              <a:cxnLst/>
              <a:rect l="l" t="t" r="r" b="b"/>
              <a:pathLst>
                <a:path w="721995" h="262889">
                  <a:moveTo>
                    <a:pt x="0" y="65699"/>
                  </a:moveTo>
                  <a:lnTo>
                    <a:pt x="590399" y="65699"/>
                  </a:lnTo>
                  <a:lnTo>
                    <a:pt x="590399" y="0"/>
                  </a:lnTo>
                  <a:lnTo>
                    <a:pt x="721799" y="131399"/>
                  </a:lnTo>
                  <a:lnTo>
                    <a:pt x="590399" y="262799"/>
                  </a:lnTo>
                  <a:lnTo>
                    <a:pt x="590399" y="197099"/>
                  </a:lnTo>
                  <a:lnTo>
                    <a:pt x="0" y="197099"/>
                  </a:lnTo>
                  <a:lnTo>
                    <a:pt x="0" y="65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08350" y="2230523"/>
            <a:ext cx="2096770" cy="85979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400" dirty="0">
                <a:latin typeface="Times New Roman"/>
                <a:cs typeface="Times New Roman"/>
              </a:rPr>
              <a:t>Equation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only</a:t>
            </a:r>
            <a:endParaRPr sz="1400">
              <a:latin typeface="Times New Roman"/>
              <a:cs typeface="Times New Roman"/>
            </a:endParaRPr>
          </a:p>
          <a:p>
            <a:pPr marL="1140460">
              <a:lnSpc>
                <a:spcPct val="100000"/>
              </a:lnSpc>
              <a:spcBef>
                <a:spcPts val="765"/>
              </a:spcBef>
            </a:pPr>
            <a:r>
              <a:rPr sz="1400" b="1" i="1" spc="-10" dirty="0">
                <a:solidFill>
                  <a:srgbClr val="980000"/>
                </a:solidFill>
                <a:latin typeface="Times New Roman"/>
                <a:cs typeface="Times New Roman"/>
              </a:rPr>
              <a:t>5+6=11.</a:t>
            </a:r>
            <a:r>
              <a:rPr sz="1400" b="1" i="1" spc="-2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400" b="1" i="1" spc="-25" dirty="0">
                <a:solidFill>
                  <a:srgbClr val="6AA84F"/>
                </a:solidFill>
                <a:latin typeface="Times New Roman"/>
                <a:cs typeface="Times New Roman"/>
              </a:rPr>
              <a:t>The</a:t>
            </a:r>
            <a:endParaRPr sz="1400">
              <a:latin typeface="Times New Roman"/>
              <a:cs typeface="Times New Roman"/>
            </a:endParaRPr>
          </a:p>
          <a:p>
            <a:pPr marL="1140460">
              <a:lnSpc>
                <a:spcPct val="100000"/>
              </a:lnSpc>
            </a:pPr>
            <a:r>
              <a:rPr sz="1400" b="1" i="1" dirty="0">
                <a:solidFill>
                  <a:srgbClr val="6AA84F"/>
                </a:solidFill>
                <a:latin typeface="Times New Roman"/>
                <a:cs typeface="Times New Roman"/>
              </a:rPr>
              <a:t>answer</a:t>
            </a:r>
            <a:r>
              <a:rPr sz="1400" b="1" i="1" spc="-15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6AA84F"/>
                </a:solidFill>
                <a:latin typeface="Times New Roman"/>
                <a:cs typeface="Times New Roman"/>
              </a:rPr>
              <a:t>is</a:t>
            </a:r>
            <a:r>
              <a:rPr sz="1400" b="1" i="1" spc="-10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400" b="1" i="1" spc="-25" dirty="0">
                <a:solidFill>
                  <a:srgbClr val="6AA84F"/>
                </a:solidFill>
                <a:latin typeface="Times New Roman"/>
                <a:cs typeface="Times New Roman"/>
              </a:rPr>
              <a:t>11.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1903" y="1299093"/>
            <a:ext cx="2702966" cy="335167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6350" y="1131797"/>
            <a:ext cx="21018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CoT: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7325" y="4725837"/>
            <a:ext cx="13754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(Wei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al.,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2022)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6350" y="4325122"/>
            <a:ext cx="31654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Natural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language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matters.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Ablation</a:t>
            </a:r>
            <a:r>
              <a:rPr spc="-20" dirty="0"/>
              <a:t> </a:t>
            </a:r>
            <a:r>
              <a:rPr dirty="0"/>
              <a:t>Study</a:t>
            </a:r>
            <a:r>
              <a:rPr spc="-2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25" dirty="0"/>
              <a:t>Variations</a:t>
            </a:r>
            <a:r>
              <a:rPr spc="-20" dirty="0"/>
              <a:t> </a:t>
            </a:r>
            <a:r>
              <a:rPr dirty="0"/>
              <a:t>of </a:t>
            </a:r>
            <a:r>
              <a:rPr b="1" spc="-10" dirty="0">
                <a:latin typeface="Times New Roman"/>
                <a:cs typeface="Times New Roman"/>
              </a:rPr>
              <a:t>Few-</a:t>
            </a:r>
            <a:r>
              <a:rPr b="1" dirty="0">
                <a:latin typeface="Times New Roman"/>
                <a:cs typeface="Times New Roman"/>
              </a:rPr>
              <a:t>Shot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CoT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35772"/>
            <a:ext cx="21018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CoT: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8574" y="1867498"/>
            <a:ext cx="2879725" cy="1744345"/>
            <a:chOff x="148574" y="1867498"/>
            <a:chExt cx="2879725" cy="17443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574" y="1867498"/>
              <a:ext cx="2879449" cy="17441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4224" y="2371049"/>
              <a:ext cx="2778760" cy="304800"/>
            </a:xfrm>
            <a:custGeom>
              <a:avLst/>
              <a:gdLst/>
              <a:ahLst/>
              <a:cxnLst/>
              <a:rect l="l" t="t" r="r" b="b"/>
              <a:pathLst>
                <a:path w="2778760" h="304800">
                  <a:moveTo>
                    <a:pt x="0" y="0"/>
                  </a:moveTo>
                  <a:lnTo>
                    <a:pt x="2778299" y="0"/>
                  </a:lnTo>
                  <a:lnTo>
                    <a:pt x="2778299" y="304199"/>
                  </a:lnTo>
                  <a:lnTo>
                    <a:pt x="0" y="3041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182812" y="2489562"/>
            <a:ext cx="731520" cy="272415"/>
            <a:chOff x="3182812" y="2489562"/>
            <a:chExt cx="731520" cy="272415"/>
          </a:xfrm>
        </p:grpSpPr>
        <p:sp>
          <p:nvSpPr>
            <p:cNvPr id="8" name="object 8"/>
            <p:cNvSpPr/>
            <p:nvPr/>
          </p:nvSpPr>
          <p:spPr>
            <a:xfrm>
              <a:off x="3187575" y="2494325"/>
              <a:ext cx="721995" cy="262890"/>
            </a:xfrm>
            <a:custGeom>
              <a:avLst/>
              <a:gdLst/>
              <a:ahLst/>
              <a:cxnLst/>
              <a:rect l="l" t="t" r="r" b="b"/>
              <a:pathLst>
                <a:path w="721995" h="262889">
                  <a:moveTo>
                    <a:pt x="590399" y="262799"/>
                  </a:moveTo>
                  <a:lnTo>
                    <a:pt x="590399" y="197099"/>
                  </a:lnTo>
                  <a:lnTo>
                    <a:pt x="0" y="197099"/>
                  </a:lnTo>
                  <a:lnTo>
                    <a:pt x="0" y="65699"/>
                  </a:lnTo>
                  <a:lnTo>
                    <a:pt x="590399" y="65699"/>
                  </a:lnTo>
                  <a:lnTo>
                    <a:pt x="590399" y="0"/>
                  </a:lnTo>
                  <a:lnTo>
                    <a:pt x="721799" y="131399"/>
                  </a:lnTo>
                  <a:lnTo>
                    <a:pt x="590399" y="262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87575" y="2494325"/>
              <a:ext cx="721995" cy="262890"/>
            </a:xfrm>
            <a:custGeom>
              <a:avLst/>
              <a:gdLst/>
              <a:ahLst/>
              <a:cxnLst/>
              <a:rect l="l" t="t" r="r" b="b"/>
              <a:pathLst>
                <a:path w="721995" h="262889">
                  <a:moveTo>
                    <a:pt x="0" y="65699"/>
                  </a:moveTo>
                  <a:lnTo>
                    <a:pt x="590399" y="65699"/>
                  </a:lnTo>
                  <a:lnTo>
                    <a:pt x="590399" y="0"/>
                  </a:lnTo>
                  <a:lnTo>
                    <a:pt x="721799" y="131399"/>
                  </a:lnTo>
                  <a:lnTo>
                    <a:pt x="590399" y="262799"/>
                  </a:lnTo>
                  <a:lnTo>
                    <a:pt x="590399" y="197099"/>
                  </a:lnTo>
                  <a:lnTo>
                    <a:pt x="0" y="197099"/>
                  </a:lnTo>
                  <a:lnTo>
                    <a:pt x="0" y="65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45549" y="2160025"/>
            <a:ext cx="2148840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imes New Roman"/>
                <a:cs typeface="Times New Roman"/>
              </a:rPr>
              <a:t>Variable </a:t>
            </a:r>
            <a:r>
              <a:rPr sz="1400" dirty="0">
                <a:latin typeface="Times New Roman"/>
                <a:cs typeface="Times New Roman"/>
              </a:rPr>
              <a:t>compute</a:t>
            </a:r>
            <a:r>
              <a:rPr sz="1400" spc="-20" dirty="0">
                <a:latin typeface="Times New Roman"/>
                <a:cs typeface="Times New Roman"/>
              </a:rPr>
              <a:t> only</a:t>
            </a:r>
            <a:endParaRPr sz="1400">
              <a:latin typeface="Times New Roman"/>
              <a:cs typeface="Times New Roman"/>
            </a:endParaRPr>
          </a:p>
          <a:p>
            <a:pPr marL="1108710">
              <a:lnSpc>
                <a:spcPct val="100000"/>
              </a:lnSpc>
              <a:spcBef>
                <a:spcPts val="935"/>
              </a:spcBef>
            </a:pPr>
            <a:r>
              <a:rPr sz="1100" b="1" i="1" spc="-10" dirty="0">
                <a:solidFill>
                  <a:srgbClr val="980000"/>
                </a:solidFill>
                <a:latin typeface="Times New Roman"/>
                <a:cs typeface="Times New Roman"/>
              </a:rPr>
              <a:t>…………………</a:t>
            </a:r>
            <a:endParaRPr sz="1100">
              <a:latin typeface="Times New Roman"/>
              <a:cs typeface="Times New Roman"/>
            </a:endParaRPr>
          </a:p>
          <a:p>
            <a:pPr marL="1108710" marR="5080">
              <a:lnSpc>
                <a:spcPct val="100000"/>
              </a:lnSpc>
            </a:pP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…………</a:t>
            </a:r>
            <a:r>
              <a:rPr sz="1100" b="1" i="1" dirty="0">
                <a:solidFill>
                  <a:srgbClr val="A61B00"/>
                </a:solidFill>
                <a:latin typeface="Times New Roman"/>
                <a:cs typeface="Times New Roman"/>
              </a:rPr>
              <a:t>…..</a:t>
            </a:r>
            <a:r>
              <a:rPr sz="1100" b="1" i="1" spc="-10" dirty="0">
                <a:solidFill>
                  <a:srgbClr val="A61B00"/>
                </a:solidFill>
                <a:latin typeface="Times New Roman"/>
                <a:cs typeface="Times New Roman"/>
              </a:rPr>
              <a:t> </a:t>
            </a:r>
            <a:r>
              <a:rPr sz="1100" b="1" i="1" spc="-25" dirty="0">
                <a:solidFill>
                  <a:srgbClr val="6AA84F"/>
                </a:solidFill>
                <a:latin typeface="Times New Roman"/>
                <a:cs typeface="Times New Roman"/>
              </a:rPr>
              <a:t>The </a:t>
            </a:r>
            <a:r>
              <a:rPr sz="1100" b="1" i="1" dirty="0">
                <a:solidFill>
                  <a:srgbClr val="6AA84F"/>
                </a:solidFill>
                <a:latin typeface="Times New Roman"/>
                <a:cs typeface="Times New Roman"/>
              </a:rPr>
              <a:t>answer</a:t>
            </a:r>
            <a:r>
              <a:rPr sz="1100" b="1" i="1" spc="-15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6AA84F"/>
                </a:solidFill>
                <a:latin typeface="Times New Roman"/>
                <a:cs typeface="Times New Roman"/>
              </a:rPr>
              <a:t>is</a:t>
            </a:r>
            <a:r>
              <a:rPr sz="1100" b="1" i="1" spc="-10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100" b="1" i="1" spc="-25" dirty="0">
                <a:solidFill>
                  <a:srgbClr val="6AA84F"/>
                </a:solidFill>
                <a:latin typeface="Times New Roman"/>
                <a:cs typeface="Times New Roman"/>
              </a:rPr>
              <a:t>11.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Ablation</a:t>
            </a:r>
            <a:r>
              <a:rPr spc="-20" dirty="0"/>
              <a:t> </a:t>
            </a:r>
            <a:r>
              <a:rPr dirty="0"/>
              <a:t>Study</a:t>
            </a:r>
            <a:r>
              <a:rPr spc="-2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25" dirty="0"/>
              <a:t>Variations</a:t>
            </a:r>
            <a:r>
              <a:rPr spc="-20" dirty="0"/>
              <a:t> </a:t>
            </a:r>
            <a:r>
              <a:rPr dirty="0"/>
              <a:t>of </a:t>
            </a:r>
            <a:r>
              <a:rPr b="1" spc="-10" dirty="0">
                <a:latin typeface="Times New Roman"/>
                <a:cs typeface="Times New Roman"/>
              </a:rPr>
              <a:t>Few-</a:t>
            </a:r>
            <a:r>
              <a:rPr b="1" dirty="0">
                <a:latin typeface="Times New Roman"/>
                <a:cs typeface="Times New Roman"/>
              </a:rPr>
              <a:t>Shot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CoT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35772"/>
            <a:ext cx="21018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CoT: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8574" y="1867498"/>
            <a:ext cx="2879725" cy="1744345"/>
            <a:chOff x="148574" y="1867498"/>
            <a:chExt cx="2879725" cy="17443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574" y="1867498"/>
              <a:ext cx="2879449" cy="17441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4224" y="2371049"/>
              <a:ext cx="2778760" cy="304800"/>
            </a:xfrm>
            <a:custGeom>
              <a:avLst/>
              <a:gdLst/>
              <a:ahLst/>
              <a:cxnLst/>
              <a:rect l="l" t="t" r="r" b="b"/>
              <a:pathLst>
                <a:path w="2778760" h="304800">
                  <a:moveTo>
                    <a:pt x="0" y="0"/>
                  </a:moveTo>
                  <a:lnTo>
                    <a:pt x="2778299" y="0"/>
                  </a:lnTo>
                  <a:lnTo>
                    <a:pt x="2778299" y="304199"/>
                  </a:lnTo>
                  <a:lnTo>
                    <a:pt x="0" y="3041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182812" y="2489562"/>
            <a:ext cx="731520" cy="272415"/>
            <a:chOff x="3182812" y="2489562"/>
            <a:chExt cx="731520" cy="272415"/>
          </a:xfrm>
        </p:grpSpPr>
        <p:sp>
          <p:nvSpPr>
            <p:cNvPr id="8" name="object 8"/>
            <p:cNvSpPr/>
            <p:nvPr/>
          </p:nvSpPr>
          <p:spPr>
            <a:xfrm>
              <a:off x="3187575" y="2494325"/>
              <a:ext cx="721995" cy="262890"/>
            </a:xfrm>
            <a:custGeom>
              <a:avLst/>
              <a:gdLst/>
              <a:ahLst/>
              <a:cxnLst/>
              <a:rect l="l" t="t" r="r" b="b"/>
              <a:pathLst>
                <a:path w="721995" h="262889">
                  <a:moveTo>
                    <a:pt x="590399" y="262799"/>
                  </a:moveTo>
                  <a:lnTo>
                    <a:pt x="590399" y="197099"/>
                  </a:lnTo>
                  <a:lnTo>
                    <a:pt x="0" y="197099"/>
                  </a:lnTo>
                  <a:lnTo>
                    <a:pt x="0" y="65699"/>
                  </a:lnTo>
                  <a:lnTo>
                    <a:pt x="590399" y="65699"/>
                  </a:lnTo>
                  <a:lnTo>
                    <a:pt x="590399" y="0"/>
                  </a:lnTo>
                  <a:lnTo>
                    <a:pt x="721799" y="131399"/>
                  </a:lnTo>
                  <a:lnTo>
                    <a:pt x="590399" y="262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87575" y="2494325"/>
              <a:ext cx="721995" cy="262890"/>
            </a:xfrm>
            <a:custGeom>
              <a:avLst/>
              <a:gdLst/>
              <a:ahLst/>
              <a:cxnLst/>
              <a:rect l="l" t="t" r="r" b="b"/>
              <a:pathLst>
                <a:path w="721995" h="262889">
                  <a:moveTo>
                    <a:pt x="0" y="65699"/>
                  </a:moveTo>
                  <a:lnTo>
                    <a:pt x="590399" y="65699"/>
                  </a:lnTo>
                  <a:lnTo>
                    <a:pt x="590399" y="0"/>
                  </a:lnTo>
                  <a:lnTo>
                    <a:pt x="721799" y="131399"/>
                  </a:lnTo>
                  <a:lnTo>
                    <a:pt x="590399" y="262799"/>
                  </a:lnTo>
                  <a:lnTo>
                    <a:pt x="590399" y="197099"/>
                  </a:lnTo>
                  <a:lnTo>
                    <a:pt x="0" y="197099"/>
                  </a:lnTo>
                  <a:lnTo>
                    <a:pt x="0" y="65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45549" y="2160025"/>
            <a:ext cx="2148840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imes New Roman"/>
                <a:cs typeface="Times New Roman"/>
              </a:rPr>
              <a:t>Variable </a:t>
            </a:r>
            <a:r>
              <a:rPr sz="1400" dirty="0">
                <a:latin typeface="Times New Roman"/>
                <a:cs typeface="Times New Roman"/>
              </a:rPr>
              <a:t>compute</a:t>
            </a:r>
            <a:r>
              <a:rPr sz="1400" spc="-20" dirty="0">
                <a:latin typeface="Times New Roman"/>
                <a:cs typeface="Times New Roman"/>
              </a:rPr>
              <a:t> only</a:t>
            </a:r>
            <a:endParaRPr sz="1400">
              <a:latin typeface="Times New Roman"/>
              <a:cs typeface="Times New Roman"/>
            </a:endParaRPr>
          </a:p>
          <a:p>
            <a:pPr marL="1108710">
              <a:lnSpc>
                <a:spcPct val="100000"/>
              </a:lnSpc>
              <a:spcBef>
                <a:spcPts val="935"/>
              </a:spcBef>
            </a:pPr>
            <a:r>
              <a:rPr sz="1100" b="1" i="1" spc="-10" dirty="0">
                <a:solidFill>
                  <a:srgbClr val="980000"/>
                </a:solidFill>
                <a:latin typeface="Times New Roman"/>
                <a:cs typeface="Times New Roman"/>
              </a:rPr>
              <a:t>…………………</a:t>
            </a:r>
            <a:endParaRPr sz="1100">
              <a:latin typeface="Times New Roman"/>
              <a:cs typeface="Times New Roman"/>
            </a:endParaRPr>
          </a:p>
          <a:p>
            <a:pPr marL="1108710" marR="5080">
              <a:lnSpc>
                <a:spcPct val="100000"/>
              </a:lnSpc>
            </a:pP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…………</a:t>
            </a:r>
            <a:r>
              <a:rPr sz="1100" b="1" i="1" dirty="0">
                <a:solidFill>
                  <a:srgbClr val="A61B00"/>
                </a:solidFill>
                <a:latin typeface="Times New Roman"/>
                <a:cs typeface="Times New Roman"/>
              </a:rPr>
              <a:t>…..</a:t>
            </a:r>
            <a:r>
              <a:rPr sz="1100" b="1" i="1" spc="-10" dirty="0">
                <a:solidFill>
                  <a:srgbClr val="A61B00"/>
                </a:solidFill>
                <a:latin typeface="Times New Roman"/>
                <a:cs typeface="Times New Roman"/>
              </a:rPr>
              <a:t> </a:t>
            </a:r>
            <a:r>
              <a:rPr sz="1100" b="1" i="1" spc="-25" dirty="0">
                <a:solidFill>
                  <a:srgbClr val="6AA84F"/>
                </a:solidFill>
                <a:latin typeface="Times New Roman"/>
                <a:cs typeface="Times New Roman"/>
              </a:rPr>
              <a:t>The </a:t>
            </a:r>
            <a:r>
              <a:rPr sz="1100" b="1" i="1" dirty="0">
                <a:solidFill>
                  <a:srgbClr val="6AA84F"/>
                </a:solidFill>
                <a:latin typeface="Times New Roman"/>
                <a:cs typeface="Times New Roman"/>
              </a:rPr>
              <a:t>answer</a:t>
            </a:r>
            <a:r>
              <a:rPr sz="1100" b="1" i="1" spc="-15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6AA84F"/>
                </a:solidFill>
                <a:latin typeface="Times New Roman"/>
                <a:cs typeface="Times New Roman"/>
              </a:rPr>
              <a:t>is</a:t>
            </a:r>
            <a:r>
              <a:rPr sz="1100" b="1" i="1" spc="-10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100" b="1" i="1" spc="-25" dirty="0">
                <a:solidFill>
                  <a:srgbClr val="6AA84F"/>
                </a:solidFill>
                <a:latin typeface="Times New Roman"/>
                <a:cs typeface="Times New Roman"/>
              </a:rPr>
              <a:t>11.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5553" y="1078993"/>
            <a:ext cx="2702966" cy="335167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6350" y="4297635"/>
            <a:ext cx="7663815" cy="5346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intermediate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computation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help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final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answer.</a:t>
            </a:r>
            <a:endParaRPr sz="16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90"/>
              </a:spcBef>
            </a:pPr>
            <a:r>
              <a:rPr sz="1400" dirty="0">
                <a:latin typeface="Arial"/>
                <a:cs typeface="Arial"/>
              </a:rPr>
              <a:t>(Wei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al.,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2022)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Ablation</a:t>
            </a:r>
            <a:r>
              <a:rPr spc="-20" dirty="0"/>
              <a:t> </a:t>
            </a:r>
            <a:r>
              <a:rPr dirty="0"/>
              <a:t>Study</a:t>
            </a:r>
            <a:r>
              <a:rPr spc="-2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25" dirty="0"/>
              <a:t>Variations</a:t>
            </a:r>
            <a:r>
              <a:rPr spc="-20" dirty="0"/>
              <a:t> </a:t>
            </a:r>
            <a:r>
              <a:rPr dirty="0"/>
              <a:t>of </a:t>
            </a:r>
            <a:r>
              <a:rPr b="1" spc="-10" dirty="0">
                <a:latin typeface="Times New Roman"/>
                <a:cs typeface="Times New Roman"/>
              </a:rPr>
              <a:t>Few-</a:t>
            </a:r>
            <a:r>
              <a:rPr b="1" dirty="0">
                <a:latin typeface="Times New Roman"/>
                <a:cs typeface="Times New Roman"/>
              </a:rPr>
              <a:t>Shot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CoT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35772"/>
            <a:ext cx="21018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CoT: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850" y="1823865"/>
            <a:ext cx="2885440" cy="1747520"/>
            <a:chOff x="73850" y="1823865"/>
            <a:chExt cx="2885440" cy="17475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50" y="1823865"/>
              <a:ext cx="2885025" cy="17475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5200" y="2350349"/>
              <a:ext cx="2795270" cy="262890"/>
            </a:xfrm>
            <a:custGeom>
              <a:avLst/>
              <a:gdLst/>
              <a:ahLst/>
              <a:cxnLst/>
              <a:rect l="l" t="t" r="r" b="b"/>
              <a:pathLst>
                <a:path w="2795270" h="262889">
                  <a:moveTo>
                    <a:pt x="0" y="0"/>
                  </a:moveTo>
                  <a:lnTo>
                    <a:pt x="2794799" y="0"/>
                  </a:lnTo>
                  <a:lnTo>
                    <a:pt x="2794799" y="262799"/>
                  </a:lnTo>
                  <a:lnTo>
                    <a:pt x="0" y="2627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135812" y="2652237"/>
            <a:ext cx="731520" cy="272415"/>
            <a:chOff x="3135812" y="2652237"/>
            <a:chExt cx="731520" cy="272415"/>
          </a:xfrm>
        </p:grpSpPr>
        <p:sp>
          <p:nvSpPr>
            <p:cNvPr id="8" name="object 8"/>
            <p:cNvSpPr/>
            <p:nvPr/>
          </p:nvSpPr>
          <p:spPr>
            <a:xfrm>
              <a:off x="3140574" y="2657000"/>
              <a:ext cx="721995" cy="262890"/>
            </a:xfrm>
            <a:custGeom>
              <a:avLst/>
              <a:gdLst/>
              <a:ahLst/>
              <a:cxnLst/>
              <a:rect l="l" t="t" r="r" b="b"/>
              <a:pathLst>
                <a:path w="721995" h="262889">
                  <a:moveTo>
                    <a:pt x="590399" y="262799"/>
                  </a:moveTo>
                  <a:lnTo>
                    <a:pt x="590399" y="197099"/>
                  </a:lnTo>
                  <a:lnTo>
                    <a:pt x="0" y="197099"/>
                  </a:lnTo>
                  <a:lnTo>
                    <a:pt x="0" y="65699"/>
                  </a:lnTo>
                  <a:lnTo>
                    <a:pt x="590399" y="65699"/>
                  </a:lnTo>
                  <a:lnTo>
                    <a:pt x="590399" y="0"/>
                  </a:lnTo>
                  <a:lnTo>
                    <a:pt x="721799" y="131399"/>
                  </a:lnTo>
                  <a:lnTo>
                    <a:pt x="590399" y="262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40574" y="2657000"/>
              <a:ext cx="721995" cy="262890"/>
            </a:xfrm>
            <a:custGeom>
              <a:avLst/>
              <a:gdLst/>
              <a:ahLst/>
              <a:cxnLst/>
              <a:rect l="l" t="t" r="r" b="b"/>
              <a:pathLst>
                <a:path w="721995" h="262889">
                  <a:moveTo>
                    <a:pt x="0" y="65699"/>
                  </a:moveTo>
                  <a:lnTo>
                    <a:pt x="590399" y="65699"/>
                  </a:lnTo>
                  <a:lnTo>
                    <a:pt x="590399" y="0"/>
                  </a:lnTo>
                  <a:lnTo>
                    <a:pt x="721799" y="131399"/>
                  </a:lnTo>
                  <a:lnTo>
                    <a:pt x="590399" y="262799"/>
                  </a:lnTo>
                  <a:lnTo>
                    <a:pt x="590399" y="197099"/>
                  </a:lnTo>
                  <a:lnTo>
                    <a:pt x="0" y="197099"/>
                  </a:lnTo>
                  <a:lnTo>
                    <a:pt x="0" y="65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83024" y="2368250"/>
            <a:ext cx="2327910" cy="1346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Reasoning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answer</a:t>
            </a:r>
            <a:endParaRPr sz="1400">
              <a:latin typeface="Times New Roman"/>
              <a:cs typeface="Times New Roman"/>
            </a:endParaRPr>
          </a:p>
          <a:p>
            <a:pPr marL="1226820" marR="5080">
              <a:lnSpc>
                <a:spcPct val="100000"/>
              </a:lnSpc>
              <a:spcBef>
                <a:spcPts val="800"/>
              </a:spcBef>
            </a:pPr>
            <a:r>
              <a:rPr sz="1100" b="1" i="1" dirty="0">
                <a:solidFill>
                  <a:srgbClr val="6AA84F"/>
                </a:solidFill>
                <a:latin typeface="Times New Roman"/>
                <a:cs typeface="Times New Roman"/>
              </a:rPr>
              <a:t>The</a:t>
            </a:r>
            <a:r>
              <a:rPr sz="1100" b="1" i="1" spc="-25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6AA84F"/>
                </a:solidFill>
                <a:latin typeface="Times New Roman"/>
                <a:cs typeface="Times New Roman"/>
              </a:rPr>
              <a:t>answer</a:t>
            </a:r>
            <a:r>
              <a:rPr sz="1100" b="1" i="1" spc="-15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6AA84F"/>
                </a:solidFill>
                <a:latin typeface="Times New Roman"/>
                <a:cs typeface="Times New Roman"/>
              </a:rPr>
              <a:t>is</a:t>
            </a:r>
            <a:r>
              <a:rPr sz="1100" b="1" i="1" spc="-10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100" b="1" i="1" spc="-25" dirty="0">
                <a:solidFill>
                  <a:srgbClr val="6AA84F"/>
                </a:solidFill>
                <a:latin typeface="Times New Roman"/>
                <a:cs typeface="Times New Roman"/>
              </a:rPr>
              <a:t>11.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Roger</a:t>
            </a:r>
            <a:r>
              <a:rPr sz="1100" b="1" i="1" spc="-20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started</a:t>
            </a:r>
            <a:r>
              <a:rPr sz="1100" b="1" i="1" spc="-20" dirty="0">
                <a:solidFill>
                  <a:srgbClr val="980000"/>
                </a:solidFill>
                <a:latin typeface="Times New Roman"/>
                <a:cs typeface="Times New Roman"/>
              </a:rPr>
              <a:t> with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5</a:t>
            </a:r>
            <a:r>
              <a:rPr sz="1100" b="1" i="1" spc="-1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balls.</a:t>
            </a:r>
            <a:r>
              <a:rPr sz="1100" b="1" i="1" spc="-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2 cans</a:t>
            </a:r>
            <a:r>
              <a:rPr sz="1100" b="1" i="1" spc="-10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of </a:t>
            </a:r>
            <a:r>
              <a:rPr sz="1100" b="1" i="1" spc="-50" dirty="0">
                <a:solidFill>
                  <a:srgbClr val="980000"/>
                </a:solidFill>
                <a:latin typeface="Times New Roman"/>
                <a:cs typeface="Times New Roman"/>
              </a:rPr>
              <a:t>3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tennis</a:t>
            </a:r>
            <a:r>
              <a:rPr sz="1100" b="1" i="1" spc="-20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balls</a:t>
            </a:r>
            <a:r>
              <a:rPr sz="1100" b="1" i="1" spc="-1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each</a:t>
            </a:r>
            <a:r>
              <a:rPr sz="1100" b="1" i="1" spc="-1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spc="-25" dirty="0">
                <a:solidFill>
                  <a:srgbClr val="980000"/>
                </a:solidFill>
                <a:latin typeface="Times New Roman"/>
                <a:cs typeface="Times New Roman"/>
              </a:rPr>
              <a:t>is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6</a:t>
            </a:r>
            <a:r>
              <a:rPr sz="1100" b="1" i="1" spc="-10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tennis</a:t>
            </a:r>
            <a:r>
              <a:rPr sz="1100" b="1" i="1" spc="-10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balls.</a:t>
            </a:r>
            <a:r>
              <a:rPr sz="1100" b="1" i="1" spc="-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5</a:t>
            </a:r>
            <a:r>
              <a:rPr sz="1100" b="1" i="1" spc="-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spc="-50" dirty="0">
                <a:solidFill>
                  <a:srgbClr val="980000"/>
                </a:solidFill>
                <a:latin typeface="Times New Roman"/>
                <a:cs typeface="Times New Roman"/>
              </a:rPr>
              <a:t>+</a:t>
            </a:r>
            <a:endParaRPr sz="1100">
              <a:latin typeface="Times New Roman"/>
              <a:cs typeface="Times New Roman"/>
            </a:endParaRPr>
          </a:p>
          <a:p>
            <a:pPr marL="1226820">
              <a:lnSpc>
                <a:spcPct val="100000"/>
              </a:lnSpc>
            </a:pP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6 =</a:t>
            </a:r>
            <a:r>
              <a:rPr sz="1100" b="1" i="1" spc="-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spc="-25" dirty="0">
                <a:solidFill>
                  <a:srgbClr val="980000"/>
                </a:solidFill>
                <a:latin typeface="Times New Roman"/>
                <a:cs typeface="Times New Roman"/>
              </a:rPr>
              <a:t>11.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Ablation</a:t>
            </a:r>
            <a:r>
              <a:rPr spc="-20" dirty="0"/>
              <a:t> </a:t>
            </a:r>
            <a:r>
              <a:rPr dirty="0"/>
              <a:t>Study</a:t>
            </a:r>
            <a:r>
              <a:rPr spc="-2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25" dirty="0"/>
              <a:t>Variations</a:t>
            </a:r>
            <a:r>
              <a:rPr spc="-20" dirty="0"/>
              <a:t> </a:t>
            </a:r>
            <a:r>
              <a:rPr dirty="0"/>
              <a:t>of </a:t>
            </a:r>
            <a:r>
              <a:rPr b="1" spc="-10" dirty="0">
                <a:latin typeface="Times New Roman"/>
                <a:cs typeface="Times New Roman"/>
              </a:rPr>
              <a:t>Few-</a:t>
            </a:r>
            <a:r>
              <a:rPr b="1" dirty="0">
                <a:latin typeface="Times New Roman"/>
                <a:cs typeface="Times New Roman"/>
              </a:rPr>
              <a:t>Shot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CoT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35772"/>
            <a:ext cx="21018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CoT: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850" y="1823865"/>
            <a:ext cx="2885440" cy="1747520"/>
            <a:chOff x="73850" y="1823865"/>
            <a:chExt cx="2885440" cy="17475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50" y="1823865"/>
              <a:ext cx="2885025" cy="17475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5200" y="2350349"/>
              <a:ext cx="2795270" cy="262890"/>
            </a:xfrm>
            <a:custGeom>
              <a:avLst/>
              <a:gdLst/>
              <a:ahLst/>
              <a:cxnLst/>
              <a:rect l="l" t="t" r="r" b="b"/>
              <a:pathLst>
                <a:path w="2795270" h="262889">
                  <a:moveTo>
                    <a:pt x="0" y="0"/>
                  </a:moveTo>
                  <a:lnTo>
                    <a:pt x="2794799" y="0"/>
                  </a:lnTo>
                  <a:lnTo>
                    <a:pt x="2794799" y="262799"/>
                  </a:lnTo>
                  <a:lnTo>
                    <a:pt x="0" y="2627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135812" y="2652237"/>
            <a:ext cx="731520" cy="272415"/>
            <a:chOff x="3135812" y="2652237"/>
            <a:chExt cx="731520" cy="272415"/>
          </a:xfrm>
        </p:grpSpPr>
        <p:sp>
          <p:nvSpPr>
            <p:cNvPr id="8" name="object 8"/>
            <p:cNvSpPr/>
            <p:nvPr/>
          </p:nvSpPr>
          <p:spPr>
            <a:xfrm>
              <a:off x="3140574" y="2657000"/>
              <a:ext cx="721995" cy="262890"/>
            </a:xfrm>
            <a:custGeom>
              <a:avLst/>
              <a:gdLst/>
              <a:ahLst/>
              <a:cxnLst/>
              <a:rect l="l" t="t" r="r" b="b"/>
              <a:pathLst>
                <a:path w="721995" h="262889">
                  <a:moveTo>
                    <a:pt x="590399" y="262799"/>
                  </a:moveTo>
                  <a:lnTo>
                    <a:pt x="590399" y="197099"/>
                  </a:lnTo>
                  <a:lnTo>
                    <a:pt x="0" y="197099"/>
                  </a:lnTo>
                  <a:lnTo>
                    <a:pt x="0" y="65699"/>
                  </a:lnTo>
                  <a:lnTo>
                    <a:pt x="590399" y="65699"/>
                  </a:lnTo>
                  <a:lnTo>
                    <a:pt x="590399" y="0"/>
                  </a:lnTo>
                  <a:lnTo>
                    <a:pt x="721799" y="131399"/>
                  </a:lnTo>
                  <a:lnTo>
                    <a:pt x="590399" y="262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40574" y="2657000"/>
              <a:ext cx="721995" cy="262890"/>
            </a:xfrm>
            <a:custGeom>
              <a:avLst/>
              <a:gdLst/>
              <a:ahLst/>
              <a:cxnLst/>
              <a:rect l="l" t="t" r="r" b="b"/>
              <a:pathLst>
                <a:path w="721995" h="262889">
                  <a:moveTo>
                    <a:pt x="0" y="65699"/>
                  </a:moveTo>
                  <a:lnTo>
                    <a:pt x="590399" y="65699"/>
                  </a:lnTo>
                  <a:lnTo>
                    <a:pt x="590399" y="0"/>
                  </a:lnTo>
                  <a:lnTo>
                    <a:pt x="721799" y="131399"/>
                  </a:lnTo>
                  <a:lnTo>
                    <a:pt x="590399" y="262799"/>
                  </a:lnTo>
                  <a:lnTo>
                    <a:pt x="590399" y="197099"/>
                  </a:lnTo>
                  <a:lnTo>
                    <a:pt x="0" y="197099"/>
                  </a:lnTo>
                  <a:lnTo>
                    <a:pt x="0" y="65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83024" y="2368250"/>
            <a:ext cx="2327910" cy="1346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Reasoning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after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answer</a:t>
            </a:r>
            <a:endParaRPr sz="1400">
              <a:latin typeface="Times New Roman"/>
              <a:cs typeface="Times New Roman"/>
            </a:endParaRPr>
          </a:p>
          <a:p>
            <a:pPr marL="1226820" marR="5080">
              <a:lnSpc>
                <a:spcPct val="100000"/>
              </a:lnSpc>
              <a:spcBef>
                <a:spcPts val="800"/>
              </a:spcBef>
            </a:pPr>
            <a:r>
              <a:rPr sz="1100" b="1" i="1" dirty="0">
                <a:solidFill>
                  <a:srgbClr val="6AA84F"/>
                </a:solidFill>
                <a:latin typeface="Times New Roman"/>
                <a:cs typeface="Times New Roman"/>
              </a:rPr>
              <a:t>The</a:t>
            </a:r>
            <a:r>
              <a:rPr sz="1100" b="1" i="1" spc="-25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6AA84F"/>
                </a:solidFill>
                <a:latin typeface="Times New Roman"/>
                <a:cs typeface="Times New Roman"/>
              </a:rPr>
              <a:t>answer</a:t>
            </a:r>
            <a:r>
              <a:rPr sz="1100" b="1" i="1" spc="-15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6AA84F"/>
                </a:solidFill>
                <a:latin typeface="Times New Roman"/>
                <a:cs typeface="Times New Roman"/>
              </a:rPr>
              <a:t>is</a:t>
            </a:r>
            <a:r>
              <a:rPr sz="1100" b="1" i="1" spc="-10" dirty="0">
                <a:solidFill>
                  <a:srgbClr val="6AA84F"/>
                </a:solidFill>
                <a:latin typeface="Times New Roman"/>
                <a:cs typeface="Times New Roman"/>
              </a:rPr>
              <a:t> </a:t>
            </a:r>
            <a:r>
              <a:rPr sz="1100" b="1" i="1" spc="-25" dirty="0">
                <a:solidFill>
                  <a:srgbClr val="6AA84F"/>
                </a:solidFill>
                <a:latin typeface="Times New Roman"/>
                <a:cs typeface="Times New Roman"/>
              </a:rPr>
              <a:t>11.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Roger</a:t>
            </a:r>
            <a:r>
              <a:rPr sz="1100" b="1" i="1" spc="-20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started</a:t>
            </a:r>
            <a:r>
              <a:rPr sz="1100" b="1" i="1" spc="-20" dirty="0">
                <a:solidFill>
                  <a:srgbClr val="980000"/>
                </a:solidFill>
                <a:latin typeface="Times New Roman"/>
                <a:cs typeface="Times New Roman"/>
              </a:rPr>
              <a:t> with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5</a:t>
            </a:r>
            <a:r>
              <a:rPr sz="1100" b="1" i="1" spc="-1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balls.</a:t>
            </a:r>
            <a:r>
              <a:rPr sz="1100" b="1" i="1" spc="-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2 cans</a:t>
            </a:r>
            <a:r>
              <a:rPr sz="1100" b="1" i="1" spc="-10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of </a:t>
            </a:r>
            <a:r>
              <a:rPr sz="1100" b="1" i="1" spc="-50" dirty="0">
                <a:solidFill>
                  <a:srgbClr val="980000"/>
                </a:solidFill>
                <a:latin typeface="Times New Roman"/>
                <a:cs typeface="Times New Roman"/>
              </a:rPr>
              <a:t>3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tennis</a:t>
            </a:r>
            <a:r>
              <a:rPr sz="1100" b="1" i="1" spc="-20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balls</a:t>
            </a:r>
            <a:r>
              <a:rPr sz="1100" b="1" i="1" spc="-1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each</a:t>
            </a:r>
            <a:r>
              <a:rPr sz="1100" b="1" i="1" spc="-1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spc="-25" dirty="0">
                <a:solidFill>
                  <a:srgbClr val="980000"/>
                </a:solidFill>
                <a:latin typeface="Times New Roman"/>
                <a:cs typeface="Times New Roman"/>
              </a:rPr>
              <a:t>is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6</a:t>
            </a:r>
            <a:r>
              <a:rPr sz="1100" b="1" i="1" spc="-10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tennis</a:t>
            </a:r>
            <a:r>
              <a:rPr sz="1100" b="1" i="1" spc="-10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balls.</a:t>
            </a:r>
            <a:r>
              <a:rPr sz="1100" b="1" i="1" spc="-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5</a:t>
            </a:r>
            <a:r>
              <a:rPr sz="1100" b="1" i="1" spc="-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spc="-50" dirty="0">
                <a:solidFill>
                  <a:srgbClr val="980000"/>
                </a:solidFill>
                <a:latin typeface="Times New Roman"/>
                <a:cs typeface="Times New Roman"/>
              </a:rPr>
              <a:t>+</a:t>
            </a:r>
            <a:endParaRPr sz="1100">
              <a:latin typeface="Times New Roman"/>
              <a:cs typeface="Times New Roman"/>
            </a:endParaRPr>
          </a:p>
          <a:p>
            <a:pPr marL="1226820">
              <a:lnSpc>
                <a:spcPct val="100000"/>
              </a:lnSpc>
            </a:pPr>
            <a:r>
              <a:rPr sz="1100" b="1" i="1" dirty="0">
                <a:solidFill>
                  <a:srgbClr val="980000"/>
                </a:solidFill>
                <a:latin typeface="Times New Roman"/>
                <a:cs typeface="Times New Roman"/>
              </a:rPr>
              <a:t>6 =</a:t>
            </a:r>
            <a:r>
              <a:rPr sz="1100" b="1" i="1" spc="-5" dirty="0">
                <a:solidFill>
                  <a:srgbClr val="980000"/>
                </a:solidFill>
                <a:latin typeface="Times New Roman"/>
                <a:cs typeface="Times New Roman"/>
              </a:rPr>
              <a:t> </a:t>
            </a:r>
            <a:r>
              <a:rPr sz="1100" b="1" i="1" spc="-25" dirty="0">
                <a:solidFill>
                  <a:srgbClr val="980000"/>
                </a:solidFill>
                <a:latin typeface="Times New Roman"/>
                <a:cs typeface="Times New Roman"/>
              </a:rPr>
              <a:t>11.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5553" y="1078993"/>
            <a:ext cx="2702966" cy="335167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732100" y="4537138"/>
            <a:ext cx="13754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(Wei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al.,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2022)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436350" y="4325122"/>
            <a:ext cx="46958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just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activating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knowledge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seen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pre-training.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Ablation</a:t>
            </a:r>
            <a:r>
              <a:rPr spc="-10" dirty="0"/>
              <a:t> </a:t>
            </a:r>
            <a:r>
              <a:rPr dirty="0"/>
              <a:t>Study</a:t>
            </a:r>
            <a:r>
              <a:rPr spc="-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Robustness</a:t>
            </a:r>
            <a:r>
              <a:rPr spc="-10" dirty="0"/>
              <a:t> </a:t>
            </a:r>
            <a:r>
              <a:rPr dirty="0"/>
              <a:t>(Style</a:t>
            </a:r>
            <a:r>
              <a:rPr spc="-1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Exemplar)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7372"/>
            <a:ext cx="38906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style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exemplar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few-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CoT</a:t>
            </a:r>
            <a:r>
              <a:rPr sz="1600" spc="-20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76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5553" y="954733"/>
            <a:ext cx="2416455" cy="323805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00224" y="1719618"/>
            <a:ext cx="3424554" cy="2074545"/>
            <a:chOff x="400224" y="1719618"/>
            <a:chExt cx="3424554" cy="20745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0224" y="1719618"/>
              <a:ext cx="3423974" cy="207395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1399" y="2359024"/>
              <a:ext cx="3269615" cy="262890"/>
            </a:xfrm>
            <a:custGeom>
              <a:avLst/>
              <a:gdLst/>
              <a:ahLst/>
              <a:cxnLst/>
              <a:rect l="l" t="t" r="r" b="b"/>
              <a:pathLst>
                <a:path w="3269615" h="262889">
                  <a:moveTo>
                    <a:pt x="0" y="0"/>
                  </a:moveTo>
                  <a:lnTo>
                    <a:pt x="3269399" y="0"/>
                  </a:lnTo>
                  <a:lnTo>
                    <a:pt x="3269399" y="262799"/>
                  </a:lnTo>
                  <a:lnTo>
                    <a:pt x="0" y="2627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74425" y="4161657"/>
            <a:ext cx="7720965" cy="8832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86740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latin typeface="Arial"/>
                <a:cs typeface="Arial"/>
              </a:rPr>
              <a:t>(Wei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al.,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2022)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55"/>
              </a:spcBef>
            </a:pPr>
            <a:r>
              <a:rPr sz="1600" dirty="0">
                <a:latin typeface="Times New Roman"/>
                <a:cs typeface="Times New Roman"/>
              </a:rPr>
              <a:t>Results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b="1" spc="-10" dirty="0">
                <a:latin typeface="Times New Roman"/>
                <a:cs typeface="Times New Roman"/>
              </a:rPr>
              <a:t>few-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LaMDA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137B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two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AR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tasks: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variance,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still</a:t>
            </a:r>
            <a:r>
              <a:rPr sz="1600" spc="-10" dirty="0">
                <a:latin typeface="Times New Roman"/>
                <a:cs typeface="Times New Roman"/>
              </a:rPr>
              <a:t> outperforms </a:t>
            </a:r>
            <a:r>
              <a:rPr sz="1600" dirty="0">
                <a:latin typeface="Times New Roman"/>
                <a:cs typeface="Times New Roman"/>
              </a:rPr>
              <a:t>standard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prompting,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robust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against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linguistic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styles,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different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exemplars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Ablation</a:t>
            </a:r>
            <a:r>
              <a:rPr spc="-45" dirty="0"/>
              <a:t> </a:t>
            </a:r>
            <a:r>
              <a:rPr dirty="0"/>
              <a:t>Study</a:t>
            </a:r>
            <a:r>
              <a:rPr spc="-3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Robustness</a:t>
            </a:r>
            <a:r>
              <a:rPr spc="-35" dirty="0"/>
              <a:t> </a:t>
            </a:r>
            <a:r>
              <a:rPr dirty="0"/>
              <a:t>(Trigger</a:t>
            </a:r>
            <a:r>
              <a:rPr spc="-30" dirty="0"/>
              <a:t> </a:t>
            </a:r>
            <a:r>
              <a:rPr spc="-10" dirty="0"/>
              <a:t>Sentence)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54720"/>
            <a:ext cx="3378835" cy="5867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template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(trigger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sentence)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600" b="1" spc="-10" dirty="0">
                <a:latin typeface="Times New Roman"/>
                <a:cs typeface="Times New Roman"/>
              </a:rPr>
              <a:t>zero-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CoT</a:t>
            </a:r>
            <a:r>
              <a:rPr sz="1600" spc="-20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77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475" y="3540913"/>
            <a:ext cx="7480934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17500" algn="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(Kojima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al.,</a:t>
            </a:r>
            <a:r>
              <a:rPr sz="1400" spc="-20" dirty="0">
                <a:latin typeface="Arial"/>
                <a:cs typeface="Arial"/>
              </a:rPr>
              <a:t> 2022)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Results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zero-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GPT3</a:t>
            </a:r>
            <a:r>
              <a:rPr sz="1600" spc="-10" dirty="0">
                <a:latin typeface="Times New Roman"/>
                <a:cs typeface="Times New Roman"/>
              </a:rPr>
              <a:t> (davinci-</a:t>
            </a:r>
            <a:r>
              <a:rPr sz="1600" dirty="0">
                <a:latin typeface="Times New Roman"/>
                <a:cs typeface="Times New Roman"/>
              </a:rPr>
              <a:t>002)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175B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MultiArith </a:t>
            </a:r>
            <a:r>
              <a:rPr sz="1600" b="1" dirty="0">
                <a:latin typeface="Times New Roman"/>
                <a:cs typeface="Times New Roman"/>
              </a:rPr>
              <a:t>AR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task: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different</a:t>
            </a:r>
            <a:r>
              <a:rPr sz="1600" spc="-10" dirty="0">
                <a:latin typeface="Times New Roman"/>
                <a:cs typeface="Times New Roman"/>
              </a:rPr>
              <a:t> templates </a:t>
            </a:r>
            <a:r>
              <a:rPr sz="1600" dirty="0">
                <a:latin typeface="Times New Roman"/>
                <a:cs typeface="Times New Roman"/>
              </a:rPr>
              <a:t>encourage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express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quite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differently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2556" y="1454644"/>
            <a:ext cx="4342690" cy="200431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36930" y="1784559"/>
            <a:ext cx="3362960" cy="1289685"/>
            <a:chOff x="436930" y="1784559"/>
            <a:chExt cx="3362960" cy="128968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930" y="1784559"/>
              <a:ext cx="3362376" cy="128955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4450" y="2328228"/>
              <a:ext cx="1506855" cy="243840"/>
            </a:xfrm>
            <a:custGeom>
              <a:avLst/>
              <a:gdLst/>
              <a:ahLst/>
              <a:cxnLst/>
              <a:rect l="l" t="t" r="r" b="b"/>
              <a:pathLst>
                <a:path w="1506855" h="243839">
                  <a:moveTo>
                    <a:pt x="0" y="0"/>
                  </a:moveTo>
                  <a:lnTo>
                    <a:pt x="1506299" y="0"/>
                  </a:lnTo>
                  <a:lnTo>
                    <a:pt x="1506299" y="243599"/>
                  </a:lnTo>
                  <a:lnTo>
                    <a:pt x="0" y="243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Ablation</a:t>
            </a:r>
            <a:r>
              <a:rPr spc="-10" dirty="0"/>
              <a:t> </a:t>
            </a:r>
            <a:r>
              <a:rPr dirty="0"/>
              <a:t>Study</a:t>
            </a:r>
            <a:r>
              <a:rPr spc="-1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Model</a:t>
            </a:r>
            <a:r>
              <a:rPr spc="-10" dirty="0"/>
              <a:t> </a:t>
            </a:r>
            <a:r>
              <a:rPr spc="-20" dirty="0"/>
              <a:t>Size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56597"/>
            <a:ext cx="35179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sizes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prompting: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78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9200" y="3804722"/>
            <a:ext cx="47485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Results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MultiArith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AR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different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sizes: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096" y="4048562"/>
            <a:ext cx="445071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Larger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model,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better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reasoning</a:t>
            </a:r>
            <a:endParaRPr sz="1600">
              <a:latin typeface="Times New Roman"/>
              <a:cs typeface="Times New Roman"/>
            </a:endParaRPr>
          </a:p>
          <a:p>
            <a:pPr marL="3638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effective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only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larger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models</a:t>
            </a:r>
            <a:endParaRPr sz="1600">
              <a:latin typeface="Times New Roman"/>
              <a:cs typeface="Times New Roman"/>
            </a:endParaRPr>
          </a:p>
          <a:p>
            <a:pPr marL="3638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spc="-10" dirty="0">
                <a:latin typeface="Times New Roman"/>
                <a:cs typeface="Times New Roman"/>
              </a:rPr>
              <a:t>Few-</a:t>
            </a:r>
            <a:r>
              <a:rPr sz="1600" dirty="0">
                <a:latin typeface="Times New Roman"/>
                <a:cs typeface="Times New Roman"/>
              </a:rPr>
              <a:t>shot better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zero-</a:t>
            </a:r>
            <a:r>
              <a:rPr sz="1600" spc="-20" dirty="0">
                <a:latin typeface="Times New Roman"/>
                <a:cs typeface="Times New Roman"/>
              </a:rPr>
              <a:t>shot</a:t>
            </a:r>
            <a:endParaRPr sz="1600">
              <a:latin typeface="Times New Roman"/>
              <a:cs typeface="Times New Roman"/>
            </a:endParaRPr>
          </a:p>
          <a:p>
            <a:pPr marL="363855" indent="-351790">
              <a:lnSpc>
                <a:spcPct val="100000"/>
              </a:lnSpc>
              <a:buFont typeface="Arial"/>
              <a:buChar char="●"/>
              <a:tabLst>
                <a:tab pos="363855" algn="l"/>
                <a:tab pos="364490" algn="l"/>
              </a:tabLst>
            </a:pPr>
            <a:r>
              <a:rPr sz="1600" dirty="0">
                <a:latin typeface="Times New Roman"/>
                <a:cs typeface="Times New Roman"/>
              </a:rPr>
              <a:t>Instruct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much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better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original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GPT-</a:t>
            </a:r>
            <a:r>
              <a:rPr sz="1600" spc="-50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369" y="1551799"/>
            <a:ext cx="6621061" cy="18057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293074" y="1260662"/>
            <a:ext cx="1615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(Kojima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al.,</a:t>
            </a:r>
            <a:r>
              <a:rPr sz="1400" spc="-20" dirty="0">
                <a:latin typeface="Arial"/>
                <a:cs typeface="Arial"/>
              </a:rPr>
              <a:t> 2022)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79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Pre-</a:t>
            </a:r>
            <a:r>
              <a:rPr dirty="0"/>
              <a:t>Lecture</a:t>
            </a:r>
            <a:r>
              <a:rPr spc="-20" dirty="0"/>
              <a:t> </a:t>
            </a:r>
            <a:r>
              <a:rPr dirty="0"/>
              <a:t>Question</a:t>
            </a:r>
            <a:r>
              <a:rPr spc="-10" dirty="0"/>
              <a:t> </a:t>
            </a:r>
            <a:r>
              <a:rPr spc="-50" dirty="0"/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075" y="1049170"/>
            <a:ext cx="7880984" cy="329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6995">
              <a:lnSpc>
                <a:spcPct val="114999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Q1: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Describe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how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two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approaches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from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(Wei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al.,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2022)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(Kojima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al.,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2022)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are </a:t>
            </a:r>
            <a:r>
              <a:rPr sz="1600" b="1" dirty="0">
                <a:latin typeface="Times New Roman"/>
                <a:cs typeface="Times New Roman"/>
              </a:rPr>
              <a:t>different.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Which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one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do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you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think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is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more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viable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solution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terms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cost,</a:t>
            </a:r>
            <a:r>
              <a:rPr sz="1600" b="1" spc="-10" dirty="0">
                <a:latin typeface="Times New Roman"/>
                <a:cs typeface="Times New Roman"/>
              </a:rPr>
              <a:t> performance </a:t>
            </a:r>
            <a:r>
              <a:rPr sz="1600" b="1" dirty="0">
                <a:latin typeface="Times New Roman"/>
                <a:cs typeface="Times New Roman"/>
              </a:rPr>
              <a:t>and </a:t>
            </a:r>
            <a:r>
              <a:rPr sz="1600" b="1" spc="-10" dirty="0">
                <a:latin typeface="Times New Roman"/>
                <a:cs typeface="Times New Roman"/>
              </a:rPr>
              <a:t>stability?</a:t>
            </a:r>
            <a:endParaRPr sz="1600">
              <a:latin typeface="Times New Roman"/>
              <a:cs typeface="Times New Roman"/>
            </a:endParaRPr>
          </a:p>
          <a:p>
            <a:pPr marL="12700" marR="6350">
              <a:lnSpc>
                <a:spcPct val="114999"/>
              </a:lnSpc>
              <a:spcBef>
                <a:spcPts val="1245"/>
              </a:spcBef>
            </a:pPr>
            <a:r>
              <a:rPr sz="1400" spc="-20" dirty="0">
                <a:latin typeface="Times New Roman"/>
                <a:cs typeface="Times New Roman"/>
              </a:rPr>
              <a:t>Wei's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few-</a:t>
            </a:r>
            <a:r>
              <a:rPr sz="1400" dirty="0">
                <a:latin typeface="Times New Roman"/>
                <a:cs typeface="Times New Roman"/>
              </a:rPr>
              <a:t>shot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setting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several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demonstration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examples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required,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annotations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need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example,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while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Kojima's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LLM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generate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two-stage </a:t>
            </a:r>
            <a:r>
              <a:rPr sz="1400" dirty="0">
                <a:latin typeface="Times New Roman"/>
                <a:cs typeface="Times New Roman"/>
              </a:rPr>
              <a:t>prompting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longer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requires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annotated</a:t>
            </a:r>
            <a:r>
              <a:rPr sz="1400" spc="-10" dirty="0">
                <a:latin typeface="Times New Roman"/>
                <a:cs typeface="Times New Roman"/>
              </a:rPr>
              <a:t> examples.</a:t>
            </a:r>
            <a:endParaRPr sz="1400">
              <a:latin typeface="Times New Roman"/>
              <a:cs typeface="Times New Roman"/>
            </a:endParaRPr>
          </a:p>
          <a:p>
            <a:pPr marL="12700" marR="510540">
              <a:lnSpc>
                <a:spcPct val="114999"/>
              </a:lnSpc>
              <a:spcBef>
                <a:spcPts val="1200"/>
              </a:spcBef>
            </a:pP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most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benchmarks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seen,</a:t>
            </a:r>
            <a:r>
              <a:rPr sz="1400" spc="-10" dirty="0">
                <a:latin typeface="Times New Roman"/>
                <a:cs typeface="Times New Roman"/>
              </a:rPr>
              <a:t> few-</a:t>
            </a:r>
            <a:r>
              <a:rPr sz="1400" dirty="0">
                <a:latin typeface="Times New Roman"/>
                <a:cs typeface="Times New Roman"/>
              </a:rPr>
              <a:t>shot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better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performance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than</a:t>
            </a:r>
            <a:r>
              <a:rPr sz="1400" spc="-10" dirty="0">
                <a:latin typeface="Times New Roman"/>
                <a:cs typeface="Times New Roman"/>
              </a:rPr>
              <a:t> zero-</a:t>
            </a:r>
            <a:r>
              <a:rPr sz="1400" dirty="0">
                <a:latin typeface="Times New Roman"/>
                <a:cs typeface="Times New Roman"/>
              </a:rPr>
              <a:t>shot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CoT,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while zero-</a:t>
            </a:r>
            <a:r>
              <a:rPr sz="1400" dirty="0">
                <a:latin typeface="Times New Roman"/>
                <a:cs typeface="Times New Roman"/>
              </a:rPr>
              <a:t>shot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does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require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human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annotations,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which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costly.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400" dirty="0">
                <a:latin typeface="Times New Roman"/>
                <a:cs typeface="Times New Roman"/>
              </a:rPr>
              <a:t>Although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there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direct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comparison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between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zero-</a:t>
            </a:r>
            <a:r>
              <a:rPr sz="1400" dirty="0">
                <a:latin typeface="Times New Roman"/>
                <a:cs typeface="Times New Roman"/>
              </a:rPr>
              <a:t>shot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few-</a:t>
            </a:r>
            <a:r>
              <a:rPr sz="1400" dirty="0">
                <a:latin typeface="Times New Roman"/>
                <a:cs typeface="Times New Roman"/>
              </a:rPr>
              <a:t>shot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stability,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few-</a:t>
            </a:r>
            <a:r>
              <a:rPr sz="1400" dirty="0">
                <a:latin typeface="Times New Roman"/>
                <a:cs typeface="Times New Roman"/>
              </a:rPr>
              <a:t>shot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seems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be </a:t>
            </a:r>
            <a:r>
              <a:rPr sz="1400" dirty="0">
                <a:latin typeface="Times New Roman"/>
                <a:cs typeface="Times New Roman"/>
              </a:rPr>
              <a:t>more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robust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performance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does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significantly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when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changing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prompt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annotations.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</a:t>
            </a:r>
            <a:r>
              <a:rPr sz="1400" dirty="0">
                <a:latin typeface="Times New Roman"/>
                <a:cs typeface="Times New Roman"/>
              </a:rPr>
              <a:t> other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hand,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zero-</a:t>
            </a:r>
            <a:r>
              <a:rPr sz="1400" dirty="0">
                <a:latin typeface="Times New Roman"/>
                <a:cs typeface="Times New Roman"/>
              </a:rPr>
              <a:t>shot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significant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performance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variance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different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trigger</a:t>
            </a:r>
            <a:r>
              <a:rPr sz="1400" spc="-10" dirty="0">
                <a:latin typeface="Times New Roman"/>
                <a:cs typeface="Times New Roman"/>
              </a:rPr>
              <a:t> sentences.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56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More</a:t>
            </a:r>
            <a:r>
              <a:rPr spc="-180" dirty="0"/>
              <a:t> </a:t>
            </a:r>
            <a:r>
              <a:rPr dirty="0"/>
              <a:t>Advances</a:t>
            </a:r>
            <a:r>
              <a:rPr spc="-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10" dirty="0"/>
              <a:t>Self-Consistency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56597"/>
            <a:ext cx="69900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greedy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decode </a:t>
            </a:r>
            <a:r>
              <a:rPr sz="1600" spc="-10" dirty="0">
                <a:latin typeface="Times New Roman"/>
                <a:cs typeface="Times New Roman"/>
              </a:rPr>
              <a:t>(single-</a:t>
            </a:r>
            <a:r>
              <a:rPr sz="1600" dirty="0">
                <a:latin typeface="Times New Roman"/>
                <a:cs typeface="Times New Roman"/>
              </a:rPr>
              <a:t>path)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self-</a:t>
            </a:r>
            <a:r>
              <a:rPr sz="1600" dirty="0">
                <a:latin typeface="Times New Roman"/>
                <a:cs typeface="Times New Roman"/>
              </a:rPr>
              <a:t>consistency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(multi-</a:t>
            </a:r>
            <a:r>
              <a:rPr sz="1600" dirty="0">
                <a:latin typeface="Times New Roman"/>
                <a:cs typeface="Times New Roman"/>
              </a:rPr>
              <a:t>path)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few-</a:t>
            </a:r>
            <a:r>
              <a:rPr sz="1600" dirty="0">
                <a:latin typeface="Times New Roman"/>
                <a:cs typeface="Times New Roman"/>
              </a:rPr>
              <a:t>shot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CoT: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75" y="1620813"/>
            <a:ext cx="7741562" cy="27470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3925" y="4625248"/>
            <a:ext cx="8239759" cy="3771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ts val="1440"/>
              </a:lnSpc>
              <a:spcBef>
                <a:spcPts val="15"/>
              </a:spcBef>
            </a:pP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Wang,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Xuezhi,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et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al.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"</a:t>
            </a:r>
            <a:r>
              <a:rPr sz="1200" b="1" spc="-10" dirty="0">
                <a:solidFill>
                  <a:srgbClr val="222222"/>
                </a:solidFill>
                <a:latin typeface="Times New Roman"/>
                <a:cs typeface="Times New Roman"/>
              </a:rPr>
              <a:t>Self-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consistency</a:t>
            </a:r>
            <a:r>
              <a:rPr sz="1200" b="1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improves</a:t>
            </a:r>
            <a:r>
              <a:rPr sz="1200" b="1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chain</a:t>
            </a:r>
            <a:r>
              <a:rPr sz="1200" b="1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200" b="1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thought</a:t>
            </a:r>
            <a:r>
              <a:rPr sz="1200" b="1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reasoning</a:t>
            </a:r>
            <a:r>
              <a:rPr sz="1200" b="1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200" b="1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language</a:t>
            </a:r>
            <a:r>
              <a:rPr sz="1200" b="1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models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."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arXiv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preprint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arXiv:2203.11171 (2022).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56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More</a:t>
            </a:r>
            <a:r>
              <a:rPr spc="-180" dirty="0"/>
              <a:t> </a:t>
            </a:r>
            <a:r>
              <a:rPr dirty="0"/>
              <a:t>Advances</a:t>
            </a:r>
            <a:r>
              <a:rPr spc="-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10" dirty="0"/>
              <a:t>Self-Consistency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9199" y="1117246"/>
            <a:ext cx="28917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Showcase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results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AR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FF"/>
                </a:solidFill>
                <a:latin typeface="Times New Roman"/>
                <a:cs typeface="Times New Roman"/>
              </a:rPr>
              <a:t>CR</a:t>
            </a:r>
            <a:r>
              <a:rPr sz="16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tasks: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31400" y="2041474"/>
            <a:ext cx="4231005" cy="1528445"/>
            <a:chOff x="1631400" y="2041474"/>
            <a:chExt cx="4231005" cy="15284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400" y="2111231"/>
              <a:ext cx="2304249" cy="14006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5650" y="2086380"/>
              <a:ext cx="706839" cy="14369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1700" y="2041474"/>
              <a:ext cx="1280674" cy="15278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900324" y="2096550"/>
              <a:ext cx="719455" cy="1410970"/>
            </a:xfrm>
            <a:custGeom>
              <a:avLst/>
              <a:gdLst/>
              <a:ahLst/>
              <a:cxnLst/>
              <a:rect l="l" t="t" r="r" b="b"/>
              <a:pathLst>
                <a:path w="719454" h="1410970">
                  <a:moveTo>
                    <a:pt x="0" y="0"/>
                  </a:moveTo>
                  <a:lnTo>
                    <a:pt x="719399" y="0"/>
                  </a:lnTo>
                  <a:lnTo>
                    <a:pt x="719399" y="1410599"/>
                  </a:lnTo>
                  <a:lnTo>
                    <a:pt x="0" y="1410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46399" y="2093975"/>
              <a:ext cx="1191260" cy="1410970"/>
            </a:xfrm>
            <a:custGeom>
              <a:avLst/>
              <a:gdLst/>
              <a:ahLst/>
              <a:cxnLst/>
              <a:rect l="l" t="t" r="r" b="b"/>
              <a:pathLst>
                <a:path w="1191260" h="1410970">
                  <a:moveTo>
                    <a:pt x="0" y="0"/>
                  </a:moveTo>
                  <a:lnTo>
                    <a:pt x="1190699" y="0"/>
                  </a:lnTo>
                  <a:lnTo>
                    <a:pt x="1190699" y="1410599"/>
                  </a:lnTo>
                  <a:lnTo>
                    <a:pt x="0" y="1410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3925" y="4625248"/>
            <a:ext cx="8239759" cy="3771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ts val="1440"/>
              </a:lnSpc>
              <a:spcBef>
                <a:spcPts val="15"/>
              </a:spcBef>
            </a:pP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Wang,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Xuezhi,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et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al.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"</a:t>
            </a:r>
            <a:r>
              <a:rPr sz="1200" b="1" spc="-10" dirty="0">
                <a:solidFill>
                  <a:srgbClr val="222222"/>
                </a:solidFill>
                <a:latin typeface="Times New Roman"/>
                <a:cs typeface="Times New Roman"/>
              </a:rPr>
              <a:t>Self-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consistency</a:t>
            </a:r>
            <a:r>
              <a:rPr sz="1200" b="1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improves</a:t>
            </a:r>
            <a:r>
              <a:rPr sz="1200" b="1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chain</a:t>
            </a:r>
            <a:r>
              <a:rPr sz="1200" b="1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200" b="1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thought</a:t>
            </a:r>
            <a:r>
              <a:rPr sz="1200" b="1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reasoning</a:t>
            </a:r>
            <a:r>
              <a:rPr sz="1200" b="1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200" b="1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language</a:t>
            </a:r>
            <a:r>
              <a:rPr sz="1200" b="1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2222"/>
                </a:solidFill>
                <a:latin typeface="Times New Roman"/>
                <a:cs typeface="Times New Roman"/>
              </a:rPr>
              <a:t>models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."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arXiv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preprint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arXiv:2203.11171 (2022).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56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More</a:t>
            </a:r>
            <a:r>
              <a:rPr spc="-170" dirty="0"/>
              <a:t> </a:t>
            </a:r>
            <a:r>
              <a:rPr dirty="0"/>
              <a:t>Advances</a:t>
            </a:r>
            <a:r>
              <a:rPr spc="-5" dirty="0"/>
              <a:t> </a:t>
            </a:r>
            <a:r>
              <a:rPr dirty="0"/>
              <a:t>- </a:t>
            </a:r>
            <a:r>
              <a:rPr spc="-10" dirty="0"/>
              <a:t>Input-</a:t>
            </a:r>
            <a:r>
              <a:rPr dirty="0"/>
              <a:t>Rational </a:t>
            </a:r>
            <a:r>
              <a:rPr spc="-10" dirty="0"/>
              <a:t>Ensemble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56597"/>
            <a:ext cx="39446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Use</a:t>
            </a:r>
            <a:r>
              <a:rPr sz="1600" spc="-10" dirty="0">
                <a:latin typeface="Times New Roman"/>
                <a:cs typeface="Times New Roman"/>
              </a:rPr>
              <a:t> model-</a:t>
            </a:r>
            <a:r>
              <a:rPr sz="1600" dirty="0">
                <a:latin typeface="Times New Roman"/>
                <a:cs typeface="Times New Roman"/>
              </a:rPr>
              <a:t>generated rationale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 </a:t>
            </a:r>
            <a:r>
              <a:rPr sz="1600" spc="-10" dirty="0">
                <a:latin typeface="Times New Roman"/>
                <a:cs typeface="Times New Roman"/>
              </a:rPr>
              <a:t>few-</a:t>
            </a:r>
            <a:r>
              <a:rPr sz="1600" dirty="0">
                <a:latin typeface="Times New Roman"/>
                <a:cs typeface="Times New Roman"/>
              </a:rPr>
              <a:t>shot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CoT: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82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521" y="1539371"/>
            <a:ext cx="7973073" cy="291697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4725" y="4681537"/>
            <a:ext cx="6901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Wang,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Xuezhi,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al.</a:t>
            </a:r>
            <a:r>
              <a:rPr sz="1100" spc="-10" dirty="0">
                <a:latin typeface="Times New Roman"/>
                <a:cs typeface="Times New Roman"/>
              </a:rPr>
              <a:t> "</a:t>
            </a:r>
            <a:r>
              <a:rPr sz="1100" b="1" spc="-10" dirty="0">
                <a:latin typeface="Times New Roman"/>
                <a:cs typeface="Times New Roman"/>
              </a:rPr>
              <a:t>Rationale-</a:t>
            </a:r>
            <a:r>
              <a:rPr sz="1100" b="1" dirty="0">
                <a:latin typeface="Times New Roman"/>
                <a:cs typeface="Times New Roman"/>
              </a:rPr>
              <a:t>Augmented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Ensembles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Language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Models</a:t>
            </a:r>
            <a:r>
              <a:rPr sz="1100" dirty="0">
                <a:latin typeface="Times New Roman"/>
                <a:cs typeface="Times New Roman"/>
              </a:rPr>
              <a:t>."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arXiv</a:t>
            </a:r>
            <a:r>
              <a:rPr sz="1100" i="1" spc="-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preprint </a:t>
            </a:r>
            <a:r>
              <a:rPr sz="1100" i="1" dirty="0">
                <a:latin typeface="Times New Roman"/>
                <a:cs typeface="Times New Roman"/>
              </a:rPr>
              <a:t>arXiv:2207.00747</a:t>
            </a:r>
            <a:r>
              <a:rPr sz="1100" i="1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(2022).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More</a:t>
            </a:r>
            <a:r>
              <a:rPr spc="-170" dirty="0"/>
              <a:t> </a:t>
            </a:r>
            <a:r>
              <a:rPr dirty="0"/>
              <a:t>Advances</a:t>
            </a:r>
            <a:r>
              <a:rPr spc="-5" dirty="0"/>
              <a:t> </a:t>
            </a:r>
            <a:r>
              <a:rPr dirty="0"/>
              <a:t>- </a:t>
            </a:r>
            <a:r>
              <a:rPr spc="-10" dirty="0"/>
              <a:t>Input-</a:t>
            </a:r>
            <a:r>
              <a:rPr dirty="0"/>
              <a:t>Rational </a:t>
            </a:r>
            <a:r>
              <a:rPr spc="-10" dirty="0"/>
              <a:t>Ensemble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56597"/>
            <a:ext cx="50780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Showcase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(PaLM-540B):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83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07837" y="1408000"/>
          <a:ext cx="5560695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7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GSM8K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Standard-prompting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17.9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Few-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shot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CoT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(Wei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2022)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56.5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Zero-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shot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CoT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(Kojima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2022)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43.0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Self-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consistency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(Wang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2022)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74.4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Prompt-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order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ensemble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75.4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Input-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rationale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ensemble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73.8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45124" y="4472997"/>
            <a:ext cx="70700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improvement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great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over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previous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CoT,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significant </a:t>
            </a:r>
            <a:r>
              <a:rPr sz="1600" dirty="0">
                <a:latin typeface="Times New Roman"/>
                <a:cs typeface="Times New Roman"/>
              </a:rPr>
              <a:t>against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self-consistency,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Pre-</a:t>
            </a:r>
            <a:r>
              <a:rPr dirty="0"/>
              <a:t>Lecture</a:t>
            </a:r>
            <a:r>
              <a:rPr spc="-15" dirty="0"/>
              <a:t> </a:t>
            </a:r>
            <a:r>
              <a:rPr dirty="0"/>
              <a:t>Question</a:t>
            </a:r>
            <a:r>
              <a:rPr spc="-5" dirty="0"/>
              <a:t> </a:t>
            </a:r>
            <a:r>
              <a:rPr dirty="0"/>
              <a:t>3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025" y="1538070"/>
            <a:ext cx="7684770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Q3: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think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method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useful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other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NLP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seen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previous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lectures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(standard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NLP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beyond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arithmetic/logic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reasoning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</a:t>
            </a:r>
            <a:r>
              <a:rPr sz="1600" spc="-20" dirty="0">
                <a:latin typeface="Times New Roman"/>
                <a:cs typeface="Times New Roman"/>
              </a:rPr>
              <a:t> that </a:t>
            </a:r>
            <a:r>
              <a:rPr sz="1600" dirty="0">
                <a:latin typeface="Times New Roman"/>
                <a:cs typeface="Times New Roman"/>
              </a:rPr>
              <a:t>these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papers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evaluated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on)?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ideas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about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how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collect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data?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2690"/>
            <a:ext cx="15678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4200" y="918578"/>
            <a:ext cx="7756525" cy="3372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877569" indent="-3422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AutoNum type="arabicPeriod"/>
              <a:tabLst>
                <a:tab pos="431165" algn="l"/>
                <a:tab pos="431800" algn="l"/>
              </a:tabLst>
            </a:pP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Wei,</a:t>
            </a:r>
            <a:r>
              <a:rPr sz="1200" spc="-3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Jason,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et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al.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"Chain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thought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prompting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elicits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reasoning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large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language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models."</a:t>
            </a:r>
            <a:r>
              <a:rPr sz="1200" spc="4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222222"/>
                </a:solidFill>
                <a:latin typeface="Times New Roman"/>
                <a:cs typeface="Times New Roman"/>
              </a:rPr>
              <a:t>arXiv</a:t>
            </a:r>
            <a:r>
              <a:rPr sz="1200" i="1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222222"/>
                </a:solidFill>
                <a:latin typeface="Times New Roman"/>
                <a:cs typeface="Times New Roman"/>
              </a:rPr>
              <a:t>preprint arXiv:2201.11903</a:t>
            </a:r>
            <a:r>
              <a:rPr sz="1200" i="1" spc="5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(2022).</a:t>
            </a:r>
            <a:endParaRPr sz="1200">
              <a:latin typeface="Times New Roman"/>
              <a:cs typeface="Times New Roman"/>
            </a:endParaRPr>
          </a:p>
          <a:p>
            <a:pPr marL="431165" indent="-342265">
              <a:lnSpc>
                <a:spcPct val="100000"/>
              </a:lnSpc>
              <a:buAutoNum type="arabicPeriod"/>
              <a:tabLst>
                <a:tab pos="431165" algn="l"/>
                <a:tab pos="431800" algn="l"/>
              </a:tabLst>
            </a:pP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Kojima,</a:t>
            </a:r>
            <a:r>
              <a:rPr sz="1200" spc="-5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Takeshi,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et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al.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"Large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Language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Models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are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Zero-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Shot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Reasoners."</a:t>
            </a:r>
            <a:r>
              <a:rPr sz="1200" spc="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222222"/>
                </a:solidFill>
                <a:latin typeface="Times New Roman"/>
                <a:cs typeface="Times New Roman"/>
              </a:rPr>
              <a:t>arXiv</a:t>
            </a:r>
            <a:r>
              <a:rPr sz="1200" i="1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222222"/>
                </a:solidFill>
                <a:latin typeface="Times New Roman"/>
                <a:cs typeface="Times New Roman"/>
              </a:rPr>
              <a:t>preprint</a:t>
            </a:r>
            <a:r>
              <a:rPr sz="1200" i="1" spc="-10" dirty="0">
                <a:solidFill>
                  <a:srgbClr val="222222"/>
                </a:solidFill>
                <a:latin typeface="Times New Roman"/>
                <a:cs typeface="Times New Roman"/>
              </a:rPr>
              <a:t> arXiv:2205.11916</a:t>
            </a:r>
            <a:r>
              <a:rPr sz="1200" i="1" spc="-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(2022).</a:t>
            </a:r>
            <a:endParaRPr sz="1200">
              <a:latin typeface="Times New Roman"/>
              <a:cs typeface="Times New Roman"/>
            </a:endParaRPr>
          </a:p>
          <a:p>
            <a:pPr marL="431165" indent="-342265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431165" algn="l"/>
                <a:tab pos="431800" algn="l"/>
              </a:tabLst>
            </a:pP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Cobbe,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Karl,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et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al.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"Training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verifiers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solve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math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word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problems."</a:t>
            </a:r>
            <a:r>
              <a:rPr sz="1200" spc="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222222"/>
                </a:solidFill>
                <a:latin typeface="Times New Roman"/>
                <a:cs typeface="Times New Roman"/>
              </a:rPr>
              <a:t>arXiv</a:t>
            </a:r>
            <a:r>
              <a:rPr sz="1200" i="1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222222"/>
                </a:solidFill>
                <a:latin typeface="Times New Roman"/>
                <a:cs typeface="Times New Roman"/>
              </a:rPr>
              <a:t>preprint</a:t>
            </a:r>
            <a:r>
              <a:rPr sz="1200" i="1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222222"/>
                </a:solidFill>
                <a:latin typeface="Times New Roman"/>
                <a:cs typeface="Times New Roman"/>
              </a:rPr>
              <a:t>arXiv:2110.14168</a:t>
            </a:r>
            <a:r>
              <a:rPr sz="1200" i="1" spc="-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(2021).</a:t>
            </a:r>
            <a:endParaRPr sz="1200">
              <a:latin typeface="Times New Roman"/>
              <a:cs typeface="Times New Roman"/>
            </a:endParaRPr>
          </a:p>
          <a:p>
            <a:pPr marL="431165" marR="559435" indent="-342265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431165" algn="l"/>
                <a:tab pos="431800" algn="l"/>
              </a:tabLst>
            </a:pP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Patel,</a:t>
            </a:r>
            <a:r>
              <a:rPr sz="1200" spc="-8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Arkil,</a:t>
            </a:r>
            <a:r>
              <a:rPr sz="1200" spc="-3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Satwik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Bhattamishra,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Navin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Goyal.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"Are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NLP</a:t>
            </a:r>
            <a:r>
              <a:rPr sz="1200" spc="-6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Models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really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able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Solve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Simple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Math</a:t>
            </a:r>
            <a:r>
              <a:rPr sz="1200" spc="-3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Word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Problems?."</a:t>
            </a:r>
            <a:r>
              <a:rPr sz="1200" spc="-4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222222"/>
                </a:solidFill>
                <a:latin typeface="Times New Roman"/>
                <a:cs typeface="Times New Roman"/>
              </a:rPr>
              <a:t>NAACL</a:t>
            </a:r>
            <a:r>
              <a:rPr sz="1200" i="1" spc="-5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222222"/>
                </a:solidFill>
                <a:latin typeface="Times New Roman"/>
                <a:cs typeface="Times New Roman"/>
              </a:rPr>
              <a:t>2021.</a:t>
            </a:r>
            <a:endParaRPr sz="1200">
              <a:latin typeface="Times New Roman"/>
              <a:cs typeface="Times New Roman"/>
            </a:endParaRPr>
          </a:p>
          <a:p>
            <a:pPr marL="431165" marR="219710" indent="-342265">
              <a:lnSpc>
                <a:spcPct val="100000"/>
              </a:lnSpc>
              <a:buFont typeface="Times New Roman"/>
              <a:buAutoNum type="arabicPeriod"/>
              <a:tabLst>
                <a:tab pos="431165" algn="l"/>
                <a:tab pos="431800" algn="l"/>
              </a:tabLst>
            </a:pP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Miao,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Shen-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Yun,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Chao-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Chun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Liang,</a:t>
            </a:r>
            <a:r>
              <a:rPr sz="1200" spc="-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Keh-Yih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Su.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"A</a:t>
            </a:r>
            <a:r>
              <a:rPr sz="1200" spc="-7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diverse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corpus</a:t>
            </a:r>
            <a:r>
              <a:rPr sz="1200" spc="-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for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evaluating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200" spc="-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developing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English</a:t>
            </a:r>
            <a:r>
              <a:rPr sz="1200" spc="-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math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word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problem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solvers."</a:t>
            </a:r>
            <a:r>
              <a:rPr sz="1200" spc="-6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ACL</a:t>
            </a:r>
            <a:r>
              <a:rPr sz="1200" spc="-4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2020</a:t>
            </a:r>
            <a:r>
              <a:rPr sz="1200" spc="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(2020).</a:t>
            </a:r>
            <a:endParaRPr sz="1200">
              <a:latin typeface="Times New Roman"/>
              <a:cs typeface="Times New Roman"/>
            </a:endParaRPr>
          </a:p>
          <a:p>
            <a:pPr marL="431165" indent="-342265">
              <a:lnSpc>
                <a:spcPct val="100000"/>
              </a:lnSpc>
              <a:buAutoNum type="arabicPeriod"/>
              <a:tabLst>
                <a:tab pos="431165" algn="l"/>
                <a:tab pos="431800" algn="l"/>
              </a:tabLst>
            </a:pP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Koncel-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Kedziorski,</a:t>
            </a:r>
            <a:r>
              <a:rPr sz="1200" spc="-4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Rik,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et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al.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"MAWPS:</a:t>
            </a:r>
            <a:r>
              <a:rPr sz="1200" spc="-7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</a:t>
            </a:r>
            <a:r>
              <a:rPr sz="1200" spc="-7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math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word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problem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repository."</a:t>
            </a:r>
            <a:r>
              <a:rPr sz="1200" spc="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222222"/>
                </a:solidFill>
                <a:latin typeface="Times New Roman"/>
                <a:cs typeface="Times New Roman"/>
              </a:rPr>
              <a:t>NAACL</a:t>
            </a:r>
            <a:r>
              <a:rPr sz="1200" i="1" spc="-3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222222"/>
                </a:solidFill>
                <a:latin typeface="Times New Roman"/>
                <a:cs typeface="Times New Roman"/>
              </a:rPr>
              <a:t>2016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31165" indent="-342265">
              <a:lnSpc>
                <a:spcPct val="100000"/>
              </a:lnSpc>
              <a:buAutoNum type="arabicPeriod"/>
              <a:tabLst>
                <a:tab pos="431165" algn="l"/>
                <a:tab pos="431800" algn="l"/>
              </a:tabLst>
            </a:pP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Ling,</a:t>
            </a:r>
            <a:r>
              <a:rPr sz="1200" spc="-5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Wang,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et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al.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"Program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induction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by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rationale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generation: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Learning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to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solve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explain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algebraic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word</a:t>
            </a:r>
            <a:r>
              <a:rPr sz="1200" spc="4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problems."</a:t>
            </a:r>
            <a:endParaRPr sz="12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</a:pPr>
            <a:r>
              <a:rPr sz="1200" i="1" dirty="0">
                <a:solidFill>
                  <a:srgbClr val="222222"/>
                </a:solidFill>
                <a:latin typeface="Times New Roman"/>
                <a:cs typeface="Times New Roman"/>
              </a:rPr>
              <a:t>arXiv</a:t>
            </a:r>
            <a:r>
              <a:rPr sz="1200" i="1" spc="-4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222222"/>
                </a:solidFill>
                <a:latin typeface="Times New Roman"/>
                <a:cs typeface="Times New Roman"/>
              </a:rPr>
              <a:t>preprint</a:t>
            </a:r>
            <a:r>
              <a:rPr sz="1200" i="1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222222"/>
                </a:solidFill>
                <a:latin typeface="Times New Roman"/>
                <a:cs typeface="Times New Roman"/>
              </a:rPr>
              <a:t>arXiv:1705.04146</a:t>
            </a:r>
            <a:r>
              <a:rPr sz="1200" i="1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(2017).</a:t>
            </a:r>
            <a:endParaRPr sz="1200">
              <a:latin typeface="Times New Roman"/>
              <a:cs typeface="Times New Roman"/>
            </a:endParaRPr>
          </a:p>
          <a:p>
            <a:pPr marL="431165" marR="128270" indent="-342265">
              <a:lnSpc>
                <a:spcPct val="100000"/>
              </a:lnSpc>
              <a:buAutoNum type="arabicPeriod" startAt="8"/>
              <a:tabLst>
                <a:tab pos="431165" algn="l"/>
                <a:tab pos="431800" algn="l"/>
              </a:tabLst>
            </a:pP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Alon</a:t>
            </a:r>
            <a:r>
              <a:rPr sz="1200" spc="-5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Talmor,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Jonathan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Herzig,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Nicholas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Lourie,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and</a:t>
            </a:r>
            <a:r>
              <a:rPr sz="1200" spc="-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Jonathan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Berant.</a:t>
            </a:r>
            <a:r>
              <a:rPr sz="1200" spc="-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2019.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CommonsenseQA:</a:t>
            </a:r>
            <a:r>
              <a:rPr sz="1200" spc="-7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</a:t>
            </a:r>
            <a:r>
              <a:rPr sz="1200" spc="-7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question</a:t>
            </a:r>
            <a:r>
              <a:rPr sz="1200" spc="-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answering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challenge</a:t>
            </a:r>
            <a:r>
              <a:rPr sz="1200" spc="-4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targeting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commonsense</a:t>
            </a:r>
            <a:r>
              <a:rPr sz="1200" spc="-3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knowledge.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NAACL.</a:t>
            </a:r>
            <a:endParaRPr sz="1200">
              <a:latin typeface="Times New Roman"/>
              <a:cs typeface="Times New Roman"/>
            </a:endParaRPr>
          </a:p>
          <a:p>
            <a:pPr marL="431165" marR="866775" indent="-342265">
              <a:lnSpc>
                <a:spcPct val="100000"/>
              </a:lnSpc>
              <a:buAutoNum type="arabicPeriod" startAt="8"/>
              <a:tabLst>
                <a:tab pos="431165" algn="l"/>
                <a:tab pos="431800" algn="l"/>
              </a:tabLst>
            </a:pP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Ahn,</a:t>
            </a:r>
            <a:r>
              <a:rPr sz="1200" spc="-3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Michael,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et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al.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"Do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as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i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can,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not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as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i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say: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Grounding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language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robotic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affordances."</a:t>
            </a:r>
            <a:r>
              <a:rPr sz="1200" spc="-1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arXiv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 preprint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arXiv:2204.01691</a:t>
            </a:r>
            <a:r>
              <a:rPr sz="1200" spc="-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(2022).</a:t>
            </a:r>
            <a:endParaRPr sz="1200">
              <a:latin typeface="Times New Roman"/>
              <a:cs typeface="Times New Roman"/>
            </a:endParaRPr>
          </a:p>
          <a:p>
            <a:pPr marL="431165" marR="478790" indent="-418465">
              <a:lnSpc>
                <a:spcPct val="100000"/>
              </a:lnSpc>
              <a:buAutoNum type="arabicPeriod" startAt="8"/>
              <a:tabLst>
                <a:tab pos="431165" algn="l"/>
                <a:tab pos="431800" algn="l"/>
              </a:tabLst>
            </a:pP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Wang,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Xuezhi,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et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al.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"Self-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consistency</a:t>
            </a:r>
            <a:r>
              <a:rPr sz="1200" spc="-3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improves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chain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of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thought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reasoning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in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language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models."</a:t>
            </a:r>
            <a:r>
              <a:rPr sz="1200" spc="-2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22222"/>
                </a:solidFill>
                <a:latin typeface="Times New Roman"/>
                <a:cs typeface="Times New Roman"/>
              </a:rPr>
              <a:t>arXiv</a:t>
            </a:r>
            <a:r>
              <a:rPr sz="1200" spc="-20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preprint arXiv:2203.11171</a:t>
            </a:r>
            <a:r>
              <a:rPr sz="1200" spc="65" dirty="0">
                <a:solidFill>
                  <a:srgbClr val="22222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Times New Roman"/>
                <a:cs typeface="Times New Roman"/>
              </a:rPr>
              <a:t>(2022).</a:t>
            </a:r>
            <a:endParaRPr sz="1200">
              <a:latin typeface="Times New Roman"/>
              <a:cs typeface="Times New Roman"/>
            </a:endParaRPr>
          </a:p>
          <a:p>
            <a:pPr marL="431165" indent="-413384">
              <a:lnSpc>
                <a:spcPct val="100000"/>
              </a:lnSpc>
              <a:buClr>
                <a:srgbClr val="222222"/>
              </a:buClr>
              <a:buSzPct val="109090"/>
              <a:buAutoNum type="arabicPeriod" startAt="8"/>
              <a:tabLst>
                <a:tab pos="431165" algn="l"/>
                <a:tab pos="431800" algn="l"/>
              </a:tabLst>
            </a:pPr>
            <a:r>
              <a:rPr sz="1100" spc="-20" dirty="0">
                <a:latin typeface="Times New Roman"/>
                <a:cs typeface="Times New Roman"/>
              </a:rPr>
              <a:t>Wang, </a:t>
            </a:r>
            <a:r>
              <a:rPr sz="1100" dirty="0">
                <a:latin typeface="Times New Roman"/>
                <a:cs typeface="Times New Roman"/>
              </a:rPr>
              <a:t>Xuezhi,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"Rationale-</a:t>
            </a:r>
            <a:r>
              <a:rPr sz="1100" dirty="0">
                <a:latin typeface="Times New Roman"/>
                <a:cs typeface="Times New Roman"/>
              </a:rPr>
              <a:t>Augmented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Ensembles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Models."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arXiv</a:t>
            </a:r>
            <a:r>
              <a:rPr sz="1100" i="1" spc="-10" dirty="0">
                <a:latin typeface="Times New Roman"/>
                <a:cs typeface="Times New Roman"/>
              </a:rPr>
              <a:t> preprint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arXiv:2207.00747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(2022).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4008" y="1801927"/>
            <a:ext cx="6652895" cy="10134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40"/>
              </a:spcBef>
            </a:pPr>
            <a:r>
              <a:rPr sz="3200" spc="-10" dirty="0">
                <a:latin typeface="Arial"/>
                <a:cs typeface="Arial"/>
              </a:rPr>
              <a:t>Discussion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3200" dirty="0">
                <a:latin typeface="Arial"/>
                <a:cs typeface="Arial"/>
              </a:rPr>
              <a:t>(This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part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will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not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be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presentation)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dirty="0">
                <a:latin typeface="Arial"/>
                <a:cs typeface="Arial"/>
              </a:rPr>
              <a:t>Summary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of</a:t>
            </a:r>
            <a:r>
              <a:rPr sz="2500" spc="-16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Arithmetic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Reasoning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Benchmark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7045" y="693400"/>
            <a:ext cx="5005111" cy="35109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2949" y="4667598"/>
            <a:ext cx="646747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Summary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arithmetic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reasoning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benchmarks.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examples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(Wei,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al.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2022)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043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Arithmetic</a:t>
            </a:r>
            <a:r>
              <a:rPr sz="2700" spc="-55" dirty="0"/>
              <a:t> </a:t>
            </a:r>
            <a:r>
              <a:rPr sz="2700" dirty="0"/>
              <a:t>Reasoning</a:t>
            </a:r>
            <a:r>
              <a:rPr sz="2700" spc="-35" dirty="0"/>
              <a:t> </a:t>
            </a:r>
            <a:r>
              <a:rPr sz="2700" dirty="0"/>
              <a:t>-</a:t>
            </a:r>
            <a:r>
              <a:rPr sz="2700" spc="-35" dirty="0"/>
              <a:t> </a:t>
            </a:r>
            <a:r>
              <a:rPr sz="2700" spc="-10" dirty="0"/>
              <a:t>Few-</a:t>
            </a:r>
            <a:r>
              <a:rPr sz="2700" dirty="0"/>
              <a:t>Shot</a:t>
            </a:r>
            <a:r>
              <a:rPr sz="2700" spc="-40" dirty="0"/>
              <a:t> </a:t>
            </a:r>
            <a:r>
              <a:rPr sz="2700" dirty="0"/>
              <a:t>CoT</a:t>
            </a:r>
            <a:r>
              <a:rPr sz="2700" spc="-85" dirty="0"/>
              <a:t> </a:t>
            </a:r>
            <a:r>
              <a:rPr sz="2700" spc="-20" dirty="0"/>
              <a:t>MAWPS</a:t>
            </a:r>
            <a:r>
              <a:rPr sz="2700" spc="-40" dirty="0"/>
              <a:t> </a:t>
            </a:r>
            <a:r>
              <a:rPr sz="2700" spc="-10" dirty="0"/>
              <a:t>Results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2875699" y="1353947"/>
            <a:ext cx="39497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5614" algn="l"/>
                <a:tab pos="3333115" algn="l"/>
              </a:tabLst>
            </a:pPr>
            <a:r>
              <a:rPr sz="1900" spc="-10" dirty="0">
                <a:latin typeface="Times New Roman"/>
                <a:cs typeface="Times New Roman"/>
              </a:rPr>
              <a:t>LaMDA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Times New Roman"/>
                <a:cs typeface="Times New Roman"/>
              </a:rPr>
              <a:t>GPT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0" dirty="0">
                <a:latin typeface="Times New Roman"/>
                <a:cs typeface="Times New Roman"/>
              </a:rPr>
              <a:t>PaLM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1700" y="1855312"/>
            <a:ext cx="6990080" cy="3060065"/>
            <a:chOff x="311700" y="1855312"/>
            <a:chExt cx="6990080" cy="30600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7594" y="1855312"/>
              <a:ext cx="5674153" cy="29111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00" y="4128174"/>
              <a:ext cx="2299475" cy="7871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6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Arithmetic</a:t>
            </a:r>
            <a:r>
              <a:rPr sz="2700" spc="-20" dirty="0"/>
              <a:t> </a:t>
            </a:r>
            <a:r>
              <a:rPr sz="2700" dirty="0"/>
              <a:t>Reasoning</a:t>
            </a:r>
            <a:r>
              <a:rPr sz="2700" spc="-10" dirty="0"/>
              <a:t> </a:t>
            </a:r>
            <a:r>
              <a:rPr sz="2700" dirty="0"/>
              <a:t>-</a:t>
            </a:r>
            <a:r>
              <a:rPr sz="2700" spc="-5" dirty="0"/>
              <a:t> </a:t>
            </a:r>
            <a:r>
              <a:rPr sz="2700" spc="-10" dirty="0"/>
              <a:t>Zero-</a:t>
            </a:r>
            <a:r>
              <a:rPr sz="2700" dirty="0"/>
              <a:t>Shot</a:t>
            </a:r>
            <a:r>
              <a:rPr sz="2700" spc="-15" dirty="0"/>
              <a:t> </a:t>
            </a:r>
            <a:r>
              <a:rPr sz="2700" spc="-10" dirty="0"/>
              <a:t>CoT</a:t>
            </a:r>
            <a:r>
              <a:rPr sz="2700" spc="-200" dirty="0"/>
              <a:t> </a:t>
            </a:r>
            <a:r>
              <a:rPr sz="2700" dirty="0"/>
              <a:t>Additional</a:t>
            </a:r>
            <a:r>
              <a:rPr sz="2700" spc="-10" dirty="0"/>
              <a:t> Results</a:t>
            </a:r>
            <a:endParaRPr sz="2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075" y="1170124"/>
            <a:ext cx="7819261" cy="326775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Prior</a:t>
            </a:r>
            <a:r>
              <a:rPr spc="-15" dirty="0"/>
              <a:t> </a:t>
            </a:r>
            <a:r>
              <a:rPr dirty="0"/>
              <a:t>Best</a:t>
            </a:r>
            <a:r>
              <a:rPr spc="-5" dirty="0"/>
              <a:t> </a:t>
            </a:r>
            <a:r>
              <a:rPr dirty="0"/>
              <a:t>– </a:t>
            </a:r>
            <a:r>
              <a:rPr spc="-10" dirty="0"/>
              <a:t>Fine-</a:t>
            </a:r>
            <a:r>
              <a:rPr dirty="0"/>
              <a:t>tuning +</a:t>
            </a:r>
            <a:r>
              <a:rPr spc="-60" dirty="0"/>
              <a:t> </a:t>
            </a:r>
            <a:r>
              <a:rPr spc="-30" dirty="0"/>
              <a:t>Verification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512" y="1038613"/>
            <a:ext cx="3349758" cy="25372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36150" y="2136004"/>
            <a:ext cx="451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latin typeface="Times New Roman"/>
                <a:cs typeface="Times New Roman"/>
              </a:rPr>
              <a:t>GPT-</a:t>
            </a:r>
            <a:r>
              <a:rPr sz="1200" b="1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525349" y="3672688"/>
            <a:ext cx="28651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4015" algn="l"/>
              </a:tabLst>
            </a:pPr>
            <a:r>
              <a:rPr sz="1400" spc="-25" dirty="0">
                <a:latin typeface="Times New Roman"/>
                <a:cs typeface="Times New Roman"/>
              </a:rPr>
              <a:t>1.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Fine-</a:t>
            </a:r>
            <a:r>
              <a:rPr sz="1400" dirty="0">
                <a:latin typeface="Times New Roman"/>
                <a:cs typeface="Times New Roman"/>
              </a:rPr>
              <a:t>tuned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epoch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training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set.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Prior</a:t>
            </a:r>
            <a:r>
              <a:rPr spc="-15" dirty="0"/>
              <a:t> </a:t>
            </a:r>
            <a:r>
              <a:rPr dirty="0"/>
              <a:t>Best</a:t>
            </a:r>
            <a:r>
              <a:rPr spc="-5" dirty="0"/>
              <a:t> </a:t>
            </a:r>
            <a:r>
              <a:rPr dirty="0"/>
              <a:t>– </a:t>
            </a:r>
            <a:r>
              <a:rPr spc="-10" dirty="0"/>
              <a:t>Fine-</a:t>
            </a:r>
            <a:r>
              <a:rPr dirty="0"/>
              <a:t>tuning +</a:t>
            </a:r>
            <a:r>
              <a:rPr spc="-60" dirty="0"/>
              <a:t> </a:t>
            </a:r>
            <a:r>
              <a:rPr spc="-30" dirty="0"/>
              <a:t>Verification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2550" y="1038613"/>
            <a:ext cx="5685790" cy="3483610"/>
            <a:chOff x="512550" y="1038613"/>
            <a:chExt cx="5685790" cy="3483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550" y="1038613"/>
              <a:ext cx="5685243" cy="328146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27250" y="4519306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39">
                  <a:moveTo>
                    <a:pt x="0" y="0"/>
                  </a:moveTo>
                  <a:lnTo>
                    <a:pt x="15111" y="0"/>
                  </a:lnTo>
                </a:path>
              </a:pathLst>
            </a:custGeom>
            <a:ln w="4812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36150" y="2136004"/>
            <a:ext cx="451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latin typeface="Times New Roman"/>
                <a:cs typeface="Times New Roman"/>
              </a:rPr>
              <a:t>GPT-</a:t>
            </a:r>
            <a:r>
              <a:rPr sz="1200" b="1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5349" y="3672688"/>
            <a:ext cx="28651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4015" algn="l"/>
              </a:tabLst>
            </a:pPr>
            <a:r>
              <a:rPr sz="1400" spc="-25" dirty="0">
                <a:latin typeface="Times New Roman"/>
                <a:cs typeface="Times New Roman"/>
              </a:rPr>
              <a:t>1.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Fine-</a:t>
            </a:r>
            <a:r>
              <a:rPr sz="1400" dirty="0">
                <a:latin typeface="Times New Roman"/>
                <a:cs typeface="Times New Roman"/>
              </a:rPr>
              <a:t>tuned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epoch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training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set.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342737" y="2588837"/>
            <a:ext cx="1255395" cy="1932939"/>
            <a:chOff x="5342737" y="2588837"/>
            <a:chExt cx="1255395" cy="1932939"/>
          </a:xfrm>
        </p:grpSpPr>
        <p:sp>
          <p:nvSpPr>
            <p:cNvPr id="9" name="object 9"/>
            <p:cNvSpPr/>
            <p:nvPr/>
          </p:nvSpPr>
          <p:spPr>
            <a:xfrm>
              <a:off x="5442199" y="2593600"/>
              <a:ext cx="1151255" cy="1923414"/>
            </a:xfrm>
            <a:custGeom>
              <a:avLst/>
              <a:gdLst/>
              <a:ahLst/>
              <a:cxnLst/>
              <a:rect l="l" t="t" r="r" b="b"/>
              <a:pathLst>
                <a:path w="1151254" h="1923414">
                  <a:moveTo>
                    <a:pt x="1151099" y="1923299"/>
                  </a:moveTo>
                  <a:lnTo>
                    <a:pt x="0" y="1923299"/>
                  </a:lnTo>
                  <a:lnTo>
                    <a:pt x="0" y="0"/>
                  </a:lnTo>
                  <a:lnTo>
                    <a:pt x="1151099" y="0"/>
                  </a:lnTo>
                  <a:lnTo>
                    <a:pt x="1151099" y="192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2199" y="2593600"/>
              <a:ext cx="1151255" cy="1923414"/>
            </a:xfrm>
            <a:custGeom>
              <a:avLst/>
              <a:gdLst/>
              <a:ahLst/>
              <a:cxnLst/>
              <a:rect l="l" t="t" r="r" b="b"/>
              <a:pathLst>
                <a:path w="1151254" h="1923414">
                  <a:moveTo>
                    <a:pt x="0" y="0"/>
                  </a:moveTo>
                  <a:lnTo>
                    <a:pt x="1151099" y="0"/>
                  </a:lnTo>
                  <a:lnTo>
                    <a:pt x="1151099" y="1923299"/>
                  </a:lnTo>
                  <a:lnTo>
                    <a:pt x="0" y="1923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47499" y="3657275"/>
              <a:ext cx="175260" cy="102235"/>
            </a:xfrm>
            <a:custGeom>
              <a:avLst/>
              <a:gdLst/>
              <a:ahLst/>
              <a:cxnLst/>
              <a:rect l="l" t="t" r="r" b="b"/>
              <a:pathLst>
                <a:path w="175260" h="102235">
                  <a:moveTo>
                    <a:pt x="174899" y="101999"/>
                  </a:moveTo>
                  <a:lnTo>
                    <a:pt x="0" y="101999"/>
                  </a:lnTo>
                  <a:lnTo>
                    <a:pt x="0" y="0"/>
                  </a:lnTo>
                  <a:lnTo>
                    <a:pt x="174899" y="0"/>
                  </a:lnTo>
                  <a:lnTo>
                    <a:pt x="174899" y="10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47499" y="3657275"/>
              <a:ext cx="175260" cy="102235"/>
            </a:xfrm>
            <a:custGeom>
              <a:avLst/>
              <a:gdLst/>
              <a:ahLst/>
              <a:cxnLst/>
              <a:rect l="l" t="t" r="r" b="b"/>
              <a:pathLst>
                <a:path w="175260" h="102235">
                  <a:moveTo>
                    <a:pt x="0" y="0"/>
                  </a:moveTo>
                  <a:lnTo>
                    <a:pt x="174899" y="0"/>
                  </a:lnTo>
                  <a:lnTo>
                    <a:pt x="174899" y="101999"/>
                  </a:lnTo>
                  <a:lnTo>
                    <a:pt x="0" y="101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662775" y="3322988"/>
            <a:ext cx="2738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Finding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highest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score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16349" y="3562575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0"/>
                </a:moveTo>
                <a:lnTo>
                  <a:pt x="0" y="254999"/>
                </a:lnTo>
              </a:path>
            </a:pathLst>
          </a:custGeom>
          <a:ln w="19049">
            <a:solidFill>
              <a:srgbClr val="595959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92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Prior</a:t>
            </a:r>
            <a:r>
              <a:rPr spc="-15" dirty="0"/>
              <a:t> </a:t>
            </a:r>
            <a:r>
              <a:rPr dirty="0"/>
              <a:t>Best</a:t>
            </a:r>
            <a:r>
              <a:rPr spc="-5" dirty="0"/>
              <a:t> </a:t>
            </a:r>
            <a:r>
              <a:rPr dirty="0"/>
              <a:t>– </a:t>
            </a:r>
            <a:r>
              <a:rPr spc="-10" dirty="0"/>
              <a:t>Fine-</a:t>
            </a:r>
            <a:r>
              <a:rPr dirty="0"/>
              <a:t>tuning +</a:t>
            </a:r>
            <a:r>
              <a:rPr spc="-60" dirty="0"/>
              <a:t> </a:t>
            </a:r>
            <a:r>
              <a:rPr spc="-30" dirty="0"/>
              <a:t>Verification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12550" y="1038613"/>
            <a:ext cx="5685790" cy="3483610"/>
            <a:chOff x="512550" y="1038613"/>
            <a:chExt cx="5685790" cy="34836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550" y="1038613"/>
              <a:ext cx="5685243" cy="32814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32013" y="4319077"/>
              <a:ext cx="5715" cy="198120"/>
            </a:xfrm>
            <a:custGeom>
              <a:avLst/>
              <a:gdLst/>
              <a:ahLst/>
              <a:cxnLst/>
              <a:rect l="l" t="t" r="r" b="b"/>
              <a:pathLst>
                <a:path w="5714" h="198120">
                  <a:moveTo>
                    <a:pt x="5586" y="19787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16286" y="427586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3651"/>
                  </a:moveTo>
                  <a:lnTo>
                    <a:pt x="14506" y="0"/>
                  </a:lnTo>
                  <a:lnTo>
                    <a:pt x="31453" y="42763"/>
                  </a:lnTo>
                  <a:lnTo>
                    <a:pt x="0" y="4365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16286" y="427586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53" y="42763"/>
                  </a:moveTo>
                  <a:lnTo>
                    <a:pt x="14506" y="0"/>
                  </a:lnTo>
                  <a:lnTo>
                    <a:pt x="0" y="43651"/>
                  </a:lnTo>
                  <a:lnTo>
                    <a:pt x="31453" y="4276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36150" y="2136004"/>
            <a:ext cx="451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latin typeface="Times New Roman"/>
                <a:cs typeface="Times New Roman"/>
              </a:rPr>
              <a:t>GPT-</a:t>
            </a:r>
            <a:r>
              <a:rPr sz="1200" b="1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349" y="3672688"/>
            <a:ext cx="381571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015" indent="-36195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74015" algn="l"/>
                <a:tab pos="374650" algn="l"/>
              </a:tabLst>
            </a:pPr>
            <a:r>
              <a:rPr sz="1400" spc="-10" dirty="0">
                <a:latin typeface="Times New Roman"/>
                <a:cs typeface="Times New Roman"/>
              </a:rPr>
              <a:t>Fine-</a:t>
            </a:r>
            <a:r>
              <a:rPr sz="1400" dirty="0">
                <a:latin typeface="Times New Roman"/>
                <a:cs typeface="Times New Roman"/>
              </a:rPr>
              <a:t>tuned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epoch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training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set.</a:t>
            </a:r>
            <a:endParaRPr sz="1400">
              <a:latin typeface="Times New Roman"/>
              <a:cs typeface="Times New Roman"/>
            </a:endParaRPr>
          </a:p>
          <a:p>
            <a:pPr marL="374015" marR="5080" indent="-361950">
              <a:lnSpc>
                <a:spcPct val="100000"/>
              </a:lnSpc>
              <a:buAutoNum type="arabicPeriod"/>
              <a:tabLst>
                <a:tab pos="374015" algn="l"/>
                <a:tab pos="374650" algn="l"/>
              </a:tabLst>
            </a:pPr>
            <a:r>
              <a:rPr sz="1400" dirty="0">
                <a:latin typeface="Times New Roman"/>
                <a:cs typeface="Times New Roman"/>
              </a:rPr>
              <a:t>Sample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100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solutions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generator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for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problem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label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solution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as </a:t>
            </a:r>
            <a:r>
              <a:rPr sz="1400" dirty="0">
                <a:latin typeface="Times New Roman"/>
                <a:cs typeface="Times New Roman"/>
              </a:rPr>
              <a:t>correct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incorrect.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67500" y="4460188"/>
            <a:ext cx="1503045" cy="53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7761C"/>
                </a:solidFill>
                <a:latin typeface="Times New Roman"/>
                <a:cs typeface="Times New Roman"/>
              </a:rPr>
              <a:t>Correct</a:t>
            </a:r>
            <a:r>
              <a:rPr sz="1200" b="1" spc="25" dirty="0">
                <a:solidFill>
                  <a:srgbClr val="37761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990000"/>
                </a:solidFill>
                <a:latin typeface="Times New Roman"/>
                <a:cs typeface="Times New Roman"/>
              </a:rPr>
              <a:t>Incorrect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200" dirty="0">
                <a:latin typeface="Times New Roman"/>
                <a:cs typeface="Times New Roman"/>
              </a:rPr>
              <a:t>(Cobbe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2021)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83" y="1035216"/>
            <a:ext cx="6161464" cy="35003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30" dirty="0"/>
              <a:t> </a:t>
            </a:r>
            <a:r>
              <a:rPr dirty="0"/>
              <a:t>Reasoning</a:t>
            </a:r>
            <a:r>
              <a:rPr spc="-2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Results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432387" y="1124012"/>
            <a:ext cx="2486660" cy="3244215"/>
            <a:chOff x="6432387" y="1124012"/>
            <a:chExt cx="2486660" cy="3244215"/>
          </a:xfrm>
        </p:grpSpPr>
        <p:sp>
          <p:nvSpPr>
            <p:cNvPr id="5" name="object 5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2064241" y="3234599"/>
                  </a:move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7150" y="1128774"/>
              <a:ext cx="2477135" cy="3234690"/>
            </a:xfrm>
            <a:custGeom>
              <a:avLst/>
              <a:gdLst/>
              <a:ahLst/>
              <a:cxnLst/>
              <a:rect l="l" t="t" r="r" b="b"/>
              <a:pathLst>
                <a:path w="2477134" h="3234690">
                  <a:moveTo>
                    <a:pt x="0" y="412858"/>
                  </a:moveTo>
                  <a:lnTo>
                    <a:pt x="2777" y="364710"/>
                  </a:lnTo>
                  <a:lnTo>
                    <a:pt x="10903" y="318193"/>
                  </a:lnTo>
                  <a:lnTo>
                    <a:pt x="24069" y="273618"/>
                  </a:lnTo>
                  <a:lnTo>
                    <a:pt x="41963" y="231293"/>
                  </a:lnTo>
                  <a:lnTo>
                    <a:pt x="64277" y="191529"/>
                  </a:lnTo>
                  <a:lnTo>
                    <a:pt x="90700" y="154636"/>
                  </a:lnTo>
                  <a:lnTo>
                    <a:pt x="120923" y="120923"/>
                  </a:lnTo>
                  <a:lnTo>
                    <a:pt x="154636" y="90700"/>
                  </a:lnTo>
                  <a:lnTo>
                    <a:pt x="191529" y="64277"/>
                  </a:lnTo>
                  <a:lnTo>
                    <a:pt x="231293" y="41963"/>
                  </a:lnTo>
                  <a:lnTo>
                    <a:pt x="273618" y="24069"/>
                  </a:lnTo>
                  <a:lnTo>
                    <a:pt x="318193" y="10903"/>
                  </a:lnTo>
                  <a:lnTo>
                    <a:pt x="364710" y="2777"/>
                  </a:lnTo>
                  <a:lnTo>
                    <a:pt x="412858" y="0"/>
                  </a:lnTo>
                  <a:lnTo>
                    <a:pt x="2064241" y="0"/>
                  </a:lnTo>
                  <a:lnTo>
                    <a:pt x="2110826" y="2635"/>
                  </a:lnTo>
                  <a:lnTo>
                    <a:pt x="2156458" y="10429"/>
                  </a:lnTo>
                  <a:lnTo>
                    <a:pt x="2200733" y="23214"/>
                  </a:lnTo>
                  <a:lnTo>
                    <a:pt x="2243246" y="40824"/>
                  </a:lnTo>
                  <a:lnTo>
                    <a:pt x="2283594" y="63090"/>
                  </a:lnTo>
                  <a:lnTo>
                    <a:pt x="2321372" y="89845"/>
                  </a:lnTo>
                  <a:lnTo>
                    <a:pt x="2356176" y="120923"/>
                  </a:lnTo>
                  <a:lnTo>
                    <a:pt x="2387253" y="155727"/>
                  </a:lnTo>
                  <a:lnTo>
                    <a:pt x="2414009" y="193505"/>
                  </a:lnTo>
                  <a:lnTo>
                    <a:pt x="2436275" y="233853"/>
                  </a:lnTo>
                  <a:lnTo>
                    <a:pt x="2453885" y="276366"/>
                  </a:lnTo>
                  <a:lnTo>
                    <a:pt x="2466670" y="320640"/>
                  </a:lnTo>
                  <a:lnTo>
                    <a:pt x="2474464" y="366272"/>
                  </a:lnTo>
                  <a:lnTo>
                    <a:pt x="2477099" y="412858"/>
                  </a:lnTo>
                  <a:lnTo>
                    <a:pt x="2477099" y="2821741"/>
                  </a:lnTo>
                  <a:lnTo>
                    <a:pt x="2474322" y="2869889"/>
                  </a:lnTo>
                  <a:lnTo>
                    <a:pt x="2466196" y="2916406"/>
                  </a:lnTo>
                  <a:lnTo>
                    <a:pt x="2453030" y="2960981"/>
                  </a:lnTo>
                  <a:lnTo>
                    <a:pt x="2435136" y="3003306"/>
                  </a:lnTo>
                  <a:lnTo>
                    <a:pt x="2412822" y="3043070"/>
                  </a:lnTo>
                  <a:lnTo>
                    <a:pt x="2386399" y="3079963"/>
                  </a:lnTo>
                  <a:lnTo>
                    <a:pt x="2356176" y="3113676"/>
                  </a:lnTo>
                  <a:lnTo>
                    <a:pt x="2322463" y="3143899"/>
                  </a:lnTo>
                  <a:lnTo>
                    <a:pt x="2285570" y="3170322"/>
                  </a:lnTo>
                  <a:lnTo>
                    <a:pt x="2245806" y="3192636"/>
                  </a:lnTo>
                  <a:lnTo>
                    <a:pt x="2203481" y="3210530"/>
                  </a:lnTo>
                  <a:lnTo>
                    <a:pt x="2158906" y="3223696"/>
                  </a:lnTo>
                  <a:lnTo>
                    <a:pt x="2112389" y="3231822"/>
                  </a:lnTo>
                  <a:lnTo>
                    <a:pt x="2064241" y="3234599"/>
                  </a:lnTo>
                  <a:lnTo>
                    <a:pt x="412858" y="3234599"/>
                  </a:lnTo>
                  <a:lnTo>
                    <a:pt x="364710" y="3231822"/>
                  </a:lnTo>
                  <a:lnTo>
                    <a:pt x="318193" y="3223696"/>
                  </a:lnTo>
                  <a:lnTo>
                    <a:pt x="273618" y="3210530"/>
                  </a:lnTo>
                  <a:lnTo>
                    <a:pt x="231293" y="3192636"/>
                  </a:lnTo>
                  <a:lnTo>
                    <a:pt x="191529" y="3170322"/>
                  </a:lnTo>
                  <a:lnTo>
                    <a:pt x="154636" y="3143899"/>
                  </a:lnTo>
                  <a:lnTo>
                    <a:pt x="120923" y="3113676"/>
                  </a:lnTo>
                  <a:lnTo>
                    <a:pt x="90700" y="3079963"/>
                  </a:lnTo>
                  <a:lnTo>
                    <a:pt x="64277" y="3043070"/>
                  </a:lnTo>
                  <a:lnTo>
                    <a:pt x="41963" y="3003306"/>
                  </a:lnTo>
                  <a:lnTo>
                    <a:pt x="24069" y="2960981"/>
                  </a:lnTo>
                  <a:lnTo>
                    <a:pt x="10903" y="2916406"/>
                  </a:lnTo>
                  <a:lnTo>
                    <a:pt x="2777" y="2869889"/>
                  </a:lnTo>
                  <a:lnTo>
                    <a:pt x="0" y="2821741"/>
                  </a:lnTo>
                  <a:lnTo>
                    <a:pt x="0" y="41285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631097" y="1316626"/>
            <a:ext cx="2028825" cy="93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ts val="1430"/>
              </a:lnSpc>
              <a:spcBef>
                <a:spcPts val="100"/>
              </a:spcBef>
            </a:pPr>
            <a:r>
              <a:rPr sz="1200" b="1" spc="-25" dirty="0">
                <a:latin typeface="Times New Roman"/>
                <a:cs typeface="Times New Roman"/>
              </a:rPr>
              <a:t>MAWPS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-</a:t>
            </a:r>
            <a:r>
              <a:rPr sz="1200" b="1" spc="-10" dirty="0">
                <a:latin typeface="Times New Roman"/>
                <a:cs typeface="Times New Roman"/>
              </a:rPr>
              <a:t> SingleEq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43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bottle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box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Linda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10" dirty="0">
                <a:latin typeface="Times New Roman"/>
                <a:cs typeface="Times New Roman"/>
              </a:rPr>
              <a:t> bottle </a:t>
            </a:r>
            <a:r>
              <a:rPr sz="1200" dirty="0">
                <a:latin typeface="Times New Roman"/>
                <a:cs typeface="Times New Roman"/>
              </a:rPr>
              <a:t>caps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inside,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bottle </a:t>
            </a:r>
            <a:r>
              <a:rPr sz="1200" dirty="0">
                <a:latin typeface="Times New Roman"/>
                <a:cs typeface="Times New Roman"/>
              </a:rPr>
              <a:t>caps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box?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93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6631097" y="2945401"/>
            <a:ext cx="2019300" cy="1113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ts val="1430"/>
              </a:lnSpc>
              <a:spcBef>
                <a:spcPts val="100"/>
              </a:spcBef>
            </a:pPr>
            <a:r>
              <a:rPr sz="1200" b="1" spc="-25" dirty="0">
                <a:latin typeface="Times New Roman"/>
                <a:cs typeface="Times New Roman"/>
              </a:rPr>
              <a:t>MAWPS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-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AddSub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43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roses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vase. </a:t>
            </a:r>
            <a:r>
              <a:rPr sz="1200" dirty="0">
                <a:latin typeface="Times New Roman"/>
                <a:cs typeface="Times New Roman"/>
              </a:rPr>
              <a:t>Mary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her </a:t>
            </a:r>
            <a:r>
              <a:rPr sz="1200" dirty="0">
                <a:latin typeface="Times New Roman"/>
                <a:cs typeface="Times New Roman"/>
              </a:rPr>
              <a:t>flower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garden.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16 </a:t>
            </a:r>
            <a:r>
              <a:rPr sz="1200" dirty="0">
                <a:latin typeface="Times New Roman"/>
                <a:cs typeface="Times New Roman"/>
              </a:rPr>
              <a:t>roses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vase.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many </a:t>
            </a:r>
            <a:r>
              <a:rPr sz="1200" dirty="0">
                <a:latin typeface="Times New Roman"/>
                <a:cs typeface="Times New Roman"/>
              </a:rPr>
              <a:t>roses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cut?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1026337"/>
            <a:ext cx="3369310" cy="3368040"/>
            <a:chOff x="785962" y="1026337"/>
            <a:chExt cx="3369310" cy="3368040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3358515"/>
            </a:xfrm>
            <a:custGeom>
              <a:avLst/>
              <a:gdLst/>
              <a:ahLst/>
              <a:cxnLst/>
              <a:rect l="l" t="t" r="r" b="b"/>
              <a:pathLst>
                <a:path w="3359785" h="3358515">
                  <a:moveTo>
                    <a:pt x="2799938" y="3358499"/>
                  </a:moveTo>
                  <a:lnTo>
                    <a:pt x="559761" y="3358499"/>
                  </a:lnTo>
                  <a:lnTo>
                    <a:pt x="511462" y="3356445"/>
                  </a:lnTo>
                  <a:lnTo>
                    <a:pt x="464305" y="3350393"/>
                  </a:lnTo>
                  <a:lnTo>
                    <a:pt x="418456" y="3340512"/>
                  </a:lnTo>
                  <a:lnTo>
                    <a:pt x="374085" y="3326969"/>
                  </a:lnTo>
                  <a:lnTo>
                    <a:pt x="331358" y="3309933"/>
                  </a:lnTo>
                  <a:lnTo>
                    <a:pt x="290444" y="3289572"/>
                  </a:lnTo>
                  <a:lnTo>
                    <a:pt x="251512" y="3266054"/>
                  </a:lnTo>
                  <a:lnTo>
                    <a:pt x="214728" y="3239547"/>
                  </a:lnTo>
                  <a:lnTo>
                    <a:pt x="180262" y="3210219"/>
                  </a:lnTo>
                  <a:lnTo>
                    <a:pt x="148280" y="3178237"/>
                  </a:lnTo>
                  <a:lnTo>
                    <a:pt x="118952" y="3143771"/>
                  </a:lnTo>
                  <a:lnTo>
                    <a:pt x="92445" y="3106987"/>
                  </a:lnTo>
                  <a:lnTo>
                    <a:pt x="68926" y="3068054"/>
                  </a:lnTo>
                  <a:lnTo>
                    <a:pt x="48566" y="3027141"/>
                  </a:lnTo>
                  <a:lnTo>
                    <a:pt x="31530" y="2984414"/>
                  </a:lnTo>
                  <a:lnTo>
                    <a:pt x="17987" y="2940043"/>
                  </a:lnTo>
                  <a:lnTo>
                    <a:pt x="8106" y="2894194"/>
                  </a:lnTo>
                  <a:lnTo>
                    <a:pt x="2054" y="2847037"/>
                  </a:lnTo>
                  <a:lnTo>
                    <a:pt x="0" y="2798738"/>
                  </a:lnTo>
                  <a:lnTo>
                    <a:pt x="0" y="559761"/>
                  </a:lnTo>
                  <a:lnTo>
                    <a:pt x="2054" y="511462"/>
                  </a:lnTo>
                  <a:lnTo>
                    <a:pt x="8106" y="464305"/>
                  </a:lnTo>
                  <a:lnTo>
                    <a:pt x="17987" y="418456"/>
                  </a:lnTo>
                  <a:lnTo>
                    <a:pt x="31530" y="374085"/>
                  </a:lnTo>
                  <a:lnTo>
                    <a:pt x="48566" y="331358"/>
                  </a:lnTo>
                  <a:lnTo>
                    <a:pt x="68926" y="290444"/>
                  </a:lnTo>
                  <a:lnTo>
                    <a:pt x="92445" y="251512"/>
                  </a:lnTo>
                  <a:lnTo>
                    <a:pt x="118952" y="214728"/>
                  </a:lnTo>
                  <a:lnTo>
                    <a:pt x="148280" y="180262"/>
                  </a:lnTo>
                  <a:lnTo>
                    <a:pt x="180262" y="148280"/>
                  </a:lnTo>
                  <a:lnTo>
                    <a:pt x="214728" y="118952"/>
                  </a:lnTo>
                  <a:lnTo>
                    <a:pt x="251512" y="92445"/>
                  </a:lnTo>
                  <a:lnTo>
                    <a:pt x="290444" y="68926"/>
                  </a:lnTo>
                  <a:lnTo>
                    <a:pt x="331358" y="48566"/>
                  </a:lnTo>
                  <a:lnTo>
                    <a:pt x="374085" y="31530"/>
                  </a:lnTo>
                  <a:lnTo>
                    <a:pt x="418456" y="17987"/>
                  </a:lnTo>
                  <a:lnTo>
                    <a:pt x="464305" y="8106"/>
                  </a:lnTo>
                  <a:lnTo>
                    <a:pt x="511462" y="2054"/>
                  </a:lnTo>
                  <a:lnTo>
                    <a:pt x="559761" y="0"/>
                  </a:lnTo>
                  <a:lnTo>
                    <a:pt x="2799938" y="0"/>
                  </a:lnTo>
                  <a:lnTo>
                    <a:pt x="2849156" y="2166"/>
                  </a:lnTo>
                  <a:lnTo>
                    <a:pt x="2897666" y="8594"/>
                  </a:lnTo>
                  <a:lnTo>
                    <a:pt x="2945209" y="19177"/>
                  </a:lnTo>
                  <a:lnTo>
                    <a:pt x="2991529" y="33808"/>
                  </a:lnTo>
                  <a:lnTo>
                    <a:pt x="3036368" y="52381"/>
                  </a:lnTo>
                  <a:lnTo>
                    <a:pt x="3079466" y="74788"/>
                  </a:lnTo>
                  <a:lnTo>
                    <a:pt x="3120568" y="100923"/>
                  </a:lnTo>
                  <a:lnTo>
                    <a:pt x="3159415" y="130679"/>
                  </a:lnTo>
                  <a:lnTo>
                    <a:pt x="3195749" y="163950"/>
                  </a:lnTo>
                  <a:lnTo>
                    <a:pt x="3229019" y="200284"/>
                  </a:lnTo>
                  <a:lnTo>
                    <a:pt x="3258776" y="239131"/>
                  </a:lnTo>
                  <a:lnTo>
                    <a:pt x="3284911" y="280233"/>
                  </a:lnTo>
                  <a:lnTo>
                    <a:pt x="3307318" y="323332"/>
                  </a:lnTo>
                  <a:lnTo>
                    <a:pt x="3325891" y="368170"/>
                  </a:lnTo>
                  <a:lnTo>
                    <a:pt x="3340522" y="414490"/>
                  </a:lnTo>
                  <a:lnTo>
                    <a:pt x="3351105" y="462033"/>
                  </a:lnTo>
                  <a:lnTo>
                    <a:pt x="3357533" y="510543"/>
                  </a:lnTo>
                  <a:lnTo>
                    <a:pt x="3359699" y="559761"/>
                  </a:lnTo>
                  <a:lnTo>
                    <a:pt x="3359699" y="2798738"/>
                  </a:lnTo>
                  <a:lnTo>
                    <a:pt x="3357645" y="2847037"/>
                  </a:lnTo>
                  <a:lnTo>
                    <a:pt x="3351593" y="2894194"/>
                  </a:lnTo>
                  <a:lnTo>
                    <a:pt x="3341712" y="2940043"/>
                  </a:lnTo>
                  <a:lnTo>
                    <a:pt x="3328169" y="2984414"/>
                  </a:lnTo>
                  <a:lnTo>
                    <a:pt x="3311133" y="3027141"/>
                  </a:lnTo>
                  <a:lnTo>
                    <a:pt x="3290772" y="3068054"/>
                  </a:lnTo>
                  <a:lnTo>
                    <a:pt x="3267254" y="3106987"/>
                  </a:lnTo>
                  <a:lnTo>
                    <a:pt x="3240747" y="3143771"/>
                  </a:lnTo>
                  <a:lnTo>
                    <a:pt x="3211419" y="3178237"/>
                  </a:lnTo>
                  <a:lnTo>
                    <a:pt x="3179437" y="3210219"/>
                  </a:lnTo>
                  <a:lnTo>
                    <a:pt x="3144971" y="3239547"/>
                  </a:lnTo>
                  <a:lnTo>
                    <a:pt x="3108187" y="3266054"/>
                  </a:lnTo>
                  <a:lnTo>
                    <a:pt x="3069254" y="3289572"/>
                  </a:lnTo>
                  <a:lnTo>
                    <a:pt x="3028341" y="3309933"/>
                  </a:lnTo>
                  <a:lnTo>
                    <a:pt x="2985614" y="3326969"/>
                  </a:lnTo>
                  <a:lnTo>
                    <a:pt x="2941243" y="3340512"/>
                  </a:lnTo>
                  <a:lnTo>
                    <a:pt x="2895394" y="3350393"/>
                  </a:lnTo>
                  <a:lnTo>
                    <a:pt x="2848237" y="3356445"/>
                  </a:lnTo>
                  <a:lnTo>
                    <a:pt x="2799938" y="335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3358515"/>
            </a:xfrm>
            <a:custGeom>
              <a:avLst/>
              <a:gdLst/>
              <a:ahLst/>
              <a:cxnLst/>
              <a:rect l="l" t="t" r="r" b="b"/>
              <a:pathLst>
                <a:path w="3359785" h="3358515">
                  <a:moveTo>
                    <a:pt x="0" y="559761"/>
                  </a:moveTo>
                  <a:lnTo>
                    <a:pt x="2054" y="511462"/>
                  </a:lnTo>
                  <a:lnTo>
                    <a:pt x="8106" y="464305"/>
                  </a:lnTo>
                  <a:lnTo>
                    <a:pt x="17987" y="418456"/>
                  </a:lnTo>
                  <a:lnTo>
                    <a:pt x="31530" y="374085"/>
                  </a:lnTo>
                  <a:lnTo>
                    <a:pt x="48566" y="331358"/>
                  </a:lnTo>
                  <a:lnTo>
                    <a:pt x="68926" y="290445"/>
                  </a:lnTo>
                  <a:lnTo>
                    <a:pt x="92445" y="251512"/>
                  </a:lnTo>
                  <a:lnTo>
                    <a:pt x="118952" y="214728"/>
                  </a:lnTo>
                  <a:lnTo>
                    <a:pt x="148280" y="180262"/>
                  </a:lnTo>
                  <a:lnTo>
                    <a:pt x="180262" y="148280"/>
                  </a:lnTo>
                  <a:lnTo>
                    <a:pt x="214728" y="118952"/>
                  </a:lnTo>
                  <a:lnTo>
                    <a:pt x="251512" y="92445"/>
                  </a:lnTo>
                  <a:lnTo>
                    <a:pt x="290445" y="68926"/>
                  </a:lnTo>
                  <a:lnTo>
                    <a:pt x="331358" y="48566"/>
                  </a:lnTo>
                  <a:lnTo>
                    <a:pt x="374085" y="31530"/>
                  </a:lnTo>
                  <a:lnTo>
                    <a:pt x="418456" y="17987"/>
                  </a:lnTo>
                  <a:lnTo>
                    <a:pt x="464305" y="8106"/>
                  </a:lnTo>
                  <a:lnTo>
                    <a:pt x="511462" y="2054"/>
                  </a:lnTo>
                  <a:lnTo>
                    <a:pt x="559761" y="0"/>
                  </a:lnTo>
                  <a:lnTo>
                    <a:pt x="2799938" y="0"/>
                  </a:lnTo>
                  <a:lnTo>
                    <a:pt x="2849156" y="2166"/>
                  </a:lnTo>
                  <a:lnTo>
                    <a:pt x="2897666" y="8594"/>
                  </a:lnTo>
                  <a:lnTo>
                    <a:pt x="2945209" y="19177"/>
                  </a:lnTo>
                  <a:lnTo>
                    <a:pt x="2991529" y="33808"/>
                  </a:lnTo>
                  <a:lnTo>
                    <a:pt x="3036368" y="52381"/>
                  </a:lnTo>
                  <a:lnTo>
                    <a:pt x="3079466" y="74788"/>
                  </a:lnTo>
                  <a:lnTo>
                    <a:pt x="3120568" y="100923"/>
                  </a:lnTo>
                  <a:lnTo>
                    <a:pt x="3159415" y="130679"/>
                  </a:lnTo>
                  <a:lnTo>
                    <a:pt x="3195749" y="163950"/>
                  </a:lnTo>
                  <a:lnTo>
                    <a:pt x="3229019" y="200284"/>
                  </a:lnTo>
                  <a:lnTo>
                    <a:pt x="3258776" y="239131"/>
                  </a:lnTo>
                  <a:lnTo>
                    <a:pt x="3284911" y="280233"/>
                  </a:lnTo>
                  <a:lnTo>
                    <a:pt x="3307318" y="323332"/>
                  </a:lnTo>
                  <a:lnTo>
                    <a:pt x="3325891" y="368170"/>
                  </a:lnTo>
                  <a:lnTo>
                    <a:pt x="3340522" y="414490"/>
                  </a:lnTo>
                  <a:lnTo>
                    <a:pt x="3351105" y="462033"/>
                  </a:lnTo>
                  <a:lnTo>
                    <a:pt x="3357533" y="510543"/>
                  </a:lnTo>
                  <a:lnTo>
                    <a:pt x="3359699" y="559761"/>
                  </a:lnTo>
                  <a:lnTo>
                    <a:pt x="3359699" y="2798738"/>
                  </a:lnTo>
                  <a:lnTo>
                    <a:pt x="3357645" y="2847037"/>
                  </a:lnTo>
                  <a:lnTo>
                    <a:pt x="3351593" y="2894194"/>
                  </a:lnTo>
                  <a:lnTo>
                    <a:pt x="3341712" y="2940043"/>
                  </a:lnTo>
                  <a:lnTo>
                    <a:pt x="3328169" y="2984414"/>
                  </a:lnTo>
                  <a:lnTo>
                    <a:pt x="3311133" y="3027141"/>
                  </a:lnTo>
                  <a:lnTo>
                    <a:pt x="3290773" y="3068054"/>
                  </a:lnTo>
                  <a:lnTo>
                    <a:pt x="3267254" y="3106987"/>
                  </a:lnTo>
                  <a:lnTo>
                    <a:pt x="3240747" y="3143771"/>
                  </a:lnTo>
                  <a:lnTo>
                    <a:pt x="3211419" y="3178237"/>
                  </a:lnTo>
                  <a:lnTo>
                    <a:pt x="3179437" y="3210219"/>
                  </a:lnTo>
                  <a:lnTo>
                    <a:pt x="3144971" y="3239547"/>
                  </a:lnTo>
                  <a:lnTo>
                    <a:pt x="3108187" y="3266054"/>
                  </a:lnTo>
                  <a:lnTo>
                    <a:pt x="3069254" y="3289573"/>
                  </a:lnTo>
                  <a:lnTo>
                    <a:pt x="3028341" y="3309933"/>
                  </a:lnTo>
                  <a:lnTo>
                    <a:pt x="2985614" y="3326969"/>
                  </a:lnTo>
                  <a:lnTo>
                    <a:pt x="2941243" y="3340512"/>
                  </a:lnTo>
                  <a:lnTo>
                    <a:pt x="2895394" y="3350393"/>
                  </a:lnTo>
                  <a:lnTo>
                    <a:pt x="2848237" y="3356445"/>
                  </a:lnTo>
                  <a:lnTo>
                    <a:pt x="2799938" y="3358499"/>
                  </a:lnTo>
                  <a:lnTo>
                    <a:pt x="559761" y="3358499"/>
                  </a:lnTo>
                  <a:lnTo>
                    <a:pt x="511462" y="3356445"/>
                  </a:lnTo>
                  <a:lnTo>
                    <a:pt x="464305" y="3350393"/>
                  </a:lnTo>
                  <a:lnTo>
                    <a:pt x="418456" y="3340512"/>
                  </a:lnTo>
                  <a:lnTo>
                    <a:pt x="374085" y="3326969"/>
                  </a:lnTo>
                  <a:lnTo>
                    <a:pt x="331358" y="3309933"/>
                  </a:lnTo>
                  <a:lnTo>
                    <a:pt x="290445" y="3289573"/>
                  </a:lnTo>
                  <a:lnTo>
                    <a:pt x="251512" y="3266054"/>
                  </a:lnTo>
                  <a:lnTo>
                    <a:pt x="214728" y="3239547"/>
                  </a:lnTo>
                  <a:lnTo>
                    <a:pt x="180262" y="3210219"/>
                  </a:lnTo>
                  <a:lnTo>
                    <a:pt x="148280" y="3178237"/>
                  </a:lnTo>
                  <a:lnTo>
                    <a:pt x="118952" y="3143771"/>
                  </a:lnTo>
                  <a:lnTo>
                    <a:pt x="92445" y="3106987"/>
                  </a:lnTo>
                  <a:lnTo>
                    <a:pt x="68926" y="3068054"/>
                  </a:lnTo>
                  <a:lnTo>
                    <a:pt x="48566" y="3027141"/>
                  </a:lnTo>
                  <a:lnTo>
                    <a:pt x="31530" y="2984414"/>
                  </a:lnTo>
                  <a:lnTo>
                    <a:pt x="17987" y="2940043"/>
                  </a:lnTo>
                  <a:lnTo>
                    <a:pt x="8106" y="2894194"/>
                  </a:lnTo>
                  <a:lnTo>
                    <a:pt x="2054" y="2847037"/>
                  </a:lnTo>
                  <a:lnTo>
                    <a:pt x="0" y="2798738"/>
                  </a:lnTo>
                  <a:lnTo>
                    <a:pt x="0" y="5597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27698" y="1260961"/>
            <a:ext cx="2850515" cy="2334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CSQA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(Talmor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al.,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2019)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4864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What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home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entertainment </a:t>
            </a:r>
            <a:r>
              <a:rPr sz="1400" dirty="0">
                <a:latin typeface="Arial"/>
                <a:cs typeface="Arial"/>
              </a:rPr>
              <a:t>equipment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requires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cable?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Choices: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(a)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radio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shack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(b) </a:t>
            </a:r>
            <a:r>
              <a:rPr sz="1400" dirty="0">
                <a:latin typeface="Arial"/>
                <a:cs typeface="Arial"/>
              </a:rPr>
              <a:t>substation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(c)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television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(d)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cabinet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2540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answer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must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require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cable.</a:t>
            </a:r>
            <a:r>
              <a:rPr sz="1400" b="1" spc="-3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above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choices,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only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television</a:t>
            </a:r>
            <a:r>
              <a:rPr sz="1400" b="1" spc="-4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requires</a:t>
            </a:r>
            <a:r>
              <a:rPr sz="1400" b="1" spc="-3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cable.</a:t>
            </a:r>
            <a:r>
              <a:rPr sz="1400" b="1" spc="-5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(c).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CSQA</a:t>
            </a:r>
            <a:r>
              <a:rPr spc="-18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spc="-10" dirty="0"/>
              <a:t>Prompt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25743" y="1791062"/>
            <a:ext cx="27489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7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training</a:t>
            </a:r>
            <a:r>
              <a:rPr sz="1400" spc="-10" dirty="0">
                <a:latin typeface="Times New Roman"/>
                <a:cs typeface="Times New Roman"/>
              </a:rPr>
              <a:t> dataset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1026337"/>
            <a:ext cx="3369310" cy="3368040"/>
            <a:chOff x="785962" y="1026337"/>
            <a:chExt cx="3369310" cy="3368040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3358515"/>
            </a:xfrm>
            <a:custGeom>
              <a:avLst/>
              <a:gdLst/>
              <a:ahLst/>
              <a:cxnLst/>
              <a:rect l="l" t="t" r="r" b="b"/>
              <a:pathLst>
                <a:path w="3359785" h="3358515">
                  <a:moveTo>
                    <a:pt x="2799938" y="3358499"/>
                  </a:moveTo>
                  <a:lnTo>
                    <a:pt x="559761" y="3358499"/>
                  </a:lnTo>
                  <a:lnTo>
                    <a:pt x="511462" y="3356445"/>
                  </a:lnTo>
                  <a:lnTo>
                    <a:pt x="464305" y="3350393"/>
                  </a:lnTo>
                  <a:lnTo>
                    <a:pt x="418456" y="3340512"/>
                  </a:lnTo>
                  <a:lnTo>
                    <a:pt x="374085" y="3326969"/>
                  </a:lnTo>
                  <a:lnTo>
                    <a:pt x="331358" y="3309933"/>
                  </a:lnTo>
                  <a:lnTo>
                    <a:pt x="290444" y="3289572"/>
                  </a:lnTo>
                  <a:lnTo>
                    <a:pt x="251512" y="3266054"/>
                  </a:lnTo>
                  <a:lnTo>
                    <a:pt x="214728" y="3239547"/>
                  </a:lnTo>
                  <a:lnTo>
                    <a:pt x="180262" y="3210219"/>
                  </a:lnTo>
                  <a:lnTo>
                    <a:pt x="148280" y="3178237"/>
                  </a:lnTo>
                  <a:lnTo>
                    <a:pt x="118952" y="3143771"/>
                  </a:lnTo>
                  <a:lnTo>
                    <a:pt x="92445" y="3106987"/>
                  </a:lnTo>
                  <a:lnTo>
                    <a:pt x="68926" y="3068054"/>
                  </a:lnTo>
                  <a:lnTo>
                    <a:pt x="48566" y="3027141"/>
                  </a:lnTo>
                  <a:lnTo>
                    <a:pt x="31530" y="2984414"/>
                  </a:lnTo>
                  <a:lnTo>
                    <a:pt x="17987" y="2940043"/>
                  </a:lnTo>
                  <a:lnTo>
                    <a:pt x="8106" y="2894194"/>
                  </a:lnTo>
                  <a:lnTo>
                    <a:pt x="2054" y="2847037"/>
                  </a:lnTo>
                  <a:lnTo>
                    <a:pt x="0" y="2798738"/>
                  </a:lnTo>
                  <a:lnTo>
                    <a:pt x="0" y="559761"/>
                  </a:lnTo>
                  <a:lnTo>
                    <a:pt x="2054" y="511462"/>
                  </a:lnTo>
                  <a:lnTo>
                    <a:pt x="8106" y="464305"/>
                  </a:lnTo>
                  <a:lnTo>
                    <a:pt x="17987" y="418456"/>
                  </a:lnTo>
                  <a:lnTo>
                    <a:pt x="31530" y="374085"/>
                  </a:lnTo>
                  <a:lnTo>
                    <a:pt x="48566" y="331358"/>
                  </a:lnTo>
                  <a:lnTo>
                    <a:pt x="68926" y="290444"/>
                  </a:lnTo>
                  <a:lnTo>
                    <a:pt x="92445" y="251512"/>
                  </a:lnTo>
                  <a:lnTo>
                    <a:pt x="118952" y="214728"/>
                  </a:lnTo>
                  <a:lnTo>
                    <a:pt x="148280" y="180262"/>
                  </a:lnTo>
                  <a:lnTo>
                    <a:pt x="180262" y="148280"/>
                  </a:lnTo>
                  <a:lnTo>
                    <a:pt x="214728" y="118952"/>
                  </a:lnTo>
                  <a:lnTo>
                    <a:pt x="251512" y="92445"/>
                  </a:lnTo>
                  <a:lnTo>
                    <a:pt x="290444" y="68926"/>
                  </a:lnTo>
                  <a:lnTo>
                    <a:pt x="331358" y="48566"/>
                  </a:lnTo>
                  <a:lnTo>
                    <a:pt x="374085" y="31530"/>
                  </a:lnTo>
                  <a:lnTo>
                    <a:pt x="418456" y="17987"/>
                  </a:lnTo>
                  <a:lnTo>
                    <a:pt x="464305" y="8106"/>
                  </a:lnTo>
                  <a:lnTo>
                    <a:pt x="511462" y="2054"/>
                  </a:lnTo>
                  <a:lnTo>
                    <a:pt x="559761" y="0"/>
                  </a:lnTo>
                  <a:lnTo>
                    <a:pt x="2799938" y="0"/>
                  </a:lnTo>
                  <a:lnTo>
                    <a:pt x="2849156" y="2166"/>
                  </a:lnTo>
                  <a:lnTo>
                    <a:pt x="2897666" y="8594"/>
                  </a:lnTo>
                  <a:lnTo>
                    <a:pt x="2945209" y="19177"/>
                  </a:lnTo>
                  <a:lnTo>
                    <a:pt x="2991529" y="33808"/>
                  </a:lnTo>
                  <a:lnTo>
                    <a:pt x="3036368" y="52381"/>
                  </a:lnTo>
                  <a:lnTo>
                    <a:pt x="3079466" y="74788"/>
                  </a:lnTo>
                  <a:lnTo>
                    <a:pt x="3120568" y="100923"/>
                  </a:lnTo>
                  <a:lnTo>
                    <a:pt x="3159415" y="130679"/>
                  </a:lnTo>
                  <a:lnTo>
                    <a:pt x="3195749" y="163950"/>
                  </a:lnTo>
                  <a:lnTo>
                    <a:pt x="3229019" y="200284"/>
                  </a:lnTo>
                  <a:lnTo>
                    <a:pt x="3258776" y="239131"/>
                  </a:lnTo>
                  <a:lnTo>
                    <a:pt x="3284911" y="280233"/>
                  </a:lnTo>
                  <a:lnTo>
                    <a:pt x="3307318" y="323332"/>
                  </a:lnTo>
                  <a:lnTo>
                    <a:pt x="3325891" y="368170"/>
                  </a:lnTo>
                  <a:lnTo>
                    <a:pt x="3340522" y="414490"/>
                  </a:lnTo>
                  <a:lnTo>
                    <a:pt x="3351105" y="462033"/>
                  </a:lnTo>
                  <a:lnTo>
                    <a:pt x="3357533" y="510543"/>
                  </a:lnTo>
                  <a:lnTo>
                    <a:pt x="3359699" y="559761"/>
                  </a:lnTo>
                  <a:lnTo>
                    <a:pt x="3359699" y="2798738"/>
                  </a:lnTo>
                  <a:lnTo>
                    <a:pt x="3357645" y="2847037"/>
                  </a:lnTo>
                  <a:lnTo>
                    <a:pt x="3351593" y="2894194"/>
                  </a:lnTo>
                  <a:lnTo>
                    <a:pt x="3341712" y="2940043"/>
                  </a:lnTo>
                  <a:lnTo>
                    <a:pt x="3328169" y="2984414"/>
                  </a:lnTo>
                  <a:lnTo>
                    <a:pt x="3311133" y="3027141"/>
                  </a:lnTo>
                  <a:lnTo>
                    <a:pt x="3290772" y="3068054"/>
                  </a:lnTo>
                  <a:lnTo>
                    <a:pt x="3267254" y="3106987"/>
                  </a:lnTo>
                  <a:lnTo>
                    <a:pt x="3240747" y="3143771"/>
                  </a:lnTo>
                  <a:lnTo>
                    <a:pt x="3211419" y="3178237"/>
                  </a:lnTo>
                  <a:lnTo>
                    <a:pt x="3179437" y="3210219"/>
                  </a:lnTo>
                  <a:lnTo>
                    <a:pt x="3144971" y="3239547"/>
                  </a:lnTo>
                  <a:lnTo>
                    <a:pt x="3108187" y="3266054"/>
                  </a:lnTo>
                  <a:lnTo>
                    <a:pt x="3069254" y="3289572"/>
                  </a:lnTo>
                  <a:lnTo>
                    <a:pt x="3028341" y="3309933"/>
                  </a:lnTo>
                  <a:lnTo>
                    <a:pt x="2985614" y="3326969"/>
                  </a:lnTo>
                  <a:lnTo>
                    <a:pt x="2941243" y="3340512"/>
                  </a:lnTo>
                  <a:lnTo>
                    <a:pt x="2895394" y="3350393"/>
                  </a:lnTo>
                  <a:lnTo>
                    <a:pt x="2848237" y="3356445"/>
                  </a:lnTo>
                  <a:lnTo>
                    <a:pt x="2799938" y="335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3358515"/>
            </a:xfrm>
            <a:custGeom>
              <a:avLst/>
              <a:gdLst/>
              <a:ahLst/>
              <a:cxnLst/>
              <a:rect l="l" t="t" r="r" b="b"/>
              <a:pathLst>
                <a:path w="3359785" h="3358515">
                  <a:moveTo>
                    <a:pt x="0" y="559761"/>
                  </a:moveTo>
                  <a:lnTo>
                    <a:pt x="2054" y="511462"/>
                  </a:lnTo>
                  <a:lnTo>
                    <a:pt x="8106" y="464305"/>
                  </a:lnTo>
                  <a:lnTo>
                    <a:pt x="17987" y="418456"/>
                  </a:lnTo>
                  <a:lnTo>
                    <a:pt x="31530" y="374085"/>
                  </a:lnTo>
                  <a:lnTo>
                    <a:pt x="48566" y="331358"/>
                  </a:lnTo>
                  <a:lnTo>
                    <a:pt x="68926" y="290445"/>
                  </a:lnTo>
                  <a:lnTo>
                    <a:pt x="92445" y="251512"/>
                  </a:lnTo>
                  <a:lnTo>
                    <a:pt x="118952" y="214728"/>
                  </a:lnTo>
                  <a:lnTo>
                    <a:pt x="148280" y="180262"/>
                  </a:lnTo>
                  <a:lnTo>
                    <a:pt x="180262" y="148280"/>
                  </a:lnTo>
                  <a:lnTo>
                    <a:pt x="214728" y="118952"/>
                  </a:lnTo>
                  <a:lnTo>
                    <a:pt x="251512" y="92445"/>
                  </a:lnTo>
                  <a:lnTo>
                    <a:pt x="290445" y="68926"/>
                  </a:lnTo>
                  <a:lnTo>
                    <a:pt x="331358" y="48566"/>
                  </a:lnTo>
                  <a:lnTo>
                    <a:pt x="374085" y="31530"/>
                  </a:lnTo>
                  <a:lnTo>
                    <a:pt x="418456" y="17987"/>
                  </a:lnTo>
                  <a:lnTo>
                    <a:pt x="464305" y="8106"/>
                  </a:lnTo>
                  <a:lnTo>
                    <a:pt x="511462" y="2054"/>
                  </a:lnTo>
                  <a:lnTo>
                    <a:pt x="559761" y="0"/>
                  </a:lnTo>
                  <a:lnTo>
                    <a:pt x="2799938" y="0"/>
                  </a:lnTo>
                  <a:lnTo>
                    <a:pt x="2849156" y="2166"/>
                  </a:lnTo>
                  <a:lnTo>
                    <a:pt x="2897666" y="8594"/>
                  </a:lnTo>
                  <a:lnTo>
                    <a:pt x="2945209" y="19177"/>
                  </a:lnTo>
                  <a:lnTo>
                    <a:pt x="2991529" y="33808"/>
                  </a:lnTo>
                  <a:lnTo>
                    <a:pt x="3036368" y="52381"/>
                  </a:lnTo>
                  <a:lnTo>
                    <a:pt x="3079466" y="74788"/>
                  </a:lnTo>
                  <a:lnTo>
                    <a:pt x="3120568" y="100923"/>
                  </a:lnTo>
                  <a:lnTo>
                    <a:pt x="3159415" y="130679"/>
                  </a:lnTo>
                  <a:lnTo>
                    <a:pt x="3195749" y="163950"/>
                  </a:lnTo>
                  <a:lnTo>
                    <a:pt x="3229019" y="200284"/>
                  </a:lnTo>
                  <a:lnTo>
                    <a:pt x="3258776" y="239131"/>
                  </a:lnTo>
                  <a:lnTo>
                    <a:pt x="3284911" y="280233"/>
                  </a:lnTo>
                  <a:lnTo>
                    <a:pt x="3307318" y="323332"/>
                  </a:lnTo>
                  <a:lnTo>
                    <a:pt x="3325891" y="368170"/>
                  </a:lnTo>
                  <a:lnTo>
                    <a:pt x="3340522" y="414490"/>
                  </a:lnTo>
                  <a:lnTo>
                    <a:pt x="3351105" y="462033"/>
                  </a:lnTo>
                  <a:lnTo>
                    <a:pt x="3357533" y="510543"/>
                  </a:lnTo>
                  <a:lnTo>
                    <a:pt x="3359699" y="559761"/>
                  </a:lnTo>
                  <a:lnTo>
                    <a:pt x="3359699" y="2798738"/>
                  </a:lnTo>
                  <a:lnTo>
                    <a:pt x="3357645" y="2847037"/>
                  </a:lnTo>
                  <a:lnTo>
                    <a:pt x="3351593" y="2894194"/>
                  </a:lnTo>
                  <a:lnTo>
                    <a:pt x="3341712" y="2940043"/>
                  </a:lnTo>
                  <a:lnTo>
                    <a:pt x="3328169" y="2984414"/>
                  </a:lnTo>
                  <a:lnTo>
                    <a:pt x="3311133" y="3027141"/>
                  </a:lnTo>
                  <a:lnTo>
                    <a:pt x="3290773" y="3068054"/>
                  </a:lnTo>
                  <a:lnTo>
                    <a:pt x="3267254" y="3106987"/>
                  </a:lnTo>
                  <a:lnTo>
                    <a:pt x="3240747" y="3143771"/>
                  </a:lnTo>
                  <a:lnTo>
                    <a:pt x="3211419" y="3178237"/>
                  </a:lnTo>
                  <a:lnTo>
                    <a:pt x="3179437" y="3210219"/>
                  </a:lnTo>
                  <a:lnTo>
                    <a:pt x="3144971" y="3239547"/>
                  </a:lnTo>
                  <a:lnTo>
                    <a:pt x="3108187" y="3266054"/>
                  </a:lnTo>
                  <a:lnTo>
                    <a:pt x="3069254" y="3289573"/>
                  </a:lnTo>
                  <a:lnTo>
                    <a:pt x="3028341" y="3309933"/>
                  </a:lnTo>
                  <a:lnTo>
                    <a:pt x="2985614" y="3326969"/>
                  </a:lnTo>
                  <a:lnTo>
                    <a:pt x="2941243" y="3340512"/>
                  </a:lnTo>
                  <a:lnTo>
                    <a:pt x="2895394" y="3350393"/>
                  </a:lnTo>
                  <a:lnTo>
                    <a:pt x="2848237" y="3356445"/>
                  </a:lnTo>
                  <a:lnTo>
                    <a:pt x="2799938" y="3358499"/>
                  </a:lnTo>
                  <a:lnTo>
                    <a:pt x="559761" y="3358499"/>
                  </a:lnTo>
                  <a:lnTo>
                    <a:pt x="511462" y="3356445"/>
                  </a:lnTo>
                  <a:lnTo>
                    <a:pt x="464305" y="3350393"/>
                  </a:lnTo>
                  <a:lnTo>
                    <a:pt x="418456" y="3340512"/>
                  </a:lnTo>
                  <a:lnTo>
                    <a:pt x="374085" y="3326969"/>
                  </a:lnTo>
                  <a:lnTo>
                    <a:pt x="331358" y="3309933"/>
                  </a:lnTo>
                  <a:lnTo>
                    <a:pt x="290445" y="3289573"/>
                  </a:lnTo>
                  <a:lnTo>
                    <a:pt x="251512" y="3266054"/>
                  </a:lnTo>
                  <a:lnTo>
                    <a:pt x="214728" y="3239547"/>
                  </a:lnTo>
                  <a:lnTo>
                    <a:pt x="180262" y="3210219"/>
                  </a:lnTo>
                  <a:lnTo>
                    <a:pt x="148280" y="3178237"/>
                  </a:lnTo>
                  <a:lnTo>
                    <a:pt x="118952" y="3143771"/>
                  </a:lnTo>
                  <a:lnTo>
                    <a:pt x="92445" y="3106987"/>
                  </a:lnTo>
                  <a:lnTo>
                    <a:pt x="68926" y="3068054"/>
                  </a:lnTo>
                  <a:lnTo>
                    <a:pt x="48566" y="3027141"/>
                  </a:lnTo>
                  <a:lnTo>
                    <a:pt x="31530" y="2984414"/>
                  </a:lnTo>
                  <a:lnTo>
                    <a:pt x="17987" y="2940043"/>
                  </a:lnTo>
                  <a:lnTo>
                    <a:pt x="8106" y="2894194"/>
                  </a:lnTo>
                  <a:lnTo>
                    <a:pt x="2054" y="2847037"/>
                  </a:lnTo>
                  <a:lnTo>
                    <a:pt x="0" y="2798738"/>
                  </a:lnTo>
                  <a:lnTo>
                    <a:pt x="0" y="5597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27698" y="1260961"/>
            <a:ext cx="2850515" cy="2334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CSQA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(Talmor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et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al.,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2019)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4864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What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home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entertainment </a:t>
            </a:r>
            <a:r>
              <a:rPr sz="1400" dirty="0">
                <a:latin typeface="Arial"/>
                <a:cs typeface="Arial"/>
              </a:rPr>
              <a:t>equipment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requires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cable?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Choices: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(a)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radio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shack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(b) </a:t>
            </a:r>
            <a:r>
              <a:rPr sz="1400" dirty="0">
                <a:latin typeface="Arial"/>
                <a:cs typeface="Arial"/>
              </a:rPr>
              <a:t>substation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(c)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television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(d)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cabinet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2540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answer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must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require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cable.</a:t>
            </a:r>
            <a:r>
              <a:rPr sz="1400" b="1" spc="-3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above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choices,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only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television</a:t>
            </a:r>
            <a:r>
              <a:rPr sz="1400" b="1" spc="-4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requires</a:t>
            </a:r>
            <a:r>
              <a:rPr sz="1400" b="1" spc="-3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cable.</a:t>
            </a:r>
            <a:r>
              <a:rPr sz="1400" b="1" spc="-5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(c).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CSQA</a:t>
            </a:r>
            <a:r>
              <a:rPr spc="-18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spc="-10" dirty="0"/>
              <a:t>Prompt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25743" y="1791062"/>
            <a:ext cx="3834765" cy="151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7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training</a:t>
            </a:r>
            <a:r>
              <a:rPr sz="1400" spc="-10" dirty="0">
                <a:latin typeface="Times New Roman"/>
                <a:cs typeface="Times New Roman"/>
              </a:rPr>
              <a:t> dataset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●"/>
            </a:pPr>
            <a:endParaRPr sz="1450">
              <a:latin typeface="Times New Roman"/>
              <a:cs typeface="Times New Roman"/>
            </a:endParaRPr>
          </a:p>
          <a:p>
            <a:pPr marL="347980" marR="5080" indent="-335915">
              <a:lnSpc>
                <a:spcPct val="100000"/>
              </a:lnSpc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Manually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composed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intermediate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reasoning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with </a:t>
            </a:r>
            <a:r>
              <a:rPr sz="1400" dirty="0">
                <a:latin typeface="Times New Roman"/>
                <a:cs typeface="Times New Roman"/>
              </a:rPr>
              <a:t>strict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format: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marL="348615" marR="210820">
              <a:lnSpc>
                <a:spcPct val="100000"/>
              </a:lnSpc>
              <a:tabLst>
                <a:tab pos="1143000" algn="l"/>
                <a:tab pos="1997075" algn="l"/>
              </a:tabLst>
            </a:pPr>
            <a:r>
              <a:rPr sz="1400" i="1" dirty="0">
                <a:latin typeface="Times New Roman"/>
                <a:cs typeface="Times New Roman"/>
              </a:rPr>
              <a:t>The answer must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400" i="1" dirty="0">
                <a:latin typeface="Times New Roman"/>
                <a:cs typeface="Times New Roman"/>
              </a:rPr>
              <a:t>.</a:t>
            </a:r>
            <a:r>
              <a:rPr sz="1400" i="1" spc="-1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Of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above</a:t>
            </a:r>
            <a:r>
              <a:rPr sz="1400" i="1" spc="-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choices, </a:t>
            </a:r>
            <a:r>
              <a:rPr sz="1400" i="1" dirty="0">
                <a:latin typeface="Times New Roman"/>
                <a:cs typeface="Times New Roman"/>
              </a:rPr>
              <a:t>only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400" i="1" spc="-50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1102937"/>
            <a:ext cx="3369310" cy="3368040"/>
            <a:chOff x="785962" y="1102937"/>
            <a:chExt cx="3369310" cy="3368040"/>
          </a:xfrm>
        </p:grpSpPr>
        <p:sp>
          <p:nvSpPr>
            <p:cNvPr id="3" name="object 3"/>
            <p:cNvSpPr/>
            <p:nvPr/>
          </p:nvSpPr>
          <p:spPr>
            <a:xfrm>
              <a:off x="790724" y="1107700"/>
              <a:ext cx="3359785" cy="3358515"/>
            </a:xfrm>
            <a:custGeom>
              <a:avLst/>
              <a:gdLst/>
              <a:ahLst/>
              <a:cxnLst/>
              <a:rect l="l" t="t" r="r" b="b"/>
              <a:pathLst>
                <a:path w="3359785" h="3358515">
                  <a:moveTo>
                    <a:pt x="2799938" y="3358499"/>
                  </a:moveTo>
                  <a:lnTo>
                    <a:pt x="559761" y="3358499"/>
                  </a:lnTo>
                  <a:lnTo>
                    <a:pt x="511462" y="3356445"/>
                  </a:lnTo>
                  <a:lnTo>
                    <a:pt x="464305" y="3350393"/>
                  </a:lnTo>
                  <a:lnTo>
                    <a:pt x="418456" y="3340512"/>
                  </a:lnTo>
                  <a:lnTo>
                    <a:pt x="374085" y="3326969"/>
                  </a:lnTo>
                  <a:lnTo>
                    <a:pt x="331358" y="3309933"/>
                  </a:lnTo>
                  <a:lnTo>
                    <a:pt x="290444" y="3289572"/>
                  </a:lnTo>
                  <a:lnTo>
                    <a:pt x="251512" y="3266054"/>
                  </a:lnTo>
                  <a:lnTo>
                    <a:pt x="214728" y="3239547"/>
                  </a:lnTo>
                  <a:lnTo>
                    <a:pt x="180262" y="3210219"/>
                  </a:lnTo>
                  <a:lnTo>
                    <a:pt x="148280" y="3178237"/>
                  </a:lnTo>
                  <a:lnTo>
                    <a:pt x="118952" y="3143771"/>
                  </a:lnTo>
                  <a:lnTo>
                    <a:pt x="92445" y="3106987"/>
                  </a:lnTo>
                  <a:lnTo>
                    <a:pt x="68926" y="3068054"/>
                  </a:lnTo>
                  <a:lnTo>
                    <a:pt x="48566" y="3027141"/>
                  </a:lnTo>
                  <a:lnTo>
                    <a:pt x="31530" y="2984414"/>
                  </a:lnTo>
                  <a:lnTo>
                    <a:pt x="17987" y="2940043"/>
                  </a:lnTo>
                  <a:lnTo>
                    <a:pt x="8106" y="2894194"/>
                  </a:lnTo>
                  <a:lnTo>
                    <a:pt x="2054" y="2847037"/>
                  </a:lnTo>
                  <a:lnTo>
                    <a:pt x="0" y="2798738"/>
                  </a:lnTo>
                  <a:lnTo>
                    <a:pt x="0" y="559761"/>
                  </a:lnTo>
                  <a:lnTo>
                    <a:pt x="2054" y="511462"/>
                  </a:lnTo>
                  <a:lnTo>
                    <a:pt x="8106" y="464305"/>
                  </a:lnTo>
                  <a:lnTo>
                    <a:pt x="17987" y="418456"/>
                  </a:lnTo>
                  <a:lnTo>
                    <a:pt x="31530" y="374085"/>
                  </a:lnTo>
                  <a:lnTo>
                    <a:pt x="48566" y="331358"/>
                  </a:lnTo>
                  <a:lnTo>
                    <a:pt x="68926" y="290444"/>
                  </a:lnTo>
                  <a:lnTo>
                    <a:pt x="92445" y="251512"/>
                  </a:lnTo>
                  <a:lnTo>
                    <a:pt x="118952" y="214728"/>
                  </a:lnTo>
                  <a:lnTo>
                    <a:pt x="148280" y="180262"/>
                  </a:lnTo>
                  <a:lnTo>
                    <a:pt x="180262" y="148280"/>
                  </a:lnTo>
                  <a:lnTo>
                    <a:pt x="214728" y="118952"/>
                  </a:lnTo>
                  <a:lnTo>
                    <a:pt x="251512" y="92445"/>
                  </a:lnTo>
                  <a:lnTo>
                    <a:pt x="290444" y="68926"/>
                  </a:lnTo>
                  <a:lnTo>
                    <a:pt x="331358" y="48566"/>
                  </a:lnTo>
                  <a:lnTo>
                    <a:pt x="374085" y="31530"/>
                  </a:lnTo>
                  <a:lnTo>
                    <a:pt x="418456" y="17987"/>
                  </a:lnTo>
                  <a:lnTo>
                    <a:pt x="464305" y="8106"/>
                  </a:lnTo>
                  <a:lnTo>
                    <a:pt x="511462" y="2054"/>
                  </a:lnTo>
                  <a:lnTo>
                    <a:pt x="559761" y="0"/>
                  </a:lnTo>
                  <a:lnTo>
                    <a:pt x="2799938" y="0"/>
                  </a:lnTo>
                  <a:lnTo>
                    <a:pt x="2849156" y="2166"/>
                  </a:lnTo>
                  <a:lnTo>
                    <a:pt x="2897666" y="8594"/>
                  </a:lnTo>
                  <a:lnTo>
                    <a:pt x="2945209" y="19177"/>
                  </a:lnTo>
                  <a:lnTo>
                    <a:pt x="2991529" y="33808"/>
                  </a:lnTo>
                  <a:lnTo>
                    <a:pt x="3036368" y="52381"/>
                  </a:lnTo>
                  <a:lnTo>
                    <a:pt x="3079466" y="74788"/>
                  </a:lnTo>
                  <a:lnTo>
                    <a:pt x="3120568" y="100923"/>
                  </a:lnTo>
                  <a:lnTo>
                    <a:pt x="3159415" y="130679"/>
                  </a:lnTo>
                  <a:lnTo>
                    <a:pt x="3195749" y="163950"/>
                  </a:lnTo>
                  <a:lnTo>
                    <a:pt x="3229019" y="200284"/>
                  </a:lnTo>
                  <a:lnTo>
                    <a:pt x="3258776" y="239131"/>
                  </a:lnTo>
                  <a:lnTo>
                    <a:pt x="3284911" y="280233"/>
                  </a:lnTo>
                  <a:lnTo>
                    <a:pt x="3307318" y="323332"/>
                  </a:lnTo>
                  <a:lnTo>
                    <a:pt x="3325891" y="368170"/>
                  </a:lnTo>
                  <a:lnTo>
                    <a:pt x="3340522" y="414490"/>
                  </a:lnTo>
                  <a:lnTo>
                    <a:pt x="3351105" y="462033"/>
                  </a:lnTo>
                  <a:lnTo>
                    <a:pt x="3357533" y="510543"/>
                  </a:lnTo>
                  <a:lnTo>
                    <a:pt x="3359699" y="559761"/>
                  </a:lnTo>
                  <a:lnTo>
                    <a:pt x="3359699" y="2798738"/>
                  </a:lnTo>
                  <a:lnTo>
                    <a:pt x="3357645" y="2847037"/>
                  </a:lnTo>
                  <a:lnTo>
                    <a:pt x="3351593" y="2894194"/>
                  </a:lnTo>
                  <a:lnTo>
                    <a:pt x="3341712" y="2940043"/>
                  </a:lnTo>
                  <a:lnTo>
                    <a:pt x="3328169" y="2984414"/>
                  </a:lnTo>
                  <a:lnTo>
                    <a:pt x="3311133" y="3027141"/>
                  </a:lnTo>
                  <a:lnTo>
                    <a:pt x="3290772" y="3068054"/>
                  </a:lnTo>
                  <a:lnTo>
                    <a:pt x="3267254" y="3106987"/>
                  </a:lnTo>
                  <a:lnTo>
                    <a:pt x="3240747" y="3143771"/>
                  </a:lnTo>
                  <a:lnTo>
                    <a:pt x="3211419" y="3178237"/>
                  </a:lnTo>
                  <a:lnTo>
                    <a:pt x="3179437" y="3210219"/>
                  </a:lnTo>
                  <a:lnTo>
                    <a:pt x="3144971" y="3239547"/>
                  </a:lnTo>
                  <a:lnTo>
                    <a:pt x="3108187" y="3266054"/>
                  </a:lnTo>
                  <a:lnTo>
                    <a:pt x="3069254" y="3289572"/>
                  </a:lnTo>
                  <a:lnTo>
                    <a:pt x="3028341" y="3309933"/>
                  </a:lnTo>
                  <a:lnTo>
                    <a:pt x="2985614" y="3326969"/>
                  </a:lnTo>
                  <a:lnTo>
                    <a:pt x="2941243" y="3340512"/>
                  </a:lnTo>
                  <a:lnTo>
                    <a:pt x="2895394" y="3350393"/>
                  </a:lnTo>
                  <a:lnTo>
                    <a:pt x="2848237" y="3356445"/>
                  </a:lnTo>
                  <a:lnTo>
                    <a:pt x="2799938" y="335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107700"/>
              <a:ext cx="3359785" cy="3358515"/>
            </a:xfrm>
            <a:custGeom>
              <a:avLst/>
              <a:gdLst/>
              <a:ahLst/>
              <a:cxnLst/>
              <a:rect l="l" t="t" r="r" b="b"/>
              <a:pathLst>
                <a:path w="3359785" h="3358515">
                  <a:moveTo>
                    <a:pt x="0" y="559761"/>
                  </a:moveTo>
                  <a:lnTo>
                    <a:pt x="2054" y="511462"/>
                  </a:lnTo>
                  <a:lnTo>
                    <a:pt x="8106" y="464305"/>
                  </a:lnTo>
                  <a:lnTo>
                    <a:pt x="17987" y="418456"/>
                  </a:lnTo>
                  <a:lnTo>
                    <a:pt x="31530" y="374085"/>
                  </a:lnTo>
                  <a:lnTo>
                    <a:pt x="48566" y="331358"/>
                  </a:lnTo>
                  <a:lnTo>
                    <a:pt x="68926" y="290444"/>
                  </a:lnTo>
                  <a:lnTo>
                    <a:pt x="92445" y="251512"/>
                  </a:lnTo>
                  <a:lnTo>
                    <a:pt x="118952" y="214728"/>
                  </a:lnTo>
                  <a:lnTo>
                    <a:pt x="148280" y="180262"/>
                  </a:lnTo>
                  <a:lnTo>
                    <a:pt x="180262" y="148280"/>
                  </a:lnTo>
                  <a:lnTo>
                    <a:pt x="214728" y="118952"/>
                  </a:lnTo>
                  <a:lnTo>
                    <a:pt x="251512" y="92445"/>
                  </a:lnTo>
                  <a:lnTo>
                    <a:pt x="290445" y="68926"/>
                  </a:lnTo>
                  <a:lnTo>
                    <a:pt x="331358" y="48566"/>
                  </a:lnTo>
                  <a:lnTo>
                    <a:pt x="374085" y="31530"/>
                  </a:lnTo>
                  <a:lnTo>
                    <a:pt x="418456" y="17987"/>
                  </a:lnTo>
                  <a:lnTo>
                    <a:pt x="464305" y="8106"/>
                  </a:lnTo>
                  <a:lnTo>
                    <a:pt x="511462" y="2054"/>
                  </a:lnTo>
                  <a:lnTo>
                    <a:pt x="559761" y="0"/>
                  </a:lnTo>
                  <a:lnTo>
                    <a:pt x="2799938" y="0"/>
                  </a:lnTo>
                  <a:lnTo>
                    <a:pt x="2849156" y="2166"/>
                  </a:lnTo>
                  <a:lnTo>
                    <a:pt x="2897666" y="8594"/>
                  </a:lnTo>
                  <a:lnTo>
                    <a:pt x="2945209" y="19177"/>
                  </a:lnTo>
                  <a:lnTo>
                    <a:pt x="2991529" y="33808"/>
                  </a:lnTo>
                  <a:lnTo>
                    <a:pt x="3036368" y="52381"/>
                  </a:lnTo>
                  <a:lnTo>
                    <a:pt x="3079466" y="74788"/>
                  </a:lnTo>
                  <a:lnTo>
                    <a:pt x="3120568" y="100923"/>
                  </a:lnTo>
                  <a:lnTo>
                    <a:pt x="3159415" y="130679"/>
                  </a:lnTo>
                  <a:lnTo>
                    <a:pt x="3195749" y="163950"/>
                  </a:lnTo>
                  <a:lnTo>
                    <a:pt x="3229019" y="200284"/>
                  </a:lnTo>
                  <a:lnTo>
                    <a:pt x="3258776" y="239131"/>
                  </a:lnTo>
                  <a:lnTo>
                    <a:pt x="3284911" y="280233"/>
                  </a:lnTo>
                  <a:lnTo>
                    <a:pt x="3307318" y="323332"/>
                  </a:lnTo>
                  <a:lnTo>
                    <a:pt x="3325891" y="368170"/>
                  </a:lnTo>
                  <a:lnTo>
                    <a:pt x="3340522" y="414490"/>
                  </a:lnTo>
                  <a:lnTo>
                    <a:pt x="3351105" y="462033"/>
                  </a:lnTo>
                  <a:lnTo>
                    <a:pt x="3357533" y="510543"/>
                  </a:lnTo>
                  <a:lnTo>
                    <a:pt x="3359699" y="559761"/>
                  </a:lnTo>
                  <a:lnTo>
                    <a:pt x="3359699" y="2798738"/>
                  </a:lnTo>
                  <a:lnTo>
                    <a:pt x="3357645" y="2847037"/>
                  </a:lnTo>
                  <a:lnTo>
                    <a:pt x="3351593" y="2894194"/>
                  </a:lnTo>
                  <a:lnTo>
                    <a:pt x="3341712" y="2940043"/>
                  </a:lnTo>
                  <a:lnTo>
                    <a:pt x="3328169" y="2984414"/>
                  </a:lnTo>
                  <a:lnTo>
                    <a:pt x="3311133" y="3027141"/>
                  </a:lnTo>
                  <a:lnTo>
                    <a:pt x="3290773" y="3068054"/>
                  </a:lnTo>
                  <a:lnTo>
                    <a:pt x="3267254" y="3106987"/>
                  </a:lnTo>
                  <a:lnTo>
                    <a:pt x="3240747" y="3143771"/>
                  </a:lnTo>
                  <a:lnTo>
                    <a:pt x="3211419" y="3178237"/>
                  </a:lnTo>
                  <a:lnTo>
                    <a:pt x="3179437" y="3210219"/>
                  </a:lnTo>
                  <a:lnTo>
                    <a:pt x="3144971" y="3239547"/>
                  </a:lnTo>
                  <a:lnTo>
                    <a:pt x="3108187" y="3266054"/>
                  </a:lnTo>
                  <a:lnTo>
                    <a:pt x="3069254" y="3289573"/>
                  </a:lnTo>
                  <a:lnTo>
                    <a:pt x="3028341" y="3309933"/>
                  </a:lnTo>
                  <a:lnTo>
                    <a:pt x="2985614" y="3326969"/>
                  </a:lnTo>
                  <a:lnTo>
                    <a:pt x="2941243" y="3340512"/>
                  </a:lnTo>
                  <a:lnTo>
                    <a:pt x="2895394" y="3350393"/>
                  </a:lnTo>
                  <a:lnTo>
                    <a:pt x="2848237" y="3356445"/>
                  </a:lnTo>
                  <a:lnTo>
                    <a:pt x="2799938" y="3358499"/>
                  </a:lnTo>
                  <a:lnTo>
                    <a:pt x="559761" y="3358499"/>
                  </a:lnTo>
                  <a:lnTo>
                    <a:pt x="511462" y="3356445"/>
                  </a:lnTo>
                  <a:lnTo>
                    <a:pt x="464305" y="3350393"/>
                  </a:lnTo>
                  <a:lnTo>
                    <a:pt x="418456" y="3340512"/>
                  </a:lnTo>
                  <a:lnTo>
                    <a:pt x="374085" y="3326969"/>
                  </a:lnTo>
                  <a:lnTo>
                    <a:pt x="331358" y="3309933"/>
                  </a:lnTo>
                  <a:lnTo>
                    <a:pt x="290445" y="3289573"/>
                  </a:lnTo>
                  <a:lnTo>
                    <a:pt x="251512" y="3266054"/>
                  </a:lnTo>
                  <a:lnTo>
                    <a:pt x="214728" y="3239547"/>
                  </a:lnTo>
                  <a:lnTo>
                    <a:pt x="180262" y="3210219"/>
                  </a:lnTo>
                  <a:lnTo>
                    <a:pt x="148280" y="3178237"/>
                  </a:lnTo>
                  <a:lnTo>
                    <a:pt x="118952" y="3143771"/>
                  </a:lnTo>
                  <a:lnTo>
                    <a:pt x="92445" y="3106987"/>
                  </a:lnTo>
                  <a:lnTo>
                    <a:pt x="68926" y="3068054"/>
                  </a:lnTo>
                  <a:lnTo>
                    <a:pt x="48566" y="3027141"/>
                  </a:lnTo>
                  <a:lnTo>
                    <a:pt x="31530" y="2984414"/>
                  </a:lnTo>
                  <a:lnTo>
                    <a:pt x="17987" y="2940043"/>
                  </a:lnTo>
                  <a:lnTo>
                    <a:pt x="8106" y="2894194"/>
                  </a:lnTo>
                  <a:lnTo>
                    <a:pt x="2054" y="2847037"/>
                  </a:lnTo>
                  <a:lnTo>
                    <a:pt x="0" y="2798738"/>
                  </a:lnTo>
                  <a:lnTo>
                    <a:pt x="0" y="5597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00"/>
              </a:spcBef>
            </a:pPr>
            <a:r>
              <a:rPr dirty="0"/>
              <a:t>StrategyQA</a:t>
            </a:r>
            <a:r>
              <a:rPr spc="-80" dirty="0"/>
              <a:t> </a:t>
            </a:r>
            <a:r>
              <a:rPr dirty="0"/>
              <a:t>(Geva</a:t>
            </a:r>
            <a:r>
              <a:rPr spc="-20" dirty="0"/>
              <a:t> </a:t>
            </a:r>
            <a:r>
              <a:rPr dirty="0"/>
              <a:t>et</a:t>
            </a:r>
            <a:r>
              <a:rPr spc="-20" dirty="0"/>
              <a:t> </a:t>
            </a:r>
            <a:r>
              <a:rPr dirty="0"/>
              <a:t>al.,</a:t>
            </a:r>
            <a:r>
              <a:rPr spc="-15" dirty="0"/>
              <a:t> </a:t>
            </a:r>
            <a:r>
              <a:rPr spc="-10" dirty="0"/>
              <a:t>2021)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/>
          </a:p>
          <a:p>
            <a:pPr marL="12700" marR="132080">
              <a:lnSpc>
                <a:spcPts val="1650"/>
              </a:lnSpc>
            </a:pPr>
            <a:r>
              <a:rPr b="0" dirty="0">
                <a:latin typeface="Arial"/>
                <a:cs typeface="Arial"/>
              </a:rPr>
              <a:t>Q:</a:t>
            </a:r>
            <a:r>
              <a:rPr b="0" spc="35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Could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Brooke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Shields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succeed </a:t>
            </a:r>
            <a:r>
              <a:rPr b="0" dirty="0">
                <a:latin typeface="Arial"/>
                <a:cs typeface="Arial"/>
              </a:rPr>
              <a:t>at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University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of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Pennsylvania?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b="0" spc="-10" dirty="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b="0" dirty="0">
                <a:latin typeface="Arial"/>
                <a:cs typeface="Arial"/>
              </a:rPr>
              <a:t>A: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dirty="0">
                <a:solidFill>
                  <a:srgbClr val="37761C"/>
                </a:solidFill>
              </a:rPr>
              <a:t>Brooke</a:t>
            </a:r>
            <a:r>
              <a:rPr spc="-2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Shields</a:t>
            </a:r>
            <a:r>
              <a:rPr spc="-2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went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25" dirty="0">
                <a:solidFill>
                  <a:srgbClr val="37761C"/>
                </a:solidFill>
              </a:rPr>
              <a:t>to </a:t>
            </a:r>
            <a:r>
              <a:rPr dirty="0">
                <a:solidFill>
                  <a:srgbClr val="37761C"/>
                </a:solidFill>
              </a:rPr>
              <a:t>Princeton</a:t>
            </a:r>
            <a:r>
              <a:rPr spc="-45" dirty="0">
                <a:solidFill>
                  <a:srgbClr val="37761C"/>
                </a:solidFill>
              </a:rPr>
              <a:t> </a:t>
            </a:r>
            <a:r>
              <a:rPr spc="-10" dirty="0">
                <a:solidFill>
                  <a:srgbClr val="37761C"/>
                </a:solidFill>
              </a:rPr>
              <a:t>University.</a:t>
            </a:r>
            <a:r>
              <a:rPr spc="-45" dirty="0">
                <a:solidFill>
                  <a:srgbClr val="37761C"/>
                </a:solidFill>
              </a:rPr>
              <a:t> </a:t>
            </a:r>
            <a:r>
              <a:rPr spc="-10" dirty="0">
                <a:solidFill>
                  <a:srgbClr val="37761C"/>
                </a:solidFill>
              </a:rPr>
              <a:t>Princeton </a:t>
            </a:r>
            <a:r>
              <a:rPr dirty="0">
                <a:solidFill>
                  <a:srgbClr val="37761C"/>
                </a:solidFill>
              </a:rPr>
              <a:t>University</a:t>
            </a:r>
            <a:r>
              <a:rPr spc="-4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is</a:t>
            </a:r>
            <a:r>
              <a:rPr spc="-3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about</a:t>
            </a:r>
            <a:r>
              <a:rPr spc="-25" dirty="0">
                <a:solidFill>
                  <a:srgbClr val="37761C"/>
                </a:solidFill>
              </a:rPr>
              <a:t> </a:t>
            </a:r>
            <a:r>
              <a:rPr spc="-35" dirty="0">
                <a:solidFill>
                  <a:srgbClr val="37761C"/>
                </a:solidFill>
              </a:rPr>
              <a:t>as </a:t>
            </a:r>
            <a:r>
              <a:rPr dirty="0">
                <a:solidFill>
                  <a:srgbClr val="37761C"/>
                </a:solidFill>
              </a:rPr>
              <a:t>academically</a:t>
            </a:r>
            <a:r>
              <a:rPr spc="-5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rigorous</a:t>
            </a:r>
            <a:r>
              <a:rPr spc="-3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as</a:t>
            </a:r>
            <a:r>
              <a:rPr spc="-35" dirty="0">
                <a:solidFill>
                  <a:srgbClr val="37761C"/>
                </a:solidFill>
              </a:rPr>
              <a:t> </a:t>
            </a:r>
            <a:r>
              <a:rPr spc="-25" dirty="0">
                <a:solidFill>
                  <a:srgbClr val="37761C"/>
                </a:solidFill>
              </a:rPr>
              <a:t>the </a:t>
            </a:r>
            <a:r>
              <a:rPr dirty="0">
                <a:solidFill>
                  <a:srgbClr val="37761C"/>
                </a:solidFill>
              </a:rPr>
              <a:t>University</a:t>
            </a:r>
            <a:r>
              <a:rPr spc="-4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of</a:t>
            </a:r>
            <a:r>
              <a:rPr spc="-4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Pennsylvania.</a:t>
            </a:r>
            <a:r>
              <a:rPr spc="-40" dirty="0">
                <a:solidFill>
                  <a:srgbClr val="37761C"/>
                </a:solidFill>
              </a:rPr>
              <a:t> </a:t>
            </a:r>
            <a:r>
              <a:rPr spc="-10" dirty="0">
                <a:solidFill>
                  <a:srgbClr val="37761C"/>
                </a:solidFill>
              </a:rPr>
              <a:t>Thus, </a:t>
            </a:r>
            <a:r>
              <a:rPr dirty="0">
                <a:solidFill>
                  <a:srgbClr val="37761C"/>
                </a:solidFill>
              </a:rPr>
              <a:t>Brooke</a:t>
            </a:r>
            <a:r>
              <a:rPr spc="-3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Shields</a:t>
            </a:r>
            <a:r>
              <a:rPr spc="-3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could</a:t>
            </a:r>
            <a:r>
              <a:rPr spc="-30" dirty="0">
                <a:solidFill>
                  <a:srgbClr val="37761C"/>
                </a:solidFill>
              </a:rPr>
              <a:t> </a:t>
            </a:r>
            <a:r>
              <a:rPr spc="-20" dirty="0">
                <a:solidFill>
                  <a:srgbClr val="37761C"/>
                </a:solidFill>
              </a:rPr>
              <a:t>also </a:t>
            </a:r>
            <a:r>
              <a:rPr dirty="0">
                <a:solidFill>
                  <a:srgbClr val="37761C"/>
                </a:solidFill>
              </a:rPr>
              <a:t>succeed</a:t>
            </a:r>
            <a:r>
              <a:rPr spc="-3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at</a:t>
            </a:r>
            <a:r>
              <a:rPr spc="-2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the</a:t>
            </a:r>
            <a:r>
              <a:rPr spc="-2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University</a:t>
            </a:r>
            <a:r>
              <a:rPr spc="-25" dirty="0">
                <a:solidFill>
                  <a:srgbClr val="37761C"/>
                </a:solidFill>
              </a:rPr>
              <a:t> of </a:t>
            </a:r>
            <a:r>
              <a:rPr dirty="0">
                <a:solidFill>
                  <a:srgbClr val="37761C"/>
                </a:solidFill>
              </a:rPr>
              <a:t>Pennsylvania.</a:t>
            </a:r>
            <a:r>
              <a:rPr b="0" dirty="0">
                <a:latin typeface="Arial"/>
                <a:cs typeface="Arial"/>
              </a:rPr>
              <a:t>The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answer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is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A61B00"/>
                </a:solidFill>
              </a:rPr>
              <a:t>yes.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Strategy</a:t>
            </a:r>
            <a:r>
              <a:rPr spc="-15" dirty="0"/>
              <a:t> </a:t>
            </a:r>
            <a:r>
              <a:rPr dirty="0"/>
              <a:t>QA</a:t>
            </a:r>
            <a:r>
              <a:rPr spc="-18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spc="-10" dirty="0"/>
              <a:t>Prompt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25743" y="1791062"/>
            <a:ext cx="27489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6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training</a:t>
            </a:r>
            <a:r>
              <a:rPr sz="1400" spc="-10" dirty="0">
                <a:latin typeface="Times New Roman"/>
                <a:cs typeface="Times New Roman"/>
              </a:rPr>
              <a:t> dataset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1102937"/>
            <a:ext cx="3369310" cy="3368040"/>
            <a:chOff x="785962" y="1102937"/>
            <a:chExt cx="3369310" cy="3368040"/>
          </a:xfrm>
        </p:grpSpPr>
        <p:sp>
          <p:nvSpPr>
            <p:cNvPr id="3" name="object 3"/>
            <p:cNvSpPr/>
            <p:nvPr/>
          </p:nvSpPr>
          <p:spPr>
            <a:xfrm>
              <a:off x="790724" y="1107700"/>
              <a:ext cx="3359785" cy="3358515"/>
            </a:xfrm>
            <a:custGeom>
              <a:avLst/>
              <a:gdLst/>
              <a:ahLst/>
              <a:cxnLst/>
              <a:rect l="l" t="t" r="r" b="b"/>
              <a:pathLst>
                <a:path w="3359785" h="3358515">
                  <a:moveTo>
                    <a:pt x="2799938" y="3358499"/>
                  </a:moveTo>
                  <a:lnTo>
                    <a:pt x="559761" y="3358499"/>
                  </a:lnTo>
                  <a:lnTo>
                    <a:pt x="511462" y="3356445"/>
                  </a:lnTo>
                  <a:lnTo>
                    <a:pt x="464305" y="3350393"/>
                  </a:lnTo>
                  <a:lnTo>
                    <a:pt x="418456" y="3340512"/>
                  </a:lnTo>
                  <a:lnTo>
                    <a:pt x="374085" y="3326969"/>
                  </a:lnTo>
                  <a:lnTo>
                    <a:pt x="331358" y="3309933"/>
                  </a:lnTo>
                  <a:lnTo>
                    <a:pt x="290444" y="3289572"/>
                  </a:lnTo>
                  <a:lnTo>
                    <a:pt x="251512" y="3266054"/>
                  </a:lnTo>
                  <a:lnTo>
                    <a:pt x="214728" y="3239547"/>
                  </a:lnTo>
                  <a:lnTo>
                    <a:pt x="180262" y="3210219"/>
                  </a:lnTo>
                  <a:lnTo>
                    <a:pt x="148280" y="3178237"/>
                  </a:lnTo>
                  <a:lnTo>
                    <a:pt x="118952" y="3143771"/>
                  </a:lnTo>
                  <a:lnTo>
                    <a:pt x="92445" y="3106987"/>
                  </a:lnTo>
                  <a:lnTo>
                    <a:pt x="68926" y="3068054"/>
                  </a:lnTo>
                  <a:lnTo>
                    <a:pt x="48566" y="3027141"/>
                  </a:lnTo>
                  <a:lnTo>
                    <a:pt x="31530" y="2984414"/>
                  </a:lnTo>
                  <a:lnTo>
                    <a:pt x="17987" y="2940043"/>
                  </a:lnTo>
                  <a:lnTo>
                    <a:pt x="8106" y="2894194"/>
                  </a:lnTo>
                  <a:lnTo>
                    <a:pt x="2054" y="2847037"/>
                  </a:lnTo>
                  <a:lnTo>
                    <a:pt x="0" y="2798738"/>
                  </a:lnTo>
                  <a:lnTo>
                    <a:pt x="0" y="559761"/>
                  </a:lnTo>
                  <a:lnTo>
                    <a:pt x="2054" y="511462"/>
                  </a:lnTo>
                  <a:lnTo>
                    <a:pt x="8106" y="464305"/>
                  </a:lnTo>
                  <a:lnTo>
                    <a:pt x="17987" y="418456"/>
                  </a:lnTo>
                  <a:lnTo>
                    <a:pt x="31530" y="374085"/>
                  </a:lnTo>
                  <a:lnTo>
                    <a:pt x="48566" y="331358"/>
                  </a:lnTo>
                  <a:lnTo>
                    <a:pt x="68926" y="290444"/>
                  </a:lnTo>
                  <a:lnTo>
                    <a:pt x="92445" y="251512"/>
                  </a:lnTo>
                  <a:lnTo>
                    <a:pt x="118952" y="214728"/>
                  </a:lnTo>
                  <a:lnTo>
                    <a:pt x="148280" y="180262"/>
                  </a:lnTo>
                  <a:lnTo>
                    <a:pt x="180262" y="148280"/>
                  </a:lnTo>
                  <a:lnTo>
                    <a:pt x="214728" y="118952"/>
                  </a:lnTo>
                  <a:lnTo>
                    <a:pt x="251512" y="92445"/>
                  </a:lnTo>
                  <a:lnTo>
                    <a:pt x="290444" y="68926"/>
                  </a:lnTo>
                  <a:lnTo>
                    <a:pt x="331358" y="48566"/>
                  </a:lnTo>
                  <a:lnTo>
                    <a:pt x="374085" y="31530"/>
                  </a:lnTo>
                  <a:lnTo>
                    <a:pt x="418456" y="17987"/>
                  </a:lnTo>
                  <a:lnTo>
                    <a:pt x="464305" y="8106"/>
                  </a:lnTo>
                  <a:lnTo>
                    <a:pt x="511462" y="2054"/>
                  </a:lnTo>
                  <a:lnTo>
                    <a:pt x="559761" y="0"/>
                  </a:lnTo>
                  <a:lnTo>
                    <a:pt x="2799938" y="0"/>
                  </a:lnTo>
                  <a:lnTo>
                    <a:pt x="2849156" y="2166"/>
                  </a:lnTo>
                  <a:lnTo>
                    <a:pt x="2897666" y="8594"/>
                  </a:lnTo>
                  <a:lnTo>
                    <a:pt x="2945209" y="19177"/>
                  </a:lnTo>
                  <a:lnTo>
                    <a:pt x="2991529" y="33808"/>
                  </a:lnTo>
                  <a:lnTo>
                    <a:pt x="3036368" y="52381"/>
                  </a:lnTo>
                  <a:lnTo>
                    <a:pt x="3079466" y="74788"/>
                  </a:lnTo>
                  <a:lnTo>
                    <a:pt x="3120568" y="100923"/>
                  </a:lnTo>
                  <a:lnTo>
                    <a:pt x="3159415" y="130679"/>
                  </a:lnTo>
                  <a:lnTo>
                    <a:pt x="3195749" y="163950"/>
                  </a:lnTo>
                  <a:lnTo>
                    <a:pt x="3229019" y="200284"/>
                  </a:lnTo>
                  <a:lnTo>
                    <a:pt x="3258776" y="239131"/>
                  </a:lnTo>
                  <a:lnTo>
                    <a:pt x="3284911" y="280233"/>
                  </a:lnTo>
                  <a:lnTo>
                    <a:pt x="3307318" y="323332"/>
                  </a:lnTo>
                  <a:lnTo>
                    <a:pt x="3325891" y="368170"/>
                  </a:lnTo>
                  <a:lnTo>
                    <a:pt x="3340522" y="414490"/>
                  </a:lnTo>
                  <a:lnTo>
                    <a:pt x="3351105" y="462033"/>
                  </a:lnTo>
                  <a:lnTo>
                    <a:pt x="3357533" y="510543"/>
                  </a:lnTo>
                  <a:lnTo>
                    <a:pt x="3359699" y="559761"/>
                  </a:lnTo>
                  <a:lnTo>
                    <a:pt x="3359699" y="2798738"/>
                  </a:lnTo>
                  <a:lnTo>
                    <a:pt x="3357645" y="2847037"/>
                  </a:lnTo>
                  <a:lnTo>
                    <a:pt x="3351593" y="2894194"/>
                  </a:lnTo>
                  <a:lnTo>
                    <a:pt x="3341712" y="2940043"/>
                  </a:lnTo>
                  <a:lnTo>
                    <a:pt x="3328169" y="2984414"/>
                  </a:lnTo>
                  <a:lnTo>
                    <a:pt x="3311133" y="3027141"/>
                  </a:lnTo>
                  <a:lnTo>
                    <a:pt x="3290772" y="3068054"/>
                  </a:lnTo>
                  <a:lnTo>
                    <a:pt x="3267254" y="3106987"/>
                  </a:lnTo>
                  <a:lnTo>
                    <a:pt x="3240747" y="3143771"/>
                  </a:lnTo>
                  <a:lnTo>
                    <a:pt x="3211419" y="3178237"/>
                  </a:lnTo>
                  <a:lnTo>
                    <a:pt x="3179437" y="3210219"/>
                  </a:lnTo>
                  <a:lnTo>
                    <a:pt x="3144971" y="3239547"/>
                  </a:lnTo>
                  <a:lnTo>
                    <a:pt x="3108187" y="3266054"/>
                  </a:lnTo>
                  <a:lnTo>
                    <a:pt x="3069254" y="3289572"/>
                  </a:lnTo>
                  <a:lnTo>
                    <a:pt x="3028341" y="3309933"/>
                  </a:lnTo>
                  <a:lnTo>
                    <a:pt x="2985614" y="3326969"/>
                  </a:lnTo>
                  <a:lnTo>
                    <a:pt x="2941243" y="3340512"/>
                  </a:lnTo>
                  <a:lnTo>
                    <a:pt x="2895394" y="3350393"/>
                  </a:lnTo>
                  <a:lnTo>
                    <a:pt x="2848237" y="3356445"/>
                  </a:lnTo>
                  <a:lnTo>
                    <a:pt x="2799938" y="335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107700"/>
              <a:ext cx="3359785" cy="3358515"/>
            </a:xfrm>
            <a:custGeom>
              <a:avLst/>
              <a:gdLst/>
              <a:ahLst/>
              <a:cxnLst/>
              <a:rect l="l" t="t" r="r" b="b"/>
              <a:pathLst>
                <a:path w="3359785" h="3358515">
                  <a:moveTo>
                    <a:pt x="0" y="559761"/>
                  </a:moveTo>
                  <a:lnTo>
                    <a:pt x="2054" y="511462"/>
                  </a:lnTo>
                  <a:lnTo>
                    <a:pt x="8106" y="464305"/>
                  </a:lnTo>
                  <a:lnTo>
                    <a:pt x="17987" y="418456"/>
                  </a:lnTo>
                  <a:lnTo>
                    <a:pt x="31530" y="374085"/>
                  </a:lnTo>
                  <a:lnTo>
                    <a:pt x="48566" y="331358"/>
                  </a:lnTo>
                  <a:lnTo>
                    <a:pt x="68926" y="290444"/>
                  </a:lnTo>
                  <a:lnTo>
                    <a:pt x="92445" y="251512"/>
                  </a:lnTo>
                  <a:lnTo>
                    <a:pt x="118952" y="214728"/>
                  </a:lnTo>
                  <a:lnTo>
                    <a:pt x="148280" y="180262"/>
                  </a:lnTo>
                  <a:lnTo>
                    <a:pt x="180262" y="148280"/>
                  </a:lnTo>
                  <a:lnTo>
                    <a:pt x="214728" y="118952"/>
                  </a:lnTo>
                  <a:lnTo>
                    <a:pt x="251512" y="92445"/>
                  </a:lnTo>
                  <a:lnTo>
                    <a:pt x="290445" y="68926"/>
                  </a:lnTo>
                  <a:lnTo>
                    <a:pt x="331358" y="48566"/>
                  </a:lnTo>
                  <a:lnTo>
                    <a:pt x="374085" y="31530"/>
                  </a:lnTo>
                  <a:lnTo>
                    <a:pt x="418456" y="17987"/>
                  </a:lnTo>
                  <a:lnTo>
                    <a:pt x="464305" y="8106"/>
                  </a:lnTo>
                  <a:lnTo>
                    <a:pt x="511462" y="2054"/>
                  </a:lnTo>
                  <a:lnTo>
                    <a:pt x="559761" y="0"/>
                  </a:lnTo>
                  <a:lnTo>
                    <a:pt x="2799938" y="0"/>
                  </a:lnTo>
                  <a:lnTo>
                    <a:pt x="2849156" y="2166"/>
                  </a:lnTo>
                  <a:lnTo>
                    <a:pt x="2897666" y="8594"/>
                  </a:lnTo>
                  <a:lnTo>
                    <a:pt x="2945209" y="19177"/>
                  </a:lnTo>
                  <a:lnTo>
                    <a:pt x="2991529" y="33808"/>
                  </a:lnTo>
                  <a:lnTo>
                    <a:pt x="3036368" y="52381"/>
                  </a:lnTo>
                  <a:lnTo>
                    <a:pt x="3079466" y="74788"/>
                  </a:lnTo>
                  <a:lnTo>
                    <a:pt x="3120568" y="100923"/>
                  </a:lnTo>
                  <a:lnTo>
                    <a:pt x="3159415" y="130679"/>
                  </a:lnTo>
                  <a:lnTo>
                    <a:pt x="3195749" y="163950"/>
                  </a:lnTo>
                  <a:lnTo>
                    <a:pt x="3229019" y="200284"/>
                  </a:lnTo>
                  <a:lnTo>
                    <a:pt x="3258776" y="239131"/>
                  </a:lnTo>
                  <a:lnTo>
                    <a:pt x="3284911" y="280233"/>
                  </a:lnTo>
                  <a:lnTo>
                    <a:pt x="3307318" y="323332"/>
                  </a:lnTo>
                  <a:lnTo>
                    <a:pt x="3325891" y="368170"/>
                  </a:lnTo>
                  <a:lnTo>
                    <a:pt x="3340522" y="414490"/>
                  </a:lnTo>
                  <a:lnTo>
                    <a:pt x="3351105" y="462033"/>
                  </a:lnTo>
                  <a:lnTo>
                    <a:pt x="3357533" y="510543"/>
                  </a:lnTo>
                  <a:lnTo>
                    <a:pt x="3359699" y="559761"/>
                  </a:lnTo>
                  <a:lnTo>
                    <a:pt x="3359699" y="2798738"/>
                  </a:lnTo>
                  <a:lnTo>
                    <a:pt x="3357645" y="2847037"/>
                  </a:lnTo>
                  <a:lnTo>
                    <a:pt x="3351593" y="2894194"/>
                  </a:lnTo>
                  <a:lnTo>
                    <a:pt x="3341712" y="2940043"/>
                  </a:lnTo>
                  <a:lnTo>
                    <a:pt x="3328169" y="2984414"/>
                  </a:lnTo>
                  <a:lnTo>
                    <a:pt x="3311133" y="3027141"/>
                  </a:lnTo>
                  <a:lnTo>
                    <a:pt x="3290773" y="3068054"/>
                  </a:lnTo>
                  <a:lnTo>
                    <a:pt x="3267254" y="3106987"/>
                  </a:lnTo>
                  <a:lnTo>
                    <a:pt x="3240747" y="3143771"/>
                  </a:lnTo>
                  <a:lnTo>
                    <a:pt x="3211419" y="3178237"/>
                  </a:lnTo>
                  <a:lnTo>
                    <a:pt x="3179437" y="3210219"/>
                  </a:lnTo>
                  <a:lnTo>
                    <a:pt x="3144971" y="3239547"/>
                  </a:lnTo>
                  <a:lnTo>
                    <a:pt x="3108187" y="3266054"/>
                  </a:lnTo>
                  <a:lnTo>
                    <a:pt x="3069254" y="3289573"/>
                  </a:lnTo>
                  <a:lnTo>
                    <a:pt x="3028341" y="3309933"/>
                  </a:lnTo>
                  <a:lnTo>
                    <a:pt x="2985614" y="3326969"/>
                  </a:lnTo>
                  <a:lnTo>
                    <a:pt x="2941243" y="3340512"/>
                  </a:lnTo>
                  <a:lnTo>
                    <a:pt x="2895394" y="3350393"/>
                  </a:lnTo>
                  <a:lnTo>
                    <a:pt x="2848237" y="3356445"/>
                  </a:lnTo>
                  <a:lnTo>
                    <a:pt x="2799938" y="3358499"/>
                  </a:lnTo>
                  <a:lnTo>
                    <a:pt x="559761" y="3358499"/>
                  </a:lnTo>
                  <a:lnTo>
                    <a:pt x="511462" y="3356445"/>
                  </a:lnTo>
                  <a:lnTo>
                    <a:pt x="464305" y="3350393"/>
                  </a:lnTo>
                  <a:lnTo>
                    <a:pt x="418456" y="3340512"/>
                  </a:lnTo>
                  <a:lnTo>
                    <a:pt x="374085" y="3326969"/>
                  </a:lnTo>
                  <a:lnTo>
                    <a:pt x="331358" y="3309933"/>
                  </a:lnTo>
                  <a:lnTo>
                    <a:pt x="290445" y="3289573"/>
                  </a:lnTo>
                  <a:lnTo>
                    <a:pt x="251512" y="3266054"/>
                  </a:lnTo>
                  <a:lnTo>
                    <a:pt x="214728" y="3239547"/>
                  </a:lnTo>
                  <a:lnTo>
                    <a:pt x="180262" y="3210219"/>
                  </a:lnTo>
                  <a:lnTo>
                    <a:pt x="148280" y="3178237"/>
                  </a:lnTo>
                  <a:lnTo>
                    <a:pt x="118952" y="3143771"/>
                  </a:lnTo>
                  <a:lnTo>
                    <a:pt x="92445" y="3106987"/>
                  </a:lnTo>
                  <a:lnTo>
                    <a:pt x="68926" y="3068054"/>
                  </a:lnTo>
                  <a:lnTo>
                    <a:pt x="48566" y="3027141"/>
                  </a:lnTo>
                  <a:lnTo>
                    <a:pt x="31530" y="2984414"/>
                  </a:lnTo>
                  <a:lnTo>
                    <a:pt x="17987" y="2940043"/>
                  </a:lnTo>
                  <a:lnTo>
                    <a:pt x="8106" y="2894194"/>
                  </a:lnTo>
                  <a:lnTo>
                    <a:pt x="2054" y="2847037"/>
                  </a:lnTo>
                  <a:lnTo>
                    <a:pt x="0" y="2798738"/>
                  </a:lnTo>
                  <a:lnTo>
                    <a:pt x="0" y="5597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00"/>
              </a:spcBef>
            </a:pPr>
            <a:r>
              <a:rPr dirty="0"/>
              <a:t>StrategyQA</a:t>
            </a:r>
            <a:r>
              <a:rPr spc="-80" dirty="0"/>
              <a:t> </a:t>
            </a:r>
            <a:r>
              <a:rPr dirty="0"/>
              <a:t>(Geva</a:t>
            </a:r>
            <a:r>
              <a:rPr spc="-20" dirty="0"/>
              <a:t> </a:t>
            </a:r>
            <a:r>
              <a:rPr dirty="0"/>
              <a:t>et</a:t>
            </a:r>
            <a:r>
              <a:rPr spc="-20" dirty="0"/>
              <a:t> </a:t>
            </a:r>
            <a:r>
              <a:rPr dirty="0"/>
              <a:t>al.,</a:t>
            </a:r>
            <a:r>
              <a:rPr spc="-15" dirty="0"/>
              <a:t> </a:t>
            </a:r>
            <a:r>
              <a:rPr spc="-10" dirty="0"/>
              <a:t>2021)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/>
          </a:p>
          <a:p>
            <a:pPr marL="12700" marR="132080">
              <a:lnSpc>
                <a:spcPts val="1650"/>
              </a:lnSpc>
            </a:pPr>
            <a:r>
              <a:rPr b="0" dirty="0">
                <a:latin typeface="Arial"/>
                <a:cs typeface="Arial"/>
              </a:rPr>
              <a:t>Q:</a:t>
            </a:r>
            <a:r>
              <a:rPr b="0" spc="35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Could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Brooke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Shields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succeed </a:t>
            </a:r>
            <a:r>
              <a:rPr b="0" dirty="0">
                <a:latin typeface="Arial"/>
                <a:cs typeface="Arial"/>
              </a:rPr>
              <a:t>at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University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of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Pennsylvania?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b="0" spc="-10" dirty="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b="0" dirty="0">
                <a:latin typeface="Arial"/>
                <a:cs typeface="Arial"/>
              </a:rPr>
              <a:t>A: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dirty="0">
                <a:solidFill>
                  <a:srgbClr val="37761C"/>
                </a:solidFill>
              </a:rPr>
              <a:t>Brooke</a:t>
            </a:r>
            <a:r>
              <a:rPr spc="-2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Shields</a:t>
            </a:r>
            <a:r>
              <a:rPr spc="-2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went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25" dirty="0">
                <a:solidFill>
                  <a:srgbClr val="37761C"/>
                </a:solidFill>
              </a:rPr>
              <a:t>to </a:t>
            </a:r>
            <a:r>
              <a:rPr dirty="0">
                <a:solidFill>
                  <a:srgbClr val="37761C"/>
                </a:solidFill>
              </a:rPr>
              <a:t>Princeton</a:t>
            </a:r>
            <a:r>
              <a:rPr spc="-45" dirty="0">
                <a:solidFill>
                  <a:srgbClr val="37761C"/>
                </a:solidFill>
              </a:rPr>
              <a:t> </a:t>
            </a:r>
            <a:r>
              <a:rPr spc="-10" dirty="0">
                <a:solidFill>
                  <a:srgbClr val="37761C"/>
                </a:solidFill>
              </a:rPr>
              <a:t>University.</a:t>
            </a:r>
            <a:r>
              <a:rPr spc="-45" dirty="0">
                <a:solidFill>
                  <a:srgbClr val="37761C"/>
                </a:solidFill>
              </a:rPr>
              <a:t> </a:t>
            </a:r>
            <a:r>
              <a:rPr spc="-10" dirty="0">
                <a:solidFill>
                  <a:srgbClr val="37761C"/>
                </a:solidFill>
              </a:rPr>
              <a:t>Princeton </a:t>
            </a:r>
            <a:r>
              <a:rPr dirty="0">
                <a:solidFill>
                  <a:srgbClr val="37761C"/>
                </a:solidFill>
              </a:rPr>
              <a:t>University</a:t>
            </a:r>
            <a:r>
              <a:rPr spc="-4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is</a:t>
            </a:r>
            <a:r>
              <a:rPr spc="-3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about</a:t>
            </a:r>
            <a:r>
              <a:rPr spc="-25" dirty="0">
                <a:solidFill>
                  <a:srgbClr val="37761C"/>
                </a:solidFill>
              </a:rPr>
              <a:t> </a:t>
            </a:r>
            <a:r>
              <a:rPr spc="-35" dirty="0">
                <a:solidFill>
                  <a:srgbClr val="37761C"/>
                </a:solidFill>
              </a:rPr>
              <a:t>as </a:t>
            </a:r>
            <a:r>
              <a:rPr dirty="0">
                <a:solidFill>
                  <a:srgbClr val="37761C"/>
                </a:solidFill>
              </a:rPr>
              <a:t>academically</a:t>
            </a:r>
            <a:r>
              <a:rPr spc="-5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rigorous</a:t>
            </a:r>
            <a:r>
              <a:rPr spc="-3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as</a:t>
            </a:r>
            <a:r>
              <a:rPr spc="-35" dirty="0">
                <a:solidFill>
                  <a:srgbClr val="37761C"/>
                </a:solidFill>
              </a:rPr>
              <a:t> </a:t>
            </a:r>
            <a:r>
              <a:rPr spc="-25" dirty="0">
                <a:solidFill>
                  <a:srgbClr val="37761C"/>
                </a:solidFill>
              </a:rPr>
              <a:t>the </a:t>
            </a:r>
            <a:r>
              <a:rPr dirty="0">
                <a:solidFill>
                  <a:srgbClr val="37761C"/>
                </a:solidFill>
              </a:rPr>
              <a:t>University</a:t>
            </a:r>
            <a:r>
              <a:rPr spc="-4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of</a:t>
            </a:r>
            <a:r>
              <a:rPr spc="-4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Pennsylvania.</a:t>
            </a:r>
            <a:r>
              <a:rPr spc="-40" dirty="0">
                <a:solidFill>
                  <a:srgbClr val="37761C"/>
                </a:solidFill>
              </a:rPr>
              <a:t> </a:t>
            </a:r>
            <a:r>
              <a:rPr spc="-10" dirty="0">
                <a:solidFill>
                  <a:srgbClr val="37761C"/>
                </a:solidFill>
              </a:rPr>
              <a:t>Thus, </a:t>
            </a:r>
            <a:r>
              <a:rPr dirty="0">
                <a:solidFill>
                  <a:srgbClr val="37761C"/>
                </a:solidFill>
              </a:rPr>
              <a:t>Brooke</a:t>
            </a:r>
            <a:r>
              <a:rPr spc="-3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Shields</a:t>
            </a:r>
            <a:r>
              <a:rPr spc="-3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could</a:t>
            </a:r>
            <a:r>
              <a:rPr spc="-30" dirty="0">
                <a:solidFill>
                  <a:srgbClr val="37761C"/>
                </a:solidFill>
              </a:rPr>
              <a:t> </a:t>
            </a:r>
            <a:r>
              <a:rPr spc="-20" dirty="0">
                <a:solidFill>
                  <a:srgbClr val="37761C"/>
                </a:solidFill>
              </a:rPr>
              <a:t>also </a:t>
            </a:r>
            <a:r>
              <a:rPr dirty="0">
                <a:solidFill>
                  <a:srgbClr val="37761C"/>
                </a:solidFill>
              </a:rPr>
              <a:t>succeed</a:t>
            </a:r>
            <a:r>
              <a:rPr spc="-3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at</a:t>
            </a:r>
            <a:r>
              <a:rPr spc="-2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the</a:t>
            </a:r>
            <a:r>
              <a:rPr spc="-2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University</a:t>
            </a:r>
            <a:r>
              <a:rPr spc="-25" dirty="0">
                <a:solidFill>
                  <a:srgbClr val="37761C"/>
                </a:solidFill>
              </a:rPr>
              <a:t> of </a:t>
            </a:r>
            <a:r>
              <a:rPr dirty="0">
                <a:solidFill>
                  <a:srgbClr val="37761C"/>
                </a:solidFill>
              </a:rPr>
              <a:t>Pennsylvania.</a:t>
            </a:r>
            <a:r>
              <a:rPr b="0" dirty="0">
                <a:latin typeface="Arial"/>
                <a:cs typeface="Arial"/>
              </a:rPr>
              <a:t>The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answer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is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A61B00"/>
                </a:solidFill>
              </a:rPr>
              <a:t>yes.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97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Strategy</a:t>
            </a:r>
            <a:r>
              <a:rPr spc="-15" dirty="0"/>
              <a:t> </a:t>
            </a:r>
            <a:r>
              <a:rPr dirty="0"/>
              <a:t>QA</a:t>
            </a:r>
            <a:r>
              <a:rPr spc="-18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spc="-10" dirty="0"/>
              <a:t>Prompt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25743" y="1791062"/>
            <a:ext cx="383476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91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6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training</a:t>
            </a:r>
            <a:r>
              <a:rPr sz="1400" spc="-10" dirty="0">
                <a:latin typeface="Times New Roman"/>
                <a:cs typeface="Times New Roman"/>
              </a:rPr>
              <a:t> dataset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●"/>
            </a:pPr>
            <a:endParaRPr sz="1450">
              <a:latin typeface="Times New Roman"/>
              <a:cs typeface="Times New Roman"/>
            </a:endParaRPr>
          </a:p>
          <a:p>
            <a:pPr marL="347980" marR="5080" indent="-335915">
              <a:lnSpc>
                <a:spcPct val="100000"/>
              </a:lnSpc>
              <a:buFont typeface="Arial"/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latin typeface="Times New Roman"/>
                <a:cs typeface="Times New Roman"/>
              </a:rPr>
              <a:t>Manually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composed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intermediate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reasoning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with </a:t>
            </a:r>
            <a:r>
              <a:rPr sz="1400" dirty="0">
                <a:latin typeface="Times New Roman"/>
                <a:cs typeface="Times New Roman"/>
              </a:rPr>
              <a:t>flexible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format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1102937"/>
            <a:ext cx="3369310" cy="3368040"/>
            <a:chOff x="785962" y="1102937"/>
            <a:chExt cx="3369310" cy="3368040"/>
          </a:xfrm>
        </p:grpSpPr>
        <p:sp>
          <p:nvSpPr>
            <p:cNvPr id="3" name="object 3"/>
            <p:cNvSpPr/>
            <p:nvPr/>
          </p:nvSpPr>
          <p:spPr>
            <a:xfrm>
              <a:off x="790724" y="1107700"/>
              <a:ext cx="3359785" cy="3358515"/>
            </a:xfrm>
            <a:custGeom>
              <a:avLst/>
              <a:gdLst/>
              <a:ahLst/>
              <a:cxnLst/>
              <a:rect l="l" t="t" r="r" b="b"/>
              <a:pathLst>
                <a:path w="3359785" h="3358515">
                  <a:moveTo>
                    <a:pt x="2799938" y="3358499"/>
                  </a:moveTo>
                  <a:lnTo>
                    <a:pt x="559761" y="3358499"/>
                  </a:lnTo>
                  <a:lnTo>
                    <a:pt x="511462" y="3356445"/>
                  </a:lnTo>
                  <a:lnTo>
                    <a:pt x="464305" y="3350393"/>
                  </a:lnTo>
                  <a:lnTo>
                    <a:pt x="418456" y="3340512"/>
                  </a:lnTo>
                  <a:lnTo>
                    <a:pt x="374085" y="3326969"/>
                  </a:lnTo>
                  <a:lnTo>
                    <a:pt x="331358" y="3309933"/>
                  </a:lnTo>
                  <a:lnTo>
                    <a:pt x="290444" y="3289572"/>
                  </a:lnTo>
                  <a:lnTo>
                    <a:pt x="251512" y="3266054"/>
                  </a:lnTo>
                  <a:lnTo>
                    <a:pt x="214728" y="3239547"/>
                  </a:lnTo>
                  <a:lnTo>
                    <a:pt x="180262" y="3210219"/>
                  </a:lnTo>
                  <a:lnTo>
                    <a:pt x="148280" y="3178237"/>
                  </a:lnTo>
                  <a:lnTo>
                    <a:pt x="118952" y="3143771"/>
                  </a:lnTo>
                  <a:lnTo>
                    <a:pt x="92445" y="3106987"/>
                  </a:lnTo>
                  <a:lnTo>
                    <a:pt x="68926" y="3068054"/>
                  </a:lnTo>
                  <a:lnTo>
                    <a:pt x="48566" y="3027141"/>
                  </a:lnTo>
                  <a:lnTo>
                    <a:pt x="31530" y="2984414"/>
                  </a:lnTo>
                  <a:lnTo>
                    <a:pt x="17987" y="2940043"/>
                  </a:lnTo>
                  <a:lnTo>
                    <a:pt x="8106" y="2894194"/>
                  </a:lnTo>
                  <a:lnTo>
                    <a:pt x="2054" y="2847037"/>
                  </a:lnTo>
                  <a:lnTo>
                    <a:pt x="0" y="2798738"/>
                  </a:lnTo>
                  <a:lnTo>
                    <a:pt x="0" y="559761"/>
                  </a:lnTo>
                  <a:lnTo>
                    <a:pt x="2054" y="511462"/>
                  </a:lnTo>
                  <a:lnTo>
                    <a:pt x="8106" y="464305"/>
                  </a:lnTo>
                  <a:lnTo>
                    <a:pt x="17987" y="418456"/>
                  </a:lnTo>
                  <a:lnTo>
                    <a:pt x="31530" y="374085"/>
                  </a:lnTo>
                  <a:lnTo>
                    <a:pt x="48566" y="331358"/>
                  </a:lnTo>
                  <a:lnTo>
                    <a:pt x="68926" y="290444"/>
                  </a:lnTo>
                  <a:lnTo>
                    <a:pt x="92445" y="251512"/>
                  </a:lnTo>
                  <a:lnTo>
                    <a:pt x="118952" y="214728"/>
                  </a:lnTo>
                  <a:lnTo>
                    <a:pt x="148280" y="180262"/>
                  </a:lnTo>
                  <a:lnTo>
                    <a:pt x="180262" y="148280"/>
                  </a:lnTo>
                  <a:lnTo>
                    <a:pt x="214728" y="118952"/>
                  </a:lnTo>
                  <a:lnTo>
                    <a:pt x="251512" y="92445"/>
                  </a:lnTo>
                  <a:lnTo>
                    <a:pt x="290444" y="68926"/>
                  </a:lnTo>
                  <a:lnTo>
                    <a:pt x="331358" y="48566"/>
                  </a:lnTo>
                  <a:lnTo>
                    <a:pt x="374085" y="31530"/>
                  </a:lnTo>
                  <a:lnTo>
                    <a:pt x="418456" y="17987"/>
                  </a:lnTo>
                  <a:lnTo>
                    <a:pt x="464305" y="8106"/>
                  </a:lnTo>
                  <a:lnTo>
                    <a:pt x="511462" y="2054"/>
                  </a:lnTo>
                  <a:lnTo>
                    <a:pt x="559761" y="0"/>
                  </a:lnTo>
                  <a:lnTo>
                    <a:pt x="2799938" y="0"/>
                  </a:lnTo>
                  <a:lnTo>
                    <a:pt x="2849156" y="2166"/>
                  </a:lnTo>
                  <a:lnTo>
                    <a:pt x="2897666" y="8594"/>
                  </a:lnTo>
                  <a:lnTo>
                    <a:pt x="2945209" y="19177"/>
                  </a:lnTo>
                  <a:lnTo>
                    <a:pt x="2991529" y="33808"/>
                  </a:lnTo>
                  <a:lnTo>
                    <a:pt x="3036368" y="52381"/>
                  </a:lnTo>
                  <a:lnTo>
                    <a:pt x="3079466" y="74788"/>
                  </a:lnTo>
                  <a:lnTo>
                    <a:pt x="3120568" y="100923"/>
                  </a:lnTo>
                  <a:lnTo>
                    <a:pt x="3159415" y="130679"/>
                  </a:lnTo>
                  <a:lnTo>
                    <a:pt x="3195749" y="163950"/>
                  </a:lnTo>
                  <a:lnTo>
                    <a:pt x="3229019" y="200284"/>
                  </a:lnTo>
                  <a:lnTo>
                    <a:pt x="3258776" y="239131"/>
                  </a:lnTo>
                  <a:lnTo>
                    <a:pt x="3284911" y="280233"/>
                  </a:lnTo>
                  <a:lnTo>
                    <a:pt x="3307318" y="323332"/>
                  </a:lnTo>
                  <a:lnTo>
                    <a:pt x="3325891" y="368170"/>
                  </a:lnTo>
                  <a:lnTo>
                    <a:pt x="3340522" y="414490"/>
                  </a:lnTo>
                  <a:lnTo>
                    <a:pt x="3351105" y="462033"/>
                  </a:lnTo>
                  <a:lnTo>
                    <a:pt x="3357533" y="510543"/>
                  </a:lnTo>
                  <a:lnTo>
                    <a:pt x="3359699" y="559761"/>
                  </a:lnTo>
                  <a:lnTo>
                    <a:pt x="3359699" y="2798738"/>
                  </a:lnTo>
                  <a:lnTo>
                    <a:pt x="3357645" y="2847037"/>
                  </a:lnTo>
                  <a:lnTo>
                    <a:pt x="3351593" y="2894194"/>
                  </a:lnTo>
                  <a:lnTo>
                    <a:pt x="3341712" y="2940043"/>
                  </a:lnTo>
                  <a:lnTo>
                    <a:pt x="3328169" y="2984414"/>
                  </a:lnTo>
                  <a:lnTo>
                    <a:pt x="3311133" y="3027141"/>
                  </a:lnTo>
                  <a:lnTo>
                    <a:pt x="3290772" y="3068054"/>
                  </a:lnTo>
                  <a:lnTo>
                    <a:pt x="3267254" y="3106987"/>
                  </a:lnTo>
                  <a:lnTo>
                    <a:pt x="3240747" y="3143771"/>
                  </a:lnTo>
                  <a:lnTo>
                    <a:pt x="3211419" y="3178237"/>
                  </a:lnTo>
                  <a:lnTo>
                    <a:pt x="3179437" y="3210219"/>
                  </a:lnTo>
                  <a:lnTo>
                    <a:pt x="3144971" y="3239547"/>
                  </a:lnTo>
                  <a:lnTo>
                    <a:pt x="3108187" y="3266054"/>
                  </a:lnTo>
                  <a:lnTo>
                    <a:pt x="3069254" y="3289572"/>
                  </a:lnTo>
                  <a:lnTo>
                    <a:pt x="3028341" y="3309933"/>
                  </a:lnTo>
                  <a:lnTo>
                    <a:pt x="2985614" y="3326969"/>
                  </a:lnTo>
                  <a:lnTo>
                    <a:pt x="2941243" y="3340512"/>
                  </a:lnTo>
                  <a:lnTo>
                    <a:pt x="2895394" y="3350393"/>
                  </a:lnTo>
                  <a:lnTo>
                    <a:pt x="2848237" y="3356445"/>
                  </a:lnTo>
                  <a:lnTo>
                    <a:pt x="2799938" y="335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107700"/>
              <a:ext cx="3359785" cy="3358515"/>
            </a:xfrm>
            <a:custGeom>
              <a:avLst/>
              <a:gdLst/>
              <a:ahLst/>
              <a:cxnLst/>
              <a:rect l="l" t="t" r="r" b="b"/>
              <a:pathLst>
                <a:path w="3359785" h="3358515">
                  <a:moveTo>
                    <a:pt x="0" y="559761"/>
                  </a:moveTo>
                  <a:lnTo>
                    <a:pt x="2054" y="511462"/>
                  </a:lnTo>
                  <a:lnTo>
                    <a:pt x="8106" y="464305"/>
                  </a:lnTo>
                  <a:lnTo>
                    <a:pt x="17987" y="418456"/>
                  </a:lnTo>
                  <a:lnTo>
                    <a:pt x="31530" y="374085"/>
                  </a:lnTo>
                  <a:lnTo>
                    <a:pt x="48566" y="331358"/>
                  </a:lnTo>
                  <a:lnTo>
                    <a:pt x="68926" y="290444"/>
                  </a:lnTo>
                  <a:lnTo>
                    <a:pt x="92445" y="251512"/>
                  </a:lnTo>
                  <a:lnTo>
                    <a:pt x="118952" y="214728"/>
                  </a:lnTo>
                  <a:lnTo>
                    <a:pt x="148280" y="180262"/>
                  </a:lnTo>
                  <a:lnTo>
                    <a:pt x="180262" y="148280"/>
                  </a:lnTo>
                  <a:lnTo>
                    <a:pt x="214728" y="118952"/>
                  </a:lnTo>
                  <a:lnTo>
                    <a:pt x="251512" y="92445"/>
                  </a:lnTo>
                  <a:lnTo>
                    <a:pt x="290445" y="68926"/>
                  </a:lnTo>
                  <a:lnTo>
                    <a:pt x="331358" y="48566"/>
                  </a:lnTo>
                  <a:lnTo>
                    <a:pt x="374085" y="31530"/>
                  </a:lnTo>
                  <a:lnTo>
                    <a:pt x="418456" y="17987"/>
                  </a:lnTo>
                  <a:lnTo>
                    <a:pt x="464305" y="8106"/>
                  </a:lnTo>
                  <a:lnTo>
                    <a:pt x="511462" y="2054"/>
                  </a:lnTo>
                  <a:lnTo>
                    <a:pt x="559761" y="0"/>
                  </a:lnTo>
                  <a:lnTo>
                    <a:pt x="2799938" y="0"/>
                  </a:lnTo>
                  <a:lnTo>
                    <a:pt x="2849156" y="2166"/>
                  </a:lnTo>
                  <a:lnTo>
                    <a:pt x="2897666" y="8594"/>
                  </a:lnTo>
                  <a:lnTo>
                    <a:pt x="2945209" y="19177"/>
                  </a:lnTo>
                  <a:lnTo>
                    <a:pt x="2991529" y="33808"/>
                  </a:lnTo>
                  <a:lnTo>
                    <a:pt x="3036368" y="52381"/>
                  </a:lnTo>
                  <a:lnTo>
                    <a:pt x="3079466" y="74788"/>
                  </a:lnTo>
                  <a:lnTo>
                    <a:pt x="3120568" y="100923"/>
                  </a:lnTo>
                  <a:lnTo>
                    <a:pt x="3159415" y="130679"/>
                  </a:lnTo>
                  <a:lnTo>
                    <a:pt x="3195749" y="163950"/>
                  </a:lnTo>
                  <a:lnTo>
                    <a:pt x="3229019" y="200284"/>
                  </a:lnTo>
                  <a:lnTo>
                    <a:pt x="3258776" y="239131"/>
                  </a:lnTo>
                  <a:lnTo>
                    <a:pt x="3284911" y="280233"/>
                  </a:lnTo>
                  <a:lnTo>
                    <a:pt x="3307318" y="323332"/>
                  </a:lnTo>
                  <a:lnTo>
                    <a:pt x="3325891" y="368170"/>
                  </a:lnTo>
                  <a:lnTo>
                    <a:pt x="3340522" y="414490"/>
                  </a:lnTo>
                  <a:lnTo>
                    <a:pt x="3351105" y="462033"/>
                  </a:lnTo>
                  <a:lnTo>
                    <a:pt x="3357533" y="510543"/>
                  </a:lnTo>
                  <a:lnTo>
                    <a:pt x="3359699" y="559761"/>
                  </a:lnTo>
                  <a:lnTo>
                    <a:pt x="3359699" y="2798738"/>
                  </a:lnTo>
                  <a:lnTo>
                    <a:pt x="3357645" y="2847037"/>
                  </a:lnTo>
                  <a:lnTo>
                    <a:pt x="3351593" y="2894194"/>
                  </a:lnTo>
                  <a:lnTo>
                    <a:pt x="3341712" y="2940043"/>
                  </a:lnTo>
                  <a:lnTo>
                    <a:pt x="3328169" y="2984414"/>
                  </a:lnTo>
                  <a:lnTo>
                    <a:pt x="3311133" y="3027141"/>
                  </a:lnTo>
                  <a:lnTo>
                    <a:pt x="3290773" y="3068054"/>
                  </a:lnTo>
                  <a:lnTo>
                    <a:pt x="3267254" y="3106987"/>
                  </a:lnTo>
                  <a:lnTo>
                    <a:pt x="3240747" y="3143771"/>
                  </a:lnTo>
                  <a:lnTo>
                    <a:pt x="3211419" y="3178237"/>
                  </a:lnTo>
                  <a:lnTo>
                    <a:pt x="3179437" y="3210219"/>
                  </a:lnTo>
                  <a:lnTo>
                    <a:pt x="3144971" y="3239547"/>
                  </a:lnTo>
                  <a:lnTo>
                    <a:pt x="3108187" y="3266054"/>
                  </a:lnTo>
                  <a:lnTo>
                    <a:pt x="3069254" y="3289573"/>
                  </a:lnTo>
                  <a:lnTo>
                    <a:pt x="3028341" y="3309933"/>
                  </a:lnTo>
                  <a:lnTo>
                    <a:pt x="2985614" y="3326969"/>
                  </a:lnTo>
                  <a:lnTo>
                    <a:pt x="2941243" y="3340512"/>
                  </a:lnTo>
                  <a:lnTo>
                    <a:pt x="2895394" y="3350393"/>
                  </a:lnTo>
                  <a:lnTo>
                    <a:pt x="2848237" y="3356445"/>
                  </a:lnTo>
                  <a:lnTo>
                    <a:pt x="2799938" y="3358499"/>
                  </a:lnTo>
                  <a:lnTo>
                    <a:pt x="559761" y="3358499"/>
                  </a:lnTo>
                  <a:lnTo>
                    <a:pt x="511462" y="3356445"/>
                  </a:lnTo>
                  <a:lnTo>
                    <a:pt x="464305" y="3350393"/>
                  </a:lnTo>
                  <a:lnTo>
                    <a:pt x="418456" y="3340512"/>
                  </a:lnTo>
                  <a:lnTo>
                    <a:pt x="374085" y="3326969"/>
                  </a:lnTo>
                  <a:lnTo>
                    <a:pt x="331358" y="3309933"/>
                  </a:lnTo>
                  <a:lnTo>
                    <a:pt x="290445" y="3289573"/>
                  </a:lnTo>
                  <a:lnTo>
                    <a:pt x="251512" y="3266054"/>
                  </a:lnTo>
                  <a:lnTo>
                    <a:pt x="214728" y="3239547"/>
                  </a:lnTo>
                  <a:lnTo>
                    <a:pt x="180262" y="3210219"/>
                  </a:lnTo>
                  <a:lnTo>
                    <a:pt x="148280" y="3178237"/>
                  </a:lnTo>
                  <a:lnTo>
                    <a:pt x="118952" y="3143771"/>
                  </a:lnTo>
                  <a:lnTo>
                    <a:pt x="92445" y="3106987"/>
                  </a:lnTo>
                  <a:lnTo>
                    <a:pt x="68926" y="3068054"/>
                  </a:lnTo>
                  <a:lnTo>
                    <a:pt x="48566" y="3027141"/>
                  </a:lnTo>
                  <a:lnTo>
                    <a:pt x="31530" y="2984414"/>
                  </a:lnTo>
                  <a:lnTo>
                    <a:pt x="17987" y="2940043"/>
                  </a:lnTo>
                  <a:lnTo>
                    <a:pt x="8106" y="2894194"/>
                  </a:lnTo>
                  <a:lnTo>
                    <a:pt x="2054" y="2847037"/>
                  </a:lnTo>
                  <a:lnTo>
                    <a:pt x="0" y="2798738"/>
                  </a:lnTo>
                  <a:lnTo>
                    <a:pt x="0" y="5597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27698" y="1337561"/>
            <a:ext cx="2860040" cy="2753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StrategyQA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(Geva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et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al.,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2021)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132715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3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Could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Brooke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Shields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succeed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University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Pennsylvania?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Brooke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Shields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went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to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Princeton</a:t>
            </a:r>
            <a:r>
              <a:rPr sz="1400" b="1" spc="-4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University.</a:t>
            </a:r>
            <a:r>
              <a:rPr sz="1400" b="1" spc="-4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Princeton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University</a:t>
            </a:r>
            <a:r>
              <a:rPr sz="1400" b="1" spc="-4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about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35" dirty="0">
                <a:solidFill>
                  <a:srgbClr val="37761C"/>
                </a:solidFill>
                <a:latin typeface="Arial"/>
                <a:cs typeface="Arial"/>
              </a:rPr>
              <a:t>as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academically</a:t>
            </a:r>
            <a:r>
              <a:rPr sz="1400" b="1" spc="-5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rigorous</a:t>
            </a:r>
            <a:r>
              <a:rPr sz="1400" b="1" spc="-3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as</a:t>
            </a:r>
            <a:r>
              <a:rPr sz="1400" b="1" spc="-3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the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University</a:t>
            </a:r>
            <a:r>
              <a:rPr sz="1400" b="1" spc="-4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4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Pennsylvania.</a:t>
            </a:r>
            <a:r>
              <a:rPr sz="1400" b="1" spc="-4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55CC"/>
                </a:solidFill>
                <a:latin typeface="Arial"/>
                <a:cs typeface="Arial"/>
              </a:rPr>
              <a:t>Thus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,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Brooke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Shields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could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also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succeed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at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University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of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Pennsylvania.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yes.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Strategy</a:t>
            </a:r>
            <a:r>
              <a:rPr spc="-15" dirty="0"/>
              <a:t> </a:t>
            </a:r>
            <a:r>
              <a:rPr dirty="0"/>
              <a:t>QA</a:t>
            </a:r>
            <a:r>
              <a:rPr spc="-18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spc="-10" dirty="0"/>
              <a:t>Prompt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107987" y="1102937"/>
            <a:ext cx="3369310" cy="3368040"/>
            <a:chOff x="5107987" y="1102937"/>
            <a:chExt cx="3369310" cy="3368040"/>
          </a:xfrm>
        </p:grpSpPr>
        <p:sp>
          <p:nvSpPr>
            <p:cNvPr id="8" name="object 8"/>
            <p:cNvSpPr/>
            <p:nvPr/>
          </p:nvSpPr>
          <p:spPr>
            <a:xfrm>
              <a:off x="5112749" y="1107700"/>
              <a:ext cx="3359785" cy="3358515"/>
            </a:xfrm>
            <a:custGeom>
              <a:avLst/>
              <a:gdLst/>
              <a:ahLst/>
              <a:cxnLst/>
              <a:rect l="l" t="t" r="r" b="b"/>
              <a:pathLst>
                <a:path w="3359784" h="3358515">
                  <a:moveTo>
                    <a:pt x="2799938" y="3358499"/>
                  </a:moveTo>
                  <a:lnTo>
                    <a:pt x="559761" y="3358499"/>
                  </a:lnTo>
                  <a:lnTo>
                    <a:pt x="511462" y="3356445"/>
                  </a:lnTo>
                  <a:lnTo>
                    <a:pt x="464305" y="3350393"/>
                  </a:lnTo>
                  <a:lnTo>
                    <a:pt x="418456" y="3340512"/>
                  </a:lnTo>
                  <a:lnTo>
                    <a:pt x="374085" y="3326969"/>
                  </a:lnTo>
                  <a:lnTo>
                    <a:pt x="331358" y="3309933"/>
                  </a:lnTo>
                  <a:lnTo>
                    <a:pt x="290445" y="3289572"/>
                  </a:lnTo>
                  <a:lnTo>
                    <a:pt x="251512" y="3266054"/>
                  </a:lnTo>
                  <a:lnTo>
                    <a:pt x="214728" y="3239547"/>
                  </a:lnTo>
                  <a:lnTo>
                    <a:pt x="180262" y="3210219"/>
                  </a:lnTo>
                  <a:lnTo>
                    <a:pt x="148280" y="3178237"/>
                  </a:lnTo>
                  <a:lnTo>
                    <a:pt x="118952" y="3143771"/>
                  </a:lnTo>
                  <a:lnTo>
                    <a:pt x="92445" y="3106987"/>
                  </a:lnTo>
                  <a:lnTo>
                    <a:pt x="68926" y="3068054"/>
                  </a:lnTo>
                  <a:lnTo>
                    <a:pt x="48566" y="3027141"/>
                  </a:lnTo>
                  <a:lnTo>
                    <a:pt x="31530" y="2984414"/>
                  </a:lnTo>
                  <a:lnTo>
                    <a:pt x="17987" y="2940043"/>
                  </a:lnTo>
                  <a:lnTo>
                    <a:pt x="8106" y="2894194"/>
                  </a:lnTo>
                  <a:lnTo>
                    <a:pt x="2054" y="2847037"/>
                  </a:lnTo>
                  <a:lnTo>
                    <a:pt x="0" y="2798738"/>
                  </a:lnTo>
                  <a:lnTo>
                    <a:pt x="0" y="559761"/>
                  </a:lnTo>
                  <a:lnTo>
                    <a:pt x="2054" y="511462"/>
                  </a:lnTo>
                  <a:lnTo>
                    <a:pt x="8106" y="464305"/>
                  </a:lnTo>
                  <a:lnTo>
                    <a:pt x="17987" y="418456"/>
                  </a:lnTo>
                  <a:lnTo>
                    <a:pt x="31530" y="374085"/>
                  </a:lnTo>
                  <a:lnTo>
                    <a:pt x="48566" y="331358"/>
                  </a:lnTo>
                  <a:lnTo>
                    <a:pt x="68926" y="290444"/>
                  </a:lnTo>
                  <a:lnTo>
                    <a:pt x="92445" y="251512"/>
                  </a:lnTo>
                  <a:lnTo>
                    <a:pt x="118952" y="214728"/>
                  </a:lnTo>
                  <a:lnTo>
                    <a:pt x="148280" y="180262"/>
                  </a:lnTo>
                  <a:lnTo>
                    <a:pt x="180262" y="148280"/>
                  </a:lnTo>
                  <a:lnTo>
                    <a:pt x="214728" y="118952"/>
                  </a:lnTo>
                  <a:lnTo>
                    <a:pt x="251512" y="92445"/>
                  </a:lnTo>
                  <a:lnTo>
                    <a:pt x="290445" y="68926"/>
                  </a:lnTo>
                  <a:lnTo>
                    <a:pt x="331358" y="48566"/>
                  </a:lnTo>
                  <a:lnTo>
                    <a:pt x="374085" y="31530"/>
                  </a:lnTo>
                  <a:lnTo>
                    <a:pt x="418456" y="17987"/>
                  </a:lnTo>
                  <a:lnTo>
                    <a:pt x="464305" y="8106"/>
                  </a:lnTo>
                  <a:lnTo>
                    <a:pt x="511462" y="2054"/>
                  </a:lnTo>
                  <a:lnTo>
                    <a:pt x="559761" y="0"/>
                  </a:lnTo>
                  <a:lnTo>
                    <a:pt x="2799938" y="0"/>
                  </a:lnTo>
                  <a:lnTo>
                    <a:pt x="2849156" y="2166"/>
                  </a:lnTo>
                  <a:lnTo>
                    <a:pt x="2897666" y="8594"/>
                  </a:lnTo>
                  <a:lnTo>
                    <a:pt x="2945210" y="19177"/>
                  </a:lnTo>
                  <a:lnTo>
                    <a:pt x="2991529" y="33808"/>
                  </a:lnTo>
                  <a:lnTo>
                    <a:pt x="3036368" y="52381"/>
                  </a:lnTo>
                  <a:lnTo>
                    <a:pt x="3079467" y="74788"/>
                  </a:lnTo>
                  <a:lnTo>
                    <a:pt x="3120568" y="100923"/>
                  </a:lnTo>
                  <a:lnTo>
                    <a:pt x="3159415" y="130679"/>
                  </a:lnTo>
                  <a:lnTo>
                    <a:pt x="3195749" y="163950"/>
                  </a:lnTo>
                  <a:lnTo>
                    <a:pt x="3229020" y="200284"/>
                  </a:lnTo>
                  <a:lnTo>
                    <a:pt x="3258776" y="239131"/>
                  </a:lnTo>
                  <a:lnTo>
                    <a:pt x="3284911" y="280233"/>
                  </a:lnTo>
                  <a:lnTo>
                    <a:pt x="3307318" y="323332"/>
                  </a:lnTo>
                  <a:lnTo>
                    <a:pt x="3325890" y="368170"/>
                  </a:lnTo>
                  <a:lnTo>
                    <a:pt x="3340522" y="414490"/>
                  </a:lnTo>
                  <a:lnTo>
                    <a:pt x="3351105" y="462033"/>
                  </a:lnTo>
                  <a:lnTo>
                    <a:pt x="3357533" y="510543"/>
                  </a:lnTo>
                  <a:lnTo>
                    <a:pt x="3359699" y="559761"/>
                  </a:lnTo>
                  <a:lnTo>
                    <a:pt x="3359699" y="2798738"/>
                  </a:lnTo>
                  <a:lnTo>
                    <a:pt x="3357645" y="2847037"/>
                  </a:lnTo>
                  <a:lnTo>
                    <a:pt x="3351593" y="2894194"/>
                  </a:lnTo>
                  <a:lnTo>
                    <a:pt x="3341712" y="2940043"/>
                  </a:lnTo>
                  <a:lnTo>
                    <a:pt x="3328169" y="2984414"/>
                  </a:lnTo>
                  <a:lnTo>
                    <a:pt x="3311133" y="3027141"/>
                  </a:lnTo>
                  <a:lnTo>
                    <a:pt x="3290773" y="3068054"/>
                  </a:lnTo>
                  <a:lnTo>
                    <a:pt x="3267255" y="3106987"/>
                  </a:lnTo>
                  <a:lnTo>
                    <a:pt x="3240747" y="3143771"/>
                  </a:lnTo>
                  <a:lnTo>
                    <a:pt x="3211419" y="3178237"/>
                  </a:lnTo>
                  <a:lnTo>
                    <a:pt x="3179438" y="3210219"/>
                  </a:lnTo>
                  <a:lnTo>
                    <a:pt x="3144971" y="3239547"/>
                  </a:lnTo>
                  <a:lnTo>
                    <a:pt x="3108187" y="3266054"/>
                  </a:lnTo>
                  <a:lnTo>
                    <a:pt x="3069255" y="3289572"/>
                  </a:lnTo>
                  <a:lnTo>
                    <a:pt x="3028341" y="3309933"/>
                  </a:lnTo>
                  <a:lnTo>
                    <a:pt x="2985614" y="3326969"/>
                  </a:lnTo>
                  <a:lnTo>
                    <a:pt x="2941243" y="3340512"/>
                  </a:lnTo>
                  <a:lnTo>
                    <a:pt x="2895394" y="3350393"/>
                  </a:lnTo>
                  <a:lnTo>
                    <a:pt x="2848237" y="3356445"/>
                  </a:lnTo>
                  <a:lnTo>
                    <a:pt x="2799938" y="335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2749" y="1107700"/>
              <a:ext cx="3359785" cy="3358515"/>
            </a:xfrm>
            <a:custGeom>
              <a:avLst/>
              <a:gdLst/>
              <a:ahLst/>
              <a:cxnLst/>
              <a:rect l="l" t="t" r="r" b="b"/>
              <a:pathLst>
                <a:path w="3359784" h="3358515">
                  <a:moveTo>
                    <a:pt x="0" y="559761"/>
                  </a:moveTo>
                  <a:lnTo>
                    <a:pt x="2054" y="511462"/>
                  </a:lnTo>
                  <a:lnTo>
                    <a:pt x="8106" y="464305"/>
                  </a:lnTo>
                  <a:lnTo>
                    <a:pt x="17987" y="418456"/>
                  </a:lnTo>
                  <a:lnTo>
                    <a:pt x="31530" y="374085"/>
                  </a:lnTo>
                  <a:lnTo>
                    <a:pt x="48566" y="331358"/>
                  </a:lnTo>
                  <a:lnTo>
                    <a:pt x="68926" y="290444"/>
                  </a:lnTo>
                  <a:lnTo>
                    <a:pt x="92445" y="251512"/>
                  </a:lnTo>
                  <a:lnTo>
                    <a:pt x="118952" y="214728"/>
                  </a:lnTo>
                  <a:lnTo>
                    <a:pt x="148280" y="180262"/>
                  </a:lnTo>
                  <a:lnTo>
                    <a:pt x="180262" y="148280"/>
                  </a:lnTo>
                  <a:lnTo>
                    <a:pt x="214728" y="118952"/>
                  </a:lnTo>
                  <a:lnTo>
                    <a:pt x="251512" y="92445"/>
                  </a:lnTo>
                  <a:lnTo>
                    <a:pt x="290445" y="68926"/>
                  </a:lnTo>
                  <a:lnTo>
                    <a:pt x="331358" y="48566"/>
                  </a:lnTo>
                  <a:lnTo>
                    <a:pt x="374085" y="31530"/>
                  </a:lnTo>
                  <a:lnTo>
                    <a:pt x="418456" y="17987"/>
                  </a:lnTo>
                  <a:lnTo>
                    <a:pt x="464305" y="8106"/>
                  </a:lnTo>
                  <a:lnTo>
                    <a:pt x="511462" y="2054"/>
                  </a:lnTo>
                  <a:lnTo>
                    <a:pt x="559761" y="0"/>
                  </a:lnTo>
                  <a:lnTo>
                    <a:pt x="2799938" y="0"/>
                  </a:lnTo>
                  <a:lnTo>
                    <a:pt x="2849156" y="2166"/>
                  </a:lnTo>
                  <a:lnTo>
                    <a:pt x="2897666" y="8594"/>
                  </a:lnTo>
                  <a:lnTo>
                    <a:pt x="2945210" y="19177"/>
                  </a:lnTo>
                  <a:lnTo>
                    <a:pt x="2991529" y="33808"/>
                  </a:lnTo>
                  <a:lnTo>
                    <a:pt x="3036368" y="52381"/>
                  </a:lnTo>
                  <a:lnTo>
                    <a:pt x="3079467" y="74788"/>
                  </a:lnTo>
                  <a:lnTo>
                    <a:pt x="3120568" y="100923"/>
                  </a:lnTo>
                  <a:lnTo>
                    <a:pt x="3159415" y="130679"/>
                  </a:lnTo>
                  <a:lnTo>
                    <a:pt x="3195749" y="163950"/>
                  </a:lnTo>
                  <a:lnTo>
                    <a:pt x="3229020" y="200284"/>
                  </a:lnTo>
                  <a:lnTo>
                    <a:pt x="3258776" y="239131"/>
                  </a:lnTo>
                  <a:lnTo>
                    <a:pt x="3284911" y="280233"/>
                  </a:lnTo>
                  <a:lnTo>
                    <a:pt x="3307318" y="323332"/>
                  </a:lnTo>
                  <a:lnTo>
                    <a:pt x="3325890" y="368170"/>
                  </a:lnTo>
                  <a:lnTo>
                    <a:pt x="3340522" y="414490"/>
                  </a:lnTo>
                  <a:lnTo>
                    <a:pt x="3351105" y="462033"/>
                  </a:lnTo>
                  <a:lnTo>
                    <a:pt x="3357533" y="510543"/>
                  </a:lnTo>
                  <a:lnTo>
                    <a:pt x="3359699" y="559761"/>
                  </a:lnTo>
                  <a:lnTo>
                    <a:pt x="3359699" y="2798738"/>
                  </a:lnTo>
                  <a:lnTo>
                    <a:pt x="3357645" y="2847037"/>
                  </a:lnTo>
                  <a:lnTo>
                    <a:pt x="3351593" y="2894194"/>
                  </a:lnTo>
                  <a:lnTo>
                    <a:pt x="3341712" y="2940043"/>
                  </a:lnTo>
                  <a:lnTo>
                    <a:pt x="3328169" y="2984414"/>
                  </a:lnTo>
                  <a:lnTo>
                    <a:pt x="3311134" y="3027141"/>
                  </a:lnTo>
                  <a:lnTo>
                    <a:pt x="3290773" y="3068054"/>
                  </a:lnTo>
                  <a:lnTo>
                    <a:pt x="3267255" y="3106987"/>
                  </a:lnTo>
                  <a:lnTo>
                    <a:pt x="3240747" y="3143771"/>
                  </a:lnTo>
                  <a:lnTo>
                    <a:pt x="3211419" y="3178237"/>
                  </a:lnTo>
                  <a:lnTo>
                    <a:pt x="3179438" y="3210219"/>
                  </a:lnTo>
                  <a:lnTo>
                    <a:pt x="3144971" y="3239547"/>
                  </a:lnTo>
                  <a:lnTo>
                    <a:pt x="3108187" y="3266054"/>
                  </a:lnTo>
                  <a:lnTo>
                    <a:pt x="3069255" y="3289573"/>
                  </a:lnTo>
                  <a:lnTo>
                    <a:pt x="3028341" y="3309933"/>
                  </a:lnTo>
                  <a:lnTo>
                    <a:pt x="2985614" y="3326969"/>
                  </a:lnTo>
                  <a:lnTo>
                    <a:pt x="2941243" y="3340512"/>
                  </a:lnTo>
                  <a:lnTo>
                    <a:pt x="2895394" y="3350393"/>
                  </a:lnTo>
                  <a:lnTo>
                    <a:pt x="2848237" y="3356445"/>
                  </a:lnTo>
                  <a:lnTo>
                    <a:pt x="2799938" y="3358499"/>
                  </a:lnTo>
                  <a:lnTo>
                    <a:pt x="559761" y="3358499"/>
                  </a:lnTo>
                  <a:lnTo>
                    <a:pt x="511462" y="3356445"/>
                  </a:lnTo>
                  <a:lnTo>
                    <a:pt x="464305" y="3350393"/>
                  </a:lnTo>
                  <a:lnTo>
                    <a:pt x="418456" y="3340512"/>
                  </a:lnTo>
                  <a:lnTo>
                    <a:pt x="374085" y="3326969"/>
                  </a:lnTo>
                  <a:lnTo>
                    <a:pt x="331358" y="3309933"/>
                  </a:lnTo>
                  <a:lnTo>
                    <a:pt x="290445" y="3289573"/>
                  </a:lnTo>
                  <a:lnTo>
                    <a:pt x="251512" y="3266054"/>
                  </a:lnTo>
                  <a:lnTo>
                    <a:pt x="214728" y="3239547"/>
                  </a:lnTo>
                  <a:lnTo>
                    <a:pt x="180262" y="3210219"/>
                  </a:lnTo>
                  <a:lnTo>
                    <a:pt x="148280" y="3178237"/>
                  </a:lnTo>
                  <a:lnTo>
                    <a:pt x="118952" y="3143771"/>
                  </a:lnTo>
                  <a:lnTo>
                    <a:pt x="92445" y="3106987"/>
                  </a:lnTo>
                  <a:lnTo>
                    <a:pt x="68926" y="3068054"/>
                  </a:lnTo>
                  <a:lnTo>
                    <a:pt x="48566" y="3027141"/>
                  </a:lnTo>
                  <a:lnTo>
                    <a:pt x="31530" y="2984414"/>
                  </a:lnTo>
                  <a:lnTo>
                    <a:pt x="17987" y="2940043"/>
                  </a:lnTo>
                  <a:lnTo>
                    <a:pt x="8106" y="2894194"/>
                  </a:lnTo>
                  <a:lnTo>
                    <a:pt x="2054" y="2847037"/>
                  </a:lnTo>
                  <a:lnTo>
                    <a:pt x="0" y="2798738"/>
                  </a:lnTo>
                  <a:lnTo>
                    <a:pt x="0" y="559761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00"/>
              </a:spcBef>
            </a:pPr>
            <a:r>
              <a:rPr dirty="0"/>
              <a:t>StrategyQA</a:t>
            </a:r>
            <a:r>
              <a:rPr spc="-80" dirty="0"/>
              <a:t> </a:t>
            </a:r>
            <a:r>
              <a:rPr dirty="0"/>
              <a:t>(Geva</a:t>
            </a:r>
            <a:r>
              <a:rPr spc="-20" dirty="0"/>
              <a:t> </a:t>
            </a:r>
            <a:r>
              <a:rPr dirty="0"/>
              <a:t>et</a:t>
            </a:r>
            <a:r>
              <a:rPr spc="-20" dirty="0"/>
              <a:t> </a:t>
            </a:r>
            <a:r>
              <a:rPr dirty="0"/>
              <a:t>al.,</a:t>
            </a:r>
            <a:r>
              <a:rPr spc="-15" dirty="0"/>
              <a:t> </a:t>
            </a:r>
            <a:r>
              <a:rPr spc="-10" dirty="0"/>
              <a:t>2021)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/>
          </a:p>
          <a:p>
            <a:pPr marL="12700" marR="29845">
              <a:lnSpc>
                <a:spcPts val="1650"/>
              </a:lnSpc>
            </a:pPr>
            <a:r>
              <a:rPr b="0" dirty="0">
                <a:latin typeface="Arial"/>
                <a:cs typeface="Arial"/>
              </a:rPr>
              <a:t>Q:</a:t>
            </a:r>
            <a:r>
              <a:rPr b="0" spc="335" dirty="0">
                <a:latin typeface="Arial"/>
                <a:cs typeface="Arial"/>
              </a:rPr>
              <a:t> </a:t>
            </a:r>
            <a:r>
              <a:rPr b="0" spc="-30" dirty="0">
                <a:latin typeface="Arial"/>
                <a:cs typeface="Arial"/>
              </a:rPr>
              <a:t>Yes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or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no:</a:t>
            </a:r>
            <a:r>
              <a:rPr b="0" spc="-1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Is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it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common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to</a:t>
            </a:r>
            <a:r>
              <a:rPr b="0" spc="-10" dirty="0">
                <a:latin typeface="Arial"/>
                <a:cs typeface="Arial"/>
              </a:rPr>
              <a:t> </a:t>
            </a:r>
            <a:r>
              <a:rPr b="0" spc="-25" dirty="0">
                <a:latin typeface="Arial"/>
                <a:cs typeface="Arial"/>
              </a:rPr>
              <a:t>see </a:t>
            </a:r>
            <a:r>
              <a:rPr b="0" dirty="0">
                <a:latin typeface="Arial"/>
                <a:cs typeface="Arial"/>
              </a:rPr>
              <a:t>frost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during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some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college commencements?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b="0" spc="-10" dirty="0">
              <a:latin typeface="Arial"/>
              <a:cs typeface="Arial"/>
            </a:endParaRPr>
          </a:p>
          <a:p>
            <a:pPr marL="12700" marR="39370">
              <a:lnSpc>
                <a:spcPts val="1650"/>
              </a:lnSpc>
            </a:pPr>
            <a:r>
              <a:rPr b="0" dirty="0">
                <a:latin typeface="Arial"/>
                <a:cs typeface="Arial"/>
              </a:rPr>
              <a:t>A: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dirty="0">
                <a:solidFill>
                  <a:srgbClr val="37761C"/>
                </a:solidFill>
              </a:rPr>
              <a:t>College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10" dirty="0">
                <a:solidFill>
                  <a:srgbClr val="37761C"/>
                </a:solidFill>
              </a:rPr>
              <a:t>commencement </a:t>
            </a:r>
            <a:r>
              <a:rPr dirty="0">
                <a:solidFill>
                  <a:srgbClr val="37761C"/>
                </a:solidFill>
              </a:rPr>
              <a:t>ceremonies</a:t>
            </a:r>
            <a:r>
              <a:rPr spc="-3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can</a:t>
            </a:r>
            <a:r>
              <a:rPr spc="-3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happen</a:t>
            </a:r>
            <a:r>
              <a:rPr spc="-30" dirty="0">
                <a:solidFill>
                  <a:srgbClr val="37761C"/>
                </a:solidFill>
              </a:rPr>
              <a:t> </a:t>
            </a:r>
            <a:r>
              <a:rPr spc="-25" dirty="0">
                <a:solidFill>
                  <a:srgbClr val="37761C"/>
                </a:solidFill>
              </a:rPr>
              <a:t>in </a:t>
            </a:r>
            <a:r>
              <a:rPr spc="-10" dirty="0">
                <a:solidFill>
                  <a:srgbClr val="37761C"/>
                </a:solidFill>
              </a:rPr>
              <a:t>December,</a:t>
            </a:r>
            <a:r>
              <a:rPr spc="-40" dirty="0">
                <a:solidFill>
                  <a:srgbClr val="37761C"/>
                </a:solidFill>
              </a:rPr>
              <a:t> </a:t>
            </a:r>
            <a:r>
              <a:rPr spc="-10" dirty="0">
                <a:solidFill>
                  <a:srgbClr val="37761C"/>
                </a:solidFill>
              </a:rPr>
              <a:t>May,</a:t>
            </a:r>
            <a:r>
              <a:rPr spc="-4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and</a:t>
            </a:r>
            <a:r>
              <a:rPr spc="-35" dirty="0">
                <a:solidFill>
                  <a:srgbClr val="37761C"/>
                </a:solidFill>
              </a:rPr>
              <a:t> </a:t>
            </a:r>
            <a:r>
              <a:rPr spc="-10" dirty="0">
                <a:solidFill>
                  <a:srgbClr val="37761C"/>
                </a:solidFill>
              </a:rPr>
              <a:t>June. </a:t>
            </a:r>
            <a:r>
              <a:rPr dirty="0">
                <a:solidFill>
                  <a:srgbClr val="37761C"/>
                </a:solidFill>
              </a:rPr>
              <a:t>December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is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in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the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10" dirty="0">
                <a:solidFill>
                  <a:srgbClr val="37761C"/>
                </a:solidFill>
              </a:rPr>
              <a:t>winter,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spc="-25" dirty="0">
                <a:solidFill>
                  <a:srgbClr val="37761C"/>
                </a:solidFill>
              </a:rPr>
              <a:t>so </a:t>
            </a:r>
            <a:r>
              <a:rPr dirty="0">
                <a:solidFill>
                  <a:srgbClr val="37761C"/>
                </a:solidFill>
              </a:rPr>
              <a:t>there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can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be</a:t>
            </a:r>
            <a:r>
              <a:rPr spc="-20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frost.</a:t>
            </a:r>
            <a:r>
              <a:rPr spc="-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1155CC"/>
                </a:solidFill>
              </a:rPr>
              <a:t>Thus</a:t>
            </a:r>
            <a:r>
              <a:rPr dirty="0">
                <a:solidFill>
                  <a:srgbClr val="37761C"/>
                </a:solidFill>
              </a:rPr>
              <a:t>,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spc="-10" dirty="0">
                <a:solidFill>
                  <a:srgbClr val="37761C"/>
                </a:solidFill>
              </a:rPr>
              <a:t>there </a:t>
            </a:r>
            <a:r>
              <a:rPr dirty="0">
                <a:solidFill>
                  <a:srgbClr val="37761C"/>
                </a:solidFill>
              </a:rPr>
              <a:t>could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be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frost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dirty="0">
                <a:solidFill>
                  <a:srgbClr val="37761C"/>
                </a:solidFill>
              </a:rPr>
              <a:t>at</a:t>
            </a:r>
            <a:r>
              <a:rPr spc="-15" dirty="0">
                <a:solidFill>
                  <a:srgbClr val="37761C"/>
                </a:solidFill>
              </a:rPr>
              <a:t> </a:t>
            </a:r>
            <a:r>
              <a:rPr spc="-20" dirty="0">
                <a:solidFill>
                  <a:srgbClr val="37761C"/>
                </a:solidFill>
              </a:rPr>
              <a:t>some </a:t>
            </a:r>
            <a:r>
              <a:rPr dirty="0">
                <a:solidFill>
                  <a:srgbClr val="37761C"/>
                </a:solidFill>
              </a:rPr>
              <a:t>commencements.</a:t>
            </a:r>
            <a:r>
              <a:rPr spc="-40" dirty="0">
                <a:solidFill>
                  <a:srgbClr val="37761C"/>
                </a:solidFill>
              </a:rPr>
              <a:t> </a:t>
            </a:r>
            <a:r>
              <a:rPr b="0" dirty="0">
                <a:latin typeface="Arial"/>
                <a:cs typeface="Arial"/>
              </a:rPr>
              <a:t>The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answer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spc="-25" dirty="0">
                <a:latin typeface="Arial"/>
                <a:cs typeface="Arial"/>
              </a:rPr>
              <a:t>is </a:t>
            </a:r>
            <a:r>
              <a:rPr spc="-20" dirty="0">
                <a:solidFill>
                  <a:srgbClr val="A61B00"/>
                </a:solidFill>
              </a:rPr>
              <a:t>yes.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62" y="1026337"/>
            <a:ext cx="3369310" cy="3299460"/>
            <a:chOff x="785962" y="1026337"/>
            <a:chExt cx="3369310" cy="3299460"/>
          </a:xfrm>
        </p:grpSpPr>
        <p:sp>
          <p:nvSpPr>
            <p:cNvPr id="3" name="object 3"/>
            <p:cNvSpPr/>
            <p:nvPr/>
          </p:nvSpPr>
          <p:spPr>
            <a:xfrm>
              <a:off x="790724" y="1031099"/>
              <a:ext cx="3359785" cy="3289935"/>
            </a:xfrm>
            <a:custGeom>
              <a:avLst/>
              <a:gdLst/>
              <a:ahLst/>
              <a:cxnLst/>
              <a:rect l="l" t="t" r="r" b="b"/>
              <a:pathLst>
                <a:path w="3359785" h="3289935">
                  <a:moveTo>
                    <a:pt x="2811438" y="3289499"/>
                  </a:moveTo>
                  <a:lnTo>
                    <a:pt x="548260" y="3289499"/>
                  </a:lnTo>
                  <a:lnTo>
                    <a:pt x="500954" y="3287487"/>
                  </a:lnTo>
                  <a:lnTo>
                    <a:pt x="454766" y="3281559"/>
                  </a:lnTo>
                  <a:lnTo>
                    <a:pt x="409859" y="3271881"/>
                  </a:lnTo>
                  <a:lnTo>
                    <a:pt x="366399" y="3258617"/>
                  </a:lnTo>
                  <a:lnTo>
                    <a:pt x="324550" y="3241931"/>
                  </a:lnTo>
                  <a:lnTo>
                    <a:pt x="284477" y="3221989"/>
                  </a:lnTo>
                  <a:lnTo>
                    <a:pt x="246345" y="3198954"/>
                  </a:lnTo>
                  <a:lnTo>
                    <a:pt x="210317" y="3172991"/>
                  </a:lnTo>
                  <a:lnTo>
                    <a:pt x="176558" y="3144265"/>
                  </a:lnTo>
                  <a:lnTo>
                    <a:pt x="145234" y="3112941"/>
                  </a:lnTo>
                  <a:lnTo>
                    <a:pt x="116508" y="3079182"/>
                  </a:lnTo>
                  <a:lnTo>
                    <a:pt x="90545" y="3043154"/>
                  </a:lnTo>
                  <a:lnTo>
                    <a:pt x="67510" y="3005022"/>
                  </a:lnTo>
                  <a:lnTo>
                    <a:pt x="47568" y="2964948"/>
                  </a:lnTo>
                  <a:lnTo>
                    <a:pt x="30882" y="2923100"/>
                  </a:lnTo>
                  <a:lnTo>
                    <a:pt x="17618" y="2879640"/>
                  </a:lnTo>
                  <a:lnTo>
                    <a:pt x="7940" y="2834733"/>
                  </a:lnTo>
                  <a:lnTo>
                    <a:pt x="2012" y="2788545"/>
                  </a:lnTo>
                  <a:lnTo>
                    <a:pt x="0" y="2741238"/>
                  </a:lnTo>
                  <a:lnTo>
                    <a:pt x="0" y="548260"/>
                  </a:lnTo>
                  <a:lnTo>
                    <a:pt x="2012" y="500954"/>
                  </a:lnTo>
                  <a:lnTo>
                    <a:pt x="7940" y="454766"/>
                  </a:lnTo>
                  <a:lnTo>
                    <a:pt x="17618" y="409859"/>
                  </a:lnTo>
                  <a:lnTo>
                    <a:pt x="30882" y="366399"/>
                  </a:lnTo>
                  <a:lnTo>
                    <a:pt x="47568" y="324550"/>
                  </a:lnTo>
                  <a:lnTo>
                    <a:pt x="67510" y="284477"/>
                  </a:lnTo>
                  <a:lnTo>
                    <a:pt x="90545" y="246345"/>
                  </a:lnTo>
                  <a:lnTo>
                    <a:pt x="116508" y="210317"/>
                  </a:lnTo>
                  <a:lnTo>
                    <a:pt x="145234" y="176558"/>
                  </a:lnTo>
                  <a:lnTo>
                    <a:pt x="176558" y="145234"/>
                  </a:lnTo>
                  <a:lnTo>
                    <a:pt x="210317" y="116508"/>
                  </a:lnTo>
                  <a:lnTo>
                    <a:pt x="246345" y="90545"/>
                  </a:lnTo>
                  <a:lnTo>
                    <a:pt x="284477" y="67510"/>
                  </a:lnTo>
                  <a:lnTo>
                    <a:pt x="324550" y="47568"/>
                  </a:lnTo>
                  <a:lnTo>
                    <a:pt x="366399" y="30882"/>
                  </a:lnTo>
                  <a:lnTo>
                    <a:pt x="409859" y="17618"/>
                  </a:lnTo>
                  <a:lnTo>
                    <a:pt x="454766" y="7940"/>
                  </a:lnTo>
                  <a:lnTo>
                    <a:pt x="500954" y="2012"/>
                  </a:lnTo>
                  <a:lnTo>
                    <a:pt x="548260" y="0"/>
                  </a:lnTo>
                  <a:lnTo>
                    <a:pt x="2811438" y="0"/>
                  </a:lnTo>
                  <a:lnTo>
                    <a:pt x="2859645" y="2121"/>
                  </a:lnTo>
                  <a:lnTo>
                    <a:pt x="2907158" y="8418"/>
                  </a:lnTo>
                  <a:lnTo>
                    <a:pt x="2953725" y="18783"/>
                  </a:lnTo>
                  <a:lnTo>
                    <a:pt x="2999093" y="33114"/>
                  </a:lnTo>
                  <a:lnTo>
                    <a:pt x="3043010" y="51305"/>
                  </a:lnTo>
                  <a:lnTo>
                    <a:pt x="3085224" y="73252"/>
                  </a:lnTo>
                  <a:lnTo>
                    <a:pt x="3125481" y="98850"/>
                  </a:lnTo>
                  <a:lnTo>
                    <a:pt x="3163530" y="127995"/>
                  </a:lnTo>
                  <a:lnTo>
                    <a:pt x="3199117" y="160581"/>
                  </a:lnTo>
                  <a:lnTo>
                    <a:pt x="3231704" y="196169"/>
                  </a:lnTo>
                  <a:lnTo>
                    <a:pt x="3260849" y="234218"/>
                  </a:lnTo>
                  <a:lnTo>
                    <a:pt x="3286447" y="274475"/>
                  </a:lnTo>
                  <a:lnTo>
                    <a:pt x="3308394" y="316689"/>
                  </a:lnTo>
                  <a:lnTo>
                    <a:pt x="3326585" y="360606"/>
                  </a:lnTo>
                  <a:lnTo>
                    <a:pt x="3340916" y="405974"/>
                  </a:lnTo>
                  <a:lnTo>
                    <a:pt x="3351281" y="452541"/>
                  </a:lnTo>
                  <a:lnTo>
                    <a:pt x="3357578" y="500054"/>
                  </a:lnTo>
                  <a:lnTo>
                    <a:pt x="3359699" y="548260"/>
                  </a:lnTo>
                  <a:lnTo>
                    <a:pt x="3359699" y="2741238"/>
                  </a:lnTo>
                  <a:lnTo>
                    <a:pt x="3357687" y="2788545"/>
                  </a:lnTo>
                  <a:lnTo>
                    <a:pt x="3351759" y="2834733"/>
                  </a:lnTo>
                  <a:lnTo>
                    <a:pt x="3342081" y="2879640"/>
                  </a:lnTo>
                  <a:lnTo>
                    <a:pt x="3328817" y="2923100"/>
                  </a:lnTo>
                  <a:lnTo>
                    <a:pt x="3312131" y="2964948"/>
                  </a:lnTo>
                  <a:lnTo>
                    <a:pt x="3292189" y="3005022"/>
                  </a:lnTo>
                  <a:lnTo>
                    <a:pt x="3269154" y="3043154"/>
                  </a:lnTo>
                  <a:lnTo>
                    <a:pt x="3243191" y="3079182"/>
                  </a:lnTo>
                  <a:lnTo>
                    <a:pt x="3214465" y="3112941"/>
                  </a:lnTo>
                  <a:lnTo>
                    <a:pt x="3183141" y="3144265"/>
                  </a:lnTo>
                  <a:lnTo>
                    <a:pt x="3149382" y="3172991"/>
                  </a:lnTo>
                  <a:lnTo>
                    <a:pt x="3113354" y="3198954"/>
                  </a:lnTo>
                  <a:lnTo>
                    <a:pt x="3075222" y="3221989"/>
                  </a:lnTo>
                  <a:lnTo>
                    <a:pt x="3035148" y="3241931"/>
                  </a:lnTo>
                  <a:lnTo>
                    <a:pt x="2993300" y="3258617"/>
                  </a:lnTo>
                  <a:lnTo>
                    <a:pt x="2949840" y="3271881"/>
                  </a:lnTo>
                  <a:lnTo>
                    <a:pt x="2904933" y="3281559"/>
                  </a:lnTo>
                  <a:lnTo>
                    <a:pt x="2858745" y="3287487"/>
                  </a:lnTo>
                  <a:lnTo>
                    <a:pt x="2811438" y="3289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724" y="1031099"/>
              <a:ext cx="3359785" cy="3289935"/>
            </a:xfrm>
            <a:custGeom>
              <a:avLst/>
              <a:gdLst/>
              <a:ahLst/>
              <a:cxnLst/>
              <a:rect l="l" t="t" r="r" b="b"/>
              <a:pathLst>
                <a:path w="3359785" h="3289935">
                  <a:moveTo>
                    <a:pt x="0" y="548260"/>
                  </a:moveTo>
                  <a:lnTo>
                    <a:pt x="2012" y="500954"/>
                  </a:lnTo>
                  <a:lnTo>
                    <a:pt x="7940" y="454766"/>
                  </a:lnTo>
                  <a:lnTo>
                    <a:pt x="17618" y="409859"/>
                  </a:lnTo>
                  <a:lnTo>
                    <a:pt x="30882" y="366399"/>
                  </a:lnTo>
                  <a:lnTo>
                    <a:pt x="47568" y="324550"/>
                  </a:lnTo>
                  <a:lnTo>
                    <a:pt x="67510" y="284477"/>
                  </a:lnTo>
                  <a:lnTo>
                    <a:pt x="90545" y="246345"/>
                  </a:lnTo>
                  <a:lnTo>
                    <a:pt x="116508" y="210317"/>
                  </a:lnTo>
                  <a:lnTo>
                    <a:pt x="145234" y="176558"/>
                  </a:lnTo>
                  <a:lnTo>
                    <a:pt x="176558" y="145234"/>
                  </a:lnTo>
                  <a:lnTo>
                    <a:pt x="210317" y="116508"/>
                  </a:lnTo>
                  <a:lnTo>
                    <a:pt x="246345" y="90545"/>
                  </a:lnTo>
                  <a:lnTo>
                    <a:pt x="284477" y="67510"/>
                  </a:lnTo>
                  <a:lnTo>
                    <a:pt x="324550" y="47568"/>
                  </a:lnTo>
                  <a:lnTo>
                    <a:pt x="366399" y="30882"/>
                  </a:lnTo>
                  <a:lnTo>
                    <a:pt x="409859" y="17618"/>
                  </a:lnTo>
                  <a:lnTo>
                    <a:pt x="454766" y="7940"/>
                  </a:lnTo>
                  <a:lnTo>
                    <a:pt x="500954" y="2012"/>
                  </a:lnTo>
                  <a:lnTo>
                    <a:pt x="548260" y="0"/>
                  </a:lnTo>
                  <a:lnTo>
                    <a:pt x="2811438" y="0"/>
                  </a:lnTo>
                  <a:lnTo>
                    <a:pt x="2859645" y="2121"/>
                  </a:lnTo>
                  <a:lnTo>
                    <a:pt x="2907158" y="8418"/>
                  </a:lnTo>
                  <a:lnTo>
                    <a:pt x="2953725" y="18783"/>
                  </a:lnTo>
                  <a:lnTo>
                    <a:pt x="2999093" y="33114"/>
                  </a:lnTo>
                  <a:lnTo>
                    <a:pt x="3043010" y="51305"/>
                  </a:lnTo>
                  <a:lnTo>
                    <a:pt x="3085224" y="73252"/>
                  </a:lnTo>
                  <a:lnTo>
                    <a:pt x="3125481" y="98850"/>
                  </a:lnTo>
                  <a:lnTo>
                    <a:pt x="3163530" y="127995"/>
                  </a:lnTo>
                  <a:lnTo>
                    <a:pt x="3199117" y="160581"/>
                  </a:lnTo>
                  <a:lnTo>
                    <a:pt x="3231704" y="196169"/>
                  </a:lnTo>
                  <a:lnTo>
                    <a:pt x="3260849" y="234218"/>
                  </a:lnTo>
                  <a:lnTo>
                    <a:pt x="3286447" y="274475"/>
                  </a:lnTo>
                  <a:lnTo>
                    <a:pt x="3308394" y="316689"/>
                  </a:lnTo>
                  <a:lnTo>
                    <a:pt x="3326585" y="360606"/>
                  </a:lnTo>
                  <a:lnTo>
                    <a:pt x="3340916" y="405974"/>
                  </a:lnTo>
                  <a:lnTo>
                    <a:pt x="3351281" y="452541"/>
                  </a:lnTo>
                  <a:lnTo>
                    <a:pt x="3357578" y="500054"/>
                  </a:lnTo>
                  <a:lnTo>
                    <a:pt x="3359699" y="548260"/>
                  </a:lnTo>
                  <a:lnTo>
                    <a:pt x="3359699" y="2741238"/>
                  </a:lnTo>
                  <a:lnTo>
                    <a:pt x="3357687" y="2788545"/>
                  </a:lnTo>
                  <a:lnTo>
                    <a:pt x="3351759" y="2834733"/>
                  </a:lnTo>
                  <a:lnTo>
                    <a:pt x="3342081" y="2879640"/>
                  </a:lnTo>
                  <a:lnTo>
                    <a:pt x="3328817" y="2923100"/>
                  </a:lnTo>
                  <a:lnTo>
                    <a:pt x="3312131" y="2964948"/>
                  </a:lnTo>
                  <a:lnTo>
                    <a:pt x="3292189" y="3005022"/>
                  </a:lnTo>
                  <a:lnTo>
                    <a:pt x="3269154" y="3043154"/>
                  </a:lnTo>
                  <a:lnTo>
                    <a:pt x="3243191" y="3079182"/>
                  </a:lnTo>
                  <a:lnTo>
                    <a:pt x="3214465" y="3112941"/>
                  </a:lnTo>
                  <a:lnTo>
                    <a:pt x="3183141" y="3144265"/>
                  </a:lnTo>
                  <a:lnTo>
                    <a:pt x="3149382" y="3172991"/>
                  </a:lnTo>
                  <a:lnTo>
                    <a:pt x="3113354" y="3198954"/>
                  </a:lnTo>
                  <a:lnTo>
                    <a:pt x="3075222" y="3221989"/>
                  </a:lnTo>
                  <a:lnTo>
                    <a:pt x="3035148" y="3241931"/>
                  </a:lnTo>
                  <a:lnTo>
                    <a:pt x="2993300" y="3258617"/>
                  </a:lnTo>
                  <a:lnTo>
                    <a:pt x="2949840" y="3271881"/>
                  </a:lnTo>
                  <a:lnTo>
                    <a:pt x="2904933" y="3281559"/>
                  </a:lnTo>
                  <a:lnTo>
                    <a:pt x="2858745" y="3287487"/>
                  </a:lnTo>
                  <a:lnTo>
                    <a:pt x="2811438" y="3289499"/>
                  </a:lnTo>
                  <a:lnTo>
                    <a:pt x="548260" y="3289499"/>
                  </a:lnTo>
                  <a:lnTo>
                    <a:pt x="500954" y="3287487"/>
                  </a:lnTo>
                  <a:lnTo>
                    <a:pt x="454766" y="3281559"/>
                  </a:lnTo>
                  <a:lnTo>
                    <a:pt x="409859" y="3271881"/>
                  </a:lnTo>
                  <a:lnTo>
                    <a:pt x="366399" y="3258617"/>
                  </a:lnTo>
                  <a:lnTo>
                    <a:pt x="324550" y="3241931"/>
                  </a:lnTo>
                  <a:lnTo>
                    <a:pt x="284477" y="3221989"/>
                  </a:lnTo>
                  <a:lnTo>
                    <a:pt x="246345" y="3198954"/>
                  </a:lnTo>
                  <a:lnTo>
                    <a:pt x="210317" y="3172991"/>
                  </a:lnTo>
                  <a:lnTo>
                    <a:pt x="176558" y="3144265"/>
                  </a:lnTo>
                  <a:lnTo>
                    <a:pt x="145234" y="3112941"/>
                  </a:lnTo>
                  <a:lnTo>
                    <a:pt x="116508" y="3079182"/>
                  </a:lnTo>
                  <a:lnTo>
                    <a:pt x="90545" y="3043154"/>
                  </a:lnTo>
                  <a:lnTo>
                    <a:pt x="67510" y="3005022"/>
                  </a:lnTo>
                  <a:lnTo>
                    <a:pt x="47568" y="2964948"/>
                  </a:lnTo>
                  <a:lnTo>
                    <a:pt x="30882" y="2923100"/>
                  </a:lnTo>
                  <a:lnTo>
                    <a:pt x="17618" y="2879640"/>
                  </a:lnTo>
                  <a:lnTo>
                    <a:pt x="7940" y="2834733"/>
                  </a:lnTo>
                  <a:lnTo>
                    <a:pt x="2012" y="2788545"/>
                  </a:lnTo>
                  <a:lnTo>
                    <a:pt x="0" y="2741238"/>
                  </a:lnTo>
                  <a:lnTo>
                    <a:pt x="0" y="54826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24330" y="1257593"/>
            <a:ext cx="2720340" cy="2753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19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Date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Understanding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201295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2015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36</a:t>
            </a:r>
            <a:r>
              <a:rPr sz="1400" spc="-10" dirty="0">
                <a:latin typeface="Arial"/>
                <a:cs typeface="Arial"/>
              </a:rPr>
              <a:t> hours. </a:t>
            </a:r>
            <a:r>
              <a:rPr sz="1400" dirty="0">
                <a:latin typeface="Arial"/>
                <a:cs typeface="Arial"/>
              </a:rPr>
              <a:t>What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week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from </a:t>
            </a:r>
            <a:r>
              <a:rPr sz="1400" dirty="0">
                <a:latin typeface="Arial"/>
                <a:cs typeface="Arial"/>
              </a:rPr>
              <a:t>today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MM/DD/YYYY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If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2015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coming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in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36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hours,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then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coming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in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2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days.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37761C"/>
                </a:solidFill>
                <a:latin typeface="Arial"/>
                <a:cs typeface="Arial"/>
              </a:rPr>
              <a:t>2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days</a:t>
            </a:r>
            <a:r>
              <a:rPr sz="1400" b="1" spc="-3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before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01/01/2015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is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12/30/2014,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so</a:t>
            </a:r>
            <a:r>
              <a:rPr sz="1400" b="1" spc="-3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today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is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12/30/2014.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So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one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week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from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today</a:t>
            </a:r>
            <a:r>
              <a:rPr sz="1400" b="1" spc="-3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will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01/05/2015.</a:t>
            </a:r>
            <a:r>
              <a:rPr sz="1400" b="1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answer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A61B00"/>
                </a:solidFill>
                <a:latin typeface="Arial"/>
                <a:cs typeface="Arial"/>
              </a:rPr>
              <a:t>01/05/2015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988787" y="1026337"/>
            <a:ext cx="3369310" cy="3299460"/>
            <a:chOff x="4988787" y="1026337"/>
            <a:chExt cx="3369310" cy="3299460"/>
          </a:xfrm>
        </p:grpSpPr>
        <p:sp>
          <p:nvSpPr>
            <p:cNvPr id="7" name="object 7"/>
            <p:cNvSpPr/>
            <p:nvPr/>
          </p:nvSpPr>
          <p:spPr>
            <a:xfrm>
              <a:off x="4993549" y="1031099"/>
              <a:ext cx="3359785" cy="3289935"/>
            </a:xfrm>
            <a:custGeom>
              <a:avLst/>
              <a:gdLst/>
              <a:ahLst/>
              <a:cxnLst/>
              <a:rect l="l" t="t" r="r" b="b"/>
              <a:pathLst>
                <a:path w="3359784" h="3289935">
                  <a:moveTo>
                    <a:pt x="2811438" y="3289499"/>
                  </a:moveTo>
                  <a:lnTo>
                    <a:pt x="548260" y="3289499"/>
                  </a:lnTo>
                  <a:lnTo>
                    <a:pt x="500954" y="3287487"/>
                  </a:lnTo>
                  <a:lnTo>
                    <a:pt x="454766" y="3281559"/>
                  </a:lnTo>
                  <a:lnTo>
                    <a:pt x="409859" y="3271881"/>
                  </a:lnTo>
                  <a:lnTo>
                    <a:pt x="366399" y="3258617"/>
                  </a:lnTo>
                  <a:lnTo>
                    <a:pt x="324550" y="3241931"/>
                  </a:lnTo>
                  <a:lnTo>
                    <a:pt x="284477" y="3221989"/>
                  </a:lnTo>
                  <a:lnTo>
                    <a:pt x="246345" y="3198954"/>
                  </a:lnTo>
                  <a:lnTo>
                    <a:pt x="210317" y="3172991"/>
                  </a:lnTo>
                  <a:lnTo>
                    <a:pt x="176558" y="3144265"/>
                  </a:lnTo>
                  <a:lnTo>
                    <a:pt x="145234" y="3112941"/>
                  </a:lnTo>
                  <a:lnTo>
                    <a:pt x="116508" y="3079182"/>
                  </a:lnTo>
                  <a:lnTo>
                    <a:pt x="90545" y="3043154"/>
                  </a:lnTo>
                  <a:lnTo>
                    <a:pt x="67510" y="3005022"/>
                  </a:lnTo>
                  <a:lnTo>
                    <a:pt x="47568" y="2964948"/>
                  </a:lnTo>
                  <a:lnTo>
                    <a:pt x="30882" y="2923100"/>
                  </a:lnTo>
                  <a:lnTo>
                    <a:pt x="17618" y="2879640"/>
                  </a:lnTo>
                  <a:lnTo>
                    <a:pt x="7940" y="2834733"/>
                  </a:lnTo>
                  <a:lnTo>
                    <a:pt x="2012" y="2788545"/>
                  </a:lnTo>
                  <a:lnTo>
                    <a:pt x="0" y="2741238"/>
                  </a:lnTo>
                  <a:lnTo>
                    <a:pt x="0" y="548260"/>
                  </a:lnTo>
                  <a:lnTo>
                    <a:pt x="2012" y="500954"/>
                  </a:lnTo>
                  <a:lnTo>
                    <a:pt x="7940" y="454766"/>
                  </a:lnTo>
                  <a:lnTo>
                    <a:pt x="17618" y="409859"/>
                  </a:lnTo>
                  <a:lnTo>
                    <a:pt x="30882" y="366399"/>
                  </a:lnTo>
                  <a:lnTo>
                    <a:pt x="47568" y="324550"/>
                  </a:lnTo>
                  <a:lnTo>
                    <a:pt x="67510" y="284477"/>
                  </a:lnTo>
                  <a:lnTo>
                    <a:pt x="90545" y="246345"/>
                  </a:lnTo>
                  <a:lnTo>
                    <a:pt x="116508" y="210317"/>
                  </a:lnTo>
                  <a:lnTo>
                    <a:pt x="145234" y="176558"/>
                  </a:lnTo>
                  <a:lnTo>
                    <a:pt x="176558" y="145234"/>
                  </a:lnTo>
                  <a:lnTo>
                    <a:pt x="210317" y="116508"/>
                  </a:lnTo>
                  <a:lnTo>
                    <a:pt x="246345" y="90545"/>
                  </a:lnTo>
                  <a:lnTo>
                    <a:pt x="284477" y="67510"/>
                  </a:lnTo>
                  <a:lnTo>
                    <a:pt x="324550" y="47568"/>
                  </a:lnTo>
                  <a:lnTo>
                    <a:pt x="366399" y="30882"/>
                  </a:lnTo>
                  <a:lnTo>
                    <a:pt x="409859" y="17618"/>
                  </a:lnTo>
                  <a:lnTo>
                    <a:pt x="454766" y="7940"/>
                  </a:lnTo>
                  <a:lnTo>
                    <a:pt x="500954" y="2012"/>
                  </a:lnTo>
                  <a:lnTo>
                    <a:pt x="548260" y="0"/>
                  </a:lnTo>
                  <a:lnTo>
                    <a:pt x="2811438" y="0"/>
                  </a:lnTo>
                  <a:lnTo>
                    <a:pt x="2859645" y="2121"/>
                  </a:lnTo>
                  <a:lnTo>
                    <a:pt x="2907158" y="8418"/>
                  </a:lnTo>
                  <a:lnTo>
                    <a:pt x="2953725" y="18783"/>
                  </a:lnTo>
                  <a:lnTo>
                    <a:pt x="2999093" y="33114"/>
                  </a:lnTo>
                  <a:lnTo>
                    <a:pt x="3043010" y="51305"/>
                  </a:lnTo>
                  <a:lnTo>
                    <a:pt x="3085224" y="73252"/>
                  </a:lnTo>
                  <a:lnTo>
                    <a:pt x="3125481" y="98850"/>
                  </a:lnTo>
                  <a:lnTo>
                    <a:pt x="3163530" y="127995"/>
                  </a:lnTo>
                  <a:lnTo>
                    <a:pt x="3199117" y="160581"/>
                  </a:lnTo>
                  <a:lnTo>
                    <a:pt x="3231704" y="196169"/>
                  </a:lnTo>
                  <a:lnTo>
                    <a:pt x="3260849" y="234218"/>
                  </a:lnTo>
                  <a:lnTo>
                    <a:pt x="3286447" y="274475"/>
                  </a:lnTo>
                  <a:lnTo>
                    <a:pt x="3308394" y="316689"/>
                  </a:lnTo>
                  <a:lnTo>
                    <a:pt x="3326585" y="360606"/>
                  </a:lnTo>
                  <a:lnTo>
                    <a:pt x="3340916" y="405974"/>
                  </a:lnTo>
                  <a:lnTo>
                    <a:pt x="3351281" y="452541"/>
                  </a:lnTo>
                  <a:lnTo>
                    <a:pt x="3357578" y="500054"/>
                  </a:lnTo>
                  <a:lnTo>
                    <a:pt x="3359699" y="548260"/>
                  </a:lnTo>
                  <a:lnTo>
                    <a:pt x="3359699" y="2741238"/>
                  </a:lnTo>
                  <a:lnTo>
                    <a:pt x="3357687" y="2788545"/>
                  </a:lnTo>
                  <a:lnTo>
                    <a:pt x="3351759" y="2834733"/>
                  </a:lnTo>
                  <a:lnTo>
                    <a:pt x="3342081" y="2879640"/>
                  </a:lnTo>
                  <a:lnTo>
                    <a:pt x="3328817" y="2923100"/>
                  </a:lnTo>
                  <a:lnTo>
                    <a:pt x="3312131" y="2964948"/>
                  </a:lnTo>
                  <a:lnTo>
                    <a:pt x="3292189" y="3005022"/>
                  </a:lnTo>
                  <a:lnTo>
                    <a:pt x="3269154" y="3043154"/>
                  </a:lnTo>
                  <a:lnTo>
                    <a:pt x="3243191" y="3079182"/>
                  </a:lnTo>
                  <a:lnTo>
                    <a:pt x="3214465" y="3112941"/>
                  </a:lnTo>
                  <a:lnTo>
                    <a:pt x="3183141" y="3144265"/>
                  </a:lnTo>
                  <a:lnTo>
                    <a:pt x="3149382" y="3172991"/>
                  </a:lnTo>
                  <a:lnTo>
                    <a:pt x="3113354" y="3198954"/>
                  </a:lnTo>
                  <a:lnTo>
                    <a:pt x="3075222" y="3221989"/>
                  </a:lnTo>
                  <a:lnTo>
                    <a:pt x="3035148" y="3241931"/>
                  </a:lnTo>
                  <a:lnTo>
                    <a:pt x="2993300" y="3258617"/>
                  </a:lnTo>
                  <a:lnTo>
                    <a:pt x="2949840" y="3271881"/>
                  </a:lnTo>
                  <a:lnTo>
                    <a:pt x="2904933" y="3281559"/>
                  </a:lnTo>
                  <a:lnTo>
                    <a:pt x="2858745" y="3287487"/>
                  </a:lnTo>
                  <a:lnTo>
                    <a:pt x="2811438" y="3289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93549" y="1031099"/>
              <a:ext cx="3359785" cy="3289935"/>
            </a:xfrm>
            <a:custGeom>
              <a:avLst/>
              <a:gdLst/>
              <a:ahLst/>
              <a:cxnLst/>
              <a:rect l="l" t="t" r="r" b="b"/>
              <a:pathLst>
                <a:path w="3359784" h="3289935">
                  <a:moveTo>
                    <a:pt x="0" y="548260"/>
                  </a:moveTo>
                  <a:lnTo>
                    <a:pt x="2012" y="500954"/>
                  </a:lnTo>
                  <a:lnTo>
                    <a:pt x="7940" y="454766"/>
                  </a:lnTo>
                  <a:lnTo>
                    <a:pt x="17618" y="409859"/>
                  </a:lnTo>
                  <a:lnTo>
                    <a:pt x="30882" y="366399"/>
                  </a:lnTo>
                  <a:lnTo>
                    <a:pt x="47568" y="324550"/>
                  </a:lnTo>
                  <a:lnTo>
                    <a:pt x="67510" y="284477"/>
                  </a:lnTo>
                  <a:lnTo>
                    <a:pt x="90545" y="246345"/>
                  </a:lnTo>
                  <a:lnTo>
                    <a:pt x="116508" y="210317"/>
                  </a:lnTo>
                  <a:lnTo>
                    <a:pt x="145234" y="176558"/>
                  </a:lnTo>
                  <a:lnTo>
                    <a:pt x="176558" y="145234"/>
                  </a:lnTo>
                  <a:lnTo>
                    <a:pt x="210317" y="116508"/>
                  </a:lnTo>
                  <a:lnTo>
                    <a:pt x="246345" y="90545"/>
                  </a:lnTo>
                  <a:lnTo>
                    <a:pt x="284477" y="67510"/>
                  </a:lnTo>
                  <a:lnTo>
                    <a:pt x="324550" y="47568"/>
                  </a:lnTo>
                  <a:lnTo>
                    <a:pt x="366399" y="30882"/>
                  </a:lnTo>
                  <a:lnTo>
                    <a:pt x="409859" y="17618"/>
                  </a:lnTo>
                  <a:lnTo>
                    <a:pt x="454766" y="7940"/>
                  </a:lnTo>
                  <a:lnTo>
                    <a:pt x="500954" y="2012"/>
                  </a:lnTo>
                  <a:lnTo>
                    <a:pt x="548260" y="0"/>
                  </a:lnTo>
                  <a:lnTo>
                    <a:pt x="2811438" y="0"/>
                  </a:lnTo>
                  <a:lnTo>
                    <a:pt x="2859645" y="2121"/>
                  </a:lnTo>
                  <a:lnTo>
                    <a:pt x="2907158" y="8418"/>
                  </a:lnTo>
                  <a:lnTo>
                    <a:pt x="2953725" y="18783"/>
                  </a:lnTo>
                  <a:lnTo>
                    <a:pt x="2999093" y="33114"/>
                  </a:lnTo>
                  <a:lnTo>
                    <a:pt x="3043010" y="51305"/>
                  </a:lnTo>
                  <a:lnTo>
                    <a:pt x="3085224" y="73252"/>
                  </a:lnTo>
                  <a:lnTo>
                    <a:pt x="3125481" y="98850"/>
                  </a:lnTo>
                  <a:lnTo>
                    <a:pt x="3163530" y="127995"/>
                  </a:lnTo>
                  <a:lnTo>
                    <a:pt x="3199117" y="160581"/>
                  </a:lnTo>
                  <a:lnTo>
                    <a:pt x="3231704" y="196169"/>
                  </a:lnTo>
                  <a:lnTo>
                    <a:pt x="3260849" y="234218"/>
                  </a:lnTo>
                  <a:lnTo>
                    <a:pt x="3286447" y="274475"/>
                  </a:lnTo>
                  <a:lnTo>
                    <a:pt x="3308394" y="316689"/>
                  </a:lnTo>
                  <a:lnTo>
                    <a:pt x="3326585" y="360606"/>
                  </a:lnTo>
                  <a:lnTo>
                    <a:pt x="3340916" y="405974"/>
                  </a:lnTo>
                  <a:lnTo>
                    <a:pt x="3351281" y="452541"/>
                  </a:lnTo>
                  <a:lnTo>
                    <a:pt x="3357578" y="500054"/>
                  </a:lnTo>
                  <a:lnTo>
                    <a:pt x="3359699" y="548260"/>
                  </a:lnTo>
                  <a:lnTo>
                    <a:pt x="3359699" y="2741238"/>
                  </a:lnTo>
                  <a:lnTo>
                    <a:pt x="3357687" y="2788545"/>
                  </a:lnTo>
                  <a:lnTo>
                    <a:pt x="3351759" y="2834733"/>
                  </a:lnTo>
                  <a:lnTo>
                    <a:pt x="3342081" y="2879640"/>
                  </a:lnTo>
                  <a:lnTo>
                    <a:pt x="3328817" y="2923100"/>
                  </a:lnTo>
                  <a:lnTo>
                    <a:pt x="3312131" y="2964948"/>
                  </a:lnTo>
                  <a:lnTo>
                    <a:pt x="3292189" y="3005022"/>
                  </a:lnTo>
                  <a:lnTo>
                    <a:pt x="3269154" y="3043154"/>
                  </a:lnTo>
                  <a:lnTo>
                    <a:pt x="3243191" y="3079182"/>
                  </a:lnTo>
                  <a:lnTo>
                    <a:pt x="3214465" y="3112941"/>
                  </a:lnTo>
                  <a:lnTo>
                    <a:pt x="3183141" y="3144265"/>
                  </a:lnTo>
                  <a:lnTo>
                    <a:pt x="3149382" y="3172991"/>
                  </a:lnTo>
                  <a:lnTo>
                    <a:pt x="3113354" y="3198954"/>
                  </a:lnTo>
                  <a:lnTo>
                    <a:pt x="3075222" y="3221989"/>
                  </a:lnTo>
                  <a:lnTo>
                    <a:pt x="3035148" y="3241931"/>
                  </a:lnTo>
                  <a:lnTo>
                    <a:pt x="2993300" y="3258617"/>
                  </a:lnTo>
                  <a:lnTo>
                    <a:pt x="2949840" y="3271881"/>
                  </a:lnTo>
                  <a:lnTo>
                    <a:pt x="2904933" y="3281559"/>
                  </a:lnTo>
                  <a:lnTo>
                    <a:pt x="2858745" y="3287487"/>
                  </a:lnTo>
                  <a:lnTo>
                    <a:pt x="2811438" y="3289499"/>
                  </a:lnTo>
                  <a:lnTo>
                    <a:pt x="548260" y="3289499"/>
                  </a:lnTo>
                  <a:lnTo>
                    <a:pt x="500954" y="3287487"/>
                  </a:lnTo>
                  <a:lnTo>
                    <a:pt x="454766" y="3281559"/>
                  </a:lnTo>
                  <a:lnTo>
                    <a:pt x="409859" y="3271881"/>
                  </a:lnTo>
                  <a:lnTo>
                    <a:pt x="366399" y="3258617"/>
                  </a:lnTo>
                  <a:lnTo>
                    <a:pt x="324550" y="3241931"/>
                  </a:lnTo>
                  <a:lnTo>
                    <a:pt x="284477" y="3221989"/>
                  </a:lnTo>
                  <a:lnTo>
                    <a:pt x="246345" y="3198954"/>
                  </a:lnTo>
                  <a:lnTo>
                    <a:pt x="210317" y="3172991"/>
                  </a:lnTo>
                  <a:lnTo>
                    <a:pt x="176558" y="3144265"/>
                  </a:lnTo>
                  <a:lnTo>
                    <a:pt x="145234" y="3112941"/>
                  </a:lnTo>
                  <a:lnTo>
                    <a:pt x="116508" y="3079182"/>
                  </a:lnTo>
                  <a:lnTo>
                    <a:pt x="90545" y="3043154"/>
                  </a:lnTo>
                  <a:lnTo>
                    <a:pt x="67510" y="3005022"/>
                  </a:lnTo>
                  <a:lnTo>
                    <a:pt x="47568" y="2964948"/>
                  </a:lnTo>
                  <a:lnTo>
                    <a:pt x="30882" y="2923100"/>
                  </a:lnTo>
                  <a:lnTo>
                    <a:pt x="17618" y="2879640"/>
                  </a:lnTo>
                  <a:lnTo>
                    <a:pt x="7940" y="2834733"/>
                  </a:lnTo>
                  <a:lnTo>
                    <a:pt x="2012" y="2788545"/>
                  </a:lnTo>
                  <a:lnTo>
                    <a:pt x="0" y="2741238"/>
                  </a:lnTo>
                  <a:lnTo>
                    <a:pt x="0" y="54826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27154" y="1257593"/>
            <a:ext cx="2889250" cy="212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261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Sport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Understanding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51689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Q:</a:t>
            </a:r>
            <a:r>
              <a:rPr sz="1400" spc="3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following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sentence </a:t>
            </a:r>
            <a:r>
              <a:rPr sz="1400" dirty="0">
                <a:latin typeface="Arial"/>
                <a:cs typeface="Arial"/>
              </a:rPr>
              <a:t>plausible?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“Jamel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Murray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was </a:t>
            </a:r>
            <a:r>
              <a:rPr sz="1400" dirty="0">
                <a:latin typeface="Arial"/>
                <a:cs typeface="Arial"/>
              </a:rPr>
              <a:t>perfect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line.”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Jamal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Murray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basketball player.</a:t>
            </a:r>
            <a:r>
              <a:rPr sz="1400" b="1" spc="-3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Being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perfect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from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line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is</a:t>
            </a:r>
            <a:r>
              <a:rPr sz="1400" b="1" spc="-2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part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of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basketball.</a:t>
            </a:r>
            <a:r>
              <a:rPr sz="1400" b="1" spc="-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answer</a:t>
            </a:r>
            <a:r>
              <a:rPr sz="1400" spc="5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yes.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99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spc="-10" dirty="0"/>
              <a:t>Prompt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65032" y="4539808"/>
            <a:ext cx="2611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6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Date</a:t>
            </a:r>
            <a:r>
              <a:rPr sz="1400" spc="-10" dirty="0">
                <a:latin typeface="Times New Roman"/>
                <a:cs typeface="Times New Roman"/>
              </a:rPr>
              <a:t> Understanding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43042" y="4539808"/>
            <a:ext cx="26612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8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Sport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Understanding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0921" y="4766036"/>
            <a:ext cx="2374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100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8537" y="781862"/>
            <a:ext cx="8359140" cy="3886200"/>
            <a:chOff x="478537" y="781862"/>
            <a:chExt cx="8359140" cy="3886200"/>
          </a:xfrm>
        </p:grpSpPr>
        <p:sp>
          <p:nvSpPr>
            <p:cNvPr id="4" name="object 4"/>
            <p:cNvSpPr/>
            <p:nvPr/>
          </p:nvSpPr>
          <p:spPr>
            <a:xfrm>
              <a:off x="483300" y="786624"/>
              <a:ext cx="8349615" cy="3876675"/>
            </a:xfrm>
            <a:custGeom>
              <a:avLst/>
              <a:gdLst/>
              <a:ahLst/>
              <a:cxnLst/>
              <a:rect l="l" t="t" r="r" b="b"/>
              <a:pathLst>
                <a:path w="8349615" h="3876675">
                  <a:moveTo>
                    <a:pt x="7702886" y="3876599"/>
                  </a:moveTo>
                  <a:lnTo>
                    <a:pt x="646112" y="3876599"/>
                  </a:lnTo>
                  <a:lnTo>
                    <a:pt x="597892" y="3874827"/>
                  </a:lnTo>
                  <a:lnTo>
                    <a:pt x="550635" y="3869594"/>
                  </a:lnTo>
                  <a:lnTo>
                    <a:pt x="504464" y="3861024"/>
                  </a:lnTo>
                  <a:lnTo>
                    <a:pt x="459506" y="3849244"/>
                  </a:lnTo>
                  <a:lnTo>
                    <a:pt x="415886" y="3834377"/>
                  </a:lnTo>
                  <a:lnTo>
                    <a:pt x="373728" y="3816548"/>
                  </a:lnTo>
                  <a:lnTo>
                    <a:pt x="333156" y="3795883"/>
                  </a:lnTo>
                  <a:lnTo>
                    <a:pt x="294297" y="3772507"/>
                  </a:lnTo>
                  <a:lnTo>
                    <a:pt x="257275" y="3746544"/>
                  </a:lnTo>
                  <a:lnTo>
                    <a:pt x="222215" y="3718119"/>
                  </a:lnTo>
                  <a:lnTo>
                    <a:pt x="189242" y="3687357"/>
                  </a:lnTo>
                  <a:lnTo>
                    <a:pt x="158480" y="3654384"/>
                  </a:lnTo>
                  <a:lnTo>
                    <a:pt x="130055" y="3619324"/>
                  </a:lnTo>
                  <a:lnTo>
                    <a:pt x="104092" y="3582302"/>
                  </a:lnTo>
                  <a:lnTo>
                    <a:pt x="80716" y="3543443"/>
                  </a:lnTo>
                  <a:lnTo>
                    <a:pt x="60051" y="3502871"/>
                  </a:lnTo>
                  <a:lnTo>
                    <a:pt x="42222" y="3460713"/>
                  </a:lnTo>
                  <a:lnTo>
                    <a:pt x="27355" y="3417093"/>
                  </a:lnTo>
                  <a:lnTo>
                    <a:pt x="15575" y="3372135"/>
                  </a:lnTo>
                  <a:lnTo>
                    <a:pt x="7005" y="3325964"/>
                  </a:lnTo>
                  <a:lnTo>
                    <a:pt x="1772" y="3278707"/>
                  </a:lnTo>
                  <a:lnTo>
                    <a:pt x="0" y="3230486"/>
                  </a:lnTo>
                  <a:lnTo>
                    <a:pt x="0" y="646112"/>
                  </a:lnTo>
                  <a:lnTo>
                    <a:pt x="1772" y="597892"/>
                  </a:lnTo>
                  <a:lnTo>
                    <a:pt x="7005" y="550635"/>
                  </a:lnTo>
                  <a:lnTo>
                    <a:pt x="15575" y="504464"/>
                  </a:lnTo>
                  <a:lnTo>
                    <a:pt x="27355" y="459506"/>
                  </a:lnTo>
                  <a:lnTo>
                    <a:pt x="42222" y="415886"/>
                  </a:lnTo>
                  <a:lnTo>
                    <a:pt x="60051" y="373728"/>
                  </a:lnTo>
                  <a:lnTo>
                    <a:pt x="80716" y="333156"/>
                  </a:lnTo>
                  <a:lnTo>
                    <a:pt x="104092" y="294297"/>
                  </a:lnTo>
                  <a:lnTo>
                    <a:pt x="130055" y="257275"/>
                  </a:lnTo>
                  <a:lnTo>
                    <a:pt x="158480" y="222215"/>
                  </a:lnTo>
                  <a:lnTo>
                    <a:pt x="189242" y="189242"/>
                  </a:lnTo>
                  <a:lnTo>
                    <a:pt x="222215" y="158480"/>
                  </a:lnTo>
                  <a:lnTo>
                    <a:pt x="257275" y="130055"/>
                  </a:lnTo>
                  <a:lnTo>
                    <a:pt x="294297" y="104092"/>
                  </a:lnTo>
                  <a:lnTo>
                    <a:pt x="333156" y="80716"/>
                  </a:lnTo>
                  <a:lnTo>
                    <a:pt x="373728" y="60051"/>
                  </a:lnTo>
                  <a:lnTo>
                    <a:pt x="415886" y="42222"/>
                  </a:lnTo>
                  <a:lnTo>
                    <a:pt x="459506" y="27355"/>
                  </a:lnTo>
                  <a:lnTo>
                    <a:pt x="504464" y="15575"/>
                  </a:lnTo>
                  <a:lnTo>
                    <a:pt x="550635" y="7005"/>
                  </a:lnTo>
                  <a:lnTo>
                    <a:pt x="597892" y="1772"/>
                  </a:lnTo>
                  <a:lnTo>
                    <a:pt x="646112" y="0"/>
                  </a:lnTo>
                  <a:lnTo>
                    <a:pt x="7702886" y="0"/>
                  </a:lnTo>
                  <a:lnTo>
                    <a:pt x="7754048" y="2027"/>
                  </a:lnTo>
                  <a:lnTo>
                    <a:pt x="7804571" y="8048"/>
                  </a:lnTo>
                  <a:lnTo>
                    <a:pt x="7854239" y="17975"/>
                  </a:lnTo>
                  <a:lnTo>
                    <a:pt x="7902836" y="31716"/>
                  </a:lnTo>
                  <a:lnTo>
                    <a:pt x="7950143" y="49182"/>
                  </a:lnTo>
                  <a:lnTo>
                    <a:pt x="7995945" y="70283"/>
                  </a:lnTo>
                  <a:lnTo>
                    <a:pt x="8040024" y="94930"/>
                  </a:lnTo>
                  <a:lnTo>
                    <a:pt x="8082164" y="123031"/>
                  </a:lnTo>
                  <a:lnTo>
                    <a:pt x="8122147" y="154499"/>
                  </a:lnTo>
                  <a:lnTo>
                    <a:pt x="8159757" y="189242"/>
                  </a:lnTo>
                  <a:lnTo>
                    <a:pt x="8194500" y="226852"/>
                  </a:lnTo>
                  <a:lnTo>
                    <a:pt x="8225967" y="266835"/>
                  </a:lnTo>
                  <a:lnTo>
                    <a:pt x="8254069" y="308975"/>
                  </a:lnTo>
                  <a:lnTo>
                    <a:pt x="8278716" y="353054"/>
                  </a:lnTo>
                  <a:lnTo>
                    <a:pt x="8299817" y="398856"/>
                  </a:lnTo>
                  <a:lnTo>
                    <a:pt x="8317283" y="446163"/>
                  </a:lnTo>
                  <a:lnTo>
                    <a:pt x="8331024" y="494760"/>
                  </a:lnTo>
                  <a:lnTo>
                    <a:pt x="8340951" y="544428"/>
                  </a:lnTo>
                  <a:lnTo>
                    <a:pt x="8346972" y="594951"/>
                  </a:lnTo>
                  <a:lnTo>
                    <a:pt x="8348999" y="646112"/>
                  </a:lnTo>
                  <a:lnTo>
                    <a:pt x="8348999" y="3230486"/>
                  </a:lnTo>
                  <a:lnTo>
                    <a:pt x="8347227" y="3278707"/>
                  </a:lnTo>
                  <a:lnTo>
                    <a:pt x="8341994" y="3325964"/>
                  </a:lnTo>
                  <a:lnTo>
                    <a:pt x="8333424" y="3372135"/>
                  </a:lnTo>
                  <a:lnTo>
                    <a:pt x="8321644" y="3417093"/>
                  </a:lnTo>
                  <a:lnTo>
                    <a:pt x="8306777" y="3460713"/>
                  </a:lnTo>
                  <a:lnTo>
                    <a:pt x="8288948" y="3502871"/>
                  </a:lnTo>
                  <a:lnTo>
                    <a:pt x="8268283" y="3543443"/>
                  </a:lnTo>
                  <a:lnTo>
                    <a:pt x="8244907" y="3582302"/>
                  </a:lnTo>
                  <a:lnTo>
                    <a:pt x="8218944" y="3619324"/>
                  </a:lnTo>
                  <a:lnTo>
                    <a:pt x="8190519" y="3654384"/>
                  </a:lnTo>
                  <a:lnTo>
                    <a:pt x="8159757" y="3687357"/>
                  </a:lnTo>
                  <a:lnTo>
                    <a:pt x="8126784" y="3718119"/>
                  </a:lnTo>
                  <a:lnTo>
                    <a:pt x="8091724" y="3746544"/>
                  </a:lnTo>
                  <a:lnTo>
                    <a:pt x="8054702" y="3772507"/>
                  </a:lnTo>
                  <a:lnTo>
                    <a:pt x="8015843" y="3795883"/>
                  </a:lnTo>
                  <a:lnTo>
                    <a:pt x="7975271" y="3816548"/>
                  </a:lnTo>
                  <a:lnTo>
                    <a:pt x="7933113" y="3834377"/>
                  </a:lnTo>
                  <a:lnTo>
                    <a:pt x="7889492" y="3849244"/>
                  </a:lnTo>
                  <a:lnTo>
                    <a:pt x="7844535" y="3861024"/>
                  </a:lnTo>
                  <a:lnTo>
                    <a:pt x="7798364" y="3869594"/>
                  </a:lnTo>
                  <a:lnTo>
                    <a:pt x="7751106" y="3874827"/>
                  </a:lnTo>
                  <a:lnTo>
                    <a:pt x="7702886" y="3876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3300" y="786624"/>
              <a:ext cx="8349615" cy="3876675"/>
            </a:xfrm>
            <a:custGeom>
              <a:avLst/>
              <a:gdLst/>
              <a:ahLst/>
              <a:cxnLst/>
              <a:rect l="l" t="t" r="r" b="b"/>
              <a:pathLst>
                <a:path w="8349615" h="3876675">
                  <a:moveTo>
                    <a:pt x="0" y="646112"/>
                  </a:moveTo>
                  <a:lnTo>
                    <a:pt x="1772" y="597892"/>
                  </a:lnTo>
                  <a:lnTo>
                    <a:pt x="7005" y="550635"/>
                  </a:lnTo>
                  <a:lnTo>
                    <a:pt x="15575" y="504464"/>
                  </a:lnTo>
                  <a:lnTo>
                    <a:pt x="27355" y="459506"/>
                  </a:lnTo>
                  <a:lnTo>
                    <a:pt x="42222" y="415886"/>
                  </a:lnTo>
                  <a:lnTo>
                    <a:pt x="60051" y="373728"/>
                  </a:lnTo>
                  <a:lnTo>
                    <a:pt x="80716" y="333156"/>
                  </a:lnTo>
                  <a:lnTo>
                    <a:pt x="104092" y="294297"/>
                  </a:lnTo>
                  <a:lnTo>
                    <a:pt x="130055" y="257275"/>
                  </a:lnTo>
                  <a:lnTo>
                    <a:pt x="158480" y="222215"/>
                  </a:lnTo>
                  <a:lnTo>
                    <a:pt x="189242" y="189242"/>
                  </a:lnTo>
                  <a:lnTo>
                    <a:pt x="222215" y="158480"/>
                  </a:lnTo>
                  <a:lnTo>
                    <a:pt x="257275" y="130055"/>
                  </a:lnTo>
                  <a:lnTo>
                    <a:pt x="294297" y="104092"/>
                  </a:lnTo>
                  <a:lnTo>
                    <a:pt x="333156" y="80716"/>
                  </a:lnTo>
                  <a:lnTo>
                    <a:pt x="373728" y="60051"/>
                  </a:lnTo>
                  <a:lnTo>
                    <a:pt x="415886" y="42222"/>
                  </a:lnTo>
                  <a:lnTo>
                    <a:pt x="459506" y="27355"/>
                  </a:lnTo>
                  <a:lnTo>
                    <a:pt x="504464" y="15575"/>
                  </a:lnTo>
                  <a:lnTo>
                    <a:pt x="550635" y="7005"/>
                  </a:lnTo>
                  <a:lnTo>
                    <a:pt x="597892" y="1772"/>
                  </a:lnTo>
                  <a:lnTo>
                    <a:pt x="646112" y="0"/>
                  </a:lnTo>
                  <a:lnTo>
                    <a:pt x="7702886" y="0"/>
                  </a:lnTo>
                  <a:lnTo>
                    <a:pt x="7754048" y="2027"/>
                  </a:lnTo>
                  <a:lnTo>
                    <a:pt x="7804571" y="8048"/>
                  </a:lnTo>
                  <a:lnTo>
                    <a:pt x="7854239" y="17975"/>
                  </a:lnTo>
                  <a:lnTo>
                    <a:pt x="7902836" y="31716"/>
                  </a:lnTo>
                  <a:lnTo>
                    <a:pt x="7950143" y="49182"/>
                  </a:lnTo>
                  <a:lnTo>
                    <a:pt x="7995945" y="70283"/>
                  </a:lnTo>
                  <a:lnTo>
                    <a:pt x="8040024" y="94930"/>
                  </a:lnTo>
                  <a:lnTo>
                    <a:pt x="8082164" y="123031"/>
                  </a:lnTo>
                  <a:lnTo>
                    <a:pt x="8122147" y="154499"/>
                  </a:lnTo>
                  <a:lnTo>
                    <a:pt x="8159757" y="189242"/>
                  </a:lnTo>
                  <a:lnTo>
                    <a:pt x="8194500" y="226852"/>
                  </a:lnTo>
                  <a:lnTo>
                    <a:pt x="8225967" y="266835"/>
                  </a:lnTo>
                  <a:lnTo>
                    <a:pt x="8254069" y="308975"/>
                  </a:lnTo>
                  <a:lnTo>
                    <a:pt x="8278716" y="353054"/>
                  </a:lnTo>
                  <a:lnTo>
                    <a:pt x="8299817" y="398856"/>
                  </a:lnTo>
                  <a:lnTo>
                    <a:pt x="8317283" y="446163"/>
                  </a:lnTo>
                  <a:lnTo>
                    <a:pt x="8331024" y="494760"/>
                  </a:lnTo>
                  <a:lnTo>
                    <a:pt x="8340951" y="544428"/>
                  </a:lnTo>
                  <a:lnTo>
                    <a:pt x="8346972" y="594951"/>
                  </a:lnTo>
                  <a:lnTo>
                    <a:pt x="8348999" y="646112"/>
                  </a:lnTo>
                  <a:lnTo>
                    <a:pt x="8348999" y="3230486"/>
                  </a:lnTo>
                  <a:lnTo>
                    <a:pt x="8347227" y="3278707"/>
                  </a:lnTo>
                  <a:lnTo>
                    <a:pt x="8341994" y="3325964"/>
                  </a:lnTo>
                  <a:lnTo>
                    <a:pt x="8333424" y="3372135"/>
                  </a:lnTo>
                  <a:lnTo>
                    <a:pt x="8321644" y="3417093"/>
                  </a:lnTo>
                  <a:lnTo>
                    <a:pt x="8306777" y="3460713"/>
                  </a:lnTo>
                  <a:lnTo>
                    <a:pt x="8288948" y="3502871"/>
                  </a:lnTo>
                  <a:lnTo>
                    <a:pt x="8268283" y="3543443"/>
                  </a:lnTo>
                  <a:lnTo>
                    <a:pt x="8244907" y="3582302"/>
                  </a:lnTo>
                  <a:lnTo>
                    <a:pt x="8218944" y="3619324"/>
                  </a:lnTo>
                  <a:lnTo>
                    <a:pt x="8190519" y="3654384"/>
                  </a:lnTo>
                  <a:lnTo>
                    <a:pt x="8159757" y="3687357"/>
                  </a:lnTo>
                  <a:lnTo>
                    <a:pt x="8126784" y="3718119"/>
                  </a:lnTo>
                  <a:lnTo>
                    <a:pt x="8091724" y="3746544"/>
                  </a:lnTo>
                  <a:lnTo>
                    <a:pt x="8054702" y="3772507"/>
                  </a:lnTo>
                  <a:lnTo>
                    <a:pt x="8015843" y="3795883"/>
                  </a:lnTo>
                  <a:lnTo>
                    <a:pt x="7975271" y="3816548"/>
                  </a:lnTo>
                  <a:lnTo>
                    <a:pt x="7933113" y="3834377"/>
                  </a:lnTo>
                  <a:lnTo>
                    <a:pt x="7889492" y="3849244"/>
                  </a:lnTo>
                  <a:lnTo>
                    <a:pt x="7844535" y="3861024"/>
                  </a:lnTo>
                  <a:lnTo>
                    <a:pt x="7798364" y="3869594"/>
                  </a:lnTo>
                  <a:lnTo>
                    <a:pt x="7751106" y="3874827"/>
                  </a:lnTo>
                  <a:lnTo>
                    <a:pt x="7702886" y="3876599"/>
                  </a:lnTo>
                  <a:lnTo>
                    <a:pt x="646112" y="3876599"/>
                  </a:lnTo>
                  <a:lnTo>
                    <a:pt x="597892" y="3874827"/>
                  </a:lnTo>
                  <a:lnTo>
                    <a:pt x="550635" y="3869594"/>
                  </a:lnTo>
                  <a:lnTo>
                    <a:pt x="504464" y="3861024"/>
                  </a:lnTo>
                  <a:lnTo>
                    <a:pt x="459506" y="3849244"/>
                  </a:lnTo>
                  <a:lnTo>
                    <a:pt x="415886" y="3834377"/>
                  </a:lnTo>
                  <a:lnTo>
                    <a:pt x="373728" y="3816548"/>
                  </a:lnTo>
                  <a:lnTo>
                    <a:pt x="333156" y="3795883"/>
                  </a:lnTo>
                  <a:lnTo>
                    <a:pt x="294297" y="3772507"/>
                  </a:lnTo>
                  <a:lnTo>
                    <a:pt x="257275" y="3746544"/>
                  </a:lnTo>
                  <a:lnTo>
                    <a:pt x="222215" y="3718119"/>
                  </a:lnTo>
                  <a:lnTo>
                    <a:pt x="189242" y="3687357"/>
                  </a:lnTo>
                  <a:lnTo>
                    <a:pt x="158480" y="3654384"/>
                  </a:lnTo>
                  <a:lnTo>
                    <a:pt x="130055" y="3619324"/>
                  </a:lnTo>
                  <a:lnTo>
                    <a:pt x="104092" y="3582302"/>
                  </a:lnTo>
                  <a:lnTo>
                    <a:pt x="80716" y="3543443"/>
                  </a:lnTo>
                  <a:lnTo>
                    <a:pt x="60051" y="3502871"/>
                  </a:lnTo>
                  <a:lnTo>
                    <a:pt x="42222" y="3460713"/>
                  </a:lnTo>
                  <a:lnTo>
                    <a:pt x="27355" y="3417093"/>
                  </a:lnTo>
                  <a:lnTo>
                    <a:pt x="15575" y="3372135"/>
                  </a:lnTo>
                  <a:lnTo>
                    <a:pt x="7005" y="3325964"/>
                  </a:lnTo>
                  <a:lnTo>
                    <a:pt x="1772" y="3278707"/>
                  </a:lnTo>
                  <a:lnTo>
                    <a:pt x="0" y="3230486"/>
                  </a:lnTo>
                  <a:lnTo>
                    <a:pt x="0" y="646112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5565" y="1041777"/>
            <a:ext cx="7708265" cy="338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SayCan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Robot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Planning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(Ahn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et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al.,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2022)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i="1" dirty="0">
                <a:latin typeface="Arial"/>
                <a:cs typeface="Arial"/>
              </a:rPr>
              <a:t>Locations</a:t>
            </a:r>
            <a:r>
              <a:rPr sz="1400" i="1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[counter,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table,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user,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trash,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bowl].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2700" marR="384810">
              <a:lnSpc>
                <a:spcPts val="1650"/>
              </a:lnSpc>
            </a:pPr>
            <a:r>
              <a:rPr sz="1400" i="1" dirty="0">
                <a:latin typeface="Arial"/>
                <a:cs typeface="Arial"/>
              </a:rPr>
              <a:t>Objects</a:t>
            </a:r>
            <a:r>
              <a:rPr sz="1400" i="1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[7up,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apple,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kettle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chips,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tea,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multigrain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chips,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coke,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lime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soda,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jalapeno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chips,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rice </a:t>
            </a:r>
            <a:r>
              <a:rPr sz="1400" dirty="0">
                <a:latin typeface="Arial"/>
                <a:cs typeface="Arial"/>
              </a:rPr>
              <a:t>chips,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orange,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grapefruit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soda,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pepsi,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redbull,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energy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bar,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sponge,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water].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robot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pick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up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items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pick(object)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put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down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items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put(object)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well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find </a:t>
            </a:r>
            <a:r>
              <a:rPr sz="1400" dirty="0">
                <a:latin typeface="Arial"/>
                <a:cs typeface="Arial"/>
              </a:rPr>
              <a:t>objects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locations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find()</a:t>
            </a:r>
            <a:r>
              <a:rPr sz="1400" dirty="0">
                <a:latin typeface="Arial"/>
                <a:cs typeface="Arial"/>
              </a:rPr>
              <a:t>.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robot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only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understand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explicit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locations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objects listed.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C78D8"/>
                </a:solidFill>
                <a:latin typeface="Arial"/>
                <a:cs typeface="Arial"/>
              </a:rPr>
              <a:t>Human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would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throw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away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redbull?</a:t>
            </a:r>
            <a:endParaRPr sz="1400">
              <a:latin typeface="Arial"/>
              <a:cs typeface="Arial"/>
            </a:endParaRPr>
          </a:p>
          <a:p>
            <a:pPr marL="12700" marR="206375">
              <a:lnSpc>
                <a:spcPct val="196400"/>
              </a:lnSpc>
            </a:pPr>
            <a:r>
              <a:rPr sz="1400" b="1" dirty="0">
                <a:latin typeface="Arial"/>
                <a:cs typeface="Arial"/>
              </a:rPr>
              <a:t>Explanation: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user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has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asked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me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to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throw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away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redbull,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will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move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it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to</a:t>
            </a:r>
            <a:r>
              <a:rPr sz="1400" b="1" spc="-20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7761C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37761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7761C"/>
                </a:solidFill>
                <a:latin typeface="Arial"/>
                <a:cs typeface="Arial"/>
              </a:rPr>
              <a:t>trash. </a:t>
            </a:r>
            <a:r>
              <a:rPr sz="1400" b="1" dirty="0">
                <a:latin typeface="Arial"/>
                <a:cs typeface="Arial"/>
              </a:rPr>
              <a:t>Plan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1.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find(redbull),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2.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pick(redbull),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3.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find(trash),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4.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put(redbull),</a:t>
            </a:r>
            <a:r>
              <a:rPr sz="1400" b="1" spc="-25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61B00"/>
                </a:solidFill>
                <a:latin typeface="Arial"/>
                <a:cs typeface="Arial"/>
              </a:rPr>
              <a:t>5.</a:t>
            </a:r>
            <a:r>
              <a:rPr sz="1400" b="1" spc="-20" dirty="0">
                <a:solidFill>
                  <a:srgbClr val="A61B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A61B00"/>
                </a:solidFill>
                <a:latin typeface="Arial"/>
                <a:cs typeface="Arial"/>
              </a:rPr>
              <a:t>done().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Commonsense</a:t>
            </a:r>
            <a:r>
              <a:rPr spc="-35" dirty="0"/>
              <a:t> </a:t>
            </a:r>
            <a:r>
              <a:rPr dirty="0"/>
              <a:t>Reasoning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CoT</a:t>
            </a:r>
            <a:r>
              <a:rPr spc="-70" dirty="0"/>
              <a:t> </a:t>
            </a:r>
            <a:r>
              <a:rPr spc="-10" dirty="0"/>
              <a:t>Prompt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703116" y="4733533"/>
            <a:ext cx="17379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7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exemplars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SayCan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Ablation</a:t>
            </a:r>
            <a:r>
              <a:rPr spc="-25" dirty="0"/>
              <a:t> </a:t>
            </a:r>
            <a:r>
              <a:rPr dirty="0"/>
              <a:t>Study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Robustness</a:t>
            </a:r>
            <a:r>
              <a:rPr spc="-15" dirty="0"/>
              <a:t> </a:t>
            </a:r>
            <a:r>
              <a:rPr dirty="0"/>
              <a:t>(Example</a:t>
            </a:r>
            <a:r>
              <a:rPr spc="-15" dirty="0"/>
              <a:t> </a:t>
            </a:r>
            <a:r>
              <a:rPr spc="-10" dirty="0"/>
              <a:t>Distribution)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56597"/>
            <a:ext cx="32473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Change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examples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few-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CoT</a:t>
            </a:r>
            <a:r>
              <a:rPr sz="1600" spc="-20" dirty="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0921" y="4766036"/>
            <a:ext cx="2374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101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124" y="4345997"/>
            <a:ext cx="74536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Results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few-</a:t>
            </a:r>
            <a:r>
              <a:rPr sz="1600" b="1" dirty="0">
                <a:latin typeface="Times New Roman"/>
                <a:cs typeface="Times New Roman"/>
              </a:rPr>
              <a:t>shot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two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AR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examples†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task</a:t>
            </a:r>
            <a:r>
              <a:rPr sz="1600" spc="-10" dirty="0">
                <a:latin typeface="Times New Roman"/>
                <a:cs typeface="Times New Roman"/>
              </a:rPr>
              <a:t> (CommonsenseQA): across-</a:t>
            </a:r>
            <a:r>
              <a:rPr sz="1600" dirty="0">
                <a:latin typeface="Times New Roman"/>
                <a:cs typeface="Times New Roman"/>
              </a:rPr>
              <a:t>domain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examples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format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minor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-10" dirty="0">
                <a:latin typeface="Times New Roman"/>
                <a:cs typeface="Times New Roman"/>
              </a:rPr>
              <a:t> degradation.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99247" y="3165712"/>
            <a:ext cx="6757670" cy="989330"/>
            <a:chOff x="1099247" y="3165712"/>
            <a:chExt cx="6757670" cy="9893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9247" y="3379335"/>
              <a:ext cx="6757216" cy="7754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33024" y="3406125"/>
              <a:ext cx="4307840" cy="720090"/>
            </a:xfrm>
            <a:custGeom>
              <a:avLst/>
              <a:gdLst/>
              <a:ahLst/>
              <a:cxnLst/>
              <a:rect l="l" t="t" r="r" b="b"/>
              <a:pathLst>
                <a:path w="4307840" h="720089">
                  <a:moveTo>
                    <a:pt x="0" y="4624"/>
                  </a:moveTo>
                  <a:lnTo>
                    <a:pt x="1382399" y="4624"/>
                  </a:lnTo>
                  <a:lnTo>
                    <a:pt x="1382399" y="719524"/>
                  </a:lnTo>
                  <a:lnTo>
                    <a:pt x="0" y="719524"/>
                  </a:lnTo>
                  <a:lnTo>
                    <a:pt x="0" y="4624"/>
                  </a:lnTo>
                  <a:close/>
                </a:path>
                <a:path w="4307840" h="720089">
                  <a:moveTo>
                    <a:pt x="2925049" y="0"/>
                  </a:moveTo>
                  <a:lnTo>
                    <a:pt x="4307449" y="0"/>
                  </a:lnTo>
                  <a:lnTo>
                    <a:pt x="4307449" y="714899"/>
                  </a:lnTo>
                  <a:lnTo>
                    <a:pt x="2925049" y="714899"/>
                  </a:lnTo>
                  <a:lnTo>
                    <a:pt x="2925049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61924" y="3170475"/>
              <a:ext cx="1993264" cy="278765"/>
            </a:xfrm>
            <a:custGeom>
              <a:avLst/>
              <a:gdLst/>
              <a:ahLst/>
              <a:cxnLst/>
              <a:rect l="l" t="t" r="r" b="b"/>
              <a:pathLst>
                <a:path w="1993264" h="278764">
                  <a:moveTo>
                    <a:pt x="104512" y="139349"/>
                  </a:moveTo>
                  <a:lnTo>
                    <a:pt x="34837" y="139349"/>
                  </a:lnTo>
                  <a:lnTo>
                    <a:pt x="34837" y="121931"/>
                  </a:lnTo>
                  <a:lnTo>
                    <a:pt x="44119" y="75270"/>
                  </a:lnTo>
                  <a:lnTo>
                    <a:pt x="70550" y="35712"/>
                  </a:lnTo>
                  <a:lnTo>
                    <a:pt x="110107" y="9281"/>
                  </a:lnTo>
                  <a:lnTo>
                    <a:pt x="156768" y="0"/>
                  </a:lnTo>
                  <a:lnTo>
                    <a:pt x="1870968" y="0"/>
                  </a:lnTo>
                  <a:lnTo>
                    <a:pt x="1918429" y="9581"/>
                  </a:lnTo>
                  <a:lnTo>
                    <a:pt x="1957187" y="35712"/>
                  </a:lnTo>
                  <a:lnTo>
                    <a:pt x="1980085" y="69674"/>
                  </a:lnTo>
                  <a:lnTo>
                    <a:pt x="156768" y="69674"/>
                  </a:lnTo>
                  <a:lnTo>
                    <a:pt x="136428" y="73781"/>
                  </a:lnTo>
                  <a:lnTo>
                    <a:pt x="119818" y="84980"/>
                  </a:lnTo>
                  <a:lnTo>
                    <a:pt x="108619" y="101590"/>
                  </a:lnTo>
                  <a:lnTo>
                    <a:pt x="104512" y="121931"/>
                  </a:lnTo>
                  <a:lnTo>
                    <a:pt x="104512" y="139349"/>
                  </a:lnTo>
                  <a:close/>
                </a:path>
                <a:path w="1993264" h="278764">
                  <a:moveTo>
                    <a:pt x="1992899" y="278699"/>
                  </a:moveTo>
                  <a:lnTo>
                    <a:pt x="1923224" y="278699"/>
                  </a:lnTo>
                  <a:lnTo>
                    <a:pt x="1923224" y="121931"/>
                  </a:lnTo>
                  <a:lnTo>
                    <a:pt x="1919118" y="101590"/>
                  </a:lnTo>
                  <a:lnTo>
                    <a:pt x="1907919" y="84980"/>
                  </a:lnTo>
                  <a:lnTo>
                    <a:pt x="1891309" y="73781"/>
                  </a:lnTo>
                  <a:lnTo>
                    <a:pt x="1870968" y="69674"/>
                  </a:lnTo>
                  <a:lnTo>
                    <a:pt x="1980085" y="69674"/>
                  </a:lnTo>
                  <a:lnTo>
                    <a:pt x="1983318" y="74470"/>
                  </a:lnTo>
                  <a:lnTo>
                    <a:pt x="1992899" y="121931"/>
                  </a:lnTo>
                  <a:lnTo>
                    <a:pt x="1992899" y="278699"/>
                  </a:lnTo>
                  <a:close/>
                </a:path>
                <a:path w="1993264" h="278764">
                  <a:moveTo>
                    <a:pt x="69674" y="209024"/>
                  </a:moveTo>
                  <a:lnTo>
                    <a:pt x="0" y="139349"/>
                  </a:lnTo>
                  <a:lnTo>
                    <a:pt x="139349" y="139349"/>
                  </a:lnTo>
                  <a:lnTo>
                    <a:pt x="69674" y="209024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61924" y="3170475"/>
              <a:ext cx="1993264" cy="278765"/>
            </a:xfrm>
            <a:custGeom>
              <a:avLst/>
              <a:gdLst/>
              <a:ahLst/>
              <a:cxnLst/>
              <a:rect l="l" t="t" r="r" b="b"/>
              <a:pathLst>
                <a:path w="1993264" h="278764">
                  <a:moveTo>
                    <a:pt x="1992899" y="278699"/>
                  </a:moveTo>
                  <a:lnTo>
                    <a:pt x="1992899" y="121931"/>
                  </a:lnTo>
                  <a:lnTo>
                    <a:pt x="1983318" y="74470"/>
                  </a:lnTo>
                  <a:lnTo>
                    <a:pt x="1957187" y="35712"/>
                  </a:lnTo>
                  <a:lnTo>
                    <a:pt x="1918429" y="9581"/>
                  </a:lnTo>
                  <a:lnTo>
                    <a:pt x="1870968" y="0"/>
                  </a:lnTo>
                  <a:lnTo>
                    <a:pt x="156768" y="0"/>
                  </a:lnTo>
                  <a:lnTo>
                    <a:pt x="110107" y="9281"/>
                  </a:lnTo>
                  <a:lnTo>
                    <a:pt x="70550" y="35712"/>
                  </a:lnTo>
                  <a:lnTo>
                    <a:pt x="44119" y="75270"/>
                  </a:lnTo>
                  <a:lnTo>
                    <a:pt x="34837" y="121931"/>
                  </a:lnTo>
                  <a:lnTo>
                    <a:pt x="34837" y="139349"/>
                  </a:lnTo>
                  <a:lnTo>
                    <a:pt x="0" y="139349"/>
                  </a:lnTo>
                  <a:lnTo>
                    <a:pt x="69674" y="209024"/>
                  </a:lnTo>
                  <a:lnTo>
                    <a:pt x="139349" y="139349"/>
                  </a:lnTo>
                  <a:lnTo>
                    <a:pt x="104512" y="139349"/>
                  </a:lnTo>
                  <a:lnTo>
                    <a:pt x="104512" y="121931"/>
                  </a:lnTo>
                  <a:lnTo>
                    <a:pt x="108619" y="101590"/>
                  </a:lnTo>
                  <a:lnTo>
                    <a:pt x="119818" y="84980"/>
                  </a:lnTo>
                  <a:lnTo>
                    <a:pt x="136428" y="73781"/>
                  </a:lnTo>
                  <a:lnTo>
                    <a:pt x="156768" y="69674"/>
                  </a:lnTo>
                  <a:lnTo>
                    <a:pt x="1870968" y="69674"/>
                  </a:lnTo>
                  <a:lnTo>
                    <a:pt x="1891309" y="73781"/>
                  </a:lnTo>
                  <a:lnTo>
                    <a:pt x="1907919" y="84980"/>
                  </a:lnTo>
                  <a:lnTo>
                    <a:pt x="1919118" y="101590"/>
                  </a:lnTo>
                  <a:lnTo>
                    <a:pt x="1923224" y="121931"/>
                  </a:lnTo>
                  <a:lnTo>
                    <a:pt x="1923224" y="278699"/>
                  </a:lnTo>
                  <a:lnTo>
                    <a:pt x="1992899" y="278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063637" y="1456851"/>
            <a:ext cx="2853690" cy="1728470"/>
            <a:chOff x="1063637" y="1456851"/>
            <a:chExt cx="2853690" cy="172847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3850" y="1456851"/>
              <a:ext cx="2852874" cy="172805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82687" y="1642974"/>
              <a:ext cx="2815590" cy="572770"/>
            </a:xfrm>
            <a:custGeom>
              <a:avLst/>
              <a:gdLst/>
              <a:ahLst/>
              <a:cxnLst/>
              <a:rect l="l" t="t" r="r" b="b"/>
              <a:pathLst>
                <a:path w="2815590" h="572769">
                  <a:moveTo>
                    <a:pt x="0" y="0"/>
                  </a:moveTo>
                  <a:lnTo>
                    <a:pt x="2815199" y="0"/>
                  </a:lnTo>
                  <a:lnTo>
                    <a:pt x="2815199" y="572699"/>
                  </a:lnTo>
                  <a:lnTo>
                    <a:pt x="0" y="5726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375625" y="2836188"/>
            <a:ext cx="40836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Change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examples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in-</a:t>
            </a:r>
            <a:r>
              <a:rPr sz="1400" dirty="0">
                <a:latin typeface="Arial"/>
                <a:cs typeface="Arial"/>
              </a:rPr>
              <a:t>domain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0" dirty="0">
                <a:latin typeface="Arial"/>
                <a:cs typeface="Arial"/>
              </a:rPr>
              <a:t> out-of-domain!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6330</Words>
  <Application>Microsoft Office PowerPoint</Application>
  <PresentationFormat>全屏显示(16:9)</PresentationFormat>
  <Paragraphs>740</Paragraphs>
  <Slides>101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101</vt:i4>
      </vt:variant>
    </vt:vector>
  </HeadingPairs>
  <TitlesOfParts>
    <vt:vector size="105" baseType="lpstr">
      <vt:lpstr>Malgun Gothic</vt:lpstr>
      <vt:lpstr>Arial</vt:lpstr>
      <vt:lpstr>Times New Roman</vt:lpstr>
      <vt:lpstr>Office Theme</vt:lpstr>
      <vt:lpstr>Chain of Thought Prompting for Large Language Model Reasoning</vt:lpstr>
      <vt:lpstr>Hard Language Tasks: Reasoning</vt:lpstr>
      <vt:lpstr>Reasoning Problems</vt:lpstr>
      <vt:lpstr>Reasoning Problems</vt:lpstr>
      <vt:lpstr>Reasoning Problems</vt:lpstr>
      <vt:lpstr>Reasoning Problems</vt:lpstr>
      <vt:lpstr>Reasoning Problems</vt:lpstr>
      <vt:lpstr>Chain of Thought Prompting</vt:lpstr>
      <vt:lpstr>Chain of Thought (CoT)</vt:lpstr>
      <vt:lpstr>Chain of Thought (CoT)</vt:lpstr>
      <vt:lpstr>Chain of Thought (CoT)</vt:lpstr>
      <vt:lpstr>Chain of Thought (CoT)</vt:lpstr>
      <vt:lpstr>Chain of Thought (CoT)</vt:lpstr>
      <vt:lpstr>Chain of Thought (CoT)</vt:lpstr>
      <vt:lpstr>PowerPoint 演示文稿</vt:lpstr>
      <vt:lpstr>PowerPoint 演示文稿</vt:lpstr>
      <vt:lpstr>Chain of Thought (CoT)</vt:lpstr>
      <vt:lpstr>Zero-Shot Chain of Thought (CoT)</vt:lpstr>
      <vt:lpstr>Zero-Shot Chain of Thought (CoT)</vt:lpstr>
      <vt:lpstr>Experiments</vt:lpstr>
      <vt:lpstr>Models</vt:lpstr>
      <vt:lpstr>Models</vt:lpstr>
      <vt:lpstr>Models</vt:lpstr>
      <vt:lpstr>Models</vt:lpstr>
      <vt:lpstr>Models</vt:lpstr>
      <vt:lpstr>Prior Best – Fine-tuning + Verification</vt:lpstr>
      <vt:lpstr>Experiments Arithmetic Reasoning</vt:lpstr>
      <vt:lpstr>Free Response - Few-Shot CoT Prompt Exemplar</vt:lpstr>
      <vt:lpstr>Free Response - Few-Shot CoT Prompt Exemplar</vt:lpstr>
      <vt:lpstr>Free Response - Few-Shot CoT Prompt Exemplar</vt:lpstr>
      <vt:lpstr>Free Response - Few-Shot CoT Prompt Exemplar</vt:lpstr>
      <vt:lpstr>Free Response - Few-Shot CoT Prompt Exemplar</vt:lpstr>
      <vt:lpstr>Multiple Choice - Few-Shot CoT Prompt Exemplar</vt:lpstr>
      <vt:lpstr>Multiple Choice - Few-Shot CoT Prompt Exemplar</vt:lpstr>
      <vt:lpstr>Multiple Choice - Few-Shot CoT Prompt Exemplar</vt:lpstr>
      <vt:lpstr>Multiple Choice - Few-Shot CoT Prompt Exemplar</vt:lpstr>
      <vt:lpstr>Arithmetic Reasoning - Results</vt:lpstr>
      <vt:lpstr>Arithmetic Reasoning - Results</vt:lpstr>
      <vt:lpstr>Arithmetic Reasoning - Results</vt:lpstr>
      <vt:lpstr>Arithmetic Reasoning - Results</vt:lpstr>
      <vt:lpstr>Arithmetic Reasoning - Observations</vt:lpstr>
      <vt:lpstr>Arithmetic Reasoning - Observations</vt:lpstr>
      <vt:lpstr>Arithmetic Reasoning - Observations</vt:lpstr>
      <vt:lpstr>Arithmetic Reasoning - Observations</vt:lpstr>
      <vt:lpstr>Experiments Symbolic Reasoning</vt:lpstr>
      <vt:lpstr>Symbolic Reasoning - Last Letter Concatenation</vt:lpstr>
      <vt:lpstr>Symbolic Reasoning - Last Letter Concatenation</vt:lpstr>
      <vt:lpstr>Symbolic Reasoning - Last Letter Concatenation</vt:lpstr>
      <vt:lpstr>Symbolic Reasoning - Coin Flip</vt:lpstr>
      <vt:lpstr>Symbolic Reasoning - In &amp; Out-of-domain Test</vt:lpstr>
      <vt:lpstr>Symbolic Reasoning - Last Letter Concatenation</vt:lpstr>
      <vt:lpstr>Symbolic Reasoning - Coin Flip</vt:lpstr>
      <vt:lpstr>Symbolic Reasoning - Observations</vt:lpstr>
      <vt:lpstr>Symbolic Reasoning - Observations</vt:lpstr>
      <vt:lpstr>Symbolic Reasoning - Observations</vt:lpstr>
      <vt:lpstr>Symbolic Reasoning - Observations</vt:lpstr>
      <vt:lpstr>Pre-Lecture Question 2</vt:lpstr>
      <vt:lpstr>Pre-Lecture Question 2</vt:lpstr>
      <vt:lpstr>Experiments CommonSense Reasoning</vt:lpstr>
      <vt:lpstr>Commonsense Reasoning - Toy Problems</vt:lpstr>
      <vt:lpstr>Commonsense Reasoning - Toy Problems</vt:lpstr>
      <vt:lpstr>Commonsense Reasoning - Toy Problems</vt:lpstr>
      <vt:lpstr>Commonsense Reasoning - Results</vt:lpstr>
      <vt:lpstr>Commonsense Reasoning - Results</vt:lpstr>
      <vt:lpstr>Commonsense Reasoning - Results</vt:lpstr>
      <vt:lpstr>Commonsense Reasoning - Observations</vt:lpstr>
      <vt:lpstr>Commonsense Reasoning - Observations</vt:lpstr>
      <vt:lpstr>Commonsense Reasoning - Observations</vt:lpstr>
      <vt:lpstr>Commonsense Reasoning - Observations</vt:lpstr>
      <vt:lpstr>Ablation Study - Variations of Few-Shot CoT</vt:lpstr>
      <vt:lpstr>Ablation Study - Variations of Few-Shot CoT</vt:lpstr>
      <vt:lpstr>Ablation Study - Variations of Few-Shot CoT</vt:lpstr>
      <vt:lpstr>Ablation Study - Variations of Few-Shot CoT</vt:lpstr>
      <vt:lpstr>Ablation Study - Variations of Few-Shot CoT</vt:lpstr>
      <vt:lpstr>Ablation Study - Variations of Few-Shot CoT</vt:lpstr>
      <vt:lpstr>Ablation Study - Robustness (Style of Exemplar)</vt:lpstr>
      <vt:lpstr>Ablation Study - Robustness (Trigger Sentence)</vt:lpstr>
      <vt:lpstr>Ablation Study - Model Size</vt:lpstr>
      <vt:lpstr>Pre-Lecture Question 1</vt:lpstr>
      <vt:lpstr>More Advances - Self-Consistency</vt:lpstr>
      <vt:lpstr>More Advances - Self-Consistency</vt:lpstr>
      <vt:lpstr>More Advances - Input-Rational Ensemble</vt:lpstr>
      <vt:lpstr>More Advances - Input-Rational Ensemble</vt:lpstr>
      <vt:lpstr>Pre-Lecture Question 3 and Discussion</vt:lpstr>
      <vt:lpstr>Reference</vt:lpstr>
      <vt:lpstr>Discussion (This part will not be in presentation)</vt:lpstr>
      <vt:lpstr>Summary of Arithmetic Reasoning Benchmark</vt:lpstr>
      <vt:lpstr>Arithmetic Reasoning - Few-Shot CoT MAWPS Results</vt:lpstr>
      <vt:lpstr>Arithmetic Reasoning - Zero-Shot CoT Additional Results</vt:lpstr>
      <vt:lpstr>Prior Best – Fine-tuning + Verification</vt:lpstr>
      <vt:lpstr>Prior Best – Fine-tuning + Verification</vt:lpstr>
      <vt:lpstr>Prior Best – Fine-tuning + Verification</vt:lpstr>
      <vt:lpstr>Arithmetic Reasoning - Results</vt:lpstr>
      <vt:lpstr>Commonsense Reasoning - CSQA CoT Prompt</vt:lpstr>
      <vt:lpstr>Commonsense Reasoning - CSQA CoT Prompt</vt:lpstr>
      <vt:lpstr>Commonsense Reasoning - Strategy QA CoT Prompt</vt:lpstr>
      <vt:lpstr>Commonsense Reasoning - Strategy QA CoT Prompt</vt:lpstr>
      <vt:lpstr>Commonsense Reasoning - Strategy QA CoT Prompt</vt:lpstr>
      <vt:lpstr>Commonsense Reasoning - CoT Prompt</vt:lpstr>
      <vt:lpstr>Commonsense Reasoning - CoT Prompt</vt:lpstr>
      <vt:lpstr>Ablation Study - Robustness (Example Distribution)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COS597G Lecture 9 Reasoning</dc:title>
  <cp:lastModifiedBy>leo</cp:lastModifiedBy>
  <cp:revision>1</cp:revision>
  <dcterms:created xsi:type="dcterms:W3CDTF">2023-11-12T02:11:10Z</dcterms:created>
  <dcterms:modified xsi:type="dcterms:W3CDTF">2023-11-12T02:12:30Z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2023-11-12T00:00:00Z</vt:filetime>
  </property>
  <property fmtid="{D5CDD505-2E9C-101B-9397-08002B2CF9AE}" pid="3" name="Creator">
    <vt:lpwstr>Google</vt:lpwstr>
  </property>
  <property fmtid="{D5CDD505-2E9C-101B-9397-08002B2CF9AE}" pid="4" name="LastSaved">
    <vt:filetime>2023-11-12T00:00:00Z</vt:filetime>
  </property>
</Properties>
</file>